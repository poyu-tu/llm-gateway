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開場" id="{f2fe5a40-8704-7b64-070b-a89f6023edc9}">
          <p14:sldIdLst>
            <p14:sldId id="256"/>
            <p14:sldId id="257"/>
            <p14:sldId id="258"/>
          </p14:sldIdLst>
        </p14:section>
        <p14:section name="想解決的問題" id="{05f8df43-a1da-fb28-d0b6-d427e0cee41b}">
          <p14:sldIdLst>
            <p14:sldId id="259"/>
          </p14:sldIdLst>
        </p14:section>
        <p14:section name="解法提綱" id="{685f2f20-3222-6353-c1b4-04902f0db3ac}">
          <p14:sldIdLst>
            <p14:sldId id="260"/>
            <p14:sldId id="261"/>
          </p14:sldIdLst>
        </p14:section>
        <p14:section name="技術實踐" id="{c2d16d33-dc4f-5f96-9ec3-3a6c79f5ca72}">
          <p14:sldIdLst>
            <p14:sldId id="262"/>
            <p14:sldId id="263"/>
            <p14:sldId id="264"/>
            <p14:sldId id="265"/>
            <p14:sldId id="266"/>
            <p14:sldId id="267"/>
            <p14:sldId id="268"/>
          </p14:sldIdLst>
        </p14:section>
        <p14:section name="結語" id="{b4e8ff08-26e6-2a1e-49a6-7a27c9ae91f8}">
          <p14:sldIdLst>
            <p14:sldId id="269"/>
            <p14:sldId id="27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IN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1261872" y="384048"/>
            <a:ext cx="7589520" cy="658368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170432"/>
            <a:ext cx="11064240" cy="5029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000" dirty="0">
                <a:solidFill>
                  <a:schemeClr val="accent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defRPr>
            </a:lvl1pPr>
          </a:lstStyle>
          <a:p>
            <a:pPr algn="l" indent="0" marL="0">
              <a:buNone/>
            </a:pPr>
            <a:endParaRPr lang="en-US" sz="20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LAIN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84048"/>
            <a:ext cx="7589520" cy="658368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170432"/>
            <a:ext cx="11064240" cy="5029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000" dirty="0">
                <a:solidFill>
                  <a:schemeClr val="accent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defRPr>
            </a:lvl1pPr>
          </a:lstStyle>
          <a:p>
            <a:pPr algn="l" indent="0" marL="0">
              <a:buNone/>
            </a:pPr>
            <a:endParaRPr lang="en-US" sz="2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011680" y="160020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bg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已用 1,039 ／ 額度 1,000</a:t>
            </a:r>
            <a:endParaRPr lang="en-US" sz="1800" dirty="0"/>
          </a:p>
        </p:txBody>
      </p:sp>
      <p:sp>
        <p:nvSpPr>
          <p:cNvPr id="3" name="Shape 1"/>
          <p:cNvSpPr/>
          <p:nvPr/>
        </p:nvSpPr>
        <p:spPr>
          <a:xfrm>
            <a:off x="2011680" y="2148840"/>
            <a:ext cx="8138160" cy="548640"/>
          </a:xfrm>
          <a:prstGeom prst="roundRect">
            <a:avLst>
              <a:gd name="adj" fmla="val 16667"/>
            </a:avLst>
          </a:prstGeom>
          <a:solidFill>
            <a:schemeClr val="tx2"/>
          </a:solidFill>
          <a:ln/>
        </p:spPr>
      </p:sp>
      <p:sp>
        <p:nvSpPr>
          <p:cNvPr id="4" name="Shape 2"/>
          <p:cNvSpPr/>
          <p:nvPr/>
        </p:nvSpPr>
        <p:spPr>
          <a:xfrm>
            <a:off x="2011680" y="2148840"/>
            <a:ext cx="7686862" cy="548640"/>
          </a:xfrm>
          <a:prstGeom prst="roundRect">
            <a:avLst>
              <a:gd name="adj" fmla="val 16667"/>
            </a:avLst>
          </a:prstGeom>
          <a:solidFill>
            <a:schemeClr val="accent3"/>
          </a:solidFill>
          <a:ln/>
        </p:spPr>
      </p:sp>
      <p:sp>
        <p:nvSpPr>
          <p:cNvPr id="5" name="Shape 3"/>
          <p:cNvSpPr/>
          <p:nvPr/>
        </p:nvSpPr>
        <p:spPr>
          <a:xfrm>
            <a:off x="9410007" y="1965960"/>
            <a:ext cx="0" cy="914400"/>
          </a:xfrm>
          <a:prstGeom prst="line">
            <a:avLst/>
          </a:prstGeom>
          <a:noFill/>
          <a:ln w="25400">
            <a:solidFill>
              <a:schemeClr val="bg1"/>
            </a:solidFill>
            <a:prstDash val="dash"/>
          </a:ln>
        </p:spPr>
      </p:sp>
      <p:sp>
        <p:nvSpPr>
          <p:cNvPr id="6" name="Text 4"/>
          <p:cNvSpPr txBox="1"/>
          <p:nvPr/>
        </p:nvSpPr>
        <p:spPr>
          <a:xfrm>
            <a:off x="8952807" y="2926080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上限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3840480" y="3383280"/>
            <a:ext cx="4480560" cy="914400"/>
          </a:xfrm>
          <a:prstGeom prst="roundRect">
            <a:avLst>
              <a:gd name="adj" fmla="val 12000"/>
            </a:avLst>
          </a:prstGeom>
          <a:solidFill>
            <a:schemeClr val="accent3"/>
          </a:solidFill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429｜額度用完</a:t>
            </a:r>
            <a:endParaRPr lang="en-US" sz="36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4800600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這是一次 AI 呼叫，被我的系統擋下來的瞬間</a:t>
            </a:r>
            <a:endParaRPr lang="en-US" sz="28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598932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S02 實測數字（10/9）｜影片中換成 Demo Console 的畫面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600200"/>
            <a:ext cx="6583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LLM Gateway</a:t>
            </a:r>
            <a:endParaRPr lang="en-US" sz="5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560320"/>
            <a:ext cx="6583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bg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企業級大語言模型調度與成本治理平台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337560"/>
            <a:ext cx="4846320" cy="502920"/>
          </a:xfrm>
          <a:prstGeom prst="roundRect">
            <a:avLst>
              <a:gd name="adj" fmla="val 14545"/>
            </a:avLst>
          </a:prstGeom>
          <a:solidFill>
            <a:schemeClr val="accent2"/>
          </a:solidFill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雲端工程師｜負責 LLM 上線之後的治理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5120640"/>
            <a:ext cx="6583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杜柏豫｜五年資安維運 → 雲端工程師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5559552"/>
            <a:ext cx="6583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專題介紹影片 v2.0（6 分鐘版）｜2026-10-12</a:t>
            </a:r>
            <a:endParaRPr lang="en-US" sz="1200" dirty="0"/>
          </a:p>
        </p:txBody>
      </p:sp>
      <p:sp>
        <p:nvSpPr>
          <p:cNvPr id="7" name="people"/>
          <p:cNvSpPr/>
          <p:nvPr/>
        </p:nvSpPr>
        <p:spPr>
          <a:xfrm>
            <a:off x="7269480" y="2697480"/>
            <a:ext cx="1005840" cy="100584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20940" y="2948940"/>
            <a:ext cx="502920" cy="50292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8321040" y="3200400"/>
            <a:ext cx="301752" cy="0"/>
          </a:xfrm>
          <a:prstGeom prst="line">
            <a:avLst/>
          </a:prstGeom>
          <a:noFill/>
          <a:ln w="31750">
            <a:solidFill>
              <a:schemeClr val="accent6"/>
            </a:solidFill>
            <a:prstDash val="solid"/>
            <a:tailEnd type="triangle"/>
          </a:ln>
        </p:spPr>
      </p:sp>
      <p:sp>
        <p:nvSpPr>
          <p:cNvPr id="10" name="gateway"/>
          <p:cNvSpPr/>
          <p:nvPr/>
        </p:nvSpPr>
        <p:spPr>
          <a:xfrm>
            <a:off x="8686800" y="2468880"/>
            <a:ext cx="1463040" cy="146304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52560" y="2834640"/>
            <a:ext cx="731520" cy="731520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10195560" y="3200400"/>
            <a:ext cx="301752" cy="0"/>
          </a:xfrm>
          <a:prstGeom prst="line">
            <a:avLst/>
          </a:prstGeom>
          <a:noFill/>
          <a:ln w="31750">
            <a:solidFill>
              <a:schemeClr val="accent6"/>
            </a:solidFill>
            <a:prstDash val="solid"/>
            <a:tailEnd type="triangle"/>
          </a:ln>
        </p:spPr>
      </p:sp>
      <p:sp>
        <p:nvSpPr>
          <p:cNvPr id="13" name="model"/>
          <p:cNvSpPr/>
          <p:nvPr/>
        </p:nvSpPr>
        <p:spPr>
          <a:xfrm>
            <a:off x="10561320" y="2697480"/>
            <a:ext cx="1005840" cy="100584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12780" y="2948940"/>
            <a:ext cx="502920" cy="502920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7086600" y="411480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bg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員工</a:t>
            </a:r>
            <a:endParaRPr lang="en-US" sz="1400" dirty="0"/>
          </a:p>
        </p:txBody>
      </p:sp>
      <p:sp>
        <p:nvSpPr>
          <p:cNvPr id="16" name="Text 11"/>
          <p:cNvSpPr txBox="1"/>
          <p:nvPr/>
        </p:nvSpPr>
        <p:spPr>
          <a:xfrm>
            <a:off x="8458200" y="411480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accent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LLM Gateway</a:t>
            </a:r>
            <a:endParaRPr lang="en-US" sz="1600" dirty="0"/>
          </a:p>
        </p:txBody>
      </p:sp>
      <p:sp>
        <p:nvSpPr>
          <p:cNvPr id="17" name="Text 12"/>
          <p:cNvSpPr txBox="1"/>
          <p:nvPr/>
        </p:nvSpPr>
        <p:spPr>
          <a:xfrm>
            <a:off x="10378440" y="411480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bg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AI 模型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84048"/>
            <a:ext cx="7589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Agenda</a:t>
            </a:r>
            <a:endParaRPr lang="en-US" sz="3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170432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chemeClr val="accent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四段，主角是 Demo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1417320" y="3017520"/>
            <a:ext cx="9372600" cy="0"/>
          </a:xfrm>
          <a:prstGeom prst="line">
            <a:avLst/>
          </a:prstGeom>
          <a:noFill/>
          <a:ln w="25400">
            <a:solidFill>
              <a:schemeClr val="accent6"/>
            </a:solidFill>
            <a:prstDash val="solid"/>
          </a:ln>
        </p:spPr>
      </p:sp>
      <p:sp>
        <p:nvSpPr>
          <p:cNvPr id="5" name="agenda-node"/>
          <p:cNvSpPr/>
          <p:nvPr/>
        </p:nvSpPr>
        <p:spPr>
          <a:xfrm>
            <a:off x="1005840" y="2606040"/>
            <a:ext cx="822960" cy="822960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005840" y="26060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01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320040" y="370332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想解決的問題</a:t>
            </a:r>
            <a:endParaRPr lang="en-US" sz="2000" dirty="0"/>
          </a:p>
        </p:txBody>
      </p:sp>
      <p:sp>
        <p:nvSpPr>
          <p:cNvPr id="8" name="agenda-node"/>
          <p:cNvSpPr/>
          <p:nvPr/>
        </p:nvSpPr>
        <p:spPr>
          <a:xfrm>
            <a:off x="4130040" y="2606040"/>
            <a:ext cx="822960" cy="822960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4130040" y="26060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02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3444240" y="370332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解法提綱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3764280" y="4279392"/>
            <a:ext cx="1554480" cy="347472"/>
          </a:xfrm>
          <a:prstGeom prst="roundRect">
            <a:avLst>
              <a:gd name="adj" fmla="val 21053"/>
            </a:avLst>
          </a:prstGeom>
          <a:solidFill>
            <a:schemeClr val="tx2"/>
          </a:solidFill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bg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三道關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3764280" y="4700016"/>
            <a:ext cx="1554480" cy="347472"/>
          </a:xfrm>
          <a:prstGeom prst="roundRect">
            <a:avLst>
              <a:gd name="adj" fmla="val 21053"/>
            </a:avLst>
          </a:prstGeom>
          <a:solidFill>
            <a:schemeClr val="tx2"/>
          </a:solidFill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bg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放到 AWS 上</a:t>
            </a:r>
            <a:endParaRPr lang="en-US" sz="1300" dirty="0"/>
          </a:p>
        </p:txBody>
      </p:sp>
      <p:sp>
        <p:nvSpPr>
          <p:cNvPr id="13" name="agenda-node"/>
          <p:cNvSpPr/>
          <p:nvPr/>
        </p:nvSpPr>
        <p:spPr>
          <a:xfrm>
            <a:off x="7139940" y="2491740"/>
            <a:ext cx="1051560" cy="105156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7139940" y="2491740"/>
            <a:ext cx="1051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tx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03</a:t>
            </a:r>
            <a:endParaRPr lang="en-US" sz="2400" dirty="0"/>
          </a:p>
        </p:txBody>
      </p:sp>
      <p:sp>
        <p:nvSpPr>
          <p:cNvPr id="15" name="Text 13"/>
          <p:cNvSpPr txBox="1"/>
          <p:nvPr/>
        </p:nvSpPr>
        <p:spPr>
          <a:xfrm>
            <a:off x="6568440" y="370332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accent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技術實踐</a:t>
            </a:r>
            <a:endParaRPr lang="en-US" sz="2000" dirty="0"/>
          </a:p>
        </p:txBody>
      </p:sp>
      <p:sp>
        <p:nvSpPr>
          <p:cNvPr id="16" name="Text 14"/>
          <p:cNvSpPr txBox="1"/>
          <p:nvPr/>
        </p:nvSpPr>
        <p:spPr>
          <a:xfrm>
            <a:off x="6934200" y="1874520"/>
            <a:ext cx="1463040" cy="365760"/>
          </a:xfrm>
          <a:prstGeom prst="roundRect">
            <a:avLst>
              <a:gd name="adj" fmla="val 20000"/>
            </a:avLst>
          </a:prstGeom>
          <a:solidFill>
            <a:schemeClr val="tx1"/>
          </a:solidFill>
          <a:ln w="19050">
            <a:solidFill>
              <a:schemeClr val="accent2"/>
            </a:solidFill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主角：Demo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6888480" y="4279392"/>
            <a:ext cx="1554480" cy="347472"/>
          </a:xfrm>
          <a:prstGeom prst="roundRect">
            <a:avLst>
              <a:gd name="adj" fmla="val 21053"/>
            </a:avLst>
          </a:prstGeom>
          <a:solidFill>
            <a:schemeClr val="tx2"/>
          </a:solidFill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bg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節費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6888480" y="4700016"/>
            <a:ext cx="1554480" cy="347472"/>
          </a:xfrm>
          <a:prstGeom prst="roundRect">
            <a:avLst>
              <a:gd name="adj" fmla="val 21053"/>
            </a:avLst>
          </a:prstGeom>
          <a:solidFill>
            <a:schemeClr val="tx2"/>
          </a:solidFill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bg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個資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6888480" y="5120640"/>
            <a:ext cx="1554480" cy="347472"/>
          </a:xfrm>
          <a:prstGeom prst="roundRect">
            <a:avLst>
              <a:gd name="adj" fmla="val 21053"/>
            </a:avLst>
          </a:prstGeom>
          <a:solidFill>
            <a:schemeClr val="tx2"/>
          </a:solidFill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bg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額度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6888480" y="5541264"/>
            <a:ext cx="1554480" cy="347472"/>
          </a:xfrm>
          <a:prstGeom prst="roundRect">
            <a:avLst>
              <a:gd name="adj" fmla="val 21053"/>
            </a:avLst>
          </a:prstGeom>
          <a:solidFill>
            <a:schemeClr val="tx2"/>
          </a:solidFill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bg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看不到的地方</a:t>
            </a:r>
            <a:endParaRPr lang="en-US" sz="1300" dirty="0"/>
          </a:p>
        </p:txBody>
      </p:sp>
      <p:sp>
        <p:nvSpPr>
          <p:cNvPr id="21" name="agenda-node"/>
          <p:cNvSpPr/>
          <p:nvPr/>
        </p:nvSpPr>
        <p:spPr>
          <a:xfrm>
            <a:off x="10378440" y="2606040"/>
            <a:ext cx="822960" cy="822960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10378440" y="26060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04</a:t>
            </a:r>
            <a:endParaRPr lang="en-US" sz="2000" dirty="0"/>
          </a:p>
        </p:txBody>
      </p:sp>
      <p:sp>
        <p:nvSpPr>
          <p:cNvPr id="23" name="Text 21"/>
          <p:cNvSpPr txBox="1"/>
          <p:nvPr/>
        </p:nvSpPr>
        <p:spPr>
          <a:xfrm>
            <a:off x="9692640" y="370332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結語</a:t>
            </a:r>
            <a:endParaRPr lang="en-US" sz="2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1261872" y="384048"/>
            <a:ext cx="7589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想解決的問題</a:t>
            </a:r>
            <a:endParaRPr lang="en-US" sz="3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170432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chemeClr val="accent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AI 開放了，卻管不住</a:t>
            </a:r>
            <a:endParaRPr lang="en-US" sz="2000" dirty="0"/>
          </a:p>
        </p:txBody>
      </p:sp>
      <p:sp>
        <p:nvSpPr>
          <p:cNvPr id="4" name="agenda-number"/>
          <p:cNvSpPr/>
          <p:nvPr/>
        </p:nvSpPr>
        <p:spPr>
          <a:xfrm>
            <a:off x="548640" y="438912"/>
            <a:ext cx="548640" cy="54864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43891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01</a:t>
            </a:r>
            <a:endParaRPr lang="en-US" sz="1600" dirty="0"/>
          </a:p>
        </p:txBody>
      </p:sp>
      <p:sp>
        <p:nvSpPr>
          <p:cNvPr id="6" name="progress-dot"/>
          <p:cNvSpPr/>
          <p:nvPr/>
        </p:nvSpPr>
        <p:spPr>
          <a:xfrm>
            <a:off x="10799064" y="274320"/>
            <a:ext cx="128016" cy="128016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7" name="progress-dot"/>
          <p:cNvSpPr/>
          <p:nvPr/>
        </p:nvSpPr>
        <p:spPr>
          <a:xfrm>
            <a:off x="11036808" y="274320"/>
            <a:ext cx="128016" cy="128016"/>
          </a:xfrm>
          <a:prstGeom prst="ellipse">
            <a:avLst/>
          </a:prstGeom>
          <a:solidFill>
            <a:schemeClr val="accent6">
              <a:alpha val="60000"/>
            </a:schemeClr>
          </a:solidFill>
          <a:ln/>
        </p:spPr>
      </p:sp>
      <p:sp>
        <p:nvSpPr>
          <p:cNvPr id="8" name="progress-dot"/>
          <p:cNvSpPr/>
          <p:nvPr/>
        </p:nvSpPr>
        <p:spPr>
          <a:xfrm>
            <a:off x="11274552" y="274320"/>
            <a:ext cx="128016" cy="128016"/>
          </a:xfrm>
          <a:prstGeom prst="ellipse">
            <a:avLst/>
          </a:prstGeom>
          <a:solidFill>
            <a:schemeClr val="accent6">
              <a:alpha val="60000"/>
            </a:schemeClr>
          </a:solidFill>
          <a:ln/>
        </p:spPr>
      </p:sp>
      <p:sp>
        <p:nvSpPr>
          <p:cNvPr id="9" name="progress-dot"/>
          <p:cNvSpPr/>
          <p:nvPr/>
        </p:nvSpPr>
        <p:spPr>
          <a:xfrm>
            <a:off x="11512296" y="274320"/>
            <a:ext cx="128016" cy="128016"/>
          </a:xfrm>
          <a:prstGeom prst="ellipse">
            <a:avLst/>
          </a:prstGeom>
          <a:solidFill>
            <a:schemeClr val="accent6">
              <a:alpha val="60000"/>
            </a:schemeClr>
          </a:solidFill>
          <a:ln/>
        </p:spPr>
      </p:sp>
      <p:sp>
        <p:nvSpPr>
          <p:cNvPr id="10" name="Shape 8"/>
          <p:cNvSpPr/>
          <p:nvPr/>
        </p:nvSpPr>
        <p:spPr>
          <a:xfrm>
            <a:off x="548640" y="1874520"/>
            <a:ext cx="5120640" cy="475488"/>
          </a:xfrm>
          <a:prstGeom prst="roundRect">
            <a:avLst>
              <a:gd name="adj" fmla="val 19231"/>
            </a:avLst>
          </a:prstGeom>
          <a:solidFill>
            <a:schemeClr val="accent6">
              <a:alpha val="30000"/>
            </a:schemeClr>
          </a:solidFill>
          <a:ln/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" y="1947672"/>
            <a:ext cx="329184" cy="329184"/>
          </a:xfrm>
          <a:prstGeom prst="rect">
            <a:avLst/>
          </a:prstGeom>
        </p:spPr>
      </p:pic>
      <p:sp>
        <p:nvSpPr>
          <p:cNvPr id="12" name="Text 9"/>
          <p:cNvSpPr txBox="1"/>
          <p:nvPr/>
        </p:nvSpPr>
        <p:spPr>
          <a:xfrm>
            <a:off x="1188720" y="1874520"/>
            <a:ext cx="4389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bg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情境｜200 位員工，開放 AI 三個月後</a:t>
            </a:r>
            <a:endParaRPr lang="en-US" sz="1600" dirty="0"/>
          </a:p>
        </p:txBody>
      </p:sp>
      <p:sp>
        <p:nvSpPr>
          <p:cNvPr id="13" name="problem-card"/>
          <p:cNvSpPr/>
          <p:nvPr/>
        </p:nvSpPr>
        <p:spPr>
          <a:xfrm>
            <a:off x="548640" y="2651760"/>
            <a:ext cx="3474720" cy="3246120"/>
          </a:xfrm>
          <a:prstGeom prst="roundRect">
            <a:avLst>
              <a:gd name="adj" fmla="val 2817"/>
            </a:avLst>
          </a:prstGeom>
          <a:solidFill>
            <a:schemeClr val="tx2"/>
          </a:solidFill>
          <a:ln/>
        </p:spPr>
      </p:sp>
      <p:sp>
        <p:nvSpPr>
          <p:cNvPr id="14" name="Shape 11"/>
          <p:cNvSpPr/>
          <p:nvPr/>
        </p:nvSpPr>
        <p:spPr>
          <a:xfrm>
            <a:off x="1737360" y="2971800"/>
            <a:ext cx="1097280" cy="1097280"/>
          </a:xfrm>
          <a:prstGeom prst="ellipse">
            <a:avLst/>
          </a:prstGeom>
          <a:solidFill>
            <a:schemeClr val="tx1"/>
          </a:solidFill>
          <a:ln/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1680" y="3246120"/>
            <a:ext cx="548640" cy="548640"/>
          </a:xfrm>
          <a:prstGeom prst="rect">
            <a:avLst/>
          </a:prstGeom>
        </p:spPr>
      </p:pic>
      <p:sp>
        <p:nvSpPr>
          <p:cNvPr id="16" name="Text 12"/>
          <p:cNvSpPr txBox="1"/>
          <p:nvPr/>
        </p:nvSpPr>
        <p:spPr>
          <a:xfrm>
            <a:off x="731520" y="425196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成本歸屬</a:t>
            </a:r>
            <a:endParaRPr lang="en-US" sz="2600" dirty="0"/>
          </a:p>
        </p:txBody>
      </p:sp>
      <p:sp>
        <p:nvSpPr>
          <p:cNvPr id="17" name="Text 13"/>
          <p:cNvSpPr txBox="1"/>
          <p:nvPr/>
        </p:nvSpPr>
        <p:spPr>
          <a:xfrm>
            <a:off x="731520" y="4864608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chemeClr val="bg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帳單只有總額，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dirty="0">
                <a:solidFill>
                  <a:schemeClr val="bg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不知道</a:t>
            </a:r>
            <a:pPr algn="ctr" indent="0" marL="0">
              <a:buNone/>
            </a:pPr>
            <a:r>
              <a:rPr lang="en-US" sz="1800" b="1" dirty="0">
                <a:solidFill>
                  <a:schemeClr val="accent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誰</a:t>
            </a:r>
            <a:pPr algn="ctr" indent="0" marL="0">
              <a:buNone/>
            </a:pPr>
            <a:r>
              <a:rPr lang="en-US" sz="1800" dirty="0">
                <a:solidFill>
                  <a:schemeClr val="bg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花的</a:t>
            </a:r>
            <a:endParaRPr lang="en-US" sz="1800" dirty="0"/>
          </a:p>
        </p:txBody>
      </p:sp>
      <p:sp>
        <p:nvSpPr>
          <p:cNvPr id="18" name="problem-card"/>
          <p:cNvSpPr/>
          <p:nvPr/>
        </p:nvSpPr>
        <p:spPr>
          <a:xfrm>
            <a:off x="4343400" y="2651760"/>
            <a:ext cx="3474720" cy="3246120"/>
          </a:xfrm>
          <a:prstGeom prst="roundRect">
            <a:avLst>
              <a:gd name="adj" fmla="val 2817"/>
            </a:avLst>
          </a:prstGeom>
          <a:solidFill>
            <a:schemeClr val="tx2"/>
          </a:solidFill>
          <a:ln/>
        </p:spPr>
      </p:sp>
      <p:sp>
        <p:nvSpPr>
          <p:cNvPr id="19" name="Shape 15"/>
          <p:cNvSpPr/>
          <p:nvPr/>
        </p:nvSpPr>
        <p:spPr>
          <a:xfrm>
            <a:off x="5532120" y="2971800"/>
            <a:ext cx="1097280" cy="1097280"/>
          </a:xfrm>
          <a:prstGeom prst="ellipse">
            <a:avLst/>
          </a:prstGeom>
          <a:solidFill>
            <a:schemeClr val="tx1"/>
          </a:solidFill>
          <a:ln/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06440" y="3246120"/>
            <a:ext cx="548640" cy="548640"/>
          </a:xfrm>
          <a:prstGeom prst="rect">
            <a:avLst/>
          </a:prstGeom>
        </p:spPr>
      </p:pic>
      <p:sp>
        <p:nvSpPr>
          <p:cNvPr id="21" name="Text 16"/>
          <p:cNvSpPr txBox="1"/>
          <p:nvPr/>
        </p:nvSpPr>
        <p:spPr>
          <a:xfrm>
            <a:off x="4526280" y="425196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用量管控</a:t>
            </a:r>
            <a:endParaRPr lang="en-US" sz="2600" dirty="0"/>
          </a:p>
        </p:txBody>
      </p:sp>
      <p:sp>
        <p:nvSpPr>
          <p:cNvPr id="22" name="Text 17"/>
          <p:cNvSpPr txBox="1"/>
          <p:nvPr/>
        </p:nvSpPr>
        <p:spPr>
          <a:xfrm>
            <a:off x="4526280" y="4864608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chemeClr val="bg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寫錯一個迴圈，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chemeClr val="accent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一晚</a:t>
            </a:r>
            <a:pPr algn="ctr" indent="0" marL="0">
              <a:buNone/>
            </a:pPr>
            <a:r>
              <a:rPr lang="en-US" sz="1800" dirty="0">
                <a:solidFill>
                  <a:schemeClr val="bg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燒光預算</a:t>
            </a:r>
            <a:endParaRPr lang="en-US" sz="1800" dirty="0"/>
          </a:p>
        </p:txBody>
      </p:sp>
      <p:sp>
        <p:nvSpPr>
          <p:cNvPr id="23" name="problem-card"/>
          <p:cNvSpPr/>
          <p:nvPr/>
        </p:nvSpPr>
        <p:spPr>
          <a:xfrm>
            <a:off x="8138160" y="2651760"/>
            <a:ext cx="3474720" cy="3246120"/>
          </a:xfrm>
          <a:prstGeom prst="roundRect">
            <a:avLst>
              <a:gd name="adj" fmla="val 2817"/>
            </a:avLst>
          </a:prstGeom>
          <a:solidFill>
            <a:schemeClr val="tx2"/>
          </a:solidFill>
          <a:ln/>
        </p:spPr>
      </p:sp>
      <p:sp>
        <p:nvSpPr>
          <p:cNvPr id="24" name="Shape 19"/>
          <p:cNvSpPr/>
          <p:nvPr/>
        </p:nvSpPr>
        <p:spPr>
          <a:xfrm>
            <a:off x="9326880" y="2971800"/>
            <a:ext cx="1097280" cy="1097280"/>
          </a:xfrm>
          <a:prstGeom prst="ellipse">
            <a:avLst/>
          </a:prstGeom>
          <a:solidFill>
            <a:schemeClr val="tx1"/>
          </a:solidFill>
          <a:ln/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01200" y="3246120"/>
            <a:ext cx="548640" cy="548640"/>
          </a:xfrm>
          <a:prstGeom prst="rect">
            <a:avLst/>
          </a:prstGeom>
        </p:spPr>
      </p:pic>
      <p:sp>
        <p:nvSpPr>
          <p:cNvPr id="26" name="Text 20"/>
          <p:cNvSpPr txBox="1"/>
          <p:nvPr/>
        </p:nvSpPr>
        <p:spPr>
          <a:xfrm>
            <a:off x="8321040" y="425196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稽核</a:t>
            </a:r>
            <a:endParaRPr lang="en-US" sz="2600" dirty="0"/>
          </a:p>
        </p:txBody>
      </p:sp>
      <p:sp>
        <p:nvSpPr>
          <p:cNvPr id="27" name="Text 21"/>
          <p:cNvSpPr txBox="1"/>
          <p:nvPr/>
        </p:nvSpPr>
        <p:spPr>
          <a:xfrm>
            <a:off x="8321040" y="4864608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chemeClr val="bg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客戶資料貼進去，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dirty="0">
                <a:solidFill>
                  <a:schemeClr val="bg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事後</a:t>
            </a:r>
            <a:pPr algn="ctr" indent="0" marL="0">
              <a:buNone/>
            </a:pPr>
            <a:r>
              <a:rPr lang="en-US" sz="1800" b="1" dirty="0">
                <a:solidFill>
                  <a:schemeClr val="accent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查不到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1261872" y="384048"/>
            <a:ext cx="7589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解法提綱｜三道關</a:t>
            </a:r>
            <a:endParaRPr lang="en-US" sz="3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170432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chemeClr val="accent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替每一戶裝上水表和限流閥</a:t>
            </a:r>
            <a:endParaRPr lang="en-US" sz="2000" dirty="0"/>
          </a:p>
        </p:txBody>
      </p:sp>
      <p:sp>
        <p:nvSpPr>
          <p:cNvPr id="4" name="agenda-number"/>
          <p:cNvSpPr/>
          <p:nvPr/>
        </p:nvSpPr>
        <p:spPr>
          <a:xfrm>
            <a:off x="548640" y="438912"/>
            <a:ext cx="548640" cy="54864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43891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02</a:t>
            </a:r>
            <a:endParaRPr lang="en-US" sz="1600" dirty="0"/>
          </a:p>
        </p:txBody>
      </p:sp>
      <p:sp>
        <p:nvSpPr>
          <p:cNvPr id="6" name="progress-dot"/>
          <p:cNvSpPr/>
          <p:nvPr/>
        </p:nvSpPr>
        <p:spPr>
          <a:xfrm>
            <a:off x="10799064" y="274320"/>
            <a:ext cx="128016" cy="12801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7" name="progress-dot"/>
          <p:cNvSpPr/>
          <p:nvPr/>
        </p:nvSpPr>
        <p:spPr>
          <a:xfrm>
            <a:off x="11036808" y="274320"/>
            <a:ext cx="128016" cy="128016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8" name="progress-dot"/>
          <p:cNvSpPr/>
          <p:nvPr/>
        </p:nvSpPr>
        <p:spPr>
          <a:xfrm>
            <a:off x="11274552" y="274320"/>
            <a:ext cx="128016" cy="128016"/>
          </a:xfrm>
          <a:prstGeom prst="ellipse">
            <a:avLst/>
          </a:prstGeom>
          <a:solidFill>
            <a:schemeClr val="accent6">
              <a:alpha val="60000"/>
            </a:schemeClr>
          </a:solidFill>
          <a:ln/>
        </p:spPr>
      </p:sp>
      <p:sp>
        <p:nvSpPr>
          <p:cNvPr id="9" name="progress-dot"/>
          <p:cNvSpPr/>
          <p:nvPr/>
        </p:nvSpPr>
        <p:spPr>
          <a:xfrm>
            <a:off x="11512296" y="274320"/>
            <a:ext cx="128016" cy="128016"/>
          </a:xfrm>
          <a:prstGeom prst="ellipse">
            <a:avLst/>
          </a:prstGeom>
          <a:solidFill>
            <a:schemeClr val="accent6">
              <a:alpha val="60000"/>
            </a:schemeClr>
          </a:solidFill>
          <a:ln/>
        </p:spPr>
      </p:sp>
      <p:sp>
        <p:nvSpPr>
          <p:cNvPr id="10" name="Shape 8"/>
          <p:cNvSpPr/>
          <p:nvPr/>
        </p:nvSpPr>
        <p:spPr>
          <a:xfrm>
            <a:off x="548640" y="2148840"/>
            <a:ext cx="1005840" cy="100584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0100" y="2400300"/>
            <a:ext cx="502920" cy="502920"/>
          </a:xfrm>
          <a:prstGeom prst="rect">
            <a:avLst/>
          </a:prstGeom>
        </p:spPr>
      </p:pic>
      <p:sp>
        <p:nvSpPr>
          <p:cNvPr id="12" name="Text 9"/>
          <p:cNvSpPr txBox="1"/>
          <p:nvPr/>
        </p:nvSpPr>
        <p:spPr>
          <a:xfrm>
            <a:off x="411480" y="320040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bg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員工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1627632" y="2651760"/>
            <a:ext cx="502920" cy="0"/>
          </a:xfrm>
          <a:prstGeom prst="line">
            <a:avLst/>
          </a:prstGeom>
          <a:noFill/>
          <a:ln w="31750">
            <a:solidFill>
              <a:schemeClr val="accent6"/>
            </a:solidFill>
            <a:prstDash val="solid"/>
            <a:tailEnd type="triangle"/>
          </a:ln>
        </p:spPr>
      </p:sp>
      <p:sp>
        <p:nvSpPr>
          <p:cNvPr id="14" name="gateway-box"/>
          <p:cNvSpPr/>
          <p:nvPr/>
        </p:nvSpPr>
        <p:spPr>
          <a:xfrm>
            <a:off x="2194560" y="2057400"/>
            <a:ext cx="7772400" cy="1188720"/>
          </a:xfrm>
          <a:prstGeom prst="roundRect">
            <a:avLst>
              <a:gd name="adj" fmla="val 7692"/>
            </a:avLst>
          </a:prstGeom>
          <a:solidFill>
            <a:schemeClr val="accent2"/>
          </a:solidFill>
          <a:ln/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4600" y="2286000"/>
            <a:ext cx="731520" cy="731520"/>
          </a:xfrm>
          <a:prstGeom prst="rect">
            <a:avLst/>
          </a:prstGeom>
        </p:spPr>
      </p:pic>
      <p:sp>
        <p:nvSpPr>
          <p:cNvPr id="16" name="Text 12"/>
          <p:cNvSpPr txBox="1"/>
          <p:nvPr/>
        </p:nvSpPr>
        <p:spPr>
          <a:xfrm>
            <a:off x="3474720" y="2103120"/>
            <a:ext cx="6309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tx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LLM Gateway</a:t>
            </a:r>
            <a:endParaRPr lang="en-US" sz="1600" dirty="0"/>
          </a:p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每一次呼叫，都先經過這裡</a:t>
            </a:r>
            <a:endParaRPr lang="en-US" sz="1600" dirty="0"/>
          </a:p>
        </p:txBody>
      </p:sp>
      <p:sp>
        <p:nvSpPr>
          <p:cNvPr id="17" name="Shape 13"/>
          <p:cNvSpPr/>
          <p:nvPr/>
        </p:nvSpPr>
        <p:spPr>
          <a:xfrm>
            <a:off x="10012680" y="2651760"/>
            <a:ext cx="502920" cy="0"/>
          </a:xfrm>
          <a:prstGeom prst="line">
            <a:avLst/>
          </a:prstGeom>
          <a:noFill/>
          <a:ln w="31750">
            <a:solidFill>
              <a:schemeClr val="accent6"/>
            </a:solidFill>
            <a:prstDash val="solid"/>
            <a:tailEnd type="triangle"/>
          </a:ln>
        </p:spPr>
      </p:sp>
      <p:sp>
        <p:nvSpPr>
          <p:cNvPr id="18" name="Shape 14"/>
          <p:cNvSpPr/>
          <p:nvPr/>
        </p:nvSpPr>
        <p:spPr>
          <a:xfrm>
            <a:off x="10607040" y="2148840"/>
            <a:ext cx="1005840" cy="100584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58500" y="2400300"/>
            <a:ext cx="502920" cy="502920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10469880" y="320040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bg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AI 模型</a:t>
            </a:r>
            <a:endParaRPr lang="en-US" sz="1400" dirty="0"/>
          </a:p>
        </p:txBody>
      </p:sp>
      <p:sp>
        <p:nvSpPr>
          <p:cNvPr id="21" name="Shape 16"/>
          <p:cNvSpPr/>
          <p:nvPr/>
        </p:nvSpPr>
        <p:spPr>
          <a:xfrm>
            <a:off x="2286000" y="3246120"/>
            <a:ext cx="0" cy="685800"/>
          </a:xfrm>
          <a:prstGeom prst="line">
            <a:avLst/>
          </a:prstGeom>
          <a:noFill/>
          <a:ln w="25400">
            <a:solidFill>
              <a:schemeClr val="accent2"/>
            </a:solidFill>
            <a:prstDash val="solid"/>
          </a:ln>
        </p:spPr>
      </p:sp>
      <p:sp>
        <p:nvSpPr>
          <p:cNvPr id="22" name="group-card"/>
          <p:cNvSpPr/>
          <p:nvPr/>
        </p:nvSpPr>
        <p:spPr>
          <a:xfrm>
            <a:off x="548640" y="3931920"/>
            <a:ext cx="3474720" cy="1965960"/>
          </a:xfrm>
          <a:prstGeom prst="roundRect">
            <a:avLst>
              <a:gd name="adj" fmla="val 4651"/>
            </a:avLst>
          </a:prstGeom>
          <a:solidFill>
            <a:schemeClr val="tx2"/>
          </a:solidFill>
          <a:ln/>
        </p:spPr>
      </p:sp>
      <p:sp>
        <p:nvSpPr>
          <p:cNvPr id="23" name="Shape 18"/>
          <p:cNvSpPr/>
          <p:nvPr/>
        </p:nvSpPr>
        <p:spPr>
          <a:xfrm>
            <a:off x="822960" y="4206240"/>
            <a:ext cx="731520" cy="731520"/>
          </a:xfrm>
          <a:prstGeom prst="ellipse">
            <a:avLst/>
          </a:prstGeom>
          <a:solidFill>
            <a:schemeClr val="tx1"/>
          </a:solidFill>
          <a:ln/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5840" y="4389120"/>
            <a:ext cx="365760" cy="365760"/>
          </a:xfrm>
          <a:prstGeom prst="rect">
            <a:avLst/>
          </a:prstGeom>
        </p:spPr>
      </p:pic>
      <p:sp>
        <p:nvSpPr>
          <p:cNvPr id="25" name="Text 19"/>
          <p:cNvSpPr txBox="1"/>
          <p:nvPr/>
        </p:nvSpPr>
        <p:spPr>
          <a:xfrm>
            <a:off x="1737360" y="4224528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管人</a:t>
            </a:r>
            <a:endParaRPr lang="en-US" sz="2800" dirty="0"/>
          </a:p>
        </p:txBody>
      </p:sp>
      <p:sp>
        <p:nvSpPr>
          <p:cNvPr id="26" name="Text 20"/>
          <p:cNvSpPr txBox="1"/>
          <p:nvPr/>
        </p:nvSpPr>
        <p:spPr>
          <a:xfrm>
            <a:off x="822960" y="512064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bg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確認身分・檢查額度</a:t>
            </a:r>
            <a:endParaRPr lang="en-US" sz="1800" dirty="0"/>
          </a:p>
        </p:txBody>
      </p:sp>
      <p:sp>
        <p:nvSpPr>
          <p:cNvPr id="27" name="Shape 21"/>
          <p:cNvSpPr/>
          <p:nvPr/>
        </p:nvSpPr>
        <p:spPr>
          <a:xfrm>
            <a:off x="6080760" y="3246120"/>
            <a:ext cx="0" cy="685800"/>
          </a:xfrm>
          <a:prstGeom prst="line">
            <a:avLst/>
          </a:prstGeom>
          <a:noFill/>
          <a:ln w="25400">
            <a:solidFill>
              <a:schemeClr val="accent2"/>
            </a:solidFill>
            <a:prstDash val="solid"/>
          </a:ln>
        </p:spPr>
      </p:sp>
      <p:sp>
        <p:nvSpPr>
          <p:cNvPr id="28" name="group-card"/>
          <p:cNvSpPr/>
          <p:nvPr/>
        </p:nvSpPr>
        <p:spPr>
          <a:xfrm>
            <a:off x="4343400" y="3931920"/>
            <a:ext cx="3474720" cy="1965960"/>
          </a:xfrm>
          <a:prstGeom prst="roundRect">
            <a:avLst>
              <a:gd name="adj" fmla="val 4651"/>
            </a:avLst>
          </a:prstGeom>
          <a:solidFill>
            <a:schemeClr val="tx2"/>
          </a:solidFill>
          <a:ln/>
        </p:spPr>
      </p:sp>
      <p:sp>
        <p:nvSpPr>
          <p:cNvPr id="29" name="Shape 23"/>
          <p:cNvSpPr/>
          <p:nvPr/>
        </p:nvSpPr>
        <p:spPr>
          <a:xfrm>
            <a:off x="4617720" y="4206240"/>
            <a:ext cx="731520" cy="731520"/>
          </a:xfrm>
          <a:prstGeom prst="ellipse">
            <a:avLst/>
          </a:prstGeom>
          <a:solidFill>
            <a:schemeClr val="tx1"/>
          </a:solidFill>
          <a:ln/>
        </p:spPr>
      </p:sp>
      <p:pic>
        <p:nvPicPr>
          <p:cNvPr id="3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00600" y="4389120"/>
            <a:ext cx="365760" cy="365760"/>
          </a:xfrm>
          <a:prstGeom prst="rect">
            <a:avLst/>
          </a:prstGeom>
        </p:spPr>
      </p:pic>
      <p:sp>
        <p:nvSpPr>
          <p:cNvPr id="31" name="Text 24"/>
          <p:cNvSpPr txBox="1"/>
          <p:nvPr/>
        </p:nvSpPr>
        <p:spPr>
          <a:xfrm>
            <a:off x="5532120" y="4224528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管錢</a:t>
            </a:r>
            <a:endParaRPr lang="en-US" sz="2800" dirty="0"/>
          </a:p>
        </p:txBody>
      </p:sp>
      <p:sp>
        <p:nvSpPr>
          <p:cNvPr id="32" name="Text 25"/>
          <p:cNvSpPr txBox="1"/>
          <p:nvPr/>
        </p:nvSpPr>
        <p:spPr>
          <a:xfrm>
            <a:off x="4617720" y="512064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bg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自動選模型・記帳</a:t>
            </a:r>
            <a:endParaRPr lang="en-US" sz="1800" dirty="0"/>
          </a:p>
        </p:txBody>
      </p:sp>
      <p:sp>
        <p:nvSpPr>
          <p:cNvPr id="33" name="Shape 26"/>
          <p:cNvSpPr/>
          <p:nvPr/>
        </p:nvSpPr>
        <p:spPr>
          <a:xfrm>
            <a:off x="9875520" y="3246120"/>
            <a:ext cx="0" cy="685800"/>
          </a:xfrm>
          <a:prstGeom prst="line">
            <a:avLst/>
          </a:prstGeom>
          <a:noFill/>
          <a:ln w="25400">
            <a:solidFill>
              <a:schemeClr val="accent2"/>
            </a:solidFill>
            <a:prstDash val="solid"/>
          </a:ln>
        </p:spPr>
      </p:sp>
      <p:sp>
        <p:nvSpPr>
          <p:cNvPr id="34" name="group-card"/>
          <p:cNvSpPr/>
          <p:nvPr/>
        </p:nvSpPr>
        <p:spPr>
          <a:xfrm>
            <a:off x="8138160" y="3931920"/>
            <a:ext cx="3474720" cy="1965960"/>
          </a:xfrm>
          <a:prstGeom prst="roundRect">
            <a:avLst>
              <a:gd name="adj" fmla="val 4651"/>
            </a:avLst>
          </a:prstGeom>
          <a:solidFill>
            <a:schemeClr val="tx2"/>
          </a:solidFill>
          <a:ln/>
        </p:spPr>
      </p:sp>
      <p:sp>
        <p:nvSpPr>
          <p:cNvPr id="35" name="Shape 28"/>
          <p:cNvSpPr/>
          <p:nvPr/>
        </p:nvSpPr>
        <p:spPr>
          <a:xfrm>
            <a:off x="8412480" y="4206240"/>
            <a:ext cx="731520" cy="731520"/>
          </a:xfrm>
          <a:prstGeom prst="ellipse">
            <a:avLst/>
          </a:prstGeom>
          <a:solidFill>
            <a:schemeClr val="tx1"/>
          </a:solidFill>
          <a:ln/>
        </p:spPr>
      </p:sp>
      <p:pic>
        <p:nvPicPr>
          <p:cNvPr id="3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95360" y="4389120"/>
            <a:ext cx="365760" cy="365760"/>
          </a:xfrm>
          <a:prstGeom prst="rect">
            <a:avLst/>
          </a:prstGeom>
        </p:spPr>
      </p:pic>
      <p:sp>
        <p:nvSpPr>
          <p:cNvPr id="37" name="Text 29"/>
          <p:cNvSpPr txBox="1"/>
          <p:nvPr/>
        </p:nvSpPr>
        <p:spPr>
          <a:xfrm>
            <a:off x="9326880" y="4224528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管資料</a:t>
            </a:r>
            <a:endParaRPr lang="en-US" sz="2800" dirty="0"/>
          </a:p>
        </p:txBody>
      </p:sp>
      <p:sp>
        <p:nvSpPr>
          <p:cNvPr id="38" name="Text 30"/>
          <p:cNvSpPr txBox="1"/>
          <p:nvPr/>
        </p:nvSpPr>
        <p:spPr>
          <a:xfrm>
            <a:off x="8412480" y="512064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bg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遮掉個資・留稽核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1261872" y="384048"/>
            <a:ext cx="7589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解法提綱｜放到 AWS 上</a:t>
            </a:r>
            <a:endParaRPr lang="en-US" sz="3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170432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chemeClr val="accent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外面連不進來，出口只放行 OpenAI</a:t>
            </a:r>
            <a:endParaRPr lang="en-US" sz="2000" dirty="0"/>
          </a:p>
        </p:txBody>
      </p:sp>
      <p:sp>
        <p:nvSpPr>
          <p:cNvPr id="4" name="agenda-number"/>
          <p:cNvSpPr/>
          <p:nvPr/>
        </p:nvSpPr>
        <p:spPr>
          <a:xfrm>
            <a:off x="548640" y="438912"/>
            <a:ext cx="548640" cy="54864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43891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02</a:t>
            </a:r>
            <a:endParaRPr lang="en-US" sz="1600" dirty="0"/>
          </a:p>
        </p:txBody>
      </p:sp>
      <p:sp>
        <p:nvSpPr>
          <p:cNvPr id="6" name="progress-dot"/>
          <p:cNvSpPr/>
          <p:nvPr/>
        </p:nvSpPr>
        <p:spPr>
          <a:xfrm>
            <a:off x="10799064" y="274320"/>
            <a:ext cx="128016" cy="12801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7" name="progress-dot"/>
          <p:cNvSpPr/>
          <p:nvPr/>
        </p:nvSpPr>
        <p:spPr>
          <a:xfrm>
            <a:off x="11036808" y="274320"/>
            <a:ext cx="128016" cy="128016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8" name="progress-dot"/>
          <p:cNvSpPr/>
          <p:nvPr/>
        </p:nvSpPr>
        <p:spPr>
          <a:xfrm>
            <a:off x="11274552" y="274320"/>
            <a:ext cx="128016" cy="128016"/>
          </a:xfrm>
          <a:prstGeom prst="ellipse">
            <a:avLst/>
          </a:prstGeom>
          <a:solidFill>
            <a:schemeClr val="accent6">
              <a:alpha val="60000"/>
            </a:schemeClr>
          </a:solidFill>
          <a:ln/>
        </p:spPr>
      </p:sp>
      <p:sp>
        <p:nvSpPr>
          <p:cNvPr id="9" name="progress-dot"/>
          <p:cNvSpPr/>
          <p:nvPr/>
        </p:nvSpPr>
        <p:spPr>
          <a:xfrm>
            <a:off x="11512296" y="274320"/>
            <a:ext cx="128016" cy="128016"/>
          </a:xfrm>
          <a:prstGeom prst="ellipse">
            <a:avLst/>
          </a:prstGeom>
          <a:solidFill>
            <a:schemeClr val="accent6">
              <a:alpha val="60000"/>
            </a:schemeClr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9180576" y="566928"/>
            <a:ext cx="2459736" cy="310896"/>
          </a:xfrm>
          <a:prstGeom prst="roundRect">
            <a:avLst>
              <a:gd name="adj" fmla="val 23529"/>
            </a:avLst>
          </a:prstGeom>
          <a:solidFill>
            <a:schemeClr val="accent6"/>
          </a:solidFill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本機已實作｜雲端 M4、M5</a:t>
            </a:r>
            <a:endParaRPr lang="en-US" sz="1100" dirty="0"/>
          </a:p>
        </p:txBody>
      </p:sp>
      <p:sp>
        <p:nvSpPr>
          <p:cNvPr id="11" name="private-subnet"/>
          <p:cNvSpPr/>
          <p:nvPr/>
        </p:nvSpPr>
        <p:spPr>
          <a:xfrm>
            <a:off x="3337560" y="1874520"/>
            <a:ext cx="4114800" cy="2697480"/>
          </a:xfrm>
          <a:prstGeom prst="roundRect">
            <a:avLst>
              <a:gd name="adj" fmla="val 3390"/>
            </a:avLst>
          </a:prstGeom>
          <a:solidFill>
            <a:schemeClr val="accent1">
              <a:alpha val="12000"/>
            </a:schemeClr>
          </a:solidFill>
          <a:ln w="15875">
            <a:solidFill>
              <a:schemeClr val="accent1"/>
            </a:solidFill>
            <a:prstDash val="dash"/>
          </a:ln>
        </p:spPr>
      </p:sp>
      <p:sp>
        <p:nvSpPr>
          <p:cNvPr id="12" name="Text 10"/>
          <p:cNvSpPr txBox="1"/>
          <p:nvPr/>
        </p:nvSpPr>
        <p:spPr>
          <a:xfrm>
            <a:off x="3474720" y="1920240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私有子網（沒有公開 IP）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2377440"/>
            <a:ext cx="1097280" cy="822960"/>
          </a:xfrm>
          <a:prstGeom prst="roundRect">
            <a:avLst>
              <a:gd name="adj" fmla="val 11111"/>
            </a:avLst>
          </a:prstGeom>
          <a:solidFill>
            <a:schemeClr val="tx2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594360" y="2377440"/>
            <a:ext cx="1005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員工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1664208" y="2788920"/>
            <a:ext cx="329184" cy="0"/>
          </a:xfrm>
          <a:prstGeom prst="line">
            <a:avLst/>
          </a:prstGeom>
          <a:noFill/>
          <a:ln w="31750">
            <a:solidFill>
              <a:schemeClr val="accent6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2011680" y="2377440"/>
            <a:ext cx="1097280" cy="822960"/>
          </a:xfrm>
          <a:prstGeom prst="roundRect">
            <a:avLst>
              <a:gd name="adj" fmla="val 11111"/>
            </a:avLst>
          </a:prstGeom>
          <a:solidFill>
            <a:schemeClr val="tx2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2057400" y="2377440"/>
            <a:ext cx="1005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ALB</a:t>
            </a:r>
            <a:endParaRPr lang="en-US" sz="16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負載平衡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3127248" y="2788920"/>
            <a:ext cx="411480" cy="0"/>
          </a:xfrm>
          <a:prstGeom prst="line">
            <a:avLst/>
          </a:prstGeom>
          <a:noFill/>
          <a:ln w="31750">
            <a:solidFill>
              <a:schemeClr val="accent6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3566160" y="2331720"/>
            <a:ext cx="2011680" cy="914400"/>
          </a:xfrm>
          <a:prstGeom prst="roundRect">
            <a:avLst>
              <a:gd name="adj" fmla="val 10000"/>
            </a:avLst>
          </a:prstGeom>
          <a:solidFill>
            <a:schemeClr val="tx2"/>
          </a:solidFill>
          <a:ln w="25400">
            <a:solidFill>
              <a:schemeClr val="accent2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3611880" y="2331720"/>
            <a:ext cx="1920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LLM Gateway</a:t>
            </a:r>
            <a:endParaRPr lang="en-US" sz="16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ECS Fargate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3566160" y="3611880"/>
            <a:ext cx="914400" cy="731520"/>
          </a:xfrm>
          <a:prstGeom prst="roundRect">
            <a:avLst>
              <a:gd name="adj" fmla="val 12500"/>
            </a:avLst>
          </a:prstGeom>
          <a:solidFill>
            <a:schemeClr val="tx2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3611880" y="3611880"/>
            <a:ext cx="822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SQS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4663440" y="3611880"/>
            <a:ext cx="914400" cy="731520"/>
          </a:xfrm>
          <a:prstGeom prst="roundRect">
            <a:avLst>
              <a:gd name="adj" fmla="val 12500"/>
            </a:avLst>
          </a:prstGeom>
          <a:solidFill>
            <a:schemeClr val="tx2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4709160" y="3611880"/>
            <a:ext cx="822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Lambda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5806440" y="3611880"/>
            <a:ext cx="1463040" cy="731520"/>
          </a:xfrm>
          <a:prstGeom prst="roundRect">
            <a:avLst>
              <a:gd name="adj" fmla="val 12500"/>
            </a:avLst>
          </a:prstGeom>
          <a:solidFill>
            <a:schemeClr val="tx2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5852160" y="3611880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DynamoDB</a:t>
            </a:r>
            <a:endParaRPr lang="en-US" sz="16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用量與稽核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4023360" y="3246120"/>
            <a:ext cx="0" cy="347472"/>
          </a:xfrm>
          <a:prstGeom prst="line">
            <a:avLst/>
          </a:prstGeom>
          <a:noFill/>
          <a:ln w="25400">
            <a:solidFill>
              <a:schemeClr val="accent6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4498848" y="3977640"/>
            <a:ext cx="146304" cy="0"/>
          </a:xfrm>
          <a:prstGeom prst="line">
            <a:avLst/>
          </a:prstGeom>
          <a:noFill/>
          <a:ln w="25400">
            <a:solidFill>
              <a:schemeClr val="accent6"/>
            </a:solidFill>
            <a:prstDash val="solid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5596128" y="3977640"/>
            <a:ext cx="192024" cy="0"/>
          </a:xfrm>
          <a:prstGeom prst="line">
            <a:avLst/>
          </a:prstGeom>
          <a:noFill/>
          <a:ln w="25400">
            <a:solidFill>
              <a:schemeClr val="accent6"/>
            </a:solidFill>
            <a:prstDash val="solid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5596128" y="2788920"/>
            <a:ext cx="2148840" cy="0"/>
          </a:xfrm>
          <a:prstGeom prst="line">
            <a:avLst/>
          </a:prstGeom>
          <a:noFill/>
          <a:ln w="31750">
            <a:solidFill>
              <a:schemeClr val="accent6"/>
            </a:solidFill>
            <a:prstDash val="solid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7772400" y="2331720"/>
            <a:ext cx="1783080" cy="914400"/>
          </a:xfrm>
          <a:prstGeom prst="roundRect">
            <a:avLst>
              <a:gd name="adj" fmla="val 10000"/>
            </a:avLst>
          </a:prstGeom>
          <a:solidFill>
            <a:schemeClr val="tx2"/>
          </a:solidFill>
          <a:ln w="25400">
            <a:solidFill>
              <a:schemeClr val="accent2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7818120" y="2331720"/>
            <a:ext cx="1691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唯一出口</a:t>
            </a:r>
            <a:endParaRPr lang="en-US" sz="16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NAT＋DNS 防火牆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9573768" y="2788920"/>
            <a:ext cx="283464" cy="0"/>
          </a:xfrm>
          <a:prstGeom prst="line">
            <a:avLst/>
          </a:prstGeom>
          <a:noFill/>
          <a:ln w="31750">
            <a:solidFill>
              <a:schemeClr val="accent6"/>
            </a:solidFill>
            <a:prstDash val="solid"/>
            <a:tailEnd type="triangle"/>
          </a:ln>
        </p:spPr>
      </p:sp>
      <p:sp>
        <p:nvSpPr>
          <p:cNvPr id="34" name="Shape 32"/>
          <p:cNvSpPr/>
          <p:nvPr/>
        </p:nvSpPr>
        <p:spPr>
          <a:xfrm>
            <a:off x="9875520" y="2331720"/>
            <a:ext cx="1737360" cy="914400"/>
          </a:xfrm>
          <a:prstGeom prst="roundRect">
            <a:avLst>
              <a:gd name="adj" fmla="val 10000"/>
            </a:avLst>
          </a:prstGeom>
          <a:solidFill>
            <a:schemeClr val="tx2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9921240" y="2331720"/>
            <a:ext cx="1645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OpenAI API</a:t>
            </a:r>
            <a:endParaRPr lang="en-US" sz="16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只放行這一家</a:t>
            </a:r>
            <a:endParaRPr lang="en-US" sz="1600" dirty="0"/>
          </a:p>
        </p:txBody>
      </p:sp>
      <p:sp>
        <p:nvSpPr>
          <p:cNvPr id="36" name="badge"/>
          <p:cNvSpPr/>
          <p:nvPr/>
        </p:nvSpPr>
        <p:spPr>
          <a:xfrm>
            <a:off x="3401568" y="2148840"/>
            <a:ext cx="384048" cy="384048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37" name="Text 35"/>
          <p:cNvSpPr txBox="1"/>
          <p:nvPr/>
        </p:nvSpPr>
        <p:spPr>
          <a:xfrm>
            <a:off x="3401568" y="21488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</a:t>
            </a:r>
            <a:endParaRPr lang="en-US" sz="1400" dirty="0"/>
          </a:p>
        </p:txBody>
      </p:sp>
      <p:sp>
        <p:nvSpPr>
          <p:cNvPr id="38" name="badge"/>
          <p:cNvSpPr/>
          <p:nvPr/>
        </p:nvSpPr>
        <p:spPr>
          <a:xfrm>
            <a:off x="7607808" y="2148840"/>
            <a:ext cx="384048" cy="384048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39" name="Text 37"/>
          <p:cNvSpPr txBox="1"/>
          <p:nvPr/>
        </p:nvSpPr>
        <p:spPr>
          <a:xfrm>
            <a:off x="7607808" y="21488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1400" dirty="0"/>
          </a:p>
        </p:txBody>
      </p:sp>
      <p:sp>
        <p:nvSpPr>
          <p:cNvPr id="40" name="badge"/>
          <p:cNvSpPr/>
          <p:nvPr/>
        </p:nvSpPr>
        <p:spPr>
          <a:xfrm>
            <a:off x="3401568" y="3456432"/>
            <a:ext cx="384048" cy="384048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41" name="Text 39"/>
          <p:cNvSpPr txBox="1"/>
          <p:nvPr/>
        </p:nvSpPr>
        <p:spPr>
          <a:xfrm>
            <a:off x="3401568" y="34564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1400" dirty="0"/>
          </a:p>
        </p:txBody>
      </p:sp>
      <p:sp>
        <p:nvSpPr>
          <p:cNvPr id="42" name="callout"/>
          <p:cNvSpPr/>
          <p:nvPr/>
        </p:nvSpPr>
        <p:spPr>
          <a:xfrm>
            <a:off x="548640" y="4892040"/>
            <a:ext cx="3474720" cy="1051560"/>
          </a:xfrm>
          <a:prstGeom prst="roundRect">
            <a:avLst>
              <a:gd name="adj" fmla="val 8696"/>
            </a:avLst>
          </a:prstGeom>
          <a:solidFill>
            <a:schemeClr val="tx2"/>
          </a:solidFill>
          <a:ln/>
        </p:spPr>
      </p:sp>
      <p:sp>
        <p:nvSpPr>
          <p:cNvPr id="43" name="badge"/>
          <p:cNvSpPr/>
          <p:nvPr/>
        </p:nvSpPr>
        <p:spPr>
          <a:xfrm>
            <a:off x="777240" y="5221224"/>
            <a:ext cx="384048" cy="384048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44" name="Text 42"/>
          <p:cNvSpPr txBox="1"/>
          <p:nvPr/>
        </p:nvSpPr>
        <p:spPr>
          <a:xfrm>
            <a:off x="777240" y="522122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</a:t>
            </a:r>
            <a:endParaRPr lang="en-US" sz="1400" dirty="0"/>
          </a:p>
        </p:txBody>
      </p:sp>
      <p:sp>
        <p:nvSpPr>
          <p:cNvPr id="45" name="Text 43"/>
          <p:cNvSpPr txBox="1"/>
          <p:nvPr/>
        </p:nvSpPr>
        <p:spPr>
          <a:xfrm>
            <a:off x="1325880" y="4892040"/>
            <a:ext cx="2606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外面連不進來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容器放在私有子網</a:t>
            </a:r>
            <a:endParaRPr lang="en-US" sz="1600" dirty="0"/>
          </a:p>
        </p:txBody>
      </p:sp>
      <p:sp>
        <p:nvSpPr>
          <p:cNvPr id="46" name="callout"/>
          <p:cNvSpPr/>
          <p:nvPr/>
        </p:nvSpPr>
        <p:spPr>
          <a:xfrm>
            <a:off x="4343400" y="4892040"/>
            <a:ext cx="3474720" cy="1051560"/>
          </a:xfrm>
          <a:prstGeom prst="roundRect">
            <a:avLst>
              <a:gd name="adj" fmla="val 8696"/>
            </a:avLst>
          </a:prstGeom>
          <a:solidFill>
            <a:schemeClr val="tx2"/>
          </a:solidFill>
          <a:ln/>
        </p:spPr>
      </p:sp>
      <p:sp>
        <p:nvSpPr>
          <p:cNvPr id="47" name="badge"/>
          <p:cNvSpPr/>
          <p:nvPr/>
        </p:nvSpPr>
        <p:spPr>
          <a:xfrm>
            <a:off x="4572000" y="5221224"/>
            <a:ext cx="384048" cy="384048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48" name="Text 46"/>
          <p:cNvSpPr txBox="1"/>
          <p:nvPr/>
        </p:nvSpPr>
        <p:spPr>
          <a:xfrm>
            <a:off x="4572000" y="522122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1400" dirty="0"/>
          </a:p>
        </p:txBody>
      </p:sp>
      <p:sp>
        <p:nvSpPr>
          <p:cNvPr id="49" name="Text 47"/>
          <p:cNvSpPr txBox="1"/>
          <p:nvPr/>
        </p:nvSpPr>
        <p:spPr>
          <a:xfrm>
            <a:off x="5120640" y="4892040"/>
            <a:ext cx="2606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只有一個出口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只查得到名單上的網域</a:t>
            </a:r>
            <a:endParaRPr lang="en-US" sz="1600" dirty="0"/>
          </a:p>
        </p:txBody>
      </p:sp>
      <p:sp>
        <p:nvSpPr>
          <p:cNvPr id="50" name="callout"/>
          <p:cNvSpPr/>
          <p:nvPr/>
        </p:nvSpPr>
        <p:spPr>
          <a:xfrm>
            <a:off x="8138160" y="4892040"/>
            <a:ext cx="3474720" cy="1051560"/>
          </a:xfrm>
          <a:prstGeom prst="roundRect">
            <a:avLst>
              <a:gd name="adj" fmla="val 8696"/>
            </a:avLst>
          </a:prstGeom>
          <a:solidFill>
            <a:schemeClr val="tx2"/>
          </a:solidFill>
          <a:ln/>
        </p:spPr>
      </p:sp>
      <p:sp>
        <p:nvSpPr>
          <p:cNvPr id="51" name="badge"/>
          <p:cNvSpPr/>
          <p:nvPr/>
        </p:nvSpPr>
        <p:spPr>
          <a:xfrm>
            <a:off x="8366760" y="5221224"/>
            <a:ext cx="384048" cy="384048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52" name="Text 50"/>
          <p:cNvSpPr txBox="1"/>
          <p:nvPr/>
        </p:nvSpPr>
        <p:spPr>
          <a:xfrm>
            <a:off x="8366760" y="522122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1400" dirty="0"/>
          </a:p>
        </p:txBody>
      </p:sp>
      <p:sp>
        <p:nvSpPr>
          <p:cNvPr id="53" name="Text 51"/>
          <p:cNvSpPr txBox="1"/>
          <p:nvPr/>
        </p:nvSpPr>
        <p:spPr>
          <a:xfrm>
            <a:off x="8915400" y="4892040"/>
            <a:ext cx="2606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記帳不拖慢回答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交給佇列另外處理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1261872" y="384048"/>
            <a:ext cx="7589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技術實踐｜節費 ①</a:t>
            </a:r>
            <a:endParaRPr lang="en-US" sz="3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170432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chemeClr val="accent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簡單的事，不必用最貴的模型</a:t>
            </a:r>
            <a:endParaRPr lang="en-US" sz="2000" dirty="0"/>
          </a:p>
        </p:txBody>
      </p:sp>
      <p:sp>
        <p:nvSpPr>
          <p:cNvPr id="4" name="agenda-number"/>
          <p:cNvSpPr/>
          <p:nvPr/>
        </p:nvSpPr>
        <p:spPr>
          <a:xfrm>
            <a:off x="548640" y="438912"/>
            <a:ext cx="548640" cy="54864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43891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03</a:t>
            </a:r>
            <a:endParaRPr lang="en-US" sz="1600" dirty="0"/>
          </a:p>
        </p:txBody>
      </p:sp>
      <p:sp>
        <p:nvSpPr>
          <p:cNvPr id="6" name="progress-dot"/>
          <p:cNvSpPr/>
          <p:nvPr/>
        </p:nvSpPr>
        <p:spPr>
          <a:xfrm>
            <a:off x="10799064" y="274320"/>
            <a:ext cx="128016" cy="12801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7" name="progress-dot"/>
          <p:cNvSpPr/>
          <p:nvPr/>
        </p:nvSpPr>
        <p:spPr>
          <a:xfrm>
            <a:off x="11036808" y="274320"/>
            <a:ext cx="128016" cy="12801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8" name="progress-dot"/>
          <p:cNvSpPr/>
          <p:nvPr/>
        </p:nvSpPr>
        <p:spPr>
          <a:xfrm>
            <a:off x="11274552" y="274320"/>
            <a:ext cx="128016" cy="128016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9" name="progress-dot"/>
          <p:cNvSpPr/>
          <p:nvPr/>
        </p:nvSpPr>
        <p:spPr>
          <a:xfrm>
            <a:off x="11512296" y="274320"/>
            <a:ext cx="128016" cy="128016"/>
          </a:xfrm>
          <a:prstGeom prst="ellipse">
            <a:avLst/>
          </a:prstGeom>
          <a:solidFill>
            <a:schemeClr val="accent6">
              <a:alpha val="60000"/>
            </a:schemeClr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9473184" y="566928"/>
            <a:ext cx="2167128" cy="310896"/>
          </a:xfrm>
          <a:prstGeom prst="roundRect">
            <a:avLst>
              <a:gd name="adj" fmla="val 23529"/>
            </a:avLst>
          </a:prstGeom>
          <a:solidFill>
            <a:schemeClr val="accent2"/>
          </a:solidFill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已實作｜M3 驗收時錄影</a:t>
            </a:r>
            <a:endParaRPr lang="en-US" sz="1100" dirty="0"/>
          </a:p>
        </p:txBody>
      </p:sp>
      <p:sp>
        <p:nvSpPr>
          <p:cNvPr id="11" name="demo-frame"/>
          <p:cNvSpPr/>
          <p:nvPr/>
        </p:nvSpPr>
        <p:spPr>
          <a:xfrm>
            <a:off x="548640" y="1920240"/>
            <a:ext cx="6949440" cy="4023360"/>
          </a:xfrm>
          <a:prstGeom prst="roundRect">
            <a:avLst>
              <a:gd name="adj" fmla="val 2273"/>
            </a:avLst>
          </a:prstGeom>
          <a:solidFill>
            <a:schemeClr val="accent1">
              <a:alpha val="18000"/>
            </a:schemeClr>
          </a:solidFill>
          <a:ln/>
        </p:spPr>
      </p:sp>
      <p:sp>
        <p:nvSpPr>
          <p:cNvPr id="12" name="Shape 10"/>
          <p:cNvSpPr/>
          <p:nvPr/>
        </p:nvSpPr>
        <p:spPr>
          <a:xfrm>
            <a:off x="749808" y="2103120"/>
            <a:ext cx="329184" cy="329184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2104" y="2185416"/>
            <a:ext cx="164592" cy="164592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1170432" y="2103120"/>
            <a:ext cx="6126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Demo 錄影 S05：兩種問題選到不同模型（M3 驗收時錄）</a:t>
            </a:r>
            <a:endParaRPr lang="en-US" sz="1200" dirty="0"/>
          </a:p>
        </p:txBody>
      </p:sp>
      <p:sp>
        <p:nvSpPr>
          <p:cNvPr id="15" name="Text 12"/>
          <p:cNvSpPr txBox="1"/>
          <p:nvPr/>
        </p:nvSpPr>
        <p:spPr>
          <a:xfrm>
            <a:off x="822960" y="2743200"/>
            <a:ext cx="2743200" cy="685800"/>
          </a:xfrm>
          <a:prstGeom prst="roundRect">
            <a:avLst>
              <a:gd name="adj" fmla="val 10667"/>
            </a:avLst>
          </a:prstGeom>
          <a:solidFill>
            <a:schemeClr val="bg1"/>
          </a:solidFill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把這句翻成英文</a:t>
            </a: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3611880" y="3086100"/>
            <a:ext cx="274320" cy="0"/>
          </a:xfrm>
          <a:prstGeom prst="line">
            <a:avLst/>
          </a:prstGeom>
          <a:noFill/>
          <a:ln w="31750">
            <a:solidFill>
              <a:schemeClr val="accent6"/>
            </a:solidFill>
            <a:prstDash val="solid"/>
            <a:tailEnd type="triangle"/>
          </a:ln>
        </p:spPr>
      </p:sp>
      <p:sp>
        <p:nvSpPr>
          <p:cNvPr id="17" name="Text 14"/>
          <p:cNvSpPr txBox="1"/>
          <p:nvPr/>
        </p:nvSpPr>
        <p:spPr>
          <a:xfrm>
            <a:off x="3931920" y="2834640"/>
            <a:ext cx="914400" cy="502920"/>
          </a:xfrm>
          <a:prstGeom prst="roundRect">
            <a:avLst>
              <a:gd name="adj" fmla="val 14545"/>
            </a:avLst>
          </a:prstGeom>
          <a:solidFill>
            <a:schemeClr val="bg2"/>
          </a:solidFill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簡單</a:t>
            </a:r>
            <a:endParaRPr lang="en-US" sz="1600" dirty="0"/>
          </a:p>
        </p:txBody>
      </p:sp>
      <p:sp>
        <p:nvSpPr>
          <p:cNvPr id="18" name="Shape 15"/>
          <p:cNvSpPr/>
          <p:nvPr/>
        </p:nvSpPr>
        <p:spPr>
          <a:xfrm>
            <a:off x="4892040" y="3086100"/>
            <a:ext cx="274320" cy="0"/>
          </a:xfrm>
          <a:prstGeom prst="line">
            <a:avLst/>
          </a:prstGeom>
          <a:noFill/>
          <a:ln w="31750">
            <a:solidFill>
              <a:schemeClr val="accent6"/>
            </a:solidFill>
            <a:prstDash val="solid"/>
            <a:tailEnd type="triangle"/>
          </a:ln>
        </p:spPr>
      </p:sp>
      <p:sp>
        <p:nvSpPr>
          <p:cNvPr id="19" name="Text 16"/>
          <p:cNvSpPr txBox="1"/>
          <p:nvPr/>
        </p:nvSpPr>
        <p:spPr>
          <a:xfrm>
            <a:off x="5212080" y="2743200"/>
            <a:ext cx="2057400" cy="685800"/>
          </a:xfrm>
          <a:prstGeom prst="roundRect">
            <a:avLst>
              <a:gd name="adj" fmla="val 10667"/>
            </a:avLst>
          </a:prstGeom>
          <a:solidFill>
            <a:schemeClr val="accent1"/>
          </a:solidFill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gpt-6-luna</a:t>
            </a:r>
            <a:endParaRPr lang="en-US" sz="14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便宜</a:t>
            </a:r>
            <a:endParaRPr lang="en-US" sz="1400" dirty="0"/>
          </a:p>
        </p:txBody>
      </p:sp>
      <p:sp>
        <p:nvSpPr>
          <p:cNvPr id="20" name="Text 17"/>
          <p:cNvSpPr txBox="1"/>
          <p:nvPr/>
        </p:nvSpPr>
        <p:spPr>
          <a:xfrm>
            <a:off x="822960" y="3977640"/>
            <a:ext cx="2743200" cy="685800"/>
          </a:xfrm>
          <a:prstGeom prst="roundRect">
            <a:avLst>
              <a:gd name="adj" fmla="val 10667"/>
            </a:avLst>
          </a:prstGeom>
          <a:solidFill>
            <a:schemeClr val="bg1"/>
          </a:solidFill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分析這份 300 字的需求</a:t>
            </a:r>
            <a:endParaRPr lang="en-US" sz="1600" dirty="0"/>
          </a:p>
        </p:txBody>
      </p:sp>
      <p:sp>
        <p:nvSpPr>
          <p:cNvPr id="21" name="Shape 18"/>
          <p:cNvSpPr/>
          <p:nvPr/>
        </p:nvSpPr>
        <p:spPr>
          <a:xfrm>
            <a:off x="3611880" y="4320540"/>
            <a:ext cx="274320" cy="0"/>
          </a:xfrm>
          <a:prstGeom prst="line">
            <a:avLst/>
          </a:prstGeom>
          <a:noFill/>
          <a:ln w="31750">
            <a:solidFill>
              <a:schemeClr val="accent6"/>
            </a:solidFill>
            <a:prstDash val="solid"/>
            <a:tailEnd type="triangle"/>
          </a:ln>
        </p:spPr>
      </p:sp>
      <p:sp>
        <p:nvSpPr>
          <p:cNvPr id="22" name="Text 19"/>
          <p:cNvSpPr txBox="1"/>
          <p:nvPr/>
        </p:nvSpPr>
        <p:spPr>
          <a:xfrm>
            <a:off x="3931920" y="4069080"/>
            <a:ext cx="914400" cy="502920"/>
          </a:xfrm>
          <a:prstGeom prst="roundRect">
            <a:avLst>
              <a:gd name="adj" fmla="val 14545"/>
            </a:avLst>
          </a:prstGeom>
          <a:solidFill>
            <a:schemeClr val="bg2"/>
          </a:solidFill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複雜</a:t>
            </a:r>
            <a:endParaRPr lang="en-US" sz="1600" dirty="0"/>
          </a:p>
        </p:txBody>
      </p:sp>
      <p:sp>
        <p:nvSpPr>
          <p:cNvPr id="23" name="Shape 20"/>
          <p:cNvSpPr/>
          <p:nvPr/>
        </p:nvSpPr>
        <p:spPr>
          <a:xfrm>
            <a:off x="4892040" y="4320540"/>
            <a:ext cx="274320" cy="0"/>
          </a:xfrm>
          <a:prstGeom prst="line">
            <a:avLst/>
          </a:prstGeom>
          <a:noFill/>
          <a:ln w="31750">
            <a:solidFill>
              <a:schemeClr val="accent6"/>
            </a:solidFill>
            <a:prstDash val="solid"/>
            <a:tailEnd type="triangle"/>
          </a:ln>
        </p:spPr>
      </p:sp>
      <p:sp>
        <p:nvSpPr>
          <p:cNvPr id="24" name="Text 21"/>
          <p:cNvSpPr txBox="1"/>
          <p:nvPr/>
        </p:nvSpPr>
        <p:spPr>
          <a:xfrm>
            <a:off x="5212080" y="3977640"/>
            <a:ext cx="2057400" cy="685800"/>
          </a:xfrm>
          <a:prstGeom prst="roundRect">
            <a:avLst>
              <a:gd name="adj" fmla="val 10667"/>
            </a:avLst>
          </a:prstGeom>
          <a:solidFill>
            <a:schemeClr val="accent2"/>
          </a:solidFill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gpt-6-sol</a:t>
            </a:r>
            <a:endParaRPr lang="en-US" sz="14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強</a:t>
            </a:r>
            <a:endParaRPr lang="en-US" sz="1400" dirty="0"/>
          </a:p>
        </p:txBody>
      </p:sp>
      <p:sp>
        <p:nvSpPr>
          <p:cNvPr id="25" name="Text 22"/>
          <p:cNvSpPr txBox="1"/>
          <p:nvPr/>
        </p:nvSpPr>
        <p:spPr>
          <a:xfrm>
            <a:off x="822960" y="534924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畫面為示意，M3 驗收時換成錄影</a:t>
            </a:r>
            <a:endParaRPr lang="en-US" sz="1200" dirty="0"/>
          </a:p>
        </p:txBody>
      </p:sp>
      <p:sp>
        <p:nvSpPr>
          <p:cNvPr id="26" name="Text 23"/>
          <p:cNvSpPr txBox="1"/>
          <p:nvPr/>
        </p:nvSpPr>
        <p:spPr>
          <a:xfrm>
            <a:off x="7909560" y="1965960"/>
            <a:ext cx="37033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chemeClr val="accent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20 倍</a:t>
            </a:r>
            <a:endParaRPr lang="en-US" sz="7200" dirty="0"/>
          </a:p>
        </p:txBody>
      </p:sp>
      <p:sp>
        <p:nvSpPr>
          <p:cNvPr id="27" name="Text 24"/>
          <p:cNvSpPr txBox="1"/>
          <p:nvPr/>
        </p:nvSpPr>
        <p:spPr>
          <a:xfrm>
            <a:off x="7909560" y="3200400"/>
            <a:ext cx="3703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bg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兩顆模型的單價差</a:t>
            </a:r>
            <a:endParaRPr lang="en-US" sz="1800" dirty="0"/>
          </a:p>
        </p:txBody>
      </p:sp>
      <p:sp>
        <p:nvSpPr>
          <p:cNvPr id="28" name="Shape 25"/>
          <p:cNvSpPr/>
          <p:nvPr/>
        </p:nvSpPr>
        <p:spPr>
          <a:xfrm>
            <a:off x="7909560" y="4343400"/>
            <a:ext cx="713232" cy="713232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2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87868" y="4521708"/>
            <a:ext cx="356616" cy="356616"/>
          </a:xfrm>
          <a:prstGeom prst="rect">
            <a:avLst/>
          </a:prstGeom>
        </p:spPr>
      </p:pic>
      <p:sp>
        <p:nvSpPr>
          <p:cNvPr id="30" name="Text 26"/>
          <p:cNvSpPr txBox="1"/>
          <p:nvPr/>
        </p:nvSpPr>
        <p:spPr>
          <a:xfrm>
            <a:off x="8778240" y="4251960"/>
            <a:ext cx="2834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規則由公司定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使用者不能自己指定模型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1261872" y="384048"/>
            <a:ext cx="7589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技術實踐｜節費 ②</a:t>
            </a:r>
            <a:endParaRPr lang="en-US" sz="3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170432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chemeClr val="accent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同一組問題，省下 X%</a:t>
            </a:r>
            <a:endParaRPr lang="en-US" sz="2000" dirty="0"/>
          </a:p>
        </p:txBody>
      </p:sp>
      <p:sp>
        <p:nvSpPr>
          <p:cNvPr id="4" name="agenda-number"/>
          <p:cNvSpPr/>
          <p:nvPr/>
        </p:nvSpPr>
        <p:spPr>
          <a:xfrm>
            <a:off x="548640" y="438912"/>
            <a:ext cx="548640" cy="54864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43891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03</a:t>
            </a:r>
            <a:endParaRPr lang="en-US" sz="1600" dirty="0"/>
          </a:p>
        </p:txBody>
      </p:sp>
      <p:sp>
        <p:nvSpPr>
          <p:cNvPr id="6" name="progress-dot"/>
          <p:cNvSpPr/>
          <p:nvPr/>
        </p:nvSpPr>
        <p:spPr>
          <a:xfrm>
            <a:off x="10799064" y="274320"/>
            <a:ext cx="128016" cy="12801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7" name="progress-dot"/>
          <p:cNvSpPr/>
          <p:nvPr/>
        </p:nvSpPr>
        <p:spPr>
          <a:xfrm>
            <a:off x="11036808" y="274320"/>
            <a:ext cx="128016" cy="12801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8" name="progress-dot"/>
          <p:cNvSpPr/>
          <p:nvPr/>
        </p:nvSpPr>
        <p:spPr>
          <a:xfrm>
            <a:off x="11274552" y="274320"/>
            <a:ext cx="128016" cy="128016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9" name="progress-dot"/>
          <p:cNvSpPr/>
          <p:nvPr/>
        </p:nvSpPr>
        <p:spPr>
          <a:xfrm>
            <a:off x="11512296" y="274320"/>
            <a:ext cx="128016" cy="128016"/>
          </a:xfrm>
          <a:prstGeom prst="ellipse">
            <a:avLst/>
          </a:prstGeom>
          <a:solidFill>
            <a:schemeClr val="accent6">
              <a:alpha val="60000"/>
            </a:schemeClr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9619488" y="566928"/>
            <a:ext cx="2020824" cy="310896"/>
          </a:xfrm>
          <a:prstGeom prst="roundRect">
            <a:avLst>
              <a:gd name="adj" fmla="val 23529"/>
            </a:avLst>
          </a:prstGeom>
          <a:solidFill>
            <a:schemeClr val="accent2"/>
          </a:solidFill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X%：M3 實測後填入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1828800"/>
            <a:ext cx="53035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0" b="1" dirty="0">
                <a:solidFill>
                  <a:schemeClr val="accent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X%</a:t>
            </a:r>
            <a:endParaRPr lang="en-US" sz="120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361188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bg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20 題 × 2 顆模型，每一題都真的跑過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4343400"/>
            <a:ext cx="2377440" cy="1051560"/>
          </a:xfrm>
          <a:prstGeom prst="roundRect">
            <a:avLst>
              <a:gd name="adj" fmla="val 6957"/>
            </a:avLst>
          </a:prstGeom>
          <a:solidFill>
            <a:schemeClr val="tx2"/>
          </a:solidFill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bg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全部用強模型</a:t>
            </a:r>
            <a:endParaRPr lang="en-US" sz="1400" dirty="0"/>
          </a:p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US$ ___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2999232" y="4864608"/>
            <a:ext cx="457200" cy="0"/>
          </a:xfrm>
          <a:prstGeom prst="line">
            <a:avLst/>
          </a:prstGeom>
          <a:noFill/>
          <a:ln w="31750">
            <a:solidFill>
              <a:schemeClr val="accent2"/>
            </a:solidFill>
            <a:prstDash val="solid"/>
            <a:tailEnd type="triangle"/>
          </a:ln>
        </p:spPr>
      </p:sp>
      <p:sp>
        <p:nvSpPr>
          <p:cNvPr id="15" name="Text 13"/>
          <p:cNvSpPr txBox="1"/>
          <p:nvPr/>
        </p:nvSpPr>
        <p:spPr>
          <a:xfrm>
            <a:off x="3520440" y="4343400"/>
            <a:ext cx="2377440" cy="1051560"/>
          </a:xfrm>
          <a:prstGeom prst="roundRect">
            <a:avLst>
              <a:gd name="adj" fmla="val 6957"/>
            </a:avLst>
          </a:prstGeom>
          <a:solidFill>
            <a:schemeClr val="tx2"/>
          </a:solidFill>
          <a:ln w="25400">
            <a:solidFill>
              <a:schemeClr val="accent2"/>
            </a:solidFill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bg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智慧路由</a:t>
            </a:r>
            <a:endParaRPr lang="en-US" sz="1400" dirty="0"/>
          </a:p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US$ ___</a:t>
            </a:r>
            <a:endParaRPr lang="en-US" sz="1400" dirty="0"/>
          </a:p>
        </p:txBody>
      </p:sp>
      <p:sp>
        <p:nvSpPr>
          <p:cNvPr id="16" name="dashboard-card"/>
          <p:cNvSpPr/>
          <p:nvPr/>
        </p:nvSpPr>
        <p:spPr>
          <a:xfrm>
            <a:off x="6355080" y="1920240"/>
            <a:ext cx="5257800" cy="4023360"/>
          </a:xfrm>
          <a:prstGeom prst="roundRect">
            <a:avLst>
              <a:gd name="adj" fmla="val 2273"/>
            </a:avLst>
          </a:prstGeom>
          <a:solidFill>
            <a:schemeClr val="tx2"/>
          </a:solidFill>
          <a:ln/>
        </p:spPr>
      </p:sp>
      <p:sp>
        <p:nvSpPr>
          <p:cNvPr id="17" name="Shape 15"/>
          <p:cNvSpPr/>
          <p:nvPr/>
        </p:nvSpPr>
        <p:spPr>
          <a:xfrm>
            <a:off x="6629400" y="2194560"/>
            <a:ext cx="713232" cy="713232"/>
          </a:xfrm>
          <a:prstGeom prst="ellipse">
            <a:avLst/>
          </a:prstGeom>
          <a:solidFill>
            <a:schemeClr val="tx1"/>
          </a:solidFill>
          <a:ln/>
        </p:spPr>
      </p:sp>
      <p:pic>
        <p:nvPicPr>
          <p:cNvPr id="1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07708" y="2372868"/>
            <a:ext cx="356616" cy="356616"/>
          </a:xfrm>
          <a:prstGeom prst="rect">
            <a:avLst/>
          </a:prstGeom>
        </p:spPr>
      </p:pic>
      <p:sp>
        <p:nvSpPr>
          <p:cNvPr id="19" name="Text 16"/>
          <p:cNvSpPr txBox="1"/>
          <p:nvPr/>
        </p:nvSpPr>
        <p:spPr>
          <a:xfrm>
            <a:off x="7498080" y="2121408"/>
            <a:ext cx="3931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每個人花多少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一眼看得到，不用等月底帳單</a:t>
            </a:r>
            <a:endParaRPr lang="en-US" sz="1600" dirty="0"/>
          </a:p>
        </p:txBody>
      </p:sp>
      <p:sp>
        <p:nvSpPr>
          <p:cNvPr id="20" name="Text 17"/>
          <p:cNvSpPr txBox="1"/>
          <p:nvPr/>
        </p:nvSpPr>
        <p:spPr>
          <a:xfrm>
            <a:off x="6629400" y="3429000"/>
            <a:ext cx="960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alice</a:t>
            </a:r>
            <a:endParaRPr lang="en-US" sz="1400" dirty="0"/>
          </a:p>
        </p:txBody>
      </p:sp>
      <p:sp>
        <p:nvSpPr>
          <p:cNvPr id="21" name="Shape 18"/>
          <p:cNvSpPr/>
          <p:nvPr/>
        </p:nvSpPr>
        <p:spPr>
          <a:xfrm>
            <a:off x="7680960" y="3502152"/>
            <a:ext cx="3611880" cy="237744"/>
          </a:xfrm>
          <a:prstGeom prst="roundRect">
            <a:avLst>
              <a:gd name="adj" fmla="val 19231"/>
            </a:avLst>
          </a:prstGeom>
          <a:solidFill>
            <a:schemeClr val="tx1"/>
          </a:solidFill>
          <a:ln/>
        </p:spPr>
      </p:sp>
      <p:sp>
        <p:nvSpPr>
          <p:cNvPr id="22" name="Shape 19"/>
          <p:cNvSpPr/>
          <p:nvPr/>
        </p:nvSpPr>
        <p:spPr>
          <a:xfrm>
            <a:off x="7680960" y="3502152"/>
            <a:ext cx="3017520" cy="237744"/>
          </a:xfrm>
          <a:prstGeom prst="roundRect">
            <a:avLst>
              <a:gd name="adj" fmla="val 19231"/>
            </a:avLst>
          </a:prstGeom>
          <a:solidFill>
            <a:schemeClr val="accent2"/>
          </a:solidFill>
          <a:ln/>
        </p:spPr>
      </p:sp>
      <p:sp>
        <p:nvSpPr>
          <p:cNvPr id="23" name="Text 20"/>
          <p:cNvSpPr txBox="1"/>
          <p:nvPr/>
        </p:nvSpPr>
        <p:spPr>
          <a:xfrm>
            <a:off x="6629400" y="4050792"/>
            <a:ext cx="960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bob</a:t>
            </a:r>
            <a:endParaRPr lang="en-US" sz="1400" dirty="0"/>
          </a:p>
        </p:txBody>
      </p:sp>
      <p:sp>
        <p:nvSpPr>
          <p:cNvPr id="24" name="Shape 21"/>
          <p:cNvSpPr/>
          <p:nvPr/>
        </p:nvSpPr>
        <p:spPr>
          <a:xfrm>
            <a:off x="7680960" y="4123944"/>
            <a:ext cx="3611880" cy="237744"/>
          </a:xfrm>
          <a:prstGeom prst="roundRect">
            <a:avLst>
              <a:gd name="adj" fmla="val 19231"/>
            </a:avLst>
          </a:prstGeom>
          <a:solidFill>
            <a:schemeClr val="tx1"/>
          </a:solidFill>
          <a:ln/>
        </p:spPr>
      </p:sp>
      <p:sp>
        <p:nvSpPr>
          <p:cNvPr id="25" name="Shape 22"/>
          <p:cNvSpPr/>
          <p:nvPr/>
        </p:nvSpPr>
        <p:spPr>
          <a:xfrm>
            <a:off x="7680960" y="4123944"/>
            <a:ext cx="1554480" cy="237744"/>
          </a:xfrm>
          <a:prstGeom prst="roundRect">
            <a:avLst>
              <a:gd name="adj" fmla="val 19231"/>
            </a:avLst>
          </a:prstGeom>
          <a:solidFill>
            <a:schemeClr val="accent1"/>
          </a:solidFill>
          <a:ln/>
        </p:spPr>
      </p:sp>
      <p:sp>
        <p:nvSpPr>
          <p:cNvPr id="26" name="Text 23"/>
          <p:cNvSpPr txBox="1"/>
          <p:nvPr/>
        </p:nvSpPr>
        <p:spPr>
          <a:xfrm>
            <a:off x="6629400" y="4672584"/>
            <a:ext cx="960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carol</a:t>
            </a:r>
            <a:endParaRPr lang="en-US" sz="1400" dirty="0"/>
          </a:p>
        </p:txBody>
      </p:sp>
      <p:sp>
        <p:nvSpPr>
          <p:cNvPr id="27" name="Shape 24"/>
          <p:cNvSpPr/>
          <p:nvPr/>
        </p:nvSpPr>
        <p:spPr>
          <a:xfrm>
            <a:off x="7680960" y="4745736"/>
            <a:ext cx="3611880" cy="237744"/>
          </a:xfrm>
          <a:prstGeom prst="roundRect">
            <a:avLst>
              <a:gd name="adj" fmla="val 19231"/>
            </a:avLst>
          </a:prstGeom>
          <a:solidFill>
            <a:schemeClr val="tx1"/>
          </a:solidFill>
          <a:ln/>
        </p:spPr>
      </p:sp>
      <p:sp>
        <p:nvSpPr>
          <p:cNvPr id="28" name="Shape 25"/>
          <p:cNvSpPr/>
          <p:nvPr/>
        </p:nvSpPr>
        <p:spPr>
          <a:xfrm>
            <a:off x="7680960" y="4745736"/>
            <a:ext cx="822960" cy="237744"/>
          </a:xfrm>
          <a:prstGeom prst="roundRect">
            <a:avLst>
              <a:gd name="adj" fmla="val 19231"/>
            </a:avLst>
          </a:prstGeom>
          <a:solidFill>
            <a:schemeClr val="accent1"/>
          </a:solidFill>
          <a:ln/>
        </p:spPr>
      </p:sp>
      <p:sp>
        <p:nvSpPr>
          <p:cNvPr id="29" name="Text 26"/>
          <p:cNvSpPr txBox="1"/>
          <p:nvPr/>
        </p:nvSpPr>
        <p:spPr>
          <a:xfrm>
            <a:off x="6629400" y="534924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儀表板示意｜M6 完成後換成真實畫面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1261872" y="384048"/>
            <a:ext cx="7589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技術實踐｜個資 ①</a:t>
            </a:r>
            <a:endParaRPr lang="en-US" sz="3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170432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chemeClr val="accent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號碼在離開公司之前，就被換掉</a:t>
            </a:r>
            <a:endParaRPr lang="en-US" sz="2000" dirty="0"/>
          </a:p>
        </p:txBody>
      </p:sp>
      <p:sp>
        <p:nvSpPr>
          <p:cNvPr id="4" name="agenda-number"/>
          <p:cNvSpPr/>
          <p:nvPr/>
        </p:nvSpPr>
        <p:spPr>
          <a:xfrm>
            <a:off x="548640" y="438912"/>
            <a:ext cx="548640" cy="54864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43891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03</a:t>
            </a:r>
            <a:endParaRPr lang="en-US" sz="1600" dirty="0"/>
          </a:p>
        </p:txBody>
      </p:sp>
      <p:sp>
        <p:nvSpPr>
          <p:cNvPr id="6" name="progress-dot"/>
          <p:cNvSpPr/>
          <p:nvPr/>
        </p:nvSpPr>
        <p:spPr>
          <a:xfrm>
            <a:off x="10799064" y="274320"/>
            <a:ext cx="128016" cy="12801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7" name="progress-dot"/>
          <p:cNvSpPr/>
          <p:nvPr/>
        </p:nvSpPr>
        <p:spPr>
          <a:xfrm>
            <a:off x="11036808" y="274320"/>
            <a:ext cx="128016" cy="12801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8" name="progress-dot"/>
          <p:cNvSpPr/>
          <p:nvPr/>
        </p:nvSpPr>
        <p:spPr>
          <a:xfrm>
            <a:off x="11274552" y="274320"/>
            <a:ext cx="128016" cy="128016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9" name="progress-dot"/>
          <p:cNvSpPr/>
          <p:nvPr/>
        </p:nvSpPr>
        <p:spPr>
          <a:xfrm>
            <a:off x="11512296" y="274320"/>
            <a:ext cx="128016" cy="128016"/>
          </a:xfrm>
          <a:prstGeom prst="ellipse">
            <a:avLst/>
          </a:prstGeom>
          <a:solidFill>
            <a:schemeClr val="accent6">
              <a:alpha val="60000"/>
            </a:schemeClr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9765792" y="566928"/>
            <a:ext cx="1874520" cy="310896"/>
          </a:xfrm>
          <a:prstGeom prst="roundRect">
            <a:avLst>
              <a:gd name="adj" fmla="val 23529"/>
            </a:avLst>
          </a:prstGeom>
          <a:solidFill>
            <a:schemeClr val="accent5"/>
          </a:solidFill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M2 已驗收｜S04</a:t>
            </a:r>
            <a:endParaRPr lang="en-US" sz="1100" dirty="0"/>
          </a:p>
        </p:txBody>
      </p:sp>
      <p:sp>
        <p:nvSpPr>
          <p:cNvPr id="11" name="demo-frame"/>
          <p:cNvSpPr/>
          <p:nvPr/>
        </p:nvSpPr>
        <p:spPr>
          <a:xfrm>
            <a:off x="548640" y="1920240"/>
            <a:ext cx="6949440" cy="4023360"/>
          </a:xfrm>
          <a:prstGeom prst="roundRect">
            <a:avLst>
              <a:gd name="adj" fmla="val 2273"/>
            </a:avLst>
          </a:prstGeom>
          <a:solidFill>
            <a:schemeClr val="accent1">
              <a:alpha val="18000"/>
            </a:schemeClr>
          </a:solidFill>
          <a:ln/>
        </p:spPr>
      </p:sp>
      <p:sp>
        <p:nvSpPr>
          <p:cNvPr id="12" name="Shape 10"/>
          <p:cNvSpPr/>
          <p:nvPr/>
        </p:nvSpPr>
        <p:spPr>
          <a:xfrm>
            <a:off x="749808" y="2103120"/>
            <a:ext cx="329184" cy="329184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2104" y="2185416"/>
            <a:ext cx="164592" cy="164592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1170432" y="2103120"/>
            <a:ext cx="6126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Demo 錄影 S04：請 AI 原樣唸一次（10/9 已錄）</a:t>
            </a:r>
            <a:endParaRPr lang="en-US" sz="1200" dirty="0"/>
          </a:p>
        </p:txBody>
      </p:sp>
      <p:sp>
        <p:nvSpPr>
          <p:cNvPr id="15" name="Text 12"/>
          <p:cNvSpPr txBox="1"/>
          <p:nvPr/>
        </p:nvSpPr>
        <p:spPr>
          <a:xfrm>
            <a:off x="868680" y="2514600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我請 AI 把這句話原樣唸一次：</a:t>
            </a:r>
            <a:endParaRPr lang="en-US" sz="1400" dirty="0"/>
          </a:p>
        </p:txBody>
      </p:sp>
      <p:sp>
        <p:nvSpPr>
          <p:cNvPr id="16" name="Text 13"/>
          <p:cNvSpPr txBox="1"/>
          <p:nvPr/>
        </p:nvSpPr>
        <p:spPr>
          <a:xfrm>
            <a:off x="868680" y="2880360"/>
            <a:ext cx="4754880" cy="658368"/>
          </a:xfrm>
          <a:prstGeom prst="roundRect">
            <a:avLst>
              <a:gd name="adj" fmla="val 11111"/>
            </a:avLst>
          </a:prstGeom>
          <a:solidFill>
            <a:schemeClr val="bg1"/>
          </a:solidFill>
          <a:ln/>
        </p:spPr>
        <p:txBody>
          <a:bodyPr wrap="square" lIns="177800" tIns="177800" rIns="177800" bIns="177800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My ID is </a:t>
            </a:r>
            <a:pPr algn="l" indent="0" marL="0">
              <a:buNone/>
            </a:pPr>
            <a:r>
              <a:rPr lang="en-US" sz="2200" b="1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A123456780</a:t>
            </a:r>
            <a:endParaRPr lang="en-US" sz="2200" dirty="0"/>
          </a:p>
        </p:txBody>
      </p:sp>
      <p:sp>
        <p:nvSpPr>
          <p:cNvPr id="17" name="Text 14"/>
          <p:cNvSpPr txBox="1"/>
          <p:nvPr/>
        </p:nvSpPr>
        <p:spPr>
          <a:xfrm>
            <a:off x="2194560" y="3703320"/>
            <a:ext cx="3291840" cy="411480"/>
          </a:xfrm>
          <a:prstGeom prst="roundRect">
            <a:avLst>
              <a:gd name="adj" fmla="val 17778"/>
            </a:avLst>
          </a:prstGeom>
          <a:solidFill>
            <a:schemeClr val="accent2"/>
          </a:solidFill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閘道先把號碼換成標籤</a:t>
            </a:r>
            <a:endParaRPr lang="en-US" sz="1400" dirty="0"/>
          </a:p>
        </p:txBody>
      </p:sp>
      <p:sp>
        <p:nvSpPr>
          <p:cNvPr id="18" name="Text 15"/>
          <p:cNvSpPr txBox="1"/>
          <p:nvPr/>
        </p:nvSpPr>
        <p:spPr>
          <a:xfrm>
            <a:off x="2423160" y="425196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chemeClr val="bg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AI 唸出來的是：</a:t>
            </a:r>
            <a:endParaRPr lang="en-US" sz="1400" dirty="0"/>
          </a:p>
        </p:txBody>
      </p:sp>
      <p:sp>
        <p:nvSpPr>
          <p:cNvPr id="19" name="Text 16"/>
          <p:cNvSpPr txBox="1"/>
          <p:nvPr/>
        </p:nvSpPr>
        <p:spPr>
          <a:xfrm>
            <a:off x="2423160" y="4617720"/>
            <a:ext cx="4754880" cy="658368"/>
          </a:xfrm>
          <a:prstGeom prst="roundRect">
            <a:avLst>
              <a:gd name="adj" fmla="val 11111"/>
            </a:avLst>
          </a:prstGeom>
          <a:solidFill>
            <a:schemeClr val="tx1"/>
          </a:solidFill>
          <a:ln w="25400">
            <a:solidFill>
              <a:schemeClr val="accent1"/>
            </a:solidFill>
          </a:ln>
        </p:spPr>
        <p:txBody>
          <a:bodyPr wrap="square" lIns="177800" tIns="177800" rIns="177800" bIns="177800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My ID is </a:t>
            </a:r>
            <a:pPr algn="l" indent="0" marL="0">
              <a:buNone/>
            </a:pPr>
            <a:r>
              <a:rPr lang="en-US" sz="2200" b="1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[TW_ID]</a:t>
            </a:r>
            <a:endParaRPr lang="en-US" sz="2200" dirty="0"/>
          </a:p>
        </p:txBody>
      </p:sp>
      <p:sp>
        <p:nvSpPr>
          <p:cNvPr id="20" name="Text 17"/>
          <p:cNvSpPr txBox="1"/>
          <p:nvPr/>
        </p:nvSpPr>
        <p:spPr>
          <a:xfrm>
            <a:off x="7909560" y="1920240"/>
            <a:ext cx="37033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chemeClr val="accent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 類</a:t>
            </a:r>
            <a:endParaRPr lang="en-US" sz="6000" dirty="0"/>
          </a:p>
        </p:txBody>
      </p:sp>
      <p:sp>
        <p:nvSpPr>
          <p:cNvPr id="21" name="Text 18"/>
          <p:cNvSpPr txBox="1"/>
          <p:nvPr/>
        </p:nvSpPr>
        <p:spPr>
          <a:xfrm>
            <a:off x="7909560" y="2971800"/>
            <a:ext cx="3703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bg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送出前就遮罩的個資</a:t>
            </a:r>
            <a:endParaRPr lang="en-US" sz="1600" dirty="0"/>
          </a:p>
        </p:txBody>
      </p:sp>
      <p:sp>
        <p:nvSpPr>
          <p:cNvPr id="22" name="pii-kind"/>
          <p:cNvSpPr/>
          <p:nvPr/>
        </p:nvSpPr>
        <p:spPr>
          <a:xfrm>
            <a:off x="7909560" y="3474720"/>
            <a:ext cx="1783080" cy="457200"/>
          </a:xfrm>
          <a:prstGeom prst="roundRect">
            <a:avLst>
              <a:gd name="adj" fmla="val 20000"/>
            </a:avLst>
          </a:prstGeom>
          <a:solidFill>
            <a:schemeClr val="tx2"/>
          </a:solidFill>
          <a:ln/>
        </p:spPr>
      </p:sp>
      <p:pic>
        <p:nvPicPr>
          <p:cNvPr id="2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37576" y="3566160"/>
            <a:ext cx="274320" cy="274320"/>
          </a:xfrm>
          <a:prstGeom prst="rect">
            <a:avLst/>
          </a:prstGeom>
        </p:spPr>
      </p:pic>
      <p:sp>
        <p:nvSpPr>
          <p:cNvPr id="24" name="Text 20"/>
          <p:cNvSpPr txBox="1"/>
          <p:nvPr/>
        </p:nvSpPr>
        <p:spPr>
          <a:xfrm>
            <a:off x="8412480" y="3474720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身分證</a:t>
            </a:r>
            <a:endParaRPr lang="en-US" sz="1600" dirty="0"/>
          </a:p>
        </p:txBody>
      </p:sp>
      <p:sp>
        <p:nvSpPr>
          <p:cNvPr id="25" name="pii-kind"/>
          <p:cNvSpPr/>
          <p:nvPr/>
        </p:nvSpPr>
        <p:spPr>
          <a:xfrm>
            <a:off x="9784080" y="3474720"/>
            <a:ext cx="1783080" cy="457200"/>
          </a:xfrm>
          <a:prstGeom prst="roundRect">
            <a:avLst>
              <a:gd name="adj" fmla="val 20000"/>
            </a:avLst>
          </a:prstGeom>
          <a:solidFill>
            <a:schemeClr val="tx2"/>
          </a:solidFill>
          <a:ln/>
        </p:spPr>
      </p:sp>
      <p:pic>
        <p:nvPicPr>
          <p:cNvPr id="2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12096" y="3566160"/>
            <a:ext cx="274320" cy="274320"/>
          </a:xfrm>
          <a:prstGeom prst="rect">
            <a:avLst/>
          </a:prstGeom>
        </p:spPr>
      </p:pic>
      <p:sp>
        <p:nvSpPr>
          <p:cNvPr id="27" name="Text 22"/>
          <p:cNvSpPr txBox="1"/>
          <p:nvPr/>
        </p:nvSpPr>
        <p:spPr>
          <a:xfrm>
            <a:off x="10287000" y="3474720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手機</a:t>
            </a:r>
            <a:endParaRPr lang="en-US" sz="1600" dirty="0"/>
          </a:p>
        </p:txBody>
      </p:sp>
      <p:sp>
        <p:nvSpPr>
          <p:cNvPr id="28" name="pii-kind"/>
          <p:cNvSpPr/>
          <p:nvPr/>
        </p:nvSpPr>
        <p:spPr>
          <a:xfrm>
            <a:off x="7909560" y="4023360"/>
            <a:ext cx="1783080" cy="457200"/>
          </a:xfrm>
          <a:prstGeom prst="roundRect">
            <a:avLst>
              <a:gd name="adj" fmla="val 20000"/>
            </a:avLst>
          </a:prstGeom>
          <a:solidFill>
            <a:schemeClr val="tx2"/>
          </a:solidFill>
          <a:ln/>
        </p:spPr>
      </p:sp>
      <p:pic>
        <p:nvPicPr>
          <p:cNvPr id="2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37576" y="4114800"/>
            <a:ext cx="274320" cy="274320"/>
          </a:xfrm>
          <a:prstGeom prst="rect">
            <a:avLst/>
          </a:prstGeom>
        </p:spPr>
      </p:pic>
      <p:sp>
        <p:nvSpPr>
          <p:cNvPr id="30" name="Text 24"/>
          <p:cNvSpPr txBox="1"/>
          <p:nvPr/>
        </p:nvSpPr>
        <p:spPr>
          <a:xfrm>
            <a:off x="8412480" y="4023360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Email</a:t>
            </a:r>
            <a:endParaRPr lang="en-US" sz="1600" dirty="0"/>
          </a:p>
        </p:txBody>
      </p:sp>
      <p:sp>
        <p:nvSpPr>
          <p:cNvPr id="31" name="pii-kind"/>
          <p:cNvSpPr/>
          <p:nvPr/>
        </p:nvSpPr>
        <p:spPr>
          <a:xfrm>
            <a:off x="9784080" y="4023360"/>
            <a:ext cx="1783080" cy="457200"/>
          </a:xfrm>
          <a:prstGeom prst="roundRect">
            <a:avLst>
              <a:gd name="adj" fmla="val 20000"/>
            </a:avLst>
          </a:prstGeom>
          <a:solidFill>
            <a:schemeClr val="tx2"/>
          </a:solidFill>
          <a:ln/>
        </p:spPr>
      </p:sp>
      <p:pic>
        <p:nvPicPr>
          <p:cNvPr id="3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12096" y="4114800"/>
            <a:ext cx="274320" cy="274320"/>
          </a:xfrm>
          <a:prstGeom prst="rect">
            <a:avLst/>
          </a:prstGeom>
        </p:spPr>
      </p:pic>
      <p:sp>
        <p:nvSpPr>
          <p:cNvPr id="33" name="Text 26"/>
          <p:cNvSpPr txBox="1"/>
          <p:nvPr/>
        </p:nvSpPr>
        <p:spPr>
          <a:xfrm>
            <a:off x="10287000" y="4023360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信用卡</a:t>
            </a:r>
            <a:endParaRPr lang="en-US" sz="1600" dirty="0"/>
          </a:p>
        </p:txBody>
      </p:sp>
      <p:sp>
        <p:nvSpPr>
          <p:cNvPr id="34" name="Shape 27"/>
          <p:cNvSpPr/>
          <p:nvPr/>
        </p:nvSpPr>
        <p:spPr>
          <a:xfrm>
            <a:off x="7909560" y="4846320"/>
            <a:ext cx="685800" cy="68580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3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81010" y="5017770"/>
            <a:ext cx="342900" cy="342900"/>
          </a:xfrm>
          <a:prstGeom prst="rect">
            <a:avLst/>
          </a:prstGeom>
        </p:spPr>
      </p:pic>
      <p:sp>
        <p:nvSpPr>
          <p:cNvPr id="36" name="Text 28"/>
          <p:cNvSpPr txBox="1"/>
          <p:nvPr/>
        </p:nvSpPr>
        <p:spPr>
          <a:xfrm>
            <a:off x="8732520" y="4754880"/>
            <a:ext cx="2880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模型根本沒看過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真的號碼留在公司這一側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1261872" y="384048"/>
            <a:ext cx="7589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技術實踐｜個資 ②</a:t>
            </a:r>
            <a:endParaRPr lang="en-US" sz="3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170432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chemeClr val="accent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紀錄裡，也查不到原文</a:t>
            </a:r>
            <a:endParaRPr lang="en-US" sz="2000" dirty="0"/>
          </a:p>
        </p:txBody>
      </p:sp>
      <p:sp>
        <p:nvSpPr>
          <p:cNvPr id="4" name="agenda-number"/>
          <p:cNvSpPr/>
          <p:nvPr/>
        </p:nvSpPr>
        <p:spPr>
          <a:xfrm>
            <a:off x="548640" y="438912"/>
            <a:ext cx="548640" cy="54864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43891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03</a:t>
            </a:r>
            <a:endParaRPr lang="en-US" sz="1600" dirty="0"/>
          </a:p>
        </p:txBody>
      </p:sp>
      <p:sp>
        <p:nvSpPr>
          <p:cNvPr id="6" name="progress-dot"/>
          <p:cNvSpPr/>
          <p:nvPr/>
        </p:nvSpPr>
        <p:spPr>
          <a:xfrm>
            <a:off x="10799064" y="274320"/>
            <a:ext cx="128016" cy="12801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7" name="progress-dot"/>
          <p:cNvSpPr/>
          <p:nvPr/>
        </p:nvSpPr>
        <p:spPr>
          <a:xfrm>
            <a:off x="11036808" y="274320"/>
            <a:ext cx="128016" cy="12801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8" name="progress-dot"/>
          <p:cNvSpPr/>
          <p:nvPr/>
        </p:nvSpPr>
        <p:spPr>
          <a:xfrm>
            <a:off x="11274552" y="274320"/>
            <a:ext cx="128016" cy="128016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9" name="progress-dot"/>
          <p:cNvSpPr/>
          <p:nvPr/>
        </p:nvSpPr>
        <p:spPr>
          <a:xfrm>
            <a:off x="11512296" y="274320"/>
            <a:ext cx="128016" cy="128016"/>
          </a:xfrm>
          <a:prstGeom prst="ellipse">
            <a:avLst/>
          </a:prstGeom>
          <a:solidFill>
            <a:schemeClr val="accent6">
              <a:alpha val="60000"/>
            </a:schemeClr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8887968" y="566928"/>
            <a:ext cx="2752344" cy="310896"/>
          </a:xfrm>
          <a:prstGeom prst="roundRect">
            <a:avLst>
              <a:gd name="adj" fmla="val 23529"/>
            </a:avLst>
          </a:prstGeom>
          <a:solidFill>
            <a:schemeClr val="accent5"/>
          </a:solidFill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M2 已驗收｜雲端版 M5 重拍</a:t>
            </a:r>
            <a:endParaRPr lang="en-US" sz="1100" dirty="0"/>
          </a:p>
        </p:txBody>
      </p:sp>
      <p:pic>
        <p:nvPicPr>
          <p:cNvPr id="11" name="Image 0" descr="/tmp/claude-0/-home-claude/50b01337-8bfa-5c17-8010-eee6eb592088/scratchpad/assets/s04-audi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286000"/>
            <a:ext cx="11064240" cy="2508752"/>
          </a:xfrm>
          <a:prstGeom prst="rect">
            <a:avLst/>
          </a:prstGeom>
        </p:spPr>
      </p:pic>
      <p:sp>
        <p:nvSpPr>
          <p:cNvPr id="12" name="highlight-ring"/>
          <p:cNvSpPr/>
          <p:nvPr/>
        </p:nvSpPr>
        <p:spPr>
          <a:xfrm>
            <a:off x="1892383" y="2757607"/>
            <a:ext cx="9309496" cy="317595"/>
          </a:xfrm>
          <a:prstGeom prst="roundRect">
            <a:avLst>
              <a:gd name="adj" fmla="val 17275"/>
            </a:avLst>
          </a:prstGeom>
          <a:noFill/>
          <a:ln w="31750">
            <a:solidFill>
              <a:schemeClr val="accent2"/>
            </a:solidFill>
            <a:prstDash val="solid"/>
          </a:ln>
        </p:spPr>
      </p:sp>
      <p:sp>
        <p:nvSpPr>
          <p:cNvPr id="13" name="highlight-ring"/>
          <p:cNvSpPr/>
          <p:nvPr/>
        </p:nvSpPr>
        <p:spPr>
          <a:xfrm>
            <a:off x="580112" y="3040646"/>
            <a:ext cx="940556" cy="311162"/>
          </a:xfrm>
          <a:prstGeom prst="roundRect">
            <a:avLst>
              <a:gd name="adj" fmla="val 17632"/>
            </a:avLst>
          </a:prstGeom>
          <a:noFill/>
          <a:ln w="31750">
            <a:solidFill>
              <a:schemeClr val="accent2"/>
            </a:solidFill>
            <a:prstDash val="solid"/>
          </a:ln>
        </p:spPr>
      </p:sp>
      <p:sp>
        <p:nvSpPr>
          <p:cNvPr id="14" name="highlight-ring"/>
          <p:cNvSpPr/>
          <p:nvPr/>
        </p:nvSpPr>
        <p:spPr>
          <a:xfrm>
            <a:off x="1146190" y="4140637"/>
            <a:ext cx="6215368" cy="626364"/>
          </a:xfrm>
          <a:prstGeom prst="roundRect">
            <a:avLst>
              <a:gd name="adj" fmla="val 8759"/>
            </a:avLst>
          </a:prstGeom>
          <a:noFill/>
          <a:ln w="31750">
            <a:solidFill>
              <a:schemeClr val="accent5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1449218" y="3636867"/>
            <a:ext cx="7315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↑ 存的只有：指紋（雜湊）＋ 遮罩後的摘要</a:t>
            </a:r>
            <a:endParaRPr lang="en-US" sz="1800" dirty="0"/>
          </a:p>
        </p:txBody>
      </p:sp>
      <p:sp>
        <p:nvSpPr>
          <p:cNvPr id="16" name="Text 13"/>
          <p:cNvSpPr txBox="1"/>
          <p:nvPr/>
        </p:nvSpPr>
        <p:spPr>
          <a:xfrm>
            <a:off x="7688934" y="4228675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← 拿原本的號碼搜：0 筆</a:t>
            </a:r>
            <a:endParaRPr lang="en-US" sz="1800" dirty="0"/>
          </a:p>
        </p:txBody>
      </p:sp>
      <p:sp>
        <p:nvSpPr>
          <p:cNvPr id="17" name="Text 14"/>
          <p:cNvSpPr txBox="1"/>
          <p:nvPr/>
        </p:nvSpPr>
        <p:spPr>
          <a:xfrm>
            <a:off x="548640" y="49044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S04 驗收畫面（10/9，本機）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1261872" y="384048"/>
            <a:ext cx="7589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技術實踐｜額度</a:t>
            </a:r>
            <a:endParaRPr lang="en-US" sz="3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170432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chemeClr val="accent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用完就擋，最多只燒掉自己那一份</a:t>
            </a:r>
            <a:endParaRPr lang="en-US" sz="2000" dirty="0"/>
          </a:p>
        </p:txBody>
      </p:sp>
      <p:sp>
        <p:nvSpPr>
          <p:cNvPr id="4" name="agenda-number"/>
          <p:cNvSpPr/>
          <p:nvPr/>
        </p:nvSpPr>
        <p:spPr>
          <a:xfrm>
            <a:off x="548640" y="438912"/>
            <a:ext cx="548640" cy="54864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43891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03</a:t>
            </a:r>
            <a:endParaRPr lang="en-US" sz="1600" dirty="0"/>
          </a:p>
        </p:txBody>
      </p:sp>
      <p:sp>
        <p:nvSpPr>
          <p:cNvPr id="6" name="progress-dot"/>
          <p:cNvSpPr/>
          <p:nvPr/>
        </p:nvSpPr>
        <p:spPr>
          <a:xfrm>
            <a:off x="10799064" y="274320"/>
            <a:ext cx="128016" cy="12801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7" name="progress-dot"/>
          <p:cNvSpPr/>
          <p:nvPr/>
        </p:nvSpPr>
        <p:spPr>
          <a:xfrm>
            <a:off x="11036808" y="274320"/>
            <a:ext cx="128016" cy="12801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8" name="progress-dot"/>
          <p:cNvSpPr/>
          <p:nvPr/>
        </p:nvSpPr>
        <p:spPr>
          <a:xfrm>
            <a:off x="11274552" y="274320"/>
            <a:ext cx="128016" cy="128016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9" name="progress-dot"/>
          <p:cNvSpPr/>
          <p:nvPr/>
        </p:nvSpPr>
        <p:spPr>
          <a:xfrm>
            <a:off x="11512296" y="274320"/>
            <a:ext cx="128016" cy="128016"/>
          </a:xfrm>
          <a:prstGeom prst="ellipse">
            <a:avLst/>
          </a:prstGeom>
          <a:solidFill>
            <a:schemeClr val="accent6">
              <a:alpha val="60000"/>
            </a:schemeClr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9180576" y="566928"/>
            <a:ext cx="2459736" cy="310896"/>
          </a:xfrm>
          <a:prstGeom prst="roundRect">
            <a:avLst>
              <a:gd name="adj" fmla="val 23529"/>
            </a:avLst>
          </a:prstGeom>
          <a:solidFill>
            <a:schemeClr val="accent5"/>
          </a:solidFill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M2 已驗收｜S02、S03</a:t>
            </a:r>
            <a:endParaRPr lang="en-US" sz="1100" dirty="0"/>
          </a:p>
        </p:txBody>
      </p:sp>
      <p:sp>
        <p:nvSpPr>
          <p:cNvPr id="11" name="demo-frame"/>
          <p:cNvSpPr/>
          <p:nvPr/>
        </p:nvSpPr>
        <p:spPr>
          <a:xfrm>
            <a:off x="548640" y="1920240"/>
            <a:ext cx="6949440" cy="4023360"/>
          </a:xfrm>
          <a:prstGeom prst="roundRect">
            <a:avLst>
              <a:gd name="adj" fmla="val 2273"/>
            </a:avLst>
          </a:prstGeom>
          <a:solidFill>
            <a:schemeClr val="accent1">
              <a:alpha val="18000"/>
            </a:schemeClr>
          </a:solidFill>
          <a:ln/>
        </p:spPr>
      </p:sp>
      <p:sp>
        <p:nvSpPr>
          <p:cNvPr id="12" name="Shape 10"/>
          <p:cNvSpPr/>
          <p:nvPr/>
        </p:nvSpPr>
        <p:spPr>
          <a:xfrm>
            <a:off x="749808" y="2103120"/>
            <a:ext cx="329184" cy="329184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2104" y="2185416"/>
            <a:ext cx="164592" cy="164592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1170432" y="2103120"/>
            <a:ext cx="6126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Demo 錄影 S02：額度用完被擋（10/9 已錄）</a:t>
            </a:r>
            <a:endParaRPr lang="en-US" sz="1200" dirty="0"/>
          </a:p>
        </p:txBody>
      </p:sp>
      <p:sp>
        <p:nvSpPr>
          <p:cNvPr id="15" name="Text 12"/>
          <p:cNvSpPr txBox="1"/>
          <p:nvPr/>
        </p:nvSpPr>
        <p:spPr>
          <a:xfrm>
            <a:off x="868680" y="2487168"/>
            <a:ext cx="6309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alice 的月額度 1,000（故意設很小）</a:t>
            </a:r>
            <a:endParaRPr lang="en-US" sz="1400" dirty="0"/>
          </a:p>
        </p:txBody>
      </p:sp>
      <p:sp>
        <p:nvSpPr>
          <p:cNvPr id="16" name="Text 13"/>
          <p:cNvSpPr txBox="1"/>
          <p:nvPr/>
        </p:nvSpPr>
        <p:spPr>
          <a:xfrm>
            <a:off x="868680" y="2971800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609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1920240" y="3035808"/>
            <a:ext cx="4572000" cy="256032"/>
          </a:xfrm>
          <a:prstGeom prst="roundRect">
            <a:avLst>
              <a:gd name="adj" fmla="val 17857"/>
            </a:avLst>
          </a:prstGeom>
          <a:solidFill>
            <a:schemeClr val="tx1"/>
          </a:solidFill>
          <a:ln/>
        </p:spPr>
      </p:sp>
      <p:sp>
        <p:nvSpPr>
          <p:cNvPr id="18" name="Shape 15"/>
          <p:cNvSpPr/>
          <p:nvPr/>
        </p:nvSpPr>
        <p:spPr>
          <a:xfrm>
            <a:off x="1920240" y="3035808"/>
            <a:ext cx="2531225" cy="256032"/>
          </a:xfrm>
          <a:prstGeom prst="roundRect">
            <a:avLst>
              <a:gd name="adj" fmla="val 17857"/>
            </a:avLst>
          </a:prstGeom>
          <a:solidFill>
            <a:schemeClr val="accent1"/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868680" y="3520440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818</a:t>
            </a:r>
            <a:endParaRPr lang="en-US" sz="1600" dirty="0"/>
          </a:p>
        </p:txBody>
      </p:sp>
      <p:sp>
        <p:nvSpPr>
          <p:cNvPr id="20" name="Shape 17"/>
          <p:cNvSpPr/>
          <p:nvPr/>
        </p:nvSpPr>
        <p:spPr>
          <a:xfrm>
            <a:off x="1920240" y="3584448"/>
            <a:ext cx="4572000" cy="256032"/>
          </a:xfrm>
          <a:prstGeom prst="roundRect">
            <a:avLst>
              <a:gd name="adj" fmla="val 17857"/>
            </a:avLst>
          </a:prstGeom>
          <a:solidFill>
            <a:schemeClr val="tx1"/>
          </a:solidFill>
          <a:ln/>
        </p:spPr>
      </p:sp>
      <p:sp>
        <p:nvSpPr>
          <p:cNvPr id="21" name="Shape 18"/>
          <p:cNvSpPr/>
          <p:nvPr/>
        </p:nvSpPr>
        <p:spPr>
          <a:xfrm>
            <a:off x="1920240" y="3584448"/>
            <a:ext cx="3399905" cy="256032"/>
          </a:xfrm>
          <a:prstGeom prst="roundRect">
            <a:avLst>
              <a:gd name="adj" fmla="val 17857"/>
            </a:avLst>
          </a:prstGeom>
          <a:solidFill>
            <a:schemeClr val="accent2"/>
          </a:solidFill>
          <a:ln/>
        </p:spPr>
      </p:sp>
      <p:sp>
        <p:nvSpPr>
          <p:cNvPr id="22" name="Text 19"/>
          <p:cNvSpPr txBox="1"/>
          <p:nvPr/>
        </p:nvSpPr>
        <p:spPr>
          <a:xfrm>
            <a:off x="868680" y="4069080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1,039</a:t>
            </a:r>
            <a:endParaRPr lang="en-US" sz="1600" dirty="0"/>
          </a:p>
        </p:txBody>
      </p:sp>
      <p:sp>
        <p:nvSpPr>
          <p:cNvPr id="23" name="Shape 20"/>
          <p:cNvSpPr/>
          <p:nvPr/>
        </p:nvSpPr>
        <p:spPr>
          <a:xfrm>
            <a:off x="1920240" y="4133088"/>
            <a:ext cx="4572000" cy="256032"/>
          </a:xfrm>
          <a:prstGeom prst="roundRect">
            <a:avLst>
              <a:gd name="adj" fmla="val 17857"/>
            </a:avLst>
          </a:prstGeom>
          <a:solidFill>
            <a:schemeClr val="tx1"/>
          </a:solidFill>
          <a:ln/>
        </p:spPr>
      </p:sp>
      <p:sp>
        <p:nvSpPr>
          <p:cNvPr id="24" name="Shape 21"/>
          <p:cNvSpPr/>
          <p:nvPr/>
        </p:nvSpPr>
        <p:spPr>
          <a:xfrm>
            <a:off x="1920240" y="4133088"/>
            <a:ext cx="4318462" cy="256032"/>
          </a:xfrm>
          <a:prstGeom prst="roundRect">
            <a:avLst>
              <a:gd name="adj" fmla="val 17857"/>
            </a:avLst>
          </a:prstGeom>
          <a:solidFill>
            <a:schemeClr val="accent3"/>
          </a:solidFill>
          <a:ln/>
        </p:spPr>
      </p:sp>
      <p:sp>
        <p:nvSpPr>
          <p:cNvPr id="25" name="Shape 22"/>
          <p:cNvSpPr/>
          <p:nvPr/>
        </p:nvSpPr>
        <p:spPr>
          <a:xfrm>
            <a:off x="6076604" y="2880360"/>
            <a:ext cx="0" cy="1691640"/>
          </a:xfrm>
          <a:prstGeom prst="line">
            <a:avLst/>
          </a:prstGeom>
          <a:noFill/>
          <a:ln w="19050">
            <a:solidFill>
              <a:schemeClr val="bg1"/>
            </a:solidFill>
            <a:prstDash val="dash"/>
          </a:ln>
        </p:spPr>
      </p:sp>
      <p:sp>
        <p:nvSpPr>
          <p:cNvPr id="26" name="Text 23"/>
          <p:cNvSpPr txBox="1"/>
          <p:nvPr/>
        </p:nvSpPr>
        <p:spPr>
          <a:xfrm>
            <a:off x="5710844" y="459028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bg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上限</a:t>
            </a:r>
            <a:endParaRPr lang="en-US" sz="1100" dirty="0"/>
          </a:p>
        </p:txBody>
      </p:sp>
      <p:sp>
        <p:nvSpPr>
          <p:cNvPr id="27" name="Text 24"/>
          <p:cNvSpPr txBox="1"/>
          <p:nvPr/>
        </p:nvSpPr>
        <p:spPr>
          <a:xfrm>
            <a:off x="868680" y="4937760"/>
            <a:ext cx="2194560" cy="530352"/>
          </a:xfrm>
          <a:prstGeom prst="roundRect">
            <a:avLst>
              <a:gd name="adj" fmla="val 13793"/>
            </a:avLst>
          </a:prstGeom>
          <a:solidFill>
            <a:schemeClr val="accent3"/>
          </a:solidFill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429 額度用完</a:t>
            </a:r>
            <a:endParaRPr lang="en-US" sz="1800" dirty="0"/>
          </a:p>
        </p:txBody>
      </p:sp>
      <p:sp>
        <p:nvSpPr>
          <p:cNvPr id="28" name="Text 25"/>
          <p:cNvSpPr txBox="1"/>
          <p:nvPr/>
        </p:nvSpPr>
        <p:spPr>
          <a:xfrm>
            <a:off x="3246120" y="4937760"/>
            <a:ext cx="3840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bg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並告訴他何時恢復</a:t>
            </a:r>
            <a:endParaRPr lang="en-US" sz="1600" dirty="0"/>
          </a:p>
        </p:txBody>
      </p:sp>
      <p:sp>
        <p:nvSpPr>
          <p:cNvPr id="29" name="Text 26"/>
          <p:cNvSpPr txBox="1"/>
          <p:nvPr/>
        </p:nvSpPr>
        <p:spPr>
          <a:xfrm>
            <a:off x="868680" y="5532120"/>
            <a:ext cx="6309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bg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單位：micro-USD（百萬分之一美元）</a:t>
            </a:r>
            <a:endParaRPr lang="en-US" sz="1100" dirty="0"/>
          </a:p>
        </p:txBody>
      </p:sp>
      <p:sp>
        <p:nvSpPr>
          <p:cNvPr id="30" name="Shape 27"/>
          <p:cNvSpPr/>
          <p:nvPr/>
        </p:nvSpPr>
        <p:spPr>
          <a:xfrm>
            <a:off x="7909560" y="2514600"/>
            <a:ext cx="713232" cy="713232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3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87868" y="2692908"/>
            <a:ext cx="356616" cy="356616"/>
          </a:xfrm>
          <a:prstGeom prst="rect">
            <a:avLst/>
          </a:prstGeom>
        </p:spPr>
      </p:pic>
      <p:sp>
        <p:nvSpPr>
          <p:cNvPr id="32" name="Text 28"/>
          <p:cNvSpPr txBox="1"/>
          <p:nvPr/>
        </p:nvSpPr>
        <p:spPr>
          <a:xfrm>
            <a:off x="8778240" y="2423160"/>
            <a:ext cx="2834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超用就擋下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寫錯的迴圈也燒不到別人</a:t>
            </a:r>
            <a:endParaRPr lang="en-US" sz="1600" dirty="0"/>
          </a:p>
        </p:txBody>
      </p:sp>
      <p:sp>
        <p:nvSpPr>
          <p:cNvPr id="33" name="Shape 29"/>
          <p:cNvSpPr/>
          <p:nvPr/>
        </p:nvSpPr>
        <p:spPr>
          <a:xfrm>
            <a:off x="7909560" y="3977640"/>
            <a:ext cx="713232" cy="713232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3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87868" y="4155948"/>
            <a:ext cx="356616" cy="356616"/>
          </a:xfrm>
          <a:prstGeom prst="rect">
            <a:avLst/>
          </a:prstGeom>
        </p:spPr>
      </p:pic>
      <p:sp>
        <p:nvSpPr>
          <p:cNvPr id="35" name="Text 30"/>
          <p:cNvSpPr txBox="1"/>
          <p:nvPr/>
        </p:nvSpPr>
        <p:spPr>
          <a:xfrm>
            <a:off x="8778240" y="3886200"/>
            <a:ext cx="2834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讀不到就拒絕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寧可擋錯，也不放錯</a:t>
            </a:r>
            <a:endParaRPr lang="en-US" sz="1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1261872" y="384048"/>
            <a:ext cx="7589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技術實踐｜看不到的地方 ①</a:t>
            </a:r>
            <a:endParaRPr lang="en-US" sz="3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170432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chemeClr val="accent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先拆現成的 LiteLLM，再修自己的設計</a:t>
            </a:r>
            <a:endParaRPr lang="en-US" sz="2000" dirty="0"/>
          </a:p>
        </p:txBody>
      </p:sp>
      <p:sp>
        <p:nvSpPr>
          <p:cNvPr id="4" name="agenda-number"/>
          <p:cNvSpPr/>
          <p:nvPr/>
        </p:nvSpPr>
        <p:spPr>
          <a:xfrm>
            <a:off x="548640" y="438912"/>
            <a:ext cx="548640" cy="54864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43891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03</a:t>
            </a:r>
            <a:endParaRPr lang="en-US" sz="1600" dirty="0"/>
          </a:p>
        </p:txBody>
      </p:sp>
      <p:sp>
        <p:nvSpPr>
          <p:cNvPr id="6" name="progress-dot"/>
          <p:cNvSpPr/>
          <p:nvPr/>
        </p:nvSpPr>
        <p:spPr>
          <a:xfrm>
            <a:off x="10799064" y="274320"/>
            <a:ext cx="128016" cy="12801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7" name="progress-dot"/>
          <p:cNvSpPr/>
          <p:nvPr/>
        </p:nvSpPr>
        <p:spPr>
          <a:xfrm>
            <a:off x="11036808" y="274320"/>
            <a:ext cx="128016" cy="12801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8" name="progress-dot"/>
          <p:cNvSpPr/>
          <p:nvPr/>
        </p:nvSpPr>
        <p:spPr>
          <a:xfrm>
            <a:off x="11274552" y="274320"/>
            <a:ext cx="128016" cy="128016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9" name="progress-dot"/>
          <p:cNvSpPr/>
          <p:nvPr/>
        </p:nvSpPr>
        <p:spPr>
          <a:xfrm>
            <a:off x="11512296" y="274320"/>
            <a:ext cx="128016" cy="128016"/>
          </a:xfrm>
          <a:prstGeom prst="ellipse">
            <a:avLst/>
          </a:prstGeom>
          <a:solidFill>
            <a:schemeClr val="accent6">
              <a:alpha val="60000"/>
            </a:schemeClr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9765792" y="566928"/>
            <a:ext cx="1874520" cy="310896"/>
          </a:xfrm>
          <a:prstGeom prst="roundRect">
            <a:avLst>
              <a:gd name="adj" fmla="val 23529"/>
            </a:avLst>
          </a:prstGeom>
          <a:solidFill>
            <a:schemeClr val="accent5"/>
          </a:solidFill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M0.5 實驗已完成</a:t>
            </a:r>
            <a:endParaRPr lang="en-US" sz="1100" dirty="0"/>
          </a:p>
        </p:txBody>
      </p:sp>
      <p:sp>
        <p:nvSpPr>
          <p:cNvPr id="11" name="finding-card"/>
          <p:cNvSpPr/>
          <p:nvPr/>
        </p:nvSpPr>
        <p:spPr>
          <a:xfrm>
            <a:off x="548640" y="2011680"/>
            <a:ext cx="6035040" cy="1691640"/>
          </a:xfrm>
          <a:prstGeom prst="roundRect">
            <a:avLst>
              <a:gd name="adj" fmla="val 5405"/>
            </a:avLst>
          </a:prstGeom>
          <a:solidFill>
            <a:schemeClr val="tx2"/>
          </a:solidFill>
          <a:ln/>
        </p:spPr>
      </p:sp>
      <p:sp>
        <p:nvSpPr>
          <p:cNvPr id="12" name="Shape 10"/>
          <p:cNvSpPr/>
          <p:nvPr/>
        </p:nvSpPr>
        <p:spPr>
          <a:xfrm>
            <a:off x="822960" y="2468880"/>
            <a:ext cx="777240" cy="777240"/>
          </a:xfrm>
          <a:prstGeom prst="ellipse">
            <a:avLst/>
          </a:prstGeom>
          <a:solidFill>
            <a:schemeClr val="tx1"/>
          </a:solidFill>
          <a:ln/>
        </p:spPr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7270" y="2663190"/>
            <a:ext cx="388620" cy="388620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1828800" y="2011680"/>
            <a:ext cx="457200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發現一</a:t>
            </a:r>
            <a:endParaRPr lang="en-US" sz="1600" dirty="0"/>
          </a:p>
          <a:p>
            <a:pPr indent="0" marL="0">
              <a:buNone/>
            </a:pPr>
            <a:r>
              <a:rPr lang="en-US" sz="2200" b="1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價格表沒有的模型，花費記為 0</a:t>
            </a:r>
            <a:endParaRPr lang="en-US" sz="1600" dirty="0"/>
          </a:p>
        </p:txBody>
      </p:sp>
      <p:sp>
        <p:nvSpPr>
          <p:cNvPr id="15" name="finding-card"/>
          <p:cNvSpPr/>
          <p:nvPr/>
        </p:nvSpPr>
        <p:spPr>
          <a:xfrm>
            <a:off x="548640" y="4023360"/>
            <a:ext cx="6035040" cy="1691640"/>
          </a:xfrm>
          <a:prstGeom prst="roundRect">
            <a:avLst>
              <a:gd name="adj" fmla="val 5405"/>
            </a:avLst>
          </a:prstGeom>
          <a:solidFill>
            <a:schemeClr val="tx2"/>
          </a:solidFill>
          <a:ln/>
        </p:spPr>
      </p:sp>
      <p:sp>
        <p:nvSpPr>
          <p:cNvPr id="16" name="Shape 13"/>
          <p:cNvSpPr/>
          <p:nvPr/>
        </p:nvSpPr>
        <p:spPr>
          <a:xfrm>
            <a:off x="822960" y="4480560"/>
            <a:ext cx="777240" cy="777240"/>
          </a:xfrm>
          <a:prstGeom prst="ellipse">
            <a:avLst/>
          </a:prstGeom>
          <a:solidFill>
            <a:schemeClr val="tx1"/>
          </a:solidFill>
          <a:ln/>
        </p:spPr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7270" y="4674870"/>
            <a:ext cx="388620" cy="388620"/>
          </a:xfrm>
          <a:prstGeom prst="rect">
            <a:avLst/>
          </a:prstGeom>
        </p:spPr>
      </p:pic>
      <p:sp>
        <p:nvSpPr>
          <p:cNvPr id="18" name="Text 14"/>
          <p:cNvSpPr txBox="1"/>
          <p:nvPr/>
        </p:nvSpPr>
        <p:spPr>
          <a:xfrm>
            <a:off x="1828800" y="4023360"/>
            <a:ext cx="457200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發現二</a:t>
            </a:r>
            <a:endParaRPr lang="en-US" sz="1600" dirty="0"/>
          </a:p>
          <a:p>
            <a:pPr indent="0" marL="0">
              <a:buNone/>
            </a:pPr>
            <a:r>
              <a:rPr lang="en-US" sz="2200" b="1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寫帳前當機，那筆帳永久遺失</a:t>
            </a:r>
            <a:endParaRPr lang="en-US" sz="1600" dirty="0"/>
          </a:p>
        </p:txBody>
      </p:sp>
      <p:sp>
        <p:nvSpPr>
          <p:cNvPr id="19" name="Shape 15"/>
          <p:cNvSpPr/>
          <p:nvPr/>
        </p:nvSpPr>
        <p:spPr>
          <a:xfrm>
            <a:off x="6675120" y="2834640"/>
            <a:ext cx="502920" cy="822960"/>
          </a:xfrm>
          <a:prstGeom prst="line">
            <a:avLst/>
          </a:prstGeom>
          <a:noFill/>
          <a:ln w="31750">
            <a:solidFill>
              <a:schemeClr val="accent2"/>
            </a:solidFill>
            <a:prstDash val="solid"/>
            <a:tailEnd type="triangle"/>
          </a:ln>
        </p:spPr>
      </p:sp>
      <p:sp>
        <p:nvSpPr>
          <p:cNvPr id="20" name="Shape 16"/>
          <p:cNvSpPr/>
          <p:nvPr/>
        </p:nvSpPr>
        <p:spPr>
          <a:xfrm flipV="1">
            <a:off x="6675120" y="4206240"/>
            <a:ext cx="502920" cy="822960"/>
          </a:xfrm>
          <a:prstGeom prst="line">
            <a:avLst/>
          </a:prstGeom>
          <a:noFill/>
          <a:ln w="31750">
            <a:solidFill>
              <a:schemeClr val="accent2"/>
            </a:solidFill>
            <a:prstDash val="solid"/>
            <a:tailEnd type="triangle"/>
          </a:ln>
        </p:spPr>
      </p:sp>
      <p:sp>
        <p:nvSpPr>
          <p:cNvPr id="21" name="fix-card"/>
          <p:cNvSpPr/>
          <p:nvPr/>
        </p:nvSpPr>
        <p:spPr>
          <a:xfrm>
            <a:off x="7269480" y="2011680"/>
            <a:ext cx="4343400" cy="3703320"/>
          </a:xfrm>
          <a:prstGeom prst="roundRect">
            <a:avLst>
              <a:gd name="adj" fmla="val 2469"/>
            </a:avLst>
          </a:prstGeom>
          <a:solidFill>
            <a:schemeClr val="accent2"/>
          </a:solidFill>
          <a:ln/>
        </p:spPr>
      </p:sp>
      <p:sp>
        <p:nvSpPr>
          <p:cNvPr id="22" name="Shape 18"/>
          <p:cNvSpPr/>
          <p:nvPr/>
        </p:nvSpPr>
        <p:spPr>
          <a:xfrm>
            <a:off x="7589520" y="2331720"/>
            <a:ext cx="777240" cy="777240"/>
          </a:xfrm>
          <a:prstGeom prst="ellipse">
            <a:avLst/>
          </a:prstGeom>
          <a:solidFill>
            <a:schemeClr val="tx1"/>
          </a:solidFill>
          <a:ln/>
        </p:spPr>
      </p:sp>
      <p:pic>
        <p:nvPicPr>
          <p:cNvPr id="2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83830" y="2526030"/>
            <a:ext cx="388620" cy="388620"/>
          </a:xfrm>
          <a:prstGeom prst="rect">
            <a:avLst/>
          </a:prstGeom>
        </p:spPr>
      </p:pic>
      <p:sp>
        <p:nvSpPr>
          <p:cNvPr id="24" name="Text 19"/>
          <p:cNvSpPr txBox="1"/>
          <p:nvPr/>
        </p:nvSpPr>
        <p:spPr>
          <a:xfrm>
            <a:off x="8549640" y="2331720"/>
            <a:ext cx="2743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我的修正</a:t>
            </a:r>
            <a:endParaRPr lang="en-US" sz="1800" dirty="0"/>
          </a:p>
        </p:txBody>
      </p:sp>
      <p:sp>
        <p:nvSpPr>
          <p:cNvPr id="25" name="Text 20"/>
          <p:cNvSpPr txBox="1"/>
          <p:nvPr/>
        </p:nvSpPr>
        <p:spPr>
          <a:xfrm>
            <a:off x="7589520" y="3429000"/>
            <a:ext cx="37947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tx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沒有單價，就拒絕</a:t>
            </a:r>
            <a:endParaRPr lang="en-US" sz="2600" dirty="0"/>
          </a:p>
          <a:p>
            <a:pPr indent="0" marL="0">
              <a:buNone/>
            </a:pPr>
            <a:r>
              <a:rPr lang="en-US" sz="1000" b="1" dirty="0">
                <a:solidFill>
                  <a:schemeClr val="tx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</a:t>
            </a:r>
            <a:endParaRPr lang="en-US" sz="2600" dirty="0"/>
          </a:p>
          <a:p>
            <a:pPr indent="0" marL="0">
              <a:buNone/>
            </a:pPr>
            <a:r>
              <a:rPr lang="en-US" sz="2600" b="1" dirty="0">
                <a:solidFill>
                  <a:schemeClr val="tx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帳進了佇列，才回答</a:t>
            </a:r>
            <a:endParaRPr lang="en-US" sz="26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1261872" y="384048"/>
            <a:ext cx="7589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技術實踐｜看不到的地方 ②</a:t>
            </a:r>
            <a:endParaRPr lang="en-US" sz="3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170432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chemeClr val="accent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只有一個出口，而且有人把關</a:t>
            </a:r>
            <a:endParaRPr lang="en-US" sz="2000" dirty="0"/>
          </a:p>
        </p:txBody>
      </p:sp>
      <p:sp>
        <p:nvSpPr>
          <p:cNvPr id="4" name="agenda-number"/>
          <p:cNvSpPr/>
          <p:nvPr/>
        </p:nvSpPr>
        <p:spPr>
          <a:xfrm>
            <a:off x="548640" y="438912"/>
            <a:ext cx="548640" cy="54864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43891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03</a:t>
            </a:r>
            <a:endParaRPr lang="en-US" sz="1600" dirty="0"/>
          </a:p>
        </p:txBody>
      </p:sp>
      <p:sp>
        <p:nvSpPr>
          <p:cNvPr id="6" name="progress-dot"/>
          <p:cNvSpPr/>
          <p:nvPr/>
        </p:nvSpPr>
        <p:spPr>
          <a:xfrm>
            <a:off x="10799064" y="274320"/>
            <a:ext cx="128016" cy="12801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7" name="progress-dot"/>
          <p:cNvSpPr/>
          <p:nvPr/>
        </p:nvSpPr>
        <p:spPr>
          <a:xfrm>
            <a:off x="11036808" y="274320"/>
            <a:ext cx="128016" cy="12801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8" name="progress-dot"/>
          <p:cNvSpPr/>
          <p:nvPr/>
        </p:nvSpPr>
        <p:spPr>
          <a:xfrm>
            <a:off x="11274552" y="274320"/>
            <a:ext cx="128016" cy="128016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9" name="progress-dot"/>
          <p:cNvSpPr/>
          <p:nvPr/>
        </p:nvSpPr>
        <p:spPr>
          <a:xfrm>
            <a:off x="11512296" y="274320"/>
            <a:ext cx="128016" cy="128016"/>
          </a:xfrm>
          <a:prstGeom prst="ellipse">
            <a:avLst/>
          </a:prstGeom>
          <a:solidFill>
            <a:schemeClr val="accent6">
              <a:alpha val="60000"/>
            </a:schemeClr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9765792" y="566928"/>
            <a:ext cx="1874520" cy="310896"/>
          </a:xfrm>
          <a:prstGeom prst="roundRect">
            <a:avLst>
              <a:gd name="adj" fmla="val 23529"/>
            </a:avLst>
          </a:prstGeom>
          <a:solidFill>
            <a:schemeClr val="accent6"/>
          </a:solidFill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設計定案｜M4 實作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48640" y="2788920"/>
            <a:ext cx="3017520" cy="1371600"/>
          </a:xfrm>
          <a:prstGeom prst="roundRect">
            <a:avLst>
              <a:gd name="adj" fmla="val 6667"/>
            </a:avLst>
          </a:prstGeom>
          <a:solidFill>
            <a:schemeClr val="tx2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822960" y="2788920"/>
            <a:ext cx="2606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私有子網</a:t>
            </a:r>
            <a:endParaRPr lang="en-US" sz="1600" dirty="0"/>
          </a:p>
          <a:p>
            <a:pPr indent="0" marL="0">
              <a:buNone/>
            </a:pPr>
            <a:r>
              <a:rPr lang="en-US" sz="2200" b="1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Fargate 容器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3611880" y="3474720"/>
            <a:ext cx="457200" cy="0"/>
          </a:xfrm>
          <a:prstGeom prst="line">
            <a:avLst/>
          </a:prstGeom>
          <a:noFill/>
          <a:ln w="31750">
            <a:solidFill>
              <a:schemeClr val="accent2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4114800" y="2788920"/>
            <a:ext cx="3246120" cy="1371600"/>
          </a:xfrm>
          <a:prstGeom prst="roundRect">
            <a:avLst>
              <a:gd name="adj" fmla="val 6667"/>
            </a:avLst>
          </a:prstGeom>
          <a:solidFill>
            <a:schemeClr val="tx2"/>
          </a:solidFill>
          <a:ln w="31750">
            <a:solidFill>
              <a:schemeClr val="accent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389120" y="2788920"/>
            <a:ext cx="28346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唯一出口</a:t>
            </a:r>
            <a:endParaRPr lang="en-US" sz="1600" dirty="0"/>
          </a:p>
          <a:p>
            <a:pPr indent="0" marL="0">
              <a:buNone/>
            </a:pPr>
            <a:r>
              <a:rPr lang="en-US" sz="2200" b="1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NAT＋DNS 防火牆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 flipV="1">
            <a:off x="7406640" y="2697480"/>
            <a:ext cx="566928" cy="777240"/>
          </a:xfrm>
          <a:prstGeom prst="line">
            <a:avLst/>
          </a:prstGeom>
          <a:noFill/>
          <a:ln w="3175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7406640" y="3474720"/>
            <a:ext cx="566928" cy="868680"/>
          </a:xfrm>
          <a:prstGeom prst="line">
            <a:avLst/>
          </a:prstGeom>
          <a:noFill/>
          <a:ln w="31750">
            <a:solidFill>
              <a:schemeClr val="accent3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8046720" y="2103120"/>
            <a:ext cx="3566160" cy="1188720"/>
          </a:xfrm>
          <a:prstGeom prst="roundRect">
            <a:avLst>
              <a:gd name="adj" fmla="val 7692"/>
            </a:avLst>
          </a:prstGeom>
          <a:solidFill>
            <a:schemeClr val="accent5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9006840" y="2103120"/>
            <a:ext cx="2468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名單上的網域</a:t>
            </a:r>
            <a:endParaRPr lang="en-US" sz="1600" dirty="0"/>
          </a:p>
          <a:p>
            <a:pPr indent="0" marL="0">
              <a:buNone/>
            </a:pPr>
            <a:r>
              <a:rPr lang="en-US" sz="2200" b="1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api.openai.com</a:t>
            </a:r>
            <a:endParaRPr lang="en-US" sz="1600" dirty="0"/>
          </a:p>
        </p:txBody>
      </p:sp>
      <p:pic>
        <p:nvPicPr>
          <p:cNvPr id="2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02752" y="2432304"/>
            <a:ext cx="530352" cy="530352"/>
          </a:xfrm>
          <a:prstGeom prst="rect">
            <a:avLst/>
          </a:prstGeom>
        </p:spPr>
      </p:pic>
      <p:sp>
        <p:nvSpPr>
          <p:cNvPr id="21" name="Shape 18"/>
          <p:cNvSpPr/>
          <p:nvPr/>
        </p:nvSpPr>
        <p:spPr>
          <a:xfrm>
            <a:off x="8046720" y="3794760"/>
            <a:ext cx="3566160" cy="1188720"/>
          </a:xfrm>
          <a:prstGeom prst="roundRect">
            <a:avLst>
              <a:gd name="adj" fmla="val 7692"/>
            </a:avLst>
          </a:prstGeom>
          <a:solidFill>
            <a:schemeClr val="accent3"/>
          </a:solidFill>
          <a:ln/>
        </p:spPr>
      </p:sp>
      <p:sp>
        <p:nvSpPr>
          <p:cNvPr id="22" name="Text 19"/>
          <p:cNvSpPr txBox="1"/>
          <p:nvPr/>
        </p:nvSpPr>
        <p:spPr>
          <a:xfrm>
            <a:off x="9006840" y="3794760"/>
            <a:ext cx="2468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名單外的網域</a:t>
            </a:r>
            <a:endParaRPr lang="en-US" sz="1600" dirty="0"/>
          </a:p>
          <a:p>
            <a:pPr indent="0" marL="0">
              <a:buNone/>
            </a:pPr>
            <a:r>
              <a:rPr lang="en-US" sz="2200" b="1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不解析・留紀錄</a:t>
            </a:r>
            <a:endParaRPr lang="en-US" sz="1600" dirty="0"/>
          </a:p>
        </p:txBody>
      </p:sp>
      <p:pic>
        <p:nvPicPr>
          <p:cNvPr id="2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02752" y="4123944"/>
            <a:ext cx="530352" cy="530352"/>
          </a:xfrm>
          <a:prstGeom prst="rect">
            <a:avLst/>
          </a:prstGeom>
        </p:spPr>
      </p:pic>
      <p:sp>
        <p:nvSpPr>
          <p:cNvPr id="24" name="Shape 20"/>
          <p:cNvSpPr/>
          <p:nvPr/>
        </p:nvSpPr>
        <p:spPr>
          <a:xfrm>
            <a:off x="548640" y="5349240"/>
            <a:ext cx="4206240" cy="411480"/>
          </a:xfrm>
          <a:prstGeom prst="roundRect">
            <a:avLst>
              <a:gd name="adj" fmla="val 22222"/>
            </a:avLst>
          </a:prstGeom>
          <a:solidFill>
            <a:schemeClr val="accent1">
              <a:alpha val="18000"/>
            </a:schemeClr>
          </a:solidFill>
          <a:ln/>
        </p:spPr>
      </p:sp>
      <p:pic>
        <p:nvPicPr>
          <p:cNvPr id="2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5422392"/>
            <a:ext cx="265176" cy="265176"/>
          </a:xfrm>
          <a:prstGeom prst="rect">
            <a:avLst/>
          </a:prstGeom>
        </p:spPr>
      </p:pic>
      <p:sp>
        <p:nvSpPr>
          <p:cNvPr id="26" name="Text 21"/>
          <p:cNvSpPr txBox="1"/>
          <p:nvPr/>
        </p:nvSpPr>
        <p:spPr>
          <a:xfrm>
            <a:off x="1051560" y="534924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Demo 錄影 S08：M4 驗收時錄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1261872" y="384048"/>
            <a:ext cx="7589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結語</a:t>
            </a:r>
            <a:endParaRPr lang="en-US" sz="3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170432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chemeClr val="accent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員工照常用 AI，老闆看得懂帳單，資安查得到紀錄</a:t>
            </a:r>
            <a:endParaRPr lang="en-US" sz="2000" dirty="0"/>
          </a:p>
        </p:txBody>
      </p:sp>
      <p:sp>
        <p:nvSpPr>
          <p:cNvPr id="4" name="agenda-number"/>
          <p:cNvSpPr/>
          <p:nvPr/>
        </p:nvSpPr>
        <p:spPr>
          <a:xfrm>
            <a:off x="548640" y="438912"/>
            <a:ext cx="548640" cy="54864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43891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04</a:t>
            </a:r>
            <a:endParaRPr lang="en-US" sz="1600" dirty="0"/>
          </a:p>
        </p:txBody>
      </p:sp>
      <p:sp>
        <p:nvSpPr>
          <p:cNvPr id="6" name="progress-dot"/>
          <p:cNvSpPr/>
          <p:nvPr/>
        </p:nvSpPr>
        <p:spPr>
          <a:xfrm>
            <a:off x="10799064" y="274320"/>
            <a:ext cx="128016" cy="12801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7" name="progress-dot"/>
          <p:cNvSpPr/>
          <p:nvPr/>
        </p:nvSpPr>
        <p:spPr>
          <a:xfrm>
            <a:off x="11036808" y="274320"/>
            <a:ext cx="128016" cy="12801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8" name="progress-dot"/>
          <p:cNvSpPr/>
          <p:nvPr/>
        </p:nvSpPr>
        <p:spPr>
          <a:xfrm>
            <a:off x="11274552" y="274320"/>
            <a:ext cx="128016" cy="12801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9" name="progress-dot"/>
          <p:cNvSpPr/>
          <p:nvPr/>
        </p:nvSpPr>
        <p:spPr>
          <a:xfrm>
            <a:off x="11512296" y="274320"/>
            <a:ext cx="128016" cy="128016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0" name="stat-card"/>
          <p:cNvSpPr/>
          <p:nvPr/>
        </p:nvSpPr>
        <p:spPr>
          <a:xfrm>
            <a:off x="548640" y="1965960"/>
            <a:ext cx="3474720" cy="1874520"/>
          </a:xfrm>
          <a:prstGeom prst="roundRect">
            <a:avLst>
              <a:gd name="adj" fmla="val 4878"/>
            </a:avLst>
          </a:prstGeom>
          <a:solidFill>
            <a:schemeClr val="tx2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822960" y="2103120"/>
            <a:ext cx="2926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chemeClr val="accent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X%</a:t>
            </a:r>
            <a:endParaRPr lang="en-US" sz="5400" dirty="0"/>
          </a:p>
        </p:txBody>
      </p:sp>
      <p:sp>
        <p:nvSpPr>
          <p:cNvPr id="12" name="Text 10"/>
          <p:cNvSpPr txBox="1"/>
          <p:nvPr/>
        </p:nvSpPr>
        <p:spPr>
          <a:xfrm>
            <a:off x="822960" y="315468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省下的模型成本</a:t>
            </a:r>
            <a:endParaRPr lang="en-US" sz="1600" dirty="0"/>
          </a:p>
        </p:txBody>
      </p:sp>
      <p:sp>
        <p:nvSpPr>
          <p:cNvPr id="13" name="stat-card"/>
          <p:cNvSpPr/>
          <p:nvPr/>
        </p:nvSpPr>
        <p:spPr>
          <a:xfrm>
            <a:off x="4343400" y="1965960"/>
            <a:ext cx="3474720" cy="1874520"/>
          </a:xfrm>
          <a:prstGeom prst="roundRect">
            <a:avLst>
              <a:gd name="adj" fmla="val 4878"/>
            </a:avLst>
          </a:prstGeom>
          <a:solidFill>
            <a:schemeClr val="tx2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4617720" y="2103120"/>
            <a:ext cx="2926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chemeClr val="accent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 類</a:t>
            </a:r>
            <a:endParaRPr lang="en-US" sz="5400" dirty="0"/>
          </a:p>
        </p:txBody>
      </p:sp>
      <p:sp>
        <p:nvSpPr>
          <p:cNvPr id="15" name="Text 13"/>
          <p:cNvSpPr txBox="1"/>
          <p:nvPr/>
        </p:nvSpPr>
        <p:spPr>
          <a:xfrm>
            <a:off x="4617720" y="315468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個資在送出前遮罩</a:t>
            </a:r>
            <a:endParaRPr lang="en-US" sz="1600" dirty="0"/>
          </a:p>
        </p:txBody>
      </p:sp>
      <p:sp>
        <p:nvSpPr>
          <p:cNvPr id="16" name="stat-card"/>
          <p:cNvSpPr/>
          <p:nvPr/>
        </p:nvSpPr>
        <p:spPr>
          <a:xfrm>
            <a:off x="8138160" y="1965960"/>
            <a:ext cx="3474720" cy="1874520"/>
          </a:xfrm>
          <a:prstGeom prst="roundRect">
            <a:avLst>
              <a:gd name="adj" fmla="val 4878"/>
            </a:avLst>
          </a:prstGeom>
          <a:solidFill>
            <a:schemeClr val="tx2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412480" y="2103120"/>
            <a:ext cx="2926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chemeClr val="accent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US$11</a:t>
            </a:r>
            <a:endParaRPr lang="en-US" sz="5400" dirty="0"/>
          </a:p>
        </p:txBody>
      </p:sp>
      <p:sp>
        <p:nvSpPr>
          <p:cNvPr id="18" name="Text 16"/>
          <p:cNvSpPr txBox="1"/>
          <p:nvPr/>
        </p:nvSpPr>
        <p:spPr>
          <a:xfrm>
            <a:off x="8412480" y="315468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專題全期花費（預估）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4206240"/>
            <a:ext cx="1463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bg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評估後不做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2057400" y="4206240"/>
            <a:ext cx="1600200" cy="438912"/>
          </a:xfrm>
          <a:prstGeom prst="roundRect">
            <a:avLst>
              <a:gd name="adj" fmla="val 16667"/>
            </a:avLst>
          </a:prstGeom>
          <a:solidFill>
            <a:schemeClr val="accent6">
              <a:alpha val="45000"/>
            </a:schemeClr>
          </a:solidFill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AWS WAF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3767328" y="4206240"/>
            <a:ext cx="1463040" cy="438912"/>
          </a:xfrm>
          <a:prstGeom prst="roundRect">
            <a:avLst>
              <a:gd name="adj" fmla="val 16667"/>
            </a:avLst>
          </a:prstGeom>
          <a:solidFill>
            <a:schemeClr val="accent6">
              <a:alpha val="45000"/>
            </a:schemeClr>
          </a:solidFill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多可用區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5340096" y="4206240"/>
            <a:ext cx="2286000" cy="438912"/>
          </a:xfrm>
          <a:prstGeom prst="roundRect">
            <a:avLst>
              <a:gd name="adj" fmla="val 16667"/>
            </a:avLst>
          </a:prstGeom>
          <a:solidFill>
            <a:schemeClr val="accent6">
              <a:alpha val="45000"/>
            </a:schemeClr>
          </a:solidFill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知識檢索（RAG）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7818120" y="4206240"/>
            <a:ext cx="3794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理由與正式環境的做法，寫在文件</a:t>
            </a:r>
            <a:endParaRPr lang="en-US" sz="1400" dirty="0"/>
          </a:p>
        </p:txBody>
      </p:sp>
      <p:sp>
        <p:nvSpPr>
          <p:cNvPr id="24" name="positioning"/>
          <p:cNvSpPr/>
          <p:nvPr/>
        </p:nvSpPr>
        <p:spPr>
          <a:xfrm>
            <a:off x="548640" y="4983480"/>
            <a:ext cx="11064240" cy="960120"/>
          </a:xfrm>
          <a:prstGeom prst="roundRect">
            <a:avLst>
              <a:gd name="adj" fmla="val 9524"/>
            </a:avLst>
          </a:prstGeom>
          <a:solidFill>
            <a:schemeClr val="tx2"/>
          </a:solidFill>
          <a:ln/>
        </p:spPr>
      </p:sp>
      <p:sp>
        <p:nvSpPr>
          <p:cNvPr id="25" name="Shape 23"/>
          <p:cNvSpPr/>
          <p:nvPr/>
        </p:nvSpPr>
        <p:spPr>
          <a:xfrm>
            <a:off x="777240" y="5120640"/>
            <a:ext cx="685800" cy="685800"/>
          </a:xfrm>
          <a:prstGeom prst="ellipse">
            <a:avLst/>
          </a:prstGeom>
          <a:solidFill>
            <a:schemeClr val="tx1"/>
          </a:solidFill>
          <a:ln/>
        </p:spPr>
      </p:sp>
      <p:pic>
        <p:nvPicPr>
          <p:cNvPr id="2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8690" y="5292090"/>
            <a:ext cx="342900" cy="342900"/>
          </a:xfrm>
          <a:prstGeom prst="rect">
            <a:avLst/>
          </a:prstGeom>
        </p:spPr>
      </p:pic>
      <p:sp>
        <p:nvSpPr>
          <p:cNvPr id="27" name="Text 24"/>
          <p:cNvSpPr txBox="1"/>
          <p:nvPr/>
        </p:nvSpPr>
        <p:spPr>
          <a:xfrm>
            <a:off x="1691640" y="4983480"/>
            <a:ext cx="96926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我能把 AI 服務 </a:t>
            </a:r>
            <a:pPr indent="0" marL="0">
              <a:buNone/>
            </a:pPr>
            <a:r>
              <a:rPr lang="en-US" sz="2400" b="1" dirty="0">
                <a:solidFill>
                  <a:schemeClr val="accent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安全地、算得清楚地</a:t>
            </a:r>
            <a:pPr indent="0" marL="0">
              <a:buNone/>
            </a:pPr>
            <a:r>
              <a:rPr lang="en-US" sz="2400" b="1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放上雲端</a:t>
            </a:r>
            <a:endParaRPr lang="en-US" sz="2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737360"/>
            <a:ext cx="6766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謝謝觀看</a:t>
            </a:r>
            <a:endParaRPr lang="en-US" sz="5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788920"/>
            <a:ext cx="6766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chemeClr val="accent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LLM Gateway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611880"/>
            <a:ext cx="6766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bg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雲端工程師｜負責 LLM 上線之後的治理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5120640"/>
            <a:ext cx="6766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杜柏豫</a:t>
            </a:r>
            <a:endParaRPr lang="en-US" sz="1800" dirty="0"/>
          </a:p>
        </p:txBody>
      </p:sp>
      <p:sp>
        <p:nvSpPr>
          <p:cNvPr id="6" name="qr-card"/>
          <p:cNvSpPr/>
          <p:nvPr/>
        </p:nvSpPr>
        <p:spPr>
          <a:xfrm>
            <a:off x="8549640" y="1600200"/>
            <a:ext cx="2743200" cy="2743200"/>
          </a:xfrm>
          <a:prstGeom prst="roundRect">
            <a:avLst>
              <a:gd name="adj" fmla="val 4000"/>
            </a:avLst>
          </a:prstGeom>
          <a:solidFill>
            <a:schemeClr val="bg1"/>
          </a:solidFill>
          <a:ln/>
        </p:spPr>
      </p:sp>
      <p:pic>
        <p:nvPicPr>
          <p:cNvPr id="7" name="Image 0" descr="/tmp/claude-0/-home-claude/50b01337-8bfa-5c17-8010-eee6eb592088/scratchpad/assets/qr-github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0" y="1737360"/>
            <a:ext cx="2468880" cy="2468880"/>
          </a:xfrm>
          <a:prstGeom prst="rect">
            <a:avLst/>
          </a:prstGeom>
        </p:spPr>
      </p:pic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0" y="4590288"/>
            <a:ext cx="292608" cy="292608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8595360" y="4553712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github.com/Poyu-Tu/llm-gateway</a:t>
            </a:r>
            <a:endParaRPr lang="en-US" sz="1300" dirty="0"/>
          </a:p>
        </p:txBody>
      </p:sp>
      <p:sp>
        <p:nvSpPr>
          <p:cNvPr id="10" name="Text 6"/>
          <p:cNvSpPr txBox="1"/>
          <p:nvPr/>
        </p:nvSpPr>
        <p:spPr>
          <a:xfrm>
            <a:off x="8595360" y="4919472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程式、證據紀錄與截圖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LLM Gateway">
  <a:themeElements>
    <a:clrScheme name="LLM Gateway">
      <a:dk1>
        <a:srgbClr val="14262B"/>
      </a:dk1>
      <a:lt1>
        <a:srgbClr val="FFFFFF"/>
      </a:lt1>
      <a:dk2>
        <a:srgbClr val="0B5D5E"/>
      </a:dk2>
      <a:lt2>
        <a:srgbClr val="EEF4F3"/>
      </a:lt2>
      <a:accent1>
        <a:srgbClr val="0E7C7B"/>
      </a:accent1>
      <a:accent2>
        <a:srgbClr val="F2A541"/>
      </a:accent2>
      <a:accent3>
        <a:srgbClr val="C8553D"/>
      </a:accent3>
      <a:accent4>
        <a:srgbClr val="5B7C8D"/>
      </a:accent4>
      <a:accent5>
        <a:srgbClr val="2E9E6B"/>
      </a:accent5>
      <a:accent6>
        <a:srgbClr val="7D858C"/>
      </a:accent6>
      <a:hlink>
        <a:srgbClr val="0E7C7B"/>
      </a:hlink>
      <a:folHlink>
        <a:srgbClr val="5B7C8D"/>
      </a:folHlink>
    </a:clrScheme>
    <a:fontScheme name="LLM Gateway">
      <a:majorFont>
        <a:latin typeface="Microsoft JhengHei"/>
        <a:ea typeface="Microsoft JhengHei"/>
        <a:cs typeface=""/>
        <a:font script="Jpan" typeface="游ゴシック Light"/>
        <a:font script="Hang" typeface="맑은 고딕"/>
        <a:font script="Hans" typeface="等线 Light"/>
        <a:font script="Hant" typeface="Microsoft Jheng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JhengHei"/>
        <a:ea typeface="Microsoft JhengHei"/>
        <a:cs typeface=""/>
        <a:font script="Jpan" typeface="游ゴシック"/>
        <a:font script="Hang" typeface="맑은 고딕"/>
        <a:font script="Hans" typeface="等线"/>
        <a:font script="Hant" typeface="Microsoft Jheng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LLM Gateway 簡報 v2.0</dc:title>
  <dc:subject>PptxGenJS Presentation</dc:subject>
  <dc:creator>杜柏豫</dc:creator>
  <cp:lastModifiedBy>杜柏豫</cp:lastModifiedBy>
  <cp:revision>1</cp:revision>
  <dcterms:created xsi:type="dcterms:W3CDTF">2026-10-12T13:06:50Z</dcterms:created>
  <dcterms:modified xsi:type="dcterms:W3CDTF">2026-10-12T13:06:50Z</dcterms:modified>
</cp:coreProperties>
</file>