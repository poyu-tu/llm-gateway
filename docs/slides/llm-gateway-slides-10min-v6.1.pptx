
<file path=[Content_Types].xml><?xml version="1.0" encoding="utf-8"?>
<Types xmlns="http://schemas.openxmlformats.org/package/2006/content-types">
  <Default Extension="jpg" ContentType="image/jp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5" r:id="rId40"/>
    <p:sldId id="297" r:id="rId41"/>
    <p:sldId id="298" r:id="rId42"/>
    <p:sldId id="299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附錄" id="{99C6C19C-65CF-80A7-C07A-FDC133EC2B8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  <p14:section name="Default-1" id="{903F8E3D-8652-777C-DA0B-A6152230B278}">
          <p14:sldIdLst>
            <p14:sldId id="290"/>
            <p14:sldId id="291"/>
            <p14:sldId id="292"/>
            <p14:sldId id="293"/>
            <p14:sldId id="295"/>
            <p14:sldId id="297"/>
            <p14:sldId id="29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5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52194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59.png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60.png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6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105156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1488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企業級大語言模型調度與成本治理平台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85800" y="2880360"/>
            <a:ext cx="3840480" cy="502920"/>
          </a:xfrm>
          <a:prstGeom prst="roundRect">
            <a:avLst>
              <a:gd name="adj" fmla="val 2181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88036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上線之後的治理層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 AI 呼叫，都知道是誰、花多少、送出什麼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296912" y="1362456"/>
            <a:ext cx="1005840" cy="100584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8" name="Image 0" descr="/home/claude/slides/v6/media/s01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3226" y="1588770"/>
            <a:ext cx="553212" cy="55321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348472" y="1865376"/>
            <a:ext cx="320040" cy="0"/>
          </a:xfrm>
          <a:prstGeom prst="line">
            <a:avLst/>
          </a:prstGeom>
          <a:noFill/>
          <a:ln w="25400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8714232" y="1069848"/>
            <a:ext cx="1600200" cy="1600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1" name="Image 1" descr="/home/claude/slides/v6/media/s01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277" y="1429893"/>
            <a:ext cx="880110" cy="88011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10360152" y="1865376"/>
            <a:ext cx="320040" cy="0"/>
          </a:xfrm>
          <a:prstGeom prst="line">
            <a:avLst/>
          </a:prstGeom>
          <a:noFill/>
          <a:ln w="25400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10725912" y="1362456"/>
            <a:ext cx="1005840" cy="100584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14" name="Image 2" descr="/home/claude/slides/v6/media/s01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52226" y="1588770"/>
            <a:ext cx="553212" cy="55321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976872" y="2441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348472" y="276148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10405872" y="2441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3600" dirty="0"/>
          </a:p>
        </p:txBody>
      </p:sp>
      <p:sp>
        <p:nvSpPr>
          <p:cNvPr id="19" name="Text 14"/>
          <p:cNvSpPr txBox="1"/>
          <p:nvPr/>
        </p:nvSpPr>
        <p:spPr>
          <a:xfrm>
            <a:off x="68580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模型成本降幅（20 題實測）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342900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3600" dirty="0"/>
          </a:p>
        </p:txBody>
      </p:sp>
      <p:sp>
        <p:nvSpPr>
          <p:cNvPr id="21" name="Text 16"/>
          <p:cNvSpPr txBox="1"/>
          <p:nvPr/>
        </p:nvSpPr>
        <p:spPr>
          <a:xfrm>
            <a:off x="342900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個資送出前遮罩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172200" y="429768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US$0.5</a:t>
            </a:r>
            <a:endParaRPr lang="en-US" sz="3600" dirty="0"/>
          </a:p>
        </p:txBody>
      </p:sp>
      <p:sp>
        <p:nvSpPr>
          <p:cNvPr id="23" name="Text 18"/>
          <p:cNvSpPr txBox="1"/>
          <p:nvPr/>
        </p:nvSpPr>
        <p:spPr>
          <a:xfrm>
            <a:off x="6172200" y="50292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兩次上雲的 AWS 累計費用</a:t>
            </a:r>
            <a:endParaRPr lang="en-US" sz="1600" dirty="0"/>
          </a:p>
        </p:txBody>
      </p:sp>
      <p:sp>
        <p:nvSpPr>
          <p:cNvPr id="24" name="Text 19"/>
          <p:cNvSpPr txBox="1"/>
          <p:nvPr/>
        </p:nvSpPr>
        <p:spPr>
          <a:xfrm>
            <a:off x="685800" y="5806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</a:t>
            </a:r>
            <a:endParaRPr lang="en-US" sz="2000" dirty="0"/>
          </a:p>
        </p:txBody>
      </p:sp>
      <p:sp>
        <p:nvSpPr>
          <p:cNvPr id="25" name="Text 20"/>
          <p:cNvSpPr txBox="1"/>
          <p:nvPr/>
        </p:nvSpPr>
        <p:spPr>
          <a:xfrm>
            <a:off x="9144000" y="58521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6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年 11 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0515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技術實踐與 Demo 約 5 分鐘（含影片）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201168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89280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先講結論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237744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一句話說清楚這個閘道管什麼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20040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352044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1691640" y="340156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691640" y="388620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開放之後，管不住的三件事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470916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502920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5029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91640" y="491032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691640" y="539496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從月底看帳單，到每次呼叫都被管到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78728" y="169164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53048" y="201168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53048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467448" y="189280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467448" y="237744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三道關卡・雲端架構・一次呼叫的流程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278728" y="320040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53048" y="352044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53048" y="35204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467448" y="340156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技術實踐與 Demo</a:t>
            </a:r>
            <a:endParaRPr lang="en-US" sz="2400" dirty="0"/>
          </a:p>
        </p:txBody>
      </p:sp>
      <p:sp>
        <p:nvSpPr>
          <p:cNvPr id="28" name="Text 26"/>
          <p:cNvSpPr txBox="1"/>
          <p:nvPr/>
        </p:nvSpPr>
        <p:spPr>
          <a:xfrm>
            <a:off x="7467448" y="388620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節費・個資・額度・看不到的地方・Demo 影片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78728" y="4709160"/>
            <a:ext cx="5410048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53048" y="5029200"/>
            <a:ext cx="685800" cy="6858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53048" y="50292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7467448" y="4910328"/>
            <a:ext cx="403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7467448" y="5394960"/>
            <a:ext cx="403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三個數字、評估後不做的、下一步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先講結論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在員工和 AI 模型之間，加一道閘道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1691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 AI 呼叫，都知道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是誰・花多少・送出什麼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502920" y="3429000"/>
            <a:ext cx="3500018" cy="2286000"/>
          </a:xfrm>
          <a:prstGeom prst="roundRect">
            <a:avLst>
              <a:gd name="adj" fmla="val 4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374904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17" name="Image 0" descr="/home/claude/slides/v6/media/s03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690" y="3920490"/>
            <a:ext cx="342900" cy="34290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600200" y="379476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是誰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777240" y="461772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每人一把 Key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錯的一律拒絕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231538" y="3429000"/>
            <a:ext cx="3500018" cy="2286000"/>
          </a:xfrm>
          <a:prstGeom prst="roundRect">
            <a:avLst>
              <a:gd name="adj" fmla="val 4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05858" y="374904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2" name="Image 1" descr="/home/claude/slides/v6/media/s03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308" y="3920490"/>
            <a:ext cx="342900" cy="3429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328818" y="379476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花多少</a:t>
            </a:r>
            <a:endParaRPr lang="en-US" sz="2600" dirty="0"/>
          </a:p>
        </p:txBody>
      </p:sp>
      <p:sp>
        <p:nvSpPr>
          <p:cNvPr id="24" name="Text 20"/>
          <p:cNvSpPr txBox="1"/>
          <p:nvPr/>
        </p:nvSpPr>
        <p:spPr>
          <a:xfrm>
            <a:off x="4505858" y="461772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每人每月有額度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自動選便宜的模型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7960157" y="3429000"/>
            <a:ext cx="3500018" cy="2286000"/>
          </a:xfrm>
          <a:prstGeom prst="roundRect">
            <a:avLst>
              <a:gd name="adj" fmla="val 4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34477" y="374904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7" name="Image 2" descr="/home/claude/slides/v6/media/s03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5927" y="3920490"/>
            <a:ext cx="342900" cy="34290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9057437" y="3794760"/>
            <a:ext cx="22198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送出什麼</a:t>
            </a:r>
            <a:endParaRPr lang="en-US" sz="2600" dirty="0"/>
          </a:p>
        </p:txBody>
      </p:sp>
      <p:sp>
        <p:nvSpPr>
          <p:cNvPr id="29" name="Text 24"/>
          <p:cNvSpPr txBox="1"/>
          <p:nvPr/>
        </p:nvSpPr>
        <p:spPr>
          <a:xfrm>
            <a:off x="8234477" y="461772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個資先遮罩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紀錄不存原文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想解決的問題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開放了，卻管不住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600200"/>
            <a:ext cx="5669280" cy="457200"/>
          </a:xfrm>
          <a:prstGeom prst="roundRect">
            <a:avLst>
              <a:gd name="adj" fmla="val 16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pic>
        <p:nvPicPr>
          <p:cNvPr id="14" name="Image 0" descr="/home/claude/slides/v6/media/s04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1691640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051560" y="1600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情境｜200 位員工，開放 AI 三個月後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02920" y="2331720"/>
            <a:ext cx="3500018" cy="3383280"/>
          </a:xfrm>
          <a:prstGeom prst="roundRect">
            <a:avLst>
              <a:gd name="adj" fmla="val 270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704289" y="2743200"/>
            <a:ext cx="1097280" cy="10972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18" name="Image 1" descr="/home/claude/slides/v6/media/s04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8609" y="3017520"/>
            <a:ext cx="548640" cy="54864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02920" y="4023360"/>
            <a:ext cx="3500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成本歸屬</a:t>
            </a:r>
            <a:endParaRPr lang="en-US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777240" y="457200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帳單只有總額，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花的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231538" y="2331720"/>
            <a:ext cx="3500018" cy="3383280"/>
          </a:xfrm>
          <a:prstGeom prst="roundRect">
            <a:avLst>
              <a:gd name="adj" fmla="val 270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32908" y="2743200"/>
            <a:ext cx="1097280" cy="10972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3" name="Image 2" descr="/home/claude/slides/v6/media/s04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07228" y="3017520"/>
            <a:ext cx="548640" cy="54864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231538" y="4023360"/>
            <a:ext cx="3500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用量管控</a:t>
            </a:r>
            <a:endParaRPr lang="en-US" sz="2600" dirty="0"/>
          </a:p>
        </p:txBody>
      </p:sp>
      <p:sp>
        <p:nvSpPr>
          <p:cNvPr id="25" name="Text 20"/>
          <p:cNvSpPr txBox="1"/>
          <p:nvPr/>
        </p:nvSpPr>
        <p:spPr>
          <a:xfrm>
            <a:off x="4505858" y="457200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寫錯一個迴圈，
</a:t>
            </a: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一晚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燒光預算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7960157" y="2331720"/>
            <a:ext cx="3500018" cy="3383280"/>
          </a:xfrm>
          <a:prstGeom prst="roundRect">
            <a:avLst>
              <a:gd name="adj" fmla="val 270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9161526" y="2743200"/>
            <a:ext cx="1097280" cy="10972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8" name="Image 3" descr="/home/claude/slides/v6/media/s04-Imag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5846" y="3017520"/>
            <a:ext cx="548640" cy="54864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960157" y="4023360"/>
            <a:ext cx="35000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</a:t>
            </a:r>
            <a:endParaRPr lang="en-US" sz="2600" dirty="0"/>
          </a:p>
        </p:txBody>
      </p:sp>
      <p:sp>
        <p:nvSpPr>
          <p:cNvPr id="30" name="Text 24"/>
          <p:cNvSpPr txBox="1"/>
          <p:nvPr/>
        </p:nvSpPr>
        <p:spPr>
          <a:xfrm>
            <a:off x="8234477" y="4572000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客戶資料貼進去，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事後</a:t>
            </a:r>
            <a:endParaRPr lang="en-US" sz="16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查不到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解決前後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治理轉型：從事後抓包，到每次呼叫即時攔截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✕  之前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  之後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731520" cy="73152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16" name="Image 0" descr="/home/claude/slides/v6/media/s05-Imag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68880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417320" y="228600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2600" dirty="0"/>
          </a:p>
        </p:txBody>
      </p:sp>
      <p:sp>
        <p:nvSpPr>
          <p:cNvPr id="18" name="Shape 15"/>
          <p:cNvSpPr/>
          <p:nvPr/>
        </p:nvSpPr>
        <p:spPr>
          <a:xfrm>
            <a:off x="2926080" y="228600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154680" y="22860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員工自己選，常選最貴的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720840" y="2651760"/>
            <a:ext cx="54864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7406640" y="228600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14262B">
              <a:alpha val="0"/>
            </a:srgbClr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06640" y="228600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35240" y="228600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自動選，簡單的便宜 </a:t>
            </a: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02920" y="3566160"/>
            <a:ext cx="731520" cy="73152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25" name="Image 1" descr="/home/claude/slides/v6/media/s05-Image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749040"/>
            <a:ext cx="365760" cy="365760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1417320" y="356616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2600" dirty="0"/>
          </a:p>
        </p:txBody>
      </p:sp>
      <p:sp>
        <p:nvSpPr>
          <p:cNvPr id="27" name="Shape 23"/>
          <p:cNvSpPr/>
          <p:nvPr/>
        </p:nvSpPr>
        <p:spPr>
          <a:xfrm>
            <a:off x="2926080" y="356616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154680" y="35661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原文直接送到供應商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6720840" y="3931920"/>
            <a:ext cx="54864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30" name="Shape 26"/>
          <p:cNvSpPr/>
          <p:nvPr/>
        </p:nvSpPr>
        <p:spPr>
          <a:xfrm>
            <a:off x="7406640" y="356616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14262B">
              <a:alpha val="0"/>
            </a:srgbClr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406640" y="356616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7635240" y="356616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送出前，換成 </a:t>
            </a: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502920" y="4846320"/>
            <a:ext cx="731520" cy="73152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34" name="Image 2" descr="/home/claude/slides/v6/media/s05-Image_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29200"/>
            <a:ext cx="365760" cy="365760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1417320" y="48463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2600" dirty="0"/>
          </a:p>
        </p:txBody>
      </p:sp>
      <p:sp>
        <p:nvSpPr>
          <p:cNvPr id="36" name="Shape 31"/>
          <p:cNvSpPr/>
          <p:nvPr/>
        </p:nvSpPr>
        <p:spPr>
          <a:xfrm>
            <a:off x="2926080" y="4846320"/>
            <a:ext cx="3657600" cy="73152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3154680" y="48463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月底收到帳單才知道</a:t>
            </a:r>
            <a:endParaRPr lang="en-US" sz="1600" dirty="0"/>
          </a:p>
        </p:txBody>
      </p:sp>
      <p:sp>
        <p:nvSpPr>
          <p:cNvPr id="38" name="Shape 33"/>
          <p:cNvSpPr/>
          <p:nvPr/>
        </p:nvSpPr>
        <p:spPr>
          <a:xfrm>
            <a:off x="6720840" y="5212080"/>
            <a:ext cx="54864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39" name="Shape 34"/>
          <p:cNvSpPr/>
          <p:nvPr/>
        </p:nvSpPr>
        <p:spPr>
          <a:xfrm>
            <a:off x="7406640" y="484632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14262B">
              <a:alpha val="0"/>
            </a:srgbClr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406640" y="4846320"/>
            <a:ext cx="429768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7635240" y="484632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每人每月額度，</a:t>
            </a: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解法提綱｜三道關卡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替每一戶裝上水表和限流閥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4360" y="1828800"/>
            <a:ext cx="914400" cy="9144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14" name="Image 0" descr="/home/claude/slides/v6/media/s06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034540"/>
            <a:ext cx="502920" cy="5029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32004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554480" y="2286000"/>
            <a:ext cx="640080" cy="0"/>
          </a:xfrm>
          <a:prstGeom prst="line">
            <a:avLst/>
          </a:prstGeom>
          <a:noFill/>
          <a:ln w="19050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2286000" y="1737360"/>
            <a:ext cx="7589520" cy="1097280"/>
          </a:xfrm>
          <a:prstGeom prst="roundRect">
            <a:avLst>
              <a:gd name="adj" fmla="val 8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pic>
        <p:nvPicPr>
          <p:cNvPr id="18" name="Image 1" descr="/home/claude/slides/v6/media/s06-Image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196596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3474720" y="1828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347472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每一次呼叫，都先經過這裡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9966960" y="2286000"/>
            <a:ext cx="640080" cy="0"/>
          </a:xfrm>
          <a:prstGeom prst="line">
            <a:avLst/>
          </a:prstGeom>
          <a:noFill/>
          <a:ln w="19050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22" name="Shape 18"/>
          <p:cNvSpPr/>
          <p:nvPr/>
        </p:nvSpPr>
        <p:spPr>
          <a:xfrm>
            <a:off x="10698480" y="1828800"/>
            <a:ext cx="914400" cy="91440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23" name="Image 2" descr="/home/claude/slides/v6/media/s06-Imag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4220" y="2034540"/>
            <a:ext cx="502920" cy="50292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0424160" y="2788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模型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2252929" y="2834640"/>
            <a:ext cx="0" cy="64008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502920" y="3520440"/>
            <a:ext cx="3500018" cy="2194560"/>
          </a:xfrm>
          <a:prstGeom prst="roundRect">
            <a:avLst>
              <a:gd name="adj" fmla="val 4167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822960" y="388620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8" name="Image 3" descr="/home/claude/slides/v6/media/s06-Imag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410" y="4057650"/>
            <a:ext cx="342900" cy="34290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691640" y="3886200"/>
            <a:ext cx="2128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管人</a:t>
            </a:r>
            <a:endParaRPr lang="en-US" sz="30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4846320"/>
            <a:ext cx="2859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確認身分・檢查額度</a:t>
            </a:r>
            <a:endParaRPr lang="en-US" sz="1600" dirty="0"/>
          </a:p>
        </p:txBody>
      </p:sp>
      <p:sp>
        <p:nvSpPr>
          <p:cNvPr id="31" name="Shape 25"/>
          <p:cNvSpPr/>
          <p:nvPr/>
        </p:nvSpPr>
        <p:spPr>
          <a:xfrm>
            <a:off x="5981548" y="2834640"/>
            <a:ext cx="0" cy="64008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4231538" y="3520440"/>
            <a:ext cx="3500018" cy="2194560"/>
          </a:xfrm>
          <a:prstGeom prst="roundRect">
            <a:avLst>
              <a:gd name="adj" fmla="val 4167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4551578" y="388620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34" name="Image 4" descr="/home/claude/slides/v6/media/s06-Image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3028" y="4057650"/>
            <a:ext cx="342900" cy="34290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5420258" y="3886200"/>
            <a:ext cx="2128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管錢</a:t>
            </a:r>
            <a:endParaRPr lang="en-US" sz="3000" dirty="0"/>
          </a:p>
        </p:txBody>
      </p:sp>
      <p:sp>
        <p:nvSpPr>
          <p:cNvPr id="36" name="Text 29"/>
          <p:cNvSpPr txBox="1"/>
          <p:nvPr/>
        </p:nvSpPr>
        <p:spPr>
          <a:xfrm>
            <a:off x="4551578" y="4846320"/>
            <a:ext cx="2859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自動選模型・記帳</a:t>
            </a:r>
            <a:endParaRPr lang="en-US" sz="1600" dirty="0"/>
          </a:p>
        </p:txBody>
      </p:sp>
      <p:sp>
        <p:nvSpPr>
          <p:cNvPr id="37" name="Shape 30"/>
          <p:cNvSpPr/>
          <p:nvPr/>
        </p:nvSpPr>
        <p:spPr>
          <a:xfrm>
            <a:off x="9710166" y="2834640"/>
            <a:ext cx="0" cy="64008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</a:ln>
        </p:spPr>
      </p:sp>
      <p:sp>
        <p:nvSpPr>
          <p:cNvPr id="38" name="Shape 31"/>
          <p:cNvSpPr/>
          <p:nvPr/>
        </p:nvSpPr>
        <p:spPr>
          <a:xfrm>
            <a:off x="7960157" y="3520440"/>
            <a:ext cx="3500018" cy="2194560"/>
          </a:xfrm>
          <a:prstGeom prst="roundRect">
            <a:avLst>
              <a:gd name="adj" fmla="val 4167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8280197" y="3886200"/>
            <a:ext cx="685800" cy="68580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40" name="Image 5" descr="/home/claude/slides/v6/media/s06-Image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1647" y="4057650"/>
            <a:ext cx="342900" cy="342900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148877" y="3886200"/>
            <a:ext cx="212841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管資料</a:t>
            </a:r>
            <a:endParaRPr lang="en-US" sz="3000" dirty="0"/>
          </a:p>
        </p:txBody>
      </p:sp>
      <p:sp>
        <p:nvSpPr>
          <p:cNvPr id="42" name="Text 34"/>
          <p:cNvSpPr txBox="1"/>
          <p:nvPr/>
        </p:nvSpPr>
        <p:spPr>
          <a:xfrm>
            <a:off x="8280197" y="4846320"/>
            <a:ext cx="28599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遮掉個資・留稽核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解法提綱｜雲端架構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外面連不進來，出口只放行名單上的網域；每日層用完就拆，長期層平常不拆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052561" y="1572768"/>
            <a:ext cx="2545080" cy="4892040"/>
          </a:xfrm>
          <a:prstGeom prst="roundRect">
            <a:avLst>
              <a:gd name="adj" fmla="val 3469"/>
            </a:avLst>
          </a:prstGeom>
          <a:solidFill>
            <a:srgbClr val="1C2F38"/>
          </a:solidFill>
          <a:ln w="12700">
            <a:solidFill>
              <a:srgbClr val="1C2F3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5769864"/>
            <a:ext cx="11140441" cy="694944"/>
          </a:xfrm>
          <a:prstGeom prst="roundRect">
            <a:avLst>
              <a:gd name="adj" fmla="val 13158"/>
            </a:avLst>
          </a:prstGeom>
          <a:solidFill>
            <a:srgbClr val="1C2F38"/>
          </a:solidFill>
          <a:ln w="12700">
            <a:solidFill>
              <a:srgbClr val="1C2F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89720" y="1618488"/>
            <a:ext cx="2499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5B7C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長期層・平常不拆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148840" y="1572768"/>
            <a:ext cx="6720840" cy="3867912"/>
          </a:xfrm>
          <a:prstGeom prst="roundRect">
            <a:avLst>
              <a:gd name="adj" fmla="val 2273"/>
            </a:avLst>
          </a:prstGeom>
          <a:solidFill>
            <a:srgbClr val="0F2F36"/>
          </a:solidFill>
          <a:ln w="12700">
            <a:solidFill>
              <a:srgbClr val="0F2F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840" y="1572768"/>
            <a:ext cx="6720840" cy="3886200"/>
          </a:xfrm>
          <a:prstGeom prst="roundRect">
            <a:avLst>
              <a:gd name="adj" fmla="val 2273"/>
            </a:avLst>
          </a:prstGeom>
          <a:solidFill>
            <a:srgbClr val="14262B">
              <a:alpha val="0"/>
            </a:srgbClr>
          </a:solidFill>
          <a:ln w="22225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286000" y="1609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VPC・每日層（用完就拆）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286000" y="1938528"/>
            <a:ext cx="6446520" cy="1143000"/>
          </a:xfrm>
          <a:prstGeom prst="roundRect">
            <a:avLst>
              <a:gd name="adj" fmla="val 6400"/>
            </a:avLst>
          </a:prstGeom>
          <a:solidFill>
            <a:srgbClr val="16393E"/>
          </a:solidFill>
          <a:ln w="12700">
            <a:solidFill>
              <a:srgbClr val="16393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377440" y="1965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公有子網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468880" y="2304288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23744" y="230428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 入口 :80</a:t>
            </a:r>
            <a:endParaRPr lang="en-US" sz="13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用 HTTP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80560" y="2304288"/>
            <a:ext cx="2148840" cy="658368"/>
          </a:xfrm>
          <a:prstGeom prst="roundRect">
            <a:avLst>
              <a:gd name="adj" fmla="val 1111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35424" y="2304288"/>
            <a:ext cx="2039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 ＋ DNS 防火牆</a:t>
            </a:r>
            <a:endParaRPr lang="en-US" sz="15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出口 :443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995160" y="2304288"/>
            <a:ext cx="1554480" cy="658368"/>
          </a:xfrm>
          <a:prstGeom prst="roundRect">
            <a:avLst>
              <a:gd name="adj" fmla="val 11111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50024" y="2304288"/>
            <a:ext cx="14447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網際網路閘道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2286000" y="3264408"/>
            <a:ext cx="6446520" cy="2176272"/>
          </a:xfrm>
          <a:prstGeom prst="roundRect">
            <a:avLst>
              <a:gd name="adj" fmla="val 3333"/>
            </a:avLst>
          </a:prstGeom>
          <a:solidFill>
            <a:srgbClr val="102D33"/>
          </a:solidFill>
          <a:ln w="12700">
            <a:solidFill>
              <a:srgbClr val="102D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377440" y="3205215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私有子網・沒有公開 IP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468880" y="3675888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B5D5E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523744" y="3675888"/>
            <a:ext cx="1810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92240" y="3675888"/>
            <a:ext cx="2057400" cy="777240"/>
          </a:xfrm>
          <a:prstGeom prst="roundRect">
            <a:avLst>
              <a:gd name="adj" fmla="val 9412"/>
            </a:avLst>
          </a:prstGeom>
          <a:solidFill>
            <a:srgbClr val="0B5D5E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547104" y="3675888"/>
            <a:ext cx="1947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Worker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寫三本帳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468880" y="4800600"/>
            <a:ext cx="6080760" cy="530352"/>
          </a:xfrm>
          <a:prstGeom prst="roundRect">
            <a:avLst>
              <a:gd name="adj" fmla="val 13793"/>
            </a:avLst>
          </a:prstGeom>
          <a:solidFill>
            <a:srgbClr val="0B5D5E"/>
          </a:solidFill>
          <a:ln w="15875">
            <a:solidFill>
              <a:srgbClr val="0E7C7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2523744" y="4800600"/>
            <a:ext cx="59710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Endpoint ×2 → DynamoDB・S3（不走網際網路）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02920" y="205740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43238"/>
          </a:solidFill>
          <a:ln w="15875">
            <a:solidFill>
              <a:srgbClr val="7D858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57784" y="205740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2920" y="301752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43238"/>
          </a:solidFill>
          <a:ln w="15875">
            <a:solidFill>
              <a:srgbClr val="7D858C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57784" y="301752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02920" y="37490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243238"/>
          </a:solidFill>
          <a:ln w="15875">
            <a:solidFill>
              <a:srgbClr val="7D858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57784" y="3749040"/>
            <a:ext cx="12618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Grafana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502920" y="457200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243238"/>
          </a:solidFill>
          <a:ln w="15875">
            <a:solidFill>
              <a:srgbClr val="7D858C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57784" y="4572000"/>
            <a:ext cx="12618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測試掃描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CD 部署・拆除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9189720" y="2304288"/>
            <a:ext cx="2361895" cy="658368"/>
          </a:xfrm>
          <a:prstGeom prst="roundRect">
            <a:avLst>
              <a:gd name="adj" fmla="val 11111"/>
            </a:avLst>
          </a:prstGeom>
          <a:solidFill>
            <a:srgbClr val="14262B"/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244585" y="2304288"/>
            <a:ext cx="22311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9189721" y="3675888"/>
            <a:ext cx="2361894" cy="777240"/>
          </a:xfrm>
          <a:prstGeom prst="roundRect">
            <a:avLst>
              <a:gd name="adj" fmla="val 9412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244585" y="3675888"/>
            <a:ext cx="230703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＋ DLQ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出單夾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9189721" y="4663440"/>
            <a:ext cx="2361894" cy="777240"/>
          </a:xfrm>
          <a:prstGeom prst="roundRect">
            <a:avLst>
              <a:gd name="adj" fmla="val 9412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244584" y="4663440"/>
            <a:ext cx="230703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6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四張表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94360" y="5897880"/>
            <a:ext cx="205740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49224" y="589788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 角色・OIDC 信任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788920" y="589788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2843784" y="5897880"/>
            <a:ext cx="1307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ECR image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343400" y="589788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4398264" y="5897880"/>
            <a:ext cx="1170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SSM 參數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5760720" y="5897880"/>
            <a:ext cx="246888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815584" y="5897880"/>
            <a:ext cx="2359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CloudWatch・SNS 告警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8366760" y="5897880"/>
            <a:ext cx="2194560" cy="457200"/>
          </a:xfrm>
          <a:prstGeom prst="roundRect">
            <a:avLst>
              <a:gd name="adj" fmla="val 16000"/>
            </a:avLst>
          </a:prstGeom>
          <a:solidFill>
            <a:srgbClr val="2F4652"/>
          </a:solidFill>
          <a:ln w="15875">
            <a:solidFill>
              <a:srgbClr val="5B7C8D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8421624" y="5897880"/>
            <a:ext cx="2084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S3（Terraform 帳本）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1874520" y="2331720"/>
            <a:ext cx="594360" cy="301752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60" name="Text 58"/>
          <p:cNvSpPr txBox="1"/>
          <p:nvPr/>
        </p:nvSpPr>
        <p:spPr>
          <a:xfrm>
            <a:off x="502920" y="17830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請求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3164310" y="2962656"/>
            <a:ext cx="0" cy="713232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62" name="Shape 60"/>
          <p:cNvSpPr/>
          <p:nvPr/>
        </p:nvSpPr>
        <p:spPr>
          <a:xfrm>
            <a:off x="4389120" y="3950208"/>
            <a:ext cx="116128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5550408" y="2962656"/>
            <a:ext cx="0" cy="987552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6629400" y="2633472"/>
            <a:ext cx="36576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65" name="Shape 63"/>
          <p:cNvSpPr/>
          <p:nvPr/>
        </p:nvSpPr>
        <p:spPr>
          <a:xfrm>
            <a:off x="8549640" y="2633472"/>
            <a:ext cx="64008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8549640" y="2340864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對外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 flipV="1">
            <a:off x="4023360" y="3478573"/>
            <a:ext cx="0" cy="197315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023360" y="3487717"/>
            <a:ext cx="571500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9738360" y="3593592"/>
            <a:ext cx="0" cy="82296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70" name="Text 68"/>
          <p:cNvSpPr txBox="1"/>
          <p:nvPr/>
        </p:nvSpPr>
        <p:spPr>
          <a:xfrm>
            <a:off x="6172200" y="3240829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</a:t>
            </a:r>
            <a:endParaRPr lang="en-US" sz="1200" dirty="0"/>
          </a:p>
        </p:txBody>
      </p:sp>
      <p:sp>
        <p:nvSpPr>
          <p:cNvPr id="71" name="Shape 69"/>
          <p:cNvSpPr/>
          <p:nvPr/>
        </p:nvSpPr>
        <p:spPr>
          <a:xfrm flipH="1">
            <a:off x="8549640" y="4059936"/>
            <a:ext cx="64008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8549640" y="37856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觸發</a:t>
            </a:r>
            <a:endParaRPr lang="en-US" sz="1200" dirty="0"/>
          </a:p>
        </p:txBody>
      </p:sp>
      <p:sp>
        <p:nvSpPr>
          <p:cNvPr id="73" name="Shape 71"/>
          <p:cNvSpPr/>
          <p:nvPr/>
        </p:nvSpPr>
        <p:spPr>
          <a:xfrm>
            <a:off x="7498080" y="4453128"/>
            <a:ext cx="0" cy="347472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74" name="Shape 72"/>
          <p:cNvSpPr/>
          <p:nvPr/>
        </p:nvSpPr>
        <p:spPr>
          <a:xfrm>
            <a:off x="8549640" y="5065776"/>
            <a:ext cx="640080" cy="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75" name="Shape 73"/>
          <p:cNvSpPr/>
          <p:nvPr/>
        </p:nvSpPr>
        <p:spPr>
          <a:xfrm>
            <a:off x="3429000" y="4453128"/>
            <a:ext cx="0" cy="347472"/>
          </a:xfrm>
          <a:prstGeom prst="line">
            <a:avLst/>
          </a:prstGeom>
          <a:noFill/>
          <a:ln w="22225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76" name="Shape 74"/>
          <p:cNvSpPr/>
          <p:nvPr/>
        </p:nvSpPr>
        <p:spPr>
          <a:xfrm>
            <a:off x="9464040" y="5330952"/>
            <a:ext cx="0" cy="566928"/>
          </a:xfrm>
          <a:prstGeom prst="line">
            <a:avLst/>
          </a:prstGeom>
          <a:noFill/>
          <a:ln w="22225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1874520" y="2715768"/>
            <a:ext cx="594360" cy="576072"/>
          </a:xfrm>
          <a:prstGeom prst="line">
            <a:avLst/>
          </a:prstGeom>
          <a:noFill/>
          <a:ln w="19050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V="1">
            <a:off x="1874520" y="2807208"/>
            <a:ext cx="594360" cy="1216152"/>
          </a:xfrm>
          <a:prstGeom prst="line">
            <a:avLst/>
          </a:prstGeom>
          <a:noFill/>
          <a:ln w="19050">
            <a:solidFill>
              <a:srgbClr val="7D858C"/>
            </a:solidFill>
            <a:prstDash val="solid"/>
            <a:tailEnd type="triangle"/>
          </a:ln>
        </p:spPr>
      </p:sp>
      <p:sp>
        <p:nvSpPr>
          <p:cNvPr id="79" name="Text 77"/>
          <p:cNvSpPr txBox="1"/>
          <p:nvPr/>
        </p:nvSpPr>
        <p:spPr>
          <a:xfrm>
            <a:off x="502920" y="4315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唯讀 /metrics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1188720" y="5440680"/>
            <a:ext cx="0" cy="457200"/>
          </a:xfrm>
          <a:prstGeom prst="line">
            <a:avLst/>
          </a:prstGeom>
          <a:noFill/>
          <a:ln w="22225">
            <a:solidFill>
              <a:srgbClr val="5B7C8D"/>
            </a:solidFill>
            <a:prstDash val="dash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1234440" y="5577840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7C8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OIDC 換一小時角色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1874520" y="5029200"/>
            <a:ext cx="274320" cy="0"/>
          </a:xfrm>
          <a:prstGeom prst="line">
            <a:avLst/>
          </a:prstGeom>
          <a:noFill/>
          <a:ln w="22225">
            <a:solidFill>
              <a:srgbClr val="5B7C8D"/>
            </a:solidFill>
            <a:prstDash val="dash"/>
            <a:tailEnd type="triangle"/>
          </a:ln>
        </p:spPr>
      </p:sp>
      <p:sp>
        <p:nvSpPr>
          <p:cNvPr id="83" name="Shape 81"/>
          <p:cNvSpPr/>
          <p:nvPr/>
        </p:nvSpPr>
        <p:spPr>
          <a:xfrm>
            <a:off x="8710860" y="1325880"/>
            <a:ext cx="27432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9030900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請求／對外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9940484" y="1325880"/>
            <a:ext cx="274320" cy="0"/>
          </a:xfrm>
          <a:prstGeom prst="line">
            <a:avLst/>
          </a:prstGeom>
          <a:noFill/>
          <a:ln w="31750">
            <a:solidFill>
              <a:srgbClr val="2E9E6B"/>
            </a:solidFill>
            <a:prstDash val="solid"/>
          </a:ln>
        </p:spPr>
      </p:sp>
      <p:sp>
        <p:nvSpPr>
          <p:cNvPr id="86" name="Text 84"/>
          <p:cNvSpPr txBox="1"/>
          <p:nvPr/>
        </p:nvSpPr>
        <p:spPr>
          <a:xfrm>
            <a:off x="10260524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記帳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10698480" y="1325880"/>
            <a:ext cx="274320" cy="0"/>
          </a:xfrm>
          <a:prstGeom prst="line">
            <a:avLst/>
          </a:prstGeom>
          <a:noFill/>
          <a:ln w="31750">
            <a:solidFill>
              <a:srgbClr val="5B7C8D"/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11018520" y="1207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部署（虛線）</a:t>
            </a:r>
            <a:endParaRPr lang="en-US" sz="1200" dirty="0"/>
          </a:p>
        </p:txBody>
      </p:sp>
      <p:sp>
        <p:nvSpPr>
          <p:cNvPr id="91" name="Shape 65">
            <a:extLst>
              <a:ext uri="{FF2B5EF4-FFF2-40B4-BE49-F238E27FC236}">
                <a16:creationId xmlns:a16="http://schemas.microsoft.com/office/drawing/2014/main" id="{499A055A-7F4E-C90D-121F-2ECA8A32B3E5}"/>
              </a:ext>
            </a:extLst>
          </p:cNvPr>
          <p:cNvSpPr/>
          <p:nvPr/>
        </p:nvSpPr>
        <p:spPr>
          <a:xfrm flipV="1">
            <a:off x="9736756" y="3477127"/>
            <a:ext cx="0" cy="197315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解法提綱｜一次呼叫發生什麼事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前六步是門禁，後五步做事；紅色是擋下時回的代碼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1120140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1120140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ALB 收到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148840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2420051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3037271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3037271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2420051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 Key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854391" y="2880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2854391" y="2880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401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065971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4337182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4954402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4954402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337182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讀額度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71522" y="2880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4771522" y="2880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983102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" name="Shape 30"/>
          <p:cNvSpPr/>
          <p:nvPr/>
        </p:nvSpPr>
        <p:spPr>
          <a:xfrm>
            <a:off x="6254313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3" name="Shape 31"/>
          <p:cNvSpPr/>
          <p:nvPr/>
        </p:nvSpPr>
        <p:spPr>
          <a:xfrm>
            <a:off x="6871533" y="1938528"/>
            <a:ext cx="365760" cy="3657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6871533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254313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遮罩個資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900233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7" name="Shape 35"/>
          <p:cNvSpPr/>
          <p:nvPr/>
        </p:nvSpPr>
        <p:spPr>
          <a:xfrm>
            <a:off x="8171444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Shape 36"/>
          <p:cNvSpPr/>
          <p:nvPr/>
        </p:nvSpPr>
        <p:spPr>
          <a:xfrm>
            <a:off x="8788664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Text 37"/>
          <p:cNvSpPr txBox="1"/>
          <p:nvPr/>
        </p:nvSpPr>
        <p:spPr>
          <a:xfrm>
            <a:off x="8788664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171444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判斷超額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605784" y="2880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8605784" y="2880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9817364" y="230886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4" name="Shape 42"/>
          <p:cNvSpPr/>
          <p:nvPr/>
        </p:nvSpPr>
        <p:spPr>
          <a:xfrm>
            <a:off x="10088575" y="182880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5" name="Shape 43"/>
          <p:cNvSpPr/>
          <p:nvPr/>
        </p:nvSpPr>
        <p:spPr>
          <a:xfrm>
            <a:off x="10705795" y="193852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10705795" y="1938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088575" y="23317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預寫 0 元帳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10522915" y="288036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Text 47"/>
          <p:cNvSpPr txBox="1"/>
          <p:nvPr/>
        </p:nvSpPr>
        <p:spPr>
          <a:xfrm>
            <a:off x="10522915" y="288036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503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0888675" y="3291840"/>
            <a:ext cx="0" cy="64008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1" name="Shape 49"/>
          <p:cNvSpPr/>
          <p:nvPr/>
        </p:nvSpPr>
        <p:spPr>
          <a:xfrm>
            <a:off x="2420051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3037271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3037271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2420051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回傳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 flipH="1">
            <a:off x="4065971" y="441198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4337182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Shape 55"/>
          <p:cNvSpPr/>
          <p:nvPr/>
        </p:nvSpPr>
        <p:spPr>
          <a:xfrm>
            <a:off x="4954402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Text 56"/>
          <p:cNvSpPr txBox="1"/>
          <p:nvPr/>
        </p:nvSpPr>
        <p:spPr>
          <a:xfrm>
            <a:off x="4954402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600" dirty="0"/>
          </a:p>
        </p:txBody>
      </p:sp>
      <p:sp>
        <p:nvSpPr>
          <p:cNvPr id="59" name="Text 57"/>
          <p:cNvSpPr txBox="1"/>
          <p:nvPr/>
        </p:nvSpPr>
        <p:spPr>
          <a:xfrm>
            <a:off x="4337182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送進 SQS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 flipH="1">
            <a:off x="5983102" y="441198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6254313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6871533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 txBox="1"/>
          <p:nvPr/>
        </p:nvSpPr>
        <p:spPr>
          <a:xfrm>
            <a:off x="6871533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6254313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呼叫 OpenAI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6688653" y="498348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6688653" y="49834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502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 flipH="1">
            <a:off x="7900233" y="441198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8171444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905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Shape 67"/>
          <p:cNvSpPr/>
          <p:nvPr/>
        </p:nvSpPr>
        <p:spPr>
          <a:xfrm>
            <a:off x="8788664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Text 68"/>
          <p:cNvSpPr txBox="1"/>
          <p:nvPr/>
        </p:nvSpPr>
        <p:spPr>
          <a:xfrm>
            <a:off x="8788664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8171444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查單價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605784" y="4983480"/>
            <a:ext cx="731520" cy="310896"/>
          </a:xfrm>
          <a:prstGeom prst="roundRect">
            <a:avLst>
              <a:gd name="adj" fmla="val 1764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 txBox="1"/>
          <p:nvPr/>
        </p:nvSpPr>
        <p:spPr>
          <a:xfrm>
            <a:off x="8605784" y="498348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500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 flipH="1">
            <a:off x="9817364" y="4411980"/>
            <a:ext cx="225491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75" name="Shape 73"/>
          <p:cNvSpPr/>
          <p:nvPr/>
        </p:nvSpPr>
        <p:spPr>
          <a:xfrm>
            <a:off x="10088575" y="3931920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2F4652"/>
          </a:solidFill>
          <a:ln w="12700">
            <a:solidFill>
              <a:srgbClr val="0B5D5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Shape 74"/>
          <p:cNvSpPr/>
          <p:nvPr/>
        </p:nvSpPr>
        <p:spPr>
          <a:xfrm>
            <a:off x="10705795" y="4041648"/>
            <a:ext cx="365760" cy="36576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10705795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600" dirty="0"/>
          </a:p>
        </p:txBody>
      </p:sp>
      <p:sp>
        <p:nvSpPr>
          <p:cNvPr id="78" name="Text 76"/>
          <p:cNvSpPr txBox="1"/>
          <p:nvPr/>
        </p:nvSpPr>
        <p:spPr>
          <a:xfrm>
            <a:off x="10088575" y="44348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選模型</a:t>
            </a:r>
            <a:endParaRPr lang="en-US" sz="1600" dirty="0"/>
          </a:p>
        </p:txBody>
      </p:sp>
      <p:sp>
        <p:nvSpPr>
          <p:cNvPr id="79" name="Text 77"/>
          <p:cNvSpPr txBox="1"/>
          <p:nvPr/>
        </p:nvSpPr>
        <p:spPr>
          <a:xfrm>
            <a:off x="502920" y="56692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步之後，送往 OpenAI 與寫入稽核的內容，都已是遮罩後的內容</a:t>
            </a:r>
            <a:endParaRPr lang="en-US" sz="1600" dirty="0"/>
          </a:p>
        </p:txBody>
      </p:sp>
      <p:sp>
        <p:nvSpPr>
          <p:cNvPr id="80" name="TextBox 79"/>
          <p:cNvSpPr txBox="1"/>
          <p:nvPr/>
        </p:nvSpPr>
        <p:spPr>
          <a:xfrm>
            <a:off x="502920" y="1517904"/>
            <a:ext cx="82296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 dirty="0">
                <a:solidFill>
                  <a:schemeClr val="accent5"/>
                </a:solidFill>
                <a:latin typeface="Microsoft JhengHei"/>
              </a:rPr>
              <a:t>門禁（1–6）：</a:t>
            </a:r>
            <a:r>
              <a:rPr sz="1400" b="1" dirty="0" err="1">
                <a:solidFill>
                  <a:schemeClr val="accent5"/>
                </a:solidFill>
                <a:latin typeface="Microsoft JhengHei"/>
              </a:rPr>
              <a:t>任何一步擋下，就回代碼、不碰模型</a:t>
            </a:r>
            <a:endParaRPr sz="1400" b="1" dirty="0">
              <a:solidFill>
                <a:schemeClr val="accent5"/>
              </a:solidFill>
              <a:latin typeface="Microsoft JhengHei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02920" y="362102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B9C6CA"/>
                </a:solidFill>
                <a:latin typeface="Microsoft JhengHei"/>
              </a:rPr>
              <a:t>做事（7–11）：確認帳單進了佇列，才回傳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解法提綱｜三件事、兩層、一鍵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要用才開，用完就拆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600200"/>
            <a:ext cx="3500018" cy="868680"/>
          </a:xfrm>
          <a:prstGeom prst="roundRect">
            <a:avLst>
              <a:gd name="adj" fmla="val 10526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15" name="Image 0" descr="/home/claude/slides/v6/media/s09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" y="1885950"/>
            <a:ext cx="297180" cy="2971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17320" y="1691640"/>
            <a:ext cx="2494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外面連不進來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2075688"/>
            <a:ext cx="2494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容器沒有公開 IP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231538" y="1600200"/>
            <a:ext cx="3500018" cy="868680"/>
          </a:xfrm>
          <a:prstGeom prst="roundRect">
            <a:avLst>
              <a:gd name="adj" fmla="val 10526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96130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0" name="Image 1" descr="/home/claude/slides/v6/media/s09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720" y="1885950"/>
            <a:ext cx="297180" cy="29718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145938" y="1691640"/>
            <a:ext cx="2494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只有一個出口</a:t>
            </a:r>
            <a:endParaRPr lang="en-US" sz="2000" dirty="0"/>
          </a:p>
        </p:txBody>
      </p:sp>
      <p:sp>
        <p:nvSpPr>
          <p:cNvPr id="22" name="Text 18"/>
          <p:cNvSpPr txBox="1"/>
          <p:nvPr/>
        </p:nvSpPr>
        <p:spPr>
          <a:xfrm>
            <a:off x="5145938" y="2075688"/>
            <a:ext cx="2494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只放行名單上的網域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7960157" y="1600200"/>
            <a:ext cx="3500018" cy="868680"/>
          </a:xfrm>
          <a:prstGeom prst="roundRect">
            <a:avLst>
              <a:gd name="adj" fmla="val 10526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124749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5" name="Image 2" descr="/home/claude/slides/v6/media/s09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339" y="1885950"/>
            <a:ext cx="297180" cy="29718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874557" y="1691640"/>
            <a:ext cx="249417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沒有長期金鑰</a:t>
            </a:r>
            <a:endParaRPr lang="en-US" sz="2000" dirty="0"/>
          </a:p>
        </p:txBody>
      </p:sp>
      <p:sp>
        <p:nvSpPr>
          <p:cNvPr id="27" name="Text 22"/>
          <p:cNvSpPr txBox="1"/>
          <p:nvPr/>
        </p:nvSpPr>
        <p:spPr>
          <a:xfrm>
            <a:off x="8874557" y="2075688"/>
            <a:ext cx="249417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用身分聯盟換通行證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502920" y="2697480"/>
            <a:ext cx="5455768" cy="2194560"/>
          </a:xfrm>
          <a:prstGeom prst="roundRect">
            <a:avLst>
              <a:gd name="adj" fmla="val 4167"/>
            </a:avLst>
          </a:prstGeom>
          <a:solidFill>
            <a:srgbClr val="14262B">
              <a:alpha val="0"/>
            </a:srgbClr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777240" y="288036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長期層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閒置幾乎免費</a:t>
            </a:r>
            <a:endParaRPr lang="en-US" sz="1600" dirty="0"/>
          </a:p>
        </p:txBody>
      </p:sp>
      <p:sp>
        <p:nvSpPr>
          <p:cNvPr id="30" name="Text 25"/>
          <p:cNvSpPr txBox="1"/>
          <p:nvPr/>
        </p:nvSpPr>
        <p:spPr>
          <a:xfrm>
            <a:off x="777240" y="3474720"/>
            <a:ext cx="490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Terraform 帳本、ECR、四張資料表</a:t>
            </a:r>
            <a:endParaRPr lang="en-US" sz="1600" dirty="0"/>
          </a:p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OIDC、ECS、Worker 角色</a:t>
            </a:r>
            <a:endParaRPr lang="en-US" sz="1600" dirty="0"/>
          </a:p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＋ DLQ、日誌群組、告警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6233008" y="2697480"/>
            <a:ext cx="5455768" cy="2194560"/>
          </a:xfrm>
          <a:prstGeom prst="roundRect">
            <a:avLst>
              <a:gd name="adj" fmla="val 4167"/>
            </a:avLst>
          </a:prstGeom>
          <a:solidFill>
            <a:srgbClr val="14262B">
              <a:alpha val="0"/>
            </a:srgbClr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507328" y="2880360"/>
            <a:ext cx="4907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每日層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按小時計費，用完拆除</a:t>
            </a:r>
            <a:endParaRPr lang="en-US" sz="1600" dirty="0"/>
          </a:p>
        </p:txBody>
      </p:sp>
      <p:sp>
        <p:nvSpPr>
          <p:cNvPr id="33" name="Text 28"/>
          <p:cNvSpPr txBox="1"/>
          <p:nvPr/>
        </p:nvSpPr>
        <p:spPr>
          <a:xfrm>
            <a:off x="6507328" y="3474720"/>
            <a:ext cx="4907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VPC、子網、安全群組</a:t>
            </a:r>
            <a:endParaRPr lang="en-US" sz="1600" dirty="0"/>
          </a:p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NAT、DNS 防火牆、ALB</a:t>
            </a:r>
            <a:endParaRPr lang="en-US" sz="1600" dirty="0"/>
          </a:p>
          <a:p>
            <a:pPr marL="177800" indent="-177800" algn="l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服務、Lambda Worker</a:t>
            </a: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502920" y="5166360"/>
            <a:ext cx="11185855" cy="868680"/>
          </a:xfrm>
          <a:prstGeom prst="roundRect">
            <a:avLst>
              <a:gd name="adj" fmla="val 10526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31520" y="530352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36" name="Image 3" descr="/home/claude/slides/v6/media/s09-Imag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815" y="5377815"/>
            <a:ext cx="445770" cy="445770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1508760" y="5166360"/>
            <a:ext cx="99971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一鍵拆除　</a:t>
            </a: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借一小時的角色，只拆得了貼 daily 標籤的資源；用完當天就拆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技術實踐｜Demo Console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問了一題設計題：路由選強模型，本次用量與剩餘額度即時更新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000" dirty="0"/>
          </a:p>
        </p:txBody>
      </p:sp>
      <p:pic>
        <p:nvPicPr>
          <p:cNvPr id="13" name="Image 0" descr="/home/claude/slides/v6/media/s10-Conso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8323759" cy="478231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4632" y="1554480"/>
            <a:ext cx="8360335" cy="4818888"/>
          </a:xfrm>
          <a:prstGeom prst="roundRect">
            <a:avLst>
              <a:gd name="adj" fmla="val 759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00999" y="1572768"/>
            <a:ext cx="2587776" cy="4782312"/>
          </a:xfrm>
          <a:prstGeom prst="roundRect">
            <a:avLst>
              <a:gd name="adj" fmla="val 3534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375319" y="1755648"/>
            <a:ext cx="2130576" cy="4416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右欄由上而下是：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路由決策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本次用量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剩餘額度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就是接下來的：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</a:t>
            </a:r>
            <a:endParaRPr lang="en-US" sz="1800" dirty="0"/>
          </a:p>
          <a:p>
            <a:pPr marL="0" indent="0" algn="l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買瓶飲料，不用叫整台貨車幫你送來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簡單的問題交給便宜的模型；兩題真的送出去，稽核記下理由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1664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「把這句翻成英文」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075688"/>
            <a:ext cx="685800" cy="347472"/>
          </a:xfrm>
          <a:prstGeom prst="roundRect">
            <a:avLst>
              <a:gd name="adj" fmla="val 3157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07568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463040" y="2249424"/>
            <a:ext cx="32004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1874520" y="2075688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74520" y="2075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gpt-6-luna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3246120" y="207568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短句、沒有關鍵字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0" y="1572768"/>
            <a:ext cx="3886200" cy="960120"/>
          </a:xfrm>
          <a:prstGeom prst="roundRect">
            <a:avLst>
              <a:gd name="adj" fmla="val 7619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754880" y="16642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「設計多人共用的 AI 服務」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754880" y="2075688"/>
            <a:ext cx="685800" cy="347472"/>
          </a:xfrm>
          <a:prstGeom prst="roundRect">
            <a:avLst>
              <a:gd name="adj" fmla="val 3157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54880" y="207568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532120" y="2249424"/>
            <a:ext cx="320040" cy="0"/>
          </a:xfrm>
          <a:prstGeom prst="line">
            <a:avLst/>
          </a:prstGeom>
          <a:noFill/>
          <a:ln w="1905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943600" y="2075688"/>
            <a:ext cx="1234440" cy="347472"/>
          </a:xfrm>
          <a:prstGeom prst="roundRect">
            <a:avLst>
              <a:gd name="adj" fmla="val 3157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43600" y="2075688"/>
            <a:ext cx="1234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gpt-6-sol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315200" y="2075688"/>
            <a:ext cx="1051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300 字或含設計、分析等關鍵字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41080" y="1572768"/>
            <a:ext cx="3047695" cy="960120"/>
          </a:xfrm>
          <a:prstGeom prst="roundRect">
            <a:avLst>
              <a:gd name="adj" fmla="val 7619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823960" y="1572768"/>
            <a:ext cx="2773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倍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單價差</a:t>
            </a:r>
            <a:endParaRPr lang="en-US" sz="16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規則由公司定，使用者不能自己選模型</a:t>
            </a:r>
            <a:endParaRPr lang="en-US" sz="1600" dirty="0"/>
          </a:p>
        </p:txBody>
      </p:sp>
      <p:pic>
        <p:nvPicPr>
          <p:cNvPr id="31" name="Image 0" descr="/home/claude/slides/v6/media/s12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61488"/>
            <a:ext cx="5455768" cy="2579918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3318096" y="3109777"/>
            <a:ext cx="1789492" cy="136736"/>
          </a:xfrm>
          <a:prstGeom prst="roundRect">
            <a:avLst>
              <a:gd name="adj" fmla="val 33437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33472" y="3907230"/>
            <a:ext cx="2436000" cy="151699"/>
          </a:xfrm>
          <a:prstGeom prst="roundRect">
            <a:avLst>
              <a:gd name="adj" fmla="val 30139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33472" y="5035864"/>
            <a:ext cx="1714748" cy="159439"/>
          </a:xfrm>
          <a:prstGeom prst="roundRect">
            <a:avLst>
              <a:gd name="adj" fmla="val 28676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pic>
        <p:nvPicPr>
          <p:cNvPr id="35" name="Image 1" descr="/home/claude/slides/v6/media/s12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2761488"/>
            <a:ext cx="5045574" cy="3017520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6261263" y="3708386"/>
            <a:ext cx="1603483" cy="140315"/>
          </a:xfrm>
          <a:prstGeom prst="roundRect">
            <a:avLst>
              <a:gd name="adj" fmla="val 32584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6261263" y="4479966"/>
            <a:ext cx="2252849" cy="140315"/>
          </a:xfrm>
          <a:prstGeom prst="roundRect">
            <a:avLst>
              <a:gd name="adj" fmla="val 32584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6261263" y="5512925"/>
            <a:ext cx="1796729" cy="147255"/>
          </a:xfrm>
          <a:prstGeom prst="roundRect">
            <a:avLst>
              <a:gd name="adj" fmla="val 31048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39" name="Text 35"/>
          <p:cNvSpPr txBox="1"/>
          <p:nvPr/>
        </p:nvSpPr>
        <p:spPr>
          <a:xfrm>
            <a:off x="502920" y="5414558"/>
            <a:ext cx="5455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→ gpt-6-luna，7 micro-USD</a:t>
            </a:r>
            <a:endParaRPr lang="en-US" sz="1600" dirty="0"/>
          </a:p>
        </p:txBody>
      </p:sp>
      <p:sp>
        <p:nvSpPr>
          <p:cNvPr id="40" name="Text 36"/>
          <p:cNvSpPr txBox="1"/>
          <p:nvPr/>
        </p:nvSpPr>
        <p:spPr>
          <a:xfrm>
            <a:off x="6233008" y="5852160"/>
            <a:ext cx="54557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→ gpt-6-sol，1,438 micro-USD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選擇理由 keyword 也記在稽核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省更多很簡單，答對比較難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題實測，不是模擬；省更多很簡單，答對比較難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160020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283464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 題，每題兩顆模型都真的跑過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 65%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" y="38404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8404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6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US$ 0.0557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423160" y="4315968"/>
            <a:ext cx="27432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788920" y="384048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14262B">
              <a:alpha val="0"/>
            </a:srgbClr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926080" y="384048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智慧路由</a:t>
            </a:r>
            <a:endParaRPr lang="en-US" sz="16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US$ 0.0416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98348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為什麼不選省 54.5% 的規則：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門檻放寬到 500 字，最難的一題回答被截斷；省更多很簡單，答對比較難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983480" y="1572768"/>
            <a:ext cx="6705295" cy="4645152"/>
          </a:xfrm>
          <a:prstGeom prst="roundRect">
            <a:avLst>
              <a:gd name="adj" fmla="val 1969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pic>
        <p:nvPicPr>
          <p:cNvPr id="22" name="Image 0" descr="/home/claude/slides/v6/media/s13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1773936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760720" y="1682496"/>
            <a:ext cx="57908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每個人花多少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Grafana：誰花多少、被擋幾次，不用等月底</a:t>
            </a:r>
            <a:endParaRPr lang="en-US" sz="1600" dirty="0"/>
          </a:p>
        </p:txBody>
      </p:sp>
      <p:pic>
        <p:nvPicPr>
          <p:cNvPr id="24" name="Image 1" descr="/home/claude/slides/v6/media/s13-S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441448"/>
            <a:ext cx="6248095" cy="328107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5193792" y="2423160"/>
            <a:ext cx="6284671" cy="3317652"/>
          </a:xfrm>
          <a:prstGeom prst="roundRect">
            <a:avLst>
              <a:gd name="adj" fmla="val 1102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技術實踐｜節費：備援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強模型塞車時，自動改派便宜模型，回答照給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000" dirty="0"/>
          </a:p>
        </p:txBody>
      </p:sp>
      <p:pic>
        <p:nvPicPr>
          <p:cNvPr id="13" name="Image 0" descr="/home/claude/slides/v6/media/s18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694" y="1572768"/>
            <a:ext cx="8502306" cy="30175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862549" y="1762268"/>
            <a:ext cx="3975678" cy="254679"/>
          </a:xfrm>
          <a:prstGeom prst="roundRect">
            <a:avLst>
              <a:gd name="adj" fmla="val 17952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16253" y="3339967"/>
            <a:ext cx="2443563" cy="791358"/>
          </a:xfrm>
          <a:prstGeom prst="roundRect">
            <a:avLst>
              <a:gd name="adj" fmla="val 6486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116253" y="4417996"/>
            <a:ext cx="1585680" cy="186684"/>
          </a:xfrm>
          <a:prstGeom prst="roundRect">
            <a:avLst>
              <a:gd name="adj" fmla="val 38553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4645152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畫面標 SIMULATION：限流是模擬的，其餘都是真的請求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稽核記下改派的模型與理由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2920" y="5458968"/>
            <a:ext cx="3576218" cy="850392"/>
          </a:xfrm>
          <a:prstGeom prst="roundRect">
            <a:avLst>
              <a:gd name="adj" fmla="val 1075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4088" y="5532120"/>
            <a:ext cx="317388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同一句複雜題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原本該派給 gpt-6-sol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4307738" y="5458968"/>
            <a:ext cx="3576218" cy="850392"/>
          </a:xfrm>
          <a:prstGeom prst="roundRect">
            <a:avLst>
              <a:gd name="adj" fmla="val 1075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08906" y="5532120"/>
            <a:ext cx="317388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→ 改派 gpt-6-luna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fallback: True，理由 RateLimitError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112557" y="5458968"/>
            <a:ext cx="3576218" cy="850392"/>
          </a:xfrm>
          <a:prstGeom prst="roundRect">
            <a:avLst>
              <a:gd name="adj" fmla="val 1075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13725" y="5532120"/>
            <a:ext cx="3173882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 micro-USD，回答照給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使用者不用重送，也不用知道換了模型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①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號碼在離開公司之前，就被換成標籤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1000" dirty="0"/>
          </a:p>
        </p:txBody>
      </p:sp>
      <p:pic>
        <p:nvPicPr>
          <p:cNvPr id="13" name="Image 0" descr="/home/claude/slides/v6/media/console-pii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635240" cy="438673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4632" y="1554480"/>
            <a:ext cx="7671816" cy="4423308"/>
          </a:xfrm>
          <a:prstGeom prst="roundRect">
            <a:avLst>
              <a:gd name="adj" fmla="val 827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785640" y="2090402"/>
            <a:ext cx="4061948" cy="482541"/>
          </a:xfrm>
          <a:prstGeom prst="roundRect">
            <a:avLst>
              <a:gd name="adj" fmla="val 947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54141" y="2616810"/>
            <a:ext cx="3664915" cy="526408"/>
          </a:xfrm>
          <a:prstGeom prst="roundRect">
            <a:avLst>
              <a:gd name="adj" fmla="val 8685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107186" y="2616810"/>
            <a:ext cx="1847728" cy="263204"/>
          </a:xfrm>
          <a:prstGeom prst="roundRect">
            <a:avLst>
              <a:gd name="adj" fmla="val 17371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02920" y="6032652"/>
            <a:ext cx="7635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一句話塞四種個資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回答只剩標籤，送出前已遮罩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8412480" y="1481328"/>
            <a:ext cx="3276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4400" dirty="0"/>
          </a:p>
        </p:txBody>
      </p:sp>
      <p:sp>
        <p:nvSpPr>
          <p:cNvPr id="20" name="Text 17"/>
          <p:cNvSpPr txBox="1"/>
          <p:nvPr/>
        </p:nvSpPr>
        <p:spPr>
          <a:xfrm>
            <a:off x="8412480" y="2304288"/>
            <a:ext cx="3276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送出前就遮罩的個資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412480" y="2761488"/>
            <a:ext cx="3276295" cy="411480"/>
          </a:xfrm>
          <a:prstGeom prst="roundRect">
            <a:avLst>
              <a:gd name="adj" fmla="val 1333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22" name="Image 1" descr="/home/claude/slides/v6/media/s19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7072" y="2852928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8961120" y="2761488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8412480" y="3264408"/>
            <a:ext cx="3276295" cy="411480"/>
          </a:xfrm>
          <a:prstGeom prst="roundRect">
            <a:avLst>
              <a:gd name="adj" fmla="val 1333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25" name="Image 2" descr="/home/claude/slides/v6/media/s19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7072" y="3355848"/>
            <a:ext cx="237744" cy="237744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961120" y="3264408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8412480" y="3767328"/>
            <a:ext cx="3276295" cy="411480"/>
          </a:xfrm>
          <a:prstGeom prst="roundRect">
            <a:avLst>
              <a:gd name="adj" fmla="val 1333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28" name="Image 3" descr="/home/claude/slides/v6/media/s19-Image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3858768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8961120" y="3767328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Email</a:t>
            </a: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8412480" y="4270248"/>
            <a:ext cx="3276295" cy="411480"/>
          </a:xfrm>
          <a:prstGeom prst="roundRect">
            <a:avLst>
              <a:gd name="adj" fmla="val 13333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pic>
        <p:nvPicPr>
          <p:cNvPr id="31" name="Image 4" descr="/home/claude/slides/v6/media/s19-Image_4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7072" y="4361688"/>
            <a:ext cx="237744" cy="237744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961120" y="4270248"/>
            <a:ext cx="2636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信用卡</a:t>
            </a:r>
            <a:endParaRPr lang="en-US" sz="1600" dirty="0"/>
          </a:p>
        </p:txBody>
      </p:sp>
      <p:sp>
        <p:nvSpPr>
          <p:cNvPr id="33" name="Shape 26"/>
          <p:cNvSpPr/>
          <p:nvPr/>
        </p:nvSpPr>
        <p:spPr>
          <a:xfrm>
            <a:off x="8412480" y="5001768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34" name="Image 5" descr="/home/claude/slides/v6/media/s19-Image_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5924" y="5125212"/>
            <a:ext cx="301752" cy="301752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9098280" y="4956048"/>
            <a:ext cx="25447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模型根本沒看過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真的號碼留在公司這一側</a:t>
            </a:r>
            <a:endParaRPr lang="en-US" sz="1600" dirty="0"/>
          </a:p>
        </p:txBody>
      </p:sp>
      <p:sp>
        <p:nvSpPr>
          <p:cNvPr id="40" name="TextBox 39"/>
          <p:cNvSpPr txBox="1"/>
          <p:nvPr/>
        </p:nvSpPr>
        <p:spPr>
          <a:xfrm>
            <a:off x="8412480" y="5760720"/>
            <a:ext cx="3273552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</a:rPr>
              <a:t>遮罩用規則比對（regex），不經模型、不多一次呼叫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技術實踐｜個資 ②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紀錄裡也查不到原文：稽核只留雜湊值與遮罩後的摘要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1000" dirty="0"/>
          </a:p>
        </p:txBody>
      </p:sp>
      <p:pic>
        <p:nvPicPr>
          <p:cNvPr id="13" name="Image 0" descr="/home/claude/slides/v6/media/s21-S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315200" cy="395580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51932" y="1779657"/>
            <a:ext cx="1411834" cy="219152"/>
          </a:xfrm>
          <a:prstGeom prst="roundRect">
            <a:avLst>
              <a:gd name="adj" fmla="val 20862"/>
            </a:avLst>
          </a:prstGeom>
          <a:solidFill>
            <a:srgbClr val="14262B">
              <a:alpha val="0"/>
            </a:srgbClr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1932" y="3435162"/>
            <a:ext cx="7193768" cy="219152"/>
          </a:xfrm>
          <a:prstGeom prst="roundRect">
            <a:avLst>
              <a:gd name="adj" fmla="val 20862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51932" y="4883383"/>
            <a:ext cx="3359140" cy="219152"/>
          </a:xfrm>
          <a:prstGeom prst="roundRect">
            <a:avLst>
              <a:gd name="adj" fmla="val 20862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5583439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 DynamoDB 的 audit 表，由 Lambda Worker 寫入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092440" y="1572768"/>
            <a:ext cx="3596335" cy="1097280"/>
          </a:xfrm>
          <a:prstGeom prst="roundRect">
            <a:avLst>
              <a:gd name="adj" fmla="val 833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93608" y="1645920"/>
            <a:ext cx="319399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白框 → charged: True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這一筆已記帳、已扣額度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092440" y="2825496"/>
            <a:ext cx="3596335" cy="1097280"/>
          </a:xfrm>
          <a:prstGeom prst="roundRect">
            <a:avLst>
              <a:gd name="adj" fmla="val 833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2898648"/>
            <a:ext cx="319399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64 字的雜湊值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原文不存，只留 HMAC；拿原文來搜，搜不到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092440" y="4078224"/>
            <a:ext cx="3596335" cy="1097280"/>
          </a:xfrm>
          <a:prstGeom prst="roundRect">
            <a:avLst>
              <a:gd name="adj" fmla="val 8333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93608" y="4151376"/>
            <a:ext cx="3193999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遮罩後的摘要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個資先換成標籤，才留摘要</a:t>
            </a:r>
            <a:endParaRPr lang="en-US" sz="1800" dirty="0"/>
          </a:p>
        </p:txBody>
      </p:sp>
      <p:pic>
        <p:nvPicPr>
          <p:cNvPr id="24" name="Image 1" descr="/home/claude/slides/v6/media/pii-search-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5985775"/>
            <a:ext cx="3324101" cy="323585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84632" y="5967487"/>
            <a:ext cx="3360677" cy="360161"/>
          </a:xfrm>
          <a:prstGeom prst="roundRect">
            <a:avLst>
              <a:gd name="adj" fmla="val 10155"/>
            </a:avLst>
          </a:prstGeom>
          <a:solidFill>
            <a:srgbClr val="14262B">
              <a:alpha val="0"/>
            </a:srgbClr>
          </a:solidFill>
          <a:ln w="9525">
            <a:solidFill>
              <a:srgbClr val="2E9E6B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446520" y="5912623"/>
            <a:ext cx="5242255" cy="4698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拿原本的號碼去搜稽核紀錄：0 筆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本機與雲端的紀錄都一樣，沒有原文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技術實踐｜額度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用完就擋，最多只燒掉自己那一份；讀不到額度就拒絕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1000" dirty="0"/>
          </a:p>
        </p:txBody>
      </p:sp>
      <p:pic>
        <p:nvPicPr>
          <p:cNvPr id="13" name="Image 0" descr="/home/claude/slides/v6/media/console-quota-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583680" cy="378257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4632" y="1554480"/>
            <a:ext cx="6620256" cy="3819147"/>
          </a:xfrm>
          <a:prstGeom prst="roundRect">
            <a:avLst>
              <a:gd name="adj" fmla="val 827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43169" y="3464053"/>
            <a:ext cx="1777593" cy="775427"/>
          </a:xfrm>
          <a:prstGeom prst="roundRect">
            <a:avLst>
              <a:gd name="adj" fmla="val 5084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05769" y="4402131"/>
            <a:ext cx="2205532" cy="310170"/>
          </a:xfrm>
          <a:prstGeom prst="roundRect">
            <a:avLst>
              <a:gd name="adj" fmla="val 12710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5428491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carol 額度歸零：剩餘 US$0，下一題直接被擋，告知 11/1 恢復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360920" y="1572768"/>
            <a:ext cx="548640" cy="548640"/>
          </a:xfrm>
          <a:prstGeom prst="ellipse">
            <a:avLst/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19" name="Image 1" descr="/home/claude/slides/v6/media/s22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70992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8046720" y="1527048"/>
            <a:ext cx="3593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超用就擋下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寫錯的迴圈也燒不到別人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360920" y="2350008"/>
            <a:ext cx="548640" cy="54864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pic>
        <p:nvPicPr>
          <p:cNvPr id="22" name="Image 2" descr="/home/claude/slides/v6/media/s22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487168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8046720" y="2304288"/>
            <a:ext cx="3593591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讀不到就拒絕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寧可擋錯，也不放錯</a:t>
            </a:r>
            <a:endParaRPr lang="en-US" sz="1600" dirty="0"/>
          </a:p>
        </p:txBody>
      </p:sp>
      <p:pic>
        <p:nvPicPr>
          <p:cNvPr id="24" name="Image 3" descr="/home/claude/slides/v6/media/s24-Image_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3172968"/>
            <a:ext cx="4325111" cy="1989551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342632" y="3154679"/>
            <a:ext cx="4361687" cy="2026127"/>
          </a:xfrm>
          <a:prstGeom prst="roundRect">
            <a:avLst>
              <a:gd name="adj" fmla="val 2369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373906" y="4103595"/>
            <a:ext cx="2108094" cy="298535"/>
          </a:xfrm>
          <a:prstGeom prst="roundRect">
            <a:avLst>
              <a:gd name="adj" fmla="val 22127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7373906" y="4642248"/>
            <a:ext cx="1567002" cy="121970"/>
          </a:xfrm>
          <a:prstGeom prst="roundRect">
            <a:avLst>
              <a:gd name="adj" fmla="val 69739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7360920" y="5253959"/>
            <a:ext cx="4325111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停掉資料庫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再問一次：503，fail-closed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額度｜用完就擋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alice 的月額度故意設很小：用到 1,039，下一次就是 429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17</a:t>
            </a:r>
            <a:endParaRPr lang="en-US" sz="1000" dirty="0"/>
          </a:p>
        </p:txBody>
      </p:sp>
      <p:pic>
        <p:nvPicPr>
          <p:cNvPr id="13" name="Image 0" descr="/home/claude/slides/v6/media/s23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4371040" cy="46908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45756" y="1807312"/>
            <a:ext cx="533267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5756" y="2724377"/>
            <a:ext cx="533267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5756" y="3641443"/>
            <a:ext cx="554248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45756" y="4100210"/>
            <a:ext cx="3608730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5756" y="4793052"/>
            <a:ext cx="2420245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5756" y="5699797"/>
            <a:ext cx="4195324" cy="213435"/>
          </a:xfrm>
          <a:prstGeom prst="roundRect">
            <a:avLst>
              <a:gd name="adj" fmla="val 2142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194000" y="1572768"/>
            <a:ext cx="6494775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95168" y="1645920"/>
            <a:ext cx="6092439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609 → 818 → 1,039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每叫一次，已用量往上加</a:t>
            </a:r>
            <a:endParaRPr lang="en-US" sz="2200" dirty="0"/>
          </a:p>
        </p:txBody>
      </p:sp>
      <p:sp>
        <p:nvSpPr>
          <p:cNvPr id="22" name="Shape 19"/>
          <p:cNvSpPr/>
          <p:nvPr/>
        </p:nvSpPr>
        <p:spPr>
          <a:xfrm>
            <a:off x="5194000" y="3127248"/>
            <a:ext cx="6494775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395168" y="3200400"/>
            <a:ext cx="6092439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429 Monthly quota exceeded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1,000 就擋，請求碰不到模型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5194000" y="4681728"/>
            <a:ext cx="6494775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395168" y="4754880"/>
            <a:ext cx="6092439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retry-after 1,921,598 秒</a:t>
            </a:r>
            <a:endParaRPr lang="en-US" sz="2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告知下個月 1 號 00:00 才恢復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①｜先拆 LiteLLM：兩個靜默錯誤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沒有任何錯誤訊息，帳就已經不對；修了它們，才修自己的設計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</a:t>
            </a:r>
            <a:endParaRPr lang="en-US" sz="1000" dirty="0"/>
          </a:p>
        </p:txBody>
      </p:sp>
      <p:pic>
        <p:nvPicPr>
          <p:cNvPr id="13" name="Image 0" descr="/home/claude/slides/v6/media/s27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5455768" cy="217588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67297" y="3513661"/>
            <a:ext cx="3937325" cy="128595"/>
          </a:xfrm>
          <a:prstGeom prst="roundRect">
            <a:avLst>
              <a:gd name="adj" fmla="val 35553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pic>
        <p:nvPicPr>
          <p:cNvPr id="15" name="Image 1" descr="/home/claude/slides/v6/media/s27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008" y="1572768"/>
            <a:ext cx="5455768" cy="2362026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297386" y="2022734"/>
            <a:ext cx="2567484" cy="128494"/>
          </a:xfrm>
          <a:prstGeom prst="roundRect">
            <a:avLst>
              <a:gd name="adj" fmla="val 35581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97386" y="2955026"/>
            <a:ext cx="1540709" cy="128494"/>
          </a:xfrm>
          <a:prstGeom prst="roundRect">
            <a:avLst>
              <a:gd name="adj" fmla="val 3558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97386" y="3700954"/>
            <a:ext cx="1540709" cy="128494"/>
          </a:xfrm>
          <a:prstGeom prst="roundRect">
            <a:avLst>
              <a:gd name="adj" fmla="val 3558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4044522"/>
            <a:ext cx="5455768" cy="1051560"/>
          </a:xfrm>
          <a:prstGeom prst="roundRect">
            <a:avLst>
              <a:gd name="adj" fmla="val 869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04088" y="4117674"/>
            <a:ext cx="50534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發現一｜價格表沒有的模型，花費記為 0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token 記了 23，spend 是 0；預算 0.01 的金鑰永遠不會被擋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6233008" y="4044522"/>
            <a:ext cx="5455768" cy="1051560"/>
          </a:xfrm>
          <a:prstGeom prst="roundRect">
            <a:avLst>
              <a:gd name="adj" fmla="val 869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434176" y="4117674"/>
            <a:ext cx="5053432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發現二｜寫帳前當機，那筆帳永久遺失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回答已送出、0.8 秒後強制終止；重啟 30 秒後帳還是 10 筆</a:t>
            </a:r>
            <a:endParaRPr lang="en-US" sz="2000" dirty="0"/>
          </a:p>
        </p:txBody>
      </p:sp>
      <p:sp>
        <p:nvSpPr>
          <p:cNvPr id="23" name="Shape 19"/>
          <p:cNvSpPr/>
          <p:nvPr/>
        </p:nvSpPr>
        <p:spPr>
          <a:xfrm>
            <a:off x="502920" y="5324682"/>
            <a:ext cx="11185855" cy="1030398"/>
          </a:xfrm>
          <a:prstGeom prst="roundRect">
            <a:avLst>
              <a:gd name="adj" fmla="val 8874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77240" y="5519841"/>
            <a:ext cx="640080" cy="6400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5" name="Image 2" descr="/home/claude/slides/v6/media/s25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60" y="5679861"/>
            <a:ext cx="320040" cy="32004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600200" y="5324682"/>
            <a:ext cx="9905695" cy="1030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我的修正　</a:t>
            </a:r>
            <a:r>
              <a:rPr lang="en-US" sz="22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沒有單價，就拒絕呼叫；先寫帳，再回答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①｜主動告警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靜默錯誤 vs. 主動告警：異常當下就通知到信箱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19</a:t>
            </a:r>
            <a:endParaRPr lang="en-US" sz="1000" dirty="0"/>
          </a:p>
        </p:txBody>
      </p:sp>
      <p:pic>
        <p:nvPicPr>
          <p:cNvPr id="13" name="Image 0" descr="/home/claude/slides/v6/media/s28-ALARM_emai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29968"/>
            <a:ext cx="4752505" cy="265176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1845978" y="4123798"/>
            <a:ext cx="688638" cy="151415"/>
          </a:xfrm>
          <a:prstGeom prst="roundRect">
            <a:avLst>
              <a:gd name="adj" fmla="val 3019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831647" y="2751247"/>
            <a:ext cx="950501" cy="0"/>
          </a:xfrm>
          <a:prstGeom prst="line">
            <a:avLst/>
          </a:prstGeom>
          <a:noFill/>
          <a:ln w="28575">
            <a:solidFill>
              <a:srgbClr val="F2A541"/>
            </a:solidFill>
            <a:prstDash val="solid"/>
          </a:ln>
        </p:spPr>
      </p:sp>
      <p:pic>
        <p:nvPicPr>
          <p:cNvPr id="16" name="Image 1" descr="/home/claude/slides/v6/media/ok-em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9745" y="2029968"/>
            <a:ext cx="6159030" cy="254141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6835459" y="4144421"/>
            <a:ext cx="708288" cy="165192"/>
          </a:xfrm>
          <a:prstGeom prst="roundRect">
            <a:avLst>
              <a:gd name="adj" fmla="val 27677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274435" y="2596703"/>
            <a:ext cx="880741" cy="0"/>
          </a:xfrm>
          <a:prstGeom prst="line">
            <a:avLst/>
          </a:prstGeom>
          <a:noFill/>
          <a:ln w="28575">
            <a:solidFill>
              <a:srgbClr val="2E9E6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02920" y="1572768"/>
            <a:ext cx="3566160" cy="347472"/>
          </a:xfrm>
          <a:prstGeom prst="roundRect">
            <a:avLst>
              <a:gd name="adj" fmla="val 31579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2920" y="157276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OK → ALARM（測試日誌觸發）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206240" y="1572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10/27 23:45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529745" y="1572768"/>
            <a:ext cx="2194560" cy="347472"/>
          </a:xfrm>
          <a:prstGeom prst="roundRect">
            <a:avLst>
              <a:gd name="adj" fmla="val 31579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5529745" y="157276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ALARM → OK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7861465" y="157276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分鐘後恢復 OK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502920" y="4791456"/>
            <a:ext cx="475250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OK → ALARM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之後每次請求回 503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5529745" y="4791456"/>
            <a:ext cx="615903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ALARM → OK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路徑：日誌 → CloudWatch → SNS → 信箱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02920" y="5715000"/>
            <a:ext cx="11185855" cy="566928"/>
          </a:xfrm>
          <a:prstGeom prst="roundRect">
            <a:avLst>
              <a:gd name="adj" fmla="val 12903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731520" y="57150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驗證方式：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以一筆測試日誌觸發告警，確認整條通知路徑可用；真實的預算用完尚未發生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大樓僅有一個門，門口有警衛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實測驗證｜私有子網不直接接網際網路閘道，出站只經 NAT ＋ DNS 防火牆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2377440" cy="822960"/>
          </a:xfrm>
          <a:prstGeom prst="roundRect">
            <a:avLst>
              <a:gd name="adj" fmla="val 8889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1572768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私有子網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Fargate 容器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971800" y="1984248"/>
            <a:ext cx="457200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20440" y="1572768"/>
            <a:ext cx="2743200" cy="822960"/>
          </a:xfrm>
          <a:prstGeom prst="roundRect">
            <a:avLst>
              <a:gd name="adj" fmla="val 8889"/>
            </a:avLst>
          </a:prstGeom>
          <a:solidFill>
            <a:srgbClr val="14262B">
              <a:alpha val="0"/>
            </a:srgbClr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03320" y="1572768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唯一出口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NAT ＋ DNS 防火牆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flipV="1">
            <a:off x="6355080" y="1709928"/>
            <a:ext cx="457200" cy="182880"/>
          </a:xfrm>
          <a:prstGeom prst="line">
            <a:avLst/>
          </a:prstGeom>
          <a:noFill/>
          <a:ln w="25400">
            <a:solidFill>
              <a:srgbClr val="2E9E6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55080" y="2075688"/>
            <a:ext cx="457200" cy="18288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903720" y="1572768"/>
            <a:ext cx="4785055" cy="384048"/>
          </a:xfrm>
          <a:prstGeom prst="roundRect">
            <a:avLst>
              <a:gd name="adj" fmla="val 14286"/>
            </a:avLst>
          </a:prstGeom>
          <a:solidFill>
            <a:srgbClr val="2E9E6B"/>
          </a:solidFill>
          <a:ln w="12700">
            <a:solidFill>
              <a:srgbClr val="2E9E6B"/>
            </a:solidFill>
            <a:prstDash val="solid"/>
          </a:ln>
        </p:spPr>
      </p:sp>
      <p:pic>
        <p:nvPicPr>
          <p:cNvPr id="21" name="Image 0" descr="/home/claude/slides/v6/media/s29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48" y="1645920"/>
            <a:ext cx="237744" cy="237744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7360920" y="1572768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名單上：</a:t>
            </a: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OpenAI ＋ 必要的 AWS 服務網域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903720" y="2011680"/>
            <a:ext cx="4785055" cy="384048"/>
          </a:xfrm>
          <a:prstGeom prst="roundRect">
            <a:avLst>
              <a:gd name="adj" fmla="val 14286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pic>
        <p:nvPicPr>
          <p:cNvPr id="24" name="Image 1" descr="/home/claude/slides/v6/media/s29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3448" y="2084832"/>
            <a:ext cx="237744" cy="237744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7360920" y="2011680"/>
            <a:ext cx="4236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名單外：</a:t>
            </a: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不解析・留紀錄</a:t>
            </a:r>
            <a:endParaRPr lang="en-US" sz="1600" dirty="0"/>
          </a:p>
        </p:txBody>
      </p:sp>
      <p:pic>
        <p:nvPicPr>
          <p:cNvPr id="26" name="Image 2" descr="/home/claude/slides/v6/media/s30-Image_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2624328"/>
            <a:ext cx="11185855" cy="3063098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9146230" y="3973929"/>
            <a:ext cx="1203598" cy="128038"/>
          </a:xfrm>
          <a:prstGeom prst="roundRect">
            <a:avLst>
              <a:gd name="adj" fmla="val 35708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9056743" y="4127697"/>
            <a:ext cx="2281914" cy="781396"/>
          </a:xfrm>
          <a:prstGeom prst="roundRect">
            <a:avLst>
              <a:gd name="adj" fmla="val 5851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502920" y="5778866"/>
            <a:ext cx="111858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私有子網只接 S3、DynamoDB 兩條 Endpoint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0 個私有子網路由至網際網路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②｜一鍵拆除每日層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用完當天拆光；拆完之後，每天的 AWS 費用接近 0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21</a:t>
            </a:r>
            <a:endParaRPr lang="en-US" sz="1000" dirty="0"/>
          </a:p>
        </p:txBody>
      </p:sp>
      <p:pic>
        <p:nvPicPr>
          <p:cNvPr id="13" name="Image 0" descr="/home/claude/slides/v6/media/s32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5005917" cy="352044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15935" y="1620998"/>
            <a:ext cx="961136" cy="285860"/>
          </a:xfrm>
          <a:prstGeom prst="roundRect">
            <a:avLst>
              <a:gd name="adj" fmla="val 15994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76744" y="4202185"/>
            <a:ext cx="1468736" cy="276707"/>
          </a:xfrm>
          <a:prstGeom prst="roundRect">
            <a:avLst>
              <a:gd name="adj" fmla="val 16523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5202936"/>
            <a:ext cx="63775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51 秒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19 個資源｜第一次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5751576"/>
            <a:ext cx="637751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分 11 秒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40 個資源｜第三次，等 Lambda 網卡收回</a:t>
            </a:r>
            <a:endParaRPr lang="en-US" sz="1600" dirty="0"/>
          </a:p>
        </p:txBody>
      </p:sp>
      <p:pic>
        <p:nvPicPr>
          <p:cNvPr id="18" name="Image 1" descr="/home/claude/slides/v6/media/s33-S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877" y="1572768"/>
            <a:ext cx="5859899" cy="269093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655122" y="2272412"/>
            <a:ext cx="627009" cy="1628017"/>
          </a:xfrm>
          <a:prstGeom prst="roundRect">
            <a:avLst>
              <a:gd name="adj" fmla="val 7292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9655390" y="2595324"/>
            <a:ext cx="627009" cy="1305105"/>
          </a:xfrm>
          <a:prstGeom prst="roundRect">
            <a:avLst>
              <a:gd name="adj" fmla="val 7292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5828877" y="4355146"/>
            <a:ext cx="5859899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10/19 上雲驗收：約 US$0.3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10/23 上雲演練：約 US$0.22</a:t>
            </a:r>
            <a:endParaRPr lang="en-US" sz="1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觀察期 10/19～10/24；矮的橘色柱子是查帳本身的費用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③｜持續整合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每次推送先過三關，沒過就進不了 main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3500018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15" name="Image 0" descr="/home/claude/slides/v6/media/s34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02" y="1885950"/>
            <a:ext cx="297180" cy="2971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417320" y="1572768"/>
            <a:ext cx="2494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自動測試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444 個，含真實資料庫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31538" y="1572768"/>
            <a:ext cx="3500018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96130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19" name="Image 1" descr="/home/claude/slides/v6/media/s34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720" y="1885950"/>
            <a:ext cx="297180" cy="2971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145938" y="1572768"/>
            <a:ext cx="2494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Image 掃描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Trivy；攔下過 1 個弱點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960157" y="1572768"/>
            <a:ext cx="3500018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124749" y="1737360"/>
            <a:ext cx="594360" cy="59436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23" name="Image 2" descr="/home/claude/slides/v6/media/s34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3339" y="1885950"/>
            <a:ext cx="297180" cy="2971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874557" y="1572768"/>
            <a:ext cx="2494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IaC 掃描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Trivy ＋ CodeQL</a:t>
            </a:r>
            <a:endParaRPr lang="en-US" sz="1600" dirty="0"/>
          </a:p>
        </p:txBody>
      </p:sp>
      <p:pic>
        <p:nvPicPr>
          <p:cNvPr id="25" name="Image 3" descr="/home/claude/slides/v6/media/s34-S16_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4780" y="2670048"/>
            <a:ext cx="8142136" cy="336499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2006492" y="2651760"/>
            <a:ext cx="8178712" cy="3401568"/>
          </a:xfrm>
          <a:prstGeom prst="roundRect">
            <a:avLst>
              <a:gd name="adj" fmla="val 1075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502920" y="612648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Actions：Tests、Image scan、Config scan 三關全綠；右側是 Trivy 的掃描結果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③｜持續部署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部署按一下：建置、掃描、推 image 到換版全自動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23</a:t>
            </a:r>
            <a:endParaRPr lang="en-US" sz="1000" dirty="0"/>
          </a:p>
        </p:txBody>
      </p:sp>
      <p:pic>
        <p:nvPicPr>
          <p:cNvPr id="13" name="Image 0" descr="/home/claude/slides/v6/media/s34-deploy_ru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101459" cy="46908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89558" y="3473040"/>
            <a:ext cx="6949488" cy="597148"/>
          </a:xfrm>
          <a:prstGeom prst="roundRect">
            <a:avLst>
              <a:gd name="adj" fmla="val 7656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89558" y="5612078"/>
            <a:ext cx="6949488" cy="575570"/>
          </a:xfrm>
          <a:prstGeom prst="roundRect">
            <a:avLst>
              <a:gd name="adj" fmla="val 7943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970139" y="1572768"/>
            <a:ext cx="3718636" cy="1371600"/>
          </a:xfrm>
          <a:prstGeom prst="roundRect">
            <a:avLst>
              <a:gd name="adj" fmla="val 666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171307" y="1645920"/>
            <a:ext cx="33163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首次部署：被部署防護檢查攔下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計畫要新建 42 個資源，一個都沒套用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7970139" y="3145536"/>
            <a:ext cx="3718636" cy="1371600"/>
          </a:xfrm>
          <a:prstGeom prst="roundRect">
            <a:avLst>
              <a:gd name="adj" fmla="val 666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71307" y="3218688"/>
            <a:ext cx="33163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第三次：真的失敗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權限模擬 22 題全對，仍缺一個唯讀權限；補上再跑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7970139" y="4718304"/>
            <a:ext cx="3718636" cy="1371600"/>
          </a:xfrm>
          <a:prstGeom prst="roundRect">
            <a:avLst>
              <a:gd name="adj" fmla="val 666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171307" y="4791456"/>
            <a:ext cx="331630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修正後：僅更換 image，3 分 21 秒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建置、掃描、推 image、換版，全程自動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③｜沒有長期金鑰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 用身分證明（OIDC）換一小時的 AWS 角色；repo 裡沒有任何金鑰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24</a:t>
            </a:r>
            <a:endParaRPr lang="en-US" sz="1000" dirty="0"/>
          </a:p>
        </p:txBody>
      </p:sp>
      <p:pic>
        <p:nvPicPr>
          <p:cNvPr id="13" name="Image 0" descr="/home/claude/slides/v6/media/oidc-main-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400800" cy="270202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84632" y="1554480"/>
            <a:ext cx="6437376" cy="2738602"/>
          </a:xfrm>
          <a:prstGeom prst="roundRect">
            <a:avLst>
              <a:gd name="adj" fmla="val 1336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7052" y="3547409"/>
            <a:ext cx="3344418" cy="188872"/>
          </a:xfrm>
          <a:prstGeom prst="roundRect">
            <a:avLst>
              <a:gd name="adj" fmla="val 24207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pic>
        <p:nvPicPr>
          <p:cNvPr id="16" name="Image 1" descr="/home/claude/slides/v6/media/oidc-branch-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572768"/>
            <a:ext cx="4510735" cy="302539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7159752" y="1554480"/>
            <a:ext cx="4547311" cy="3061966"/>
          </a:xfrm>
          <a:prstGeom prst="roundRect">
            <a:avLst>
              <a:gd name="adj" fmla="val 1195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870438" y="2196906"/>
            <a:ext cx="730288" cy="170632"/>
          </a:xfrm>
          <a:prstGeom prst="roundRect">
            <a:avLst>
              <a:gd name="adj" fmla="val 2679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375610" y="4327991"/>
            <a:ext cx="2970770" cy="221156"/>
          </a:xfrm>
          <a:prstGeom prst="roundRect">
            <a:avLst>
              <a:gd name="adj" fmla="val 20673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02920" y="473531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main 觸發：借到角色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502920" y="511936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assumed-role/llm-gateway-destroy；一小時後自動失效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7178040" y="4735318"/>
            <a:ext cx="45107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從別的分支觸發：GitHub 這層就擋下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7178040" y="5119366"/>
            <a:ext cx="4510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分支名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environment protection rules，AWS 連請求都沒收到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502920" y="5715000"/>
            <a:ext cx="11185855" cy="640080"/>
          </a:xfrm>
          <a:prstGeom prst="roundRect">
            <a:avLst>
              <a:gd name="adj" fmla="val 11429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1520" y="5715000"/>
            <a:ext cx="107286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雲端呼叫 OpenAI 也一樣：</a:t>
            </a:r>
            <a:r>
              <a:rPr lang="en-US" sz="18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AWS 身分換通行證，沒有金鑰可以外流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④｜帳不會掉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先把單據夾進出單夾，再把餐端給客人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801368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LLM Gateway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算好雜湊值與摘要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880360" y="2258568"/>
            <a:ext cx="52821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454298" y="1801368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14262B">
              <a:alpha val="0"/>
            </a:srgbClr>
          </a:solidFill>
          <a:ln w="22225">
            <a:solidFill>
              <a:srgbClr val="F2A54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45738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SQS 出單夾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確認收到才回答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31738" y="2258568"/>
            <a:ext cx="52821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405677" y="1801368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7117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後台會計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 SQS 觸發；寫三本帳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83117" y="2258568"/>
            <a:ext cx="528218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57055" y="1801368"/>
            <a:ext cx="2331720" cy="91440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448495" y="1801368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DynamoDB</a:t>
            </a:r>
            <a:endParaRPr lang="en-US" sz="16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用量表・稽核表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620158" y="2715768"/>
            <a:ext cx="0" cy="411480"/>
          </a:xfrm>
          <a:prstGeom prst="line">
            <a:avLst/>
          </a:prstGeom>
          <a:noFill/>
          <a:ln w="25400">
            <a:solidFill>
              <a:srgbClr val="C8553D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3614318" y="3172968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614318" y="317296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DLQ 死信佇列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失敗 5 次放這裡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6405677" y="3127248"/>
            <a:ext cx="52830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為什麼先進佇列：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LiteLLM 先回答、再寫帳，中間當機帳就掉了；這裡反過來，確認帳單進了佇列才回答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397764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三個情境實測，接下來三頁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920" y="4389120"/>
            <a:ext cx="3500018" cy="1600200"/>
          </a:xfrm>
          <a:prstGeom prst="roundRect">
            <a:avLst>
              <a:gd name="adj" fmla="val 5714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04088" y="4462272"/>
            <a:ext cx="309768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Worker 停工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回答照給，帳單在佇列裡等；Worker 回來同一秒補帳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4231538" y="4389120"/>
            <a:ext cx="3500018" cy="1600200"/>
          </a:xfrm>
          <a:prstGeom prst="roundRect">
            <a:avLst>
              <a:gd name="adj" fmla="val 5714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32706" y="4462272"/>
            <a:ext cx="309768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壞訊息進 DLQ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無法解析的訊息重試 5 次後隔離；其他帳務不受影響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7960157" y="4389120"/>
            <a:ext cx="3500018" cy="1600200"/>
          </a:xfrm>
          <a:prstGeom prst="roundRect">
            <a:avLst>
              <a:gd name="adj" fmla="val 5714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161325" y="4462272"/>
            <a:ext cx="3097682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SQS 不可用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回答照給，同一秒改由閘道自己記帳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帳不會掉｜① Worker 停工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客人照樣拿到回答，帳單在出單夾裡等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26</a:t>
            </a:r>
            <a:endParaRPr lang="en-US" sz="1000" dirty="0"/>
          </a:p>
        </p:txBody>
      </p:sp>
      <p:pic>
        <p:nvPicPr>
          <p:cNvPr id="13" name="Image 0" descr="/home/claude/slides/v6/media/s39-S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317242" cy="469087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33243" y="2461219"/>
            <a:ext cx="956430" cy="195609"/>
          </a:xfrm>
          <a:prstGeom prst="roundRect">
            <a:avLst>
              <a:gd name="adj" fmla="val 23373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33243" y="4155562"/>
            <a:ext cx="858513" cy="323670"/>
          </a:xfrm>
          <a:prstGeom prst="roundRect">
            <a:avLst>
              <a:gd name="adj" fmla="val 1412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40506" y="3078538"/>
            <a:ext cx="2823807" cy="722863"/>
          </a:xfrm>
          <a:prstGeom prst="roundRect">
            <a:avLst>
              <a:gd name="adj" fmla="val 632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339974" y="5330156"/>
            <a:ext cx="497167" cy="218126"/>
          </a:xfrm>
          <a:prstGeom prst="roundRect">
            <a:avLst>
              <a:gd name="adj" fmla="val 20960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140202" y="1572768"/>
            <a:ext cx="454857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41370" y="1645920"/>
            <a:ext cx="414623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Disabled → 4 題全答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停掉 Worker 的觸發，alice 連問 4 題都有回答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7140202" y="3127248"/>
            <a:ext cx="454857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341370" y="3200400"/>
            <a:ext cx="414623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佇列 4 則・額度已用 0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帳單在出單夾裡等，額度一毛沒動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7140202" y="4681728"/>
            <a:ext cx="454857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41370" y="4754880"/>
            <a:ext cx="414623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代價：軟上限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Worker 停工期間可能多用一點；要硬上限得預扣，評估後不做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帳不會掉｜③ SQS 不可用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回答照給，同一秒改由閘道自己記帳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1000" dirty="0"/>
          </a:p>
        </p:txBody>
      </p:sp>
      <p:pic>
        <p:nvPicPr>
          <p:cNvPr id="13" name="Image 0" descr="/home/claude/slides/v6/media/s41-S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11185855" cy="4052019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9990762" y="2457324"/>
            <a:ext cx="756164" cy="1797881"/>
          </a:xfrm>
          <a:prstGeom prst="roundRect">
            <a:avLst>
              <a:gd name="adj" fmla="val 6046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59968" y="5110991"/>
            <a:ext cx="10985628" cy="470845"/>
          </a:xfrm>
          <a:prstGeom prst="roundRect">
            <a:avLst>
              <a:gd name="adj" fmla="val 9710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5761947"/>
            <a:ext cx="111858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SQS 的網域從放行名單拿掉，DNS 防火牆擋下（14:43:24）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</a:t>
            </a: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同一秒 Gateway 記錄 charge_queue_failed、自己記帳，回答照給；bob 的用量 35 → 40，Worker 沒有紀錄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四道檢查都過，上雲還是失敗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每道檢查都有盲點：信任政策的實際行為，四道檢查都驗不到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28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15727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檢查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2560320" y="15727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驗證範圍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15727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驗不到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2920" y="1984248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198424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本機自動測試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2743200" y="198424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程式邏輯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198424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IAM、真實雲端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2852928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285292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terraform validate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2743200" y="285292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語法與型別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285292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值對不對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02920" y="3721608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72160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IAM 權限模擬器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2743200" y="372160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這個角色能做什麼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0" y="372160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誰能借用這個角色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02920" y="4590288"/>
            <a:ext cx="6172200" cy="731520"/>
          </a:xfrm>
          <a:prstGeom prst="roundRect">
            <a:avLst>
              <a:gd name="adj" fmla="val 10000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5800" y="4590288"/>
            <a:ext cx="1965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validate-policy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2743200" y="4590288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政策格式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0" y="4590288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信任政策的實際行為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95160" y="1572768"/>
            <a:ext cx="4693615" cy="4110942"/>
          </a:xfrm>
          <a:prstGeom prst="roundRect">
            <a:avLst>
              <a:gd name="adj" fmla="val 232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23760" y="1755648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信任政策寫了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「只有這個函式可以借用這個角色」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223760" y="2670048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Lambda 建立網卡時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不帶函式的識別，條件永遠不成立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223760" y="3584448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 apply 失敗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7223760" y="4498848"/>
            <a:ext cx="4236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移除來源條件；仍只准 lambda.amazonaws.com 借用，交給函式需 iam:PassRole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02920" y="5767935"/>
            <a:ext cx="11185855" cy="548640"/>
          </a:xfrm>
          <a:prstGeom prst="roundRect">
            <a:avLst>
              <a:gd name="adj" fmla="val 13333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" y="5767935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學到的事：之後每道檢查都寫明它驗不到什麼；四道都不看「誰能借這張證」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⑤｜agent 會犯錯，也會被擋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模型想 → 叫工具 → 看結果，每一輪都經過同一道閘道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29</a:t>
            </a:r>
            <a:endParaRPr lang="en-US" sz="1000" dirty="0"/>
          </a:p>
        </p:txBody>
      </p:sp>
      <p:pic>
        <p:nvPicPr>
          <p:cNvPr id="13" name="Image 0" descr="/home/claude/slides/v6/media/s43-agent_self-corr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782847" cy="432511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28017" y="2998325"/>
            <a:ext cx="6724515" cy="559237"/>
          </a:xfrm>
          <a:prstGeom prst="roundRect">
            <a:avLst>
              <a:gd name="adj" fmla="val 8175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8017" y="5190292"/>
            <a:ext cx="2905772" cy="159164"/>
          </a:xfrm>
          <a:prstGeom prst="roundRect">
            <a:avLst>
              <a:gd name="adj" fmla="val 28725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2920" y="5971032"/>
            <a:ext cx="67828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carol 跑 8 步完成；第 4 步自己編了不存在的模型名</a:t>
            </a:r>
            <a:endParaRPr lang="en-US" sz="1600" dirty="0"/>
          </a:p>
        </p:txBody>
      </p:sp>
      <p:pic>
        <p:nvPicPr>
          <p:cNvPr id="17" name="Image 1" descr="/home/claude/slides/v6/media/s43-agent_4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0087" y="1572768"/>
            <a:ext cx="4128688" cy="1001589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7541799" y="1554480"/>
            <a:ext cx="4165264" cy="1038165"/>
          </a:xfrm>
          <a:prstGeom prst="roundRect">
            <a:avLst>
              <a:gd name="adj" fmla="val 3523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541799" y="2434235"/>
            <a:ext cx="3470319" cy="149266"/>
          </a:xfrm>
          <a:prstGeom prst="roundRect">
            <a:avLst>
              <a:gd name="adj" fmla="val 33222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560087" y="2629221"/>
            <a:ext cx="4128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</a:t>
            </a: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→ 額度歸零再跑：第 4 步回 429，停止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560087" y="3443037"/>
            <a:ext cx="4128688" cy="879241"/>
          </a:xfrm>
          <a:prstGeom prst="roundRect">
            <a:avLst>
              <a:gd name="adj" fmla="val 10400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7761255" y="3516189"/>
            <a:ext cx="3726352" cy="73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編錯模型名，被打槍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工具回「沒有這個模型」，下一步自己改對</a:t>
            </a:r>
            <a:endParaRPr lang="en-US" sz="1800" dirty="0"/>
          </a:p>
        </p:txBody>
      </p:sp>
      <p:sp>
        <p:nvSpPr>
          <p:cNvPr id="23" name="Shape 19"/>
          <p:cNvSpPr/>
          <p:nvPr/>
        </p:nvSpPr>
        <p:spPr>
          <a:xfrm>
            <a:off x="7560087" y="4459438"/>
            <a:ext cx="4128688" cy="879241"/>
          </a:xfrm>
          <a:prstGeom prst="roundRect">
            <a:avLst>
              <a:gd name="adj" fmla="val 10400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7761255" y="4532590"/>
            <a:ext cx="3726352" cy="73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8 步、8,122 micro-USD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每一步都走 Gateway：身分、額度、遮罩、稽核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7560087" y="5475839"/>
            <a:ext cx="4128688" cy="879241"/>
          </a:xfrm>
          <a:prstGeom prst="roundRect">
            <a:avLst>
              <a:gd name="adj" fmla="val 10400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7761255" y="5548991"/>
            <a:ext cx="3726352" cy="7329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Gateway 的程式一行沒改</a:t>
            </a:r>
            <a:endParaRPr lang="en-US" sz="18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只是另一個客戶：同一把 Key、同一本帳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小型 agent｜人和 agent 共用一本帳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 用 bob 的 Key 跑 8 步，Console 的剩餘額度跟著動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30</a:t>
            </a:r>
            <a:endParaRPr lang="en-US" sz="1000" dirty="0"/>
          </a:p>
        </p:txBody>
      </p:sp>
      <p:pic>
        <p:nvPicPr>
          <p:cNvPr id="13" name="Image 0" descr="/home/claude/slides/v6/media/s44-agent_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7955280" cy="2186733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519626" y="2156407"/>
            <a:ext cx="7921868" cy="288430"/>
          </a:xfrm>
          <a:prstGeom prst="roundRect">
            <a:avLst>
              <a:gd name="adj" fmla="val 1585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9626" y="3250211"/>
            <a:ext cx="2003935" cy="135577"/>
          </a:xfrm>
          <a:prstGeom prst="roundRect">
            <a:avLst>
              <a:gd name="adj" fmla="val 33723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32520" y="1572768"/>
            <a:ext cx="2956255" cy="21867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agent（本機）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步、共花 8,080 micro-USD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第 3 步又編錯模型名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完成與總花費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4170981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跑完、還沒重新整理</a:t>
            </a:r>
            <a:endParaRPr lang="en-US" sz="1600" dirty="0"/>
          </a:p>
        </p:txBody>
      </p:sp>
      <p:pic>
        <p:nvPicPr>
          <p:cNvPr id="18" name="Image 1" descr="/home/claude/slides/v6/media/s44-console_bef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536741"/>
            <a:ext cx="3383280" cy="1291328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84632" y="4518453"/>
            <a:ext cx="3419856" cy="1327904"/>
          </a:xfrm>
          <a:prstGeom prst="roundRect">
            <a:avLst>
              <a:gd name="adj" fmla="val 2754"/>
            </a:avLst>
          </a:prstGeom>
          <a:solidFill>
            <a:srgbClr val="14262B">
              <a:alpha val="0"/>
            </a:srgbClr>
          </a:solidFill>
          <a:ln w="9525">
            <a:solidFill>
              <a:srgbClr val="5B7C8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069080" y="5182405"/>
            <a:ext cx="50292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  <a:tailEnd type="triangle"/>
          </a:ln>
        </p:spPr>
      </p:sp>
      <p:sp>
        <p:nvSpPr>
          <p:cNvPr id="21" name="Text 17"/>
          <p:cNvSpPr txBox="1"/>
          <p:nvPr/>
        </p:nvSpPr>
        <p:spPr>
          <a:xfrm>
            <a:off x="4754880" y="4170981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重新整理之後</a:t>
            </a:r>
            <a:endParaRPr lang="en-US" sz="1600" dirty="0"/>
          </a:p>
        </p:txBody>
      </p:sp>
      <p:pic>
        <p:nvPicPr>
          <p:cNvPr id="22" name="Image 2" descr="/home/claude/slides/v6/media/s44-console_af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4536741"/>
            <a:ext cx="3383280" cy="1291328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736592" y="4518453"/>
            <a:ext cx="3419856" cy="1327904"/>
          </a:xfrm>
          <a:prstGeom prst="roundRect">
            <a:avLst>
              <a:gd name="adj" fmla="val 2754"/>
            </a:avLst>
          </a:prstGeom>
          <a:solidFill>
            <a:srgbClr val="14262B">
              <a:alpha val="0"/>
            </a:srgbClr>
          </a:solidFill>
          <a:ln w="9525">
            <a:solidFill>
              <a:srgbClr val="F2A54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412480" y="4170981"/>
            <a:ext cx="3276295" cy="1657088"/>
          </a:xfrm>
          <a:prstGeom prst="roundRect">
            <a:avLst>
              <a:gd name="adj" fmla="val 5518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8641080" y="4170981"/>
            <a:ext cx="2819095" cy="1657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0.98363 → 0.97555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少了 0.00808 ＝ agent 印的 8,080 micro-USD；Gateway 的程式一行沒改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影片 ①｜Console：節費・個資・額度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問簡單題走便宜模型 → 一句話塞四種個資被遮罩 → carol 額度用完回 429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2288085" y="1508760"/>
            <a:ext cx="7615829" cy="4800600"/>
          </a:xfrm>
          <a:prstGeom prst="roundRect">
            <a:avLst>
              <a:gd name="adj" fmla="val 5000"/>
            </a:avLst>
          </a:prstGeom>
          <a:solidFill>
            <a:srgbClr val="0F1E22"/>
          </a:solidFill>
          <a:ln w="19050">
            <a:solidFill>
              <a:srgbClr val="5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slides-demo-1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79525" y="1600200"/>
            <a:ext cx="7432949" cy="4617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63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影片 ②｜上雲與 agent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部署只換 image → Grafana 看誰花多少 → agent（本機）跑 8 步、Console 額度同步減少 → 一鍵拆除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32</a:t>
            </a:r>
            <a:endParaRPr lang="en-US" sz="1000" dirty="0"/>
          </a:p>
        </p:txBody>
      </p:sp>
      <p:sp>
        <p:nvSpPr>
          <p:cNvPr id="7" name="Rounded Rectangle 6"/>
          <p:cNvSpPr/>
          <p:nvPr/>
        </p:nvSpPr>
        <p:spPr>
          <a:xfrm>
            <a:off x="2288085" y="1508760"/>
            <a:ext cx="7615829" cy="4800600"/>
          </a:xfrm>
          <a:prstGeom prst="roundRect">
            <a:avLst>
              <a:gd name="adj" fmla="val 5000"/>
            </a:avLst>
          </a:prstGeom>
          <a:solidFill>
            <a:srgbClr val="0F1E22"/>
          </a:solidFill>
          <a:ln w="19050">
            <a:solidFill>
              <a:srgbClr val="5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slides-demo-2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379525" y="1600200"/>
            <a:ext cx="7432949" cy="46177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1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結語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員工照常用 AI，老闆看得懂帳單，資安查得到紀錄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454335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73791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893247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12703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332159" y="402336"/>
            <a:ext cx="118872" cy="1188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51615" y="402336"/>
            <a:ext cx="118872" cy="118872"/>
          </a:xfrm>
          <a:prstGeom prst="ellipse">
            <a:avLst/>
          </a:prstGeom>
          <a:solidFill>
            <a:srgbClr val="F2A541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1572768"/>
            <a:ext cx="3500018" cy="1874520"/>
          </a:xfrm>
          <a:prstGeom prst="roundRect">
            <a:avLst>
              <a:gd name="adj" fmla="val 48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1709928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2670048"/>
            <a:ext cx="2951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模型成本降幅（20 題實測）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 65%，每題兩顆模型都真的跑過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31538" y="1572768"/>
            <a:ext cx="3500018" cy="1874520"/>
          </a:xfrm>
          <a:prstGeom prst="roundRect">
            <a:avLst>
              <a:gd name="adj" fmla="val 48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05858" y="1709928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類</a:t>
            </a:r>
            <a:endParaRPr lang="en-US" sz="4800" dirty="0"/>
          </a:p>
        </p:txBody>
      </p:sp>
      <p:sp>
        <p:nvSpPr>
          <p:cNvPr id="18" name="Text 16"/>
          <p:cNvSpPr txBox="1"/>
          <p:nvPr/>
        </p:nvSpPr>
        <p:spPr>
          <a:xfrm>
            <a:off x="4505858" y="2670048"/>
            <a:ext cx="2951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個資在送出前遮罩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身分證・手機・Email・信用卡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960157" y="1572768"/>
            <a:ext cx="3500018" cy="1874520"/>
          </a:xfrm>
          <a:prstGeom prst="roundRect">
            <a:avLst>
              <a:gd name="adj" fmla="val 48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34477" y="1709928"/>
            <a:ext cx="29513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US$0.5</a:t>
            </a:r>
            <a:endParaRPr lang="en-US" sz="4800" dirty="0"/>
          </a:p>
        </p:txBody>
      </p:sp>
      <p:sp>
        <p:nvSpPr>
          <p:cNvPr id="21" name="Text 19"/>
          <p:cNvSpPr txBox="1"/>
          <p:nvPr/>
        </p:nvSpPr>
        <p:spPr>
          <a:xfrm>
            <a:off x="8234477" y="2670048"/>
            <a:ext cx="29513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兩次上雲的 AWS 累計費用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用完就拆，一鍵 4 分 11 秒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37673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評估後不做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2057400" y="3767328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2057400" y="37673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AWS WAF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51960" y="3767328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251960" y="37673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多可用區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46520" y="3767328"/>
            <a:ext cx="2057400" cy="457200"/>
          </a:xfrm>
          <a:prstGeom prst="roundRect">
            <a:avLst>
              <a:gd name="adj" fmla="val 24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46520" y="37673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知識檢索（RAG）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" y="44074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2057400" y="4407408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14262B">
              <a:alpha val="0"/>
            </a:srgbClr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057400" y="4407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管理員 Console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51960" y="4407408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14262B">
              <a:alpha val="0"/>
            </a:srgbClr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251960" y="4407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SSO 與角色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46520" y="4407408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14262B">
              <a:alpha val="0"/>
            </a:srgbClr>
          </a:solidFill>
          <a:ln w="15875">
            <a:solidFill>
              <a:srgbClr val="F2A54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446520" y="440740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部門拆帳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02920" y="5166360"/>
            <a:ext cx="11185855" cy="1051560"/>
          </a:xfrm>
          <a:prstGeom prst="roundRect">
            <a:avLst>
              <a:gd name="adj" fmla="val 869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5367528"/>
            <a:ext cx="640080" cy="640080"/>
          </a:xfrm>
          <a:prstGeom prst="ellipse">
            <a:avLst/>
          </a:prstGeom>
          <a:solidFill>
            <a:srgbClr val="14262B"/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38" name="Image 0" descr="/home/claude/slides/v6/media/s45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" y="5527548"/>
            <a:ext cx="320040" cy="320040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1691640" y="5166360"/>
            <a:ext cx="981425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我能把 AI 服務 </a:t>
            </a:r>
            <a:r>
              <a:rPr lang="en-US" sz="28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安全地、算得清楚地</a:t>
            </a: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放上雲端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0818802">
            <a:off x="7180446" y="-1328287"/>
            <a:ext cx="6583680" cy="6583680"/>
          </a:xfrm>
          <a:prstGeom prst="ellipse">
            <a:avLst/>
          </a:prstGeom>
          <a:solidFill>
            <a:srgbClr val="0B5D5E">
              <a:alpha val="22000"/>
            </a:srgbClr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0818802">
            <a:off x="8460606" y="-48127"/>
            <a:ext cx="4023360" cy="4023360"/>
          </a:xfrm>
          <a:prstGeom prst="ellipse">
            <a:avLst/>
          </a:prstGeom>
          <a:solidFill>
            <a:srgbClr val="F2A541">
              <a:alpha val="15000"/>
            </a:srgbClr>
          </a:solidFill>
          <a:ln w="12700">
            <a:solidFill>
              <a:srgbClr val="14262B"/>
            </a:solidFill>
            <a:prstDash val="solid"/>
          </a:ln>
        </p:spPr>
      </p:sp>
      <p:pic>
        <p:nvPicPr>
          <p:cNvPr id="4" name="Image 0" descr="/home/claude/slides/v6/media/s01-Image_1.png"/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 rot="20818802">
            <a:off x="9466446" y="957713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2960" y="19659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謝謝聆聽</a:t>
            </a:r>
            <a:endParaRPr lang="en-US" sz="6400" dirty="0"/>
          </a:p>
        </p:txBody>
      </p:sp>
      <p:sp>
        <p:nvSpPr>
          <p:cNvPr id="6" name="Shape 3"/>
          <p:cNvSpPr/>
          <p:nvPr/>
        </p:nvSpPr>
        <p:spPr>
          <a:xfrm>
            <a:off x="822960" y="3520440"/>
            <a:ext cx="6903720" cy="2103120"/>
          </a:xfrm>
          <a:prstGeom prst="roundRect">
            <a:avLst>
              <a:gd name="adj" fmla="val 7742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05840" y="3703320"/>
            <a:ext cx="1737360" cy="17373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1" descr="/home/claude/slides/v6/media/s46-Image_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3767328"/>
            <a:ext cx="1609344" cy="1609344"/>
          </a:xfrm>
          <a:prstGeom prst="rect">
            <a:avLst/>
          </a:prstGeom>
        </p:spPr>
      </p:pic>
      <p:pic>
        <p:nvPicPr>
          <p:cNvPr id="9" name="Image 2" descr="/home/claude/slides/v6/media/s46-Image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4315968"/>
            <a:ext cx="502920" cy="50292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3611880" y="42976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github.com/Poyu-Tu/llm-gateway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8945575" y="59893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杜柏豫</a:t>
            </a:r>
            <a:endParaRPr lang="en-US" sz="2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節費｜為什麼不選省 54% 的規則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省最多的規則，未必是最好的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35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全部用強模型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83280" y="1737360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83280" y="1737360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7D858C"/>
          </a:solidFill>
          <a:ln w="12700">
            <a:solidFill>
              <a:srgbClr val="7D858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74720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55,724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16916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0" y="16916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235000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完全照判斷分流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383280" y="2395728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0" y="2395728"/>
            <a:ext cx="3258243" cy="36576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474720" y="2395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43,165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18120" y="235000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22.5%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0" y="23500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理論上限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300837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10/12 以前的規則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383280" y="3054096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0" y="3054096"/>
            <a:ext cx="2886412" cy="365760"/>
          </a:xfrm>
          <a:prstGeom prst="roundRect">
            <a:avLst>
              <a:gd name="adj" fmla="val 1000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474720" y="30540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38,239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818120" y="3008376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31.4%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8961120" y="300837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送對 15 題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66674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採用的規則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383280" y="3712464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383280" y="3712464"/>
            <a:ext cx="3141017" cy="365760"/>
          </a:xfrm>
          <a:prstGeom prst="roundRect">
            <a:avLst>
              <a:gd name="adj" fmla="val 10000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74720" y="371246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41,612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366674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8961120" y="3666744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送對 18 題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" y="4325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字數門檻放寬到 500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3383280" y="4370832"/>
            <a:ext cx="4206240" cy="365760"/>
          </a:xfrm>
          <a:prstGeom prst="roundRect">
            <a:avLst>
              <a:gd name="adj" fmla="val 10000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3280" y="4370832"/>
            <a:ext cx="1912222" cy="365760"/>
          </a:xfrm>
          <a:prstGeom prst="roundRect">
            <a:avLst>
              <a:gd name="adj" fmla="val 10000"/>
            </a:avLst>
          </a:prstGeom>
          <a:solidFill>
            <a:srgbClr val="C8553D"/>
          </a:solidFill>
          <a:ln w="12700">
            <a:solidFill>
              <a:srgbClr val="C8553D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3474720" y="4370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25,333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818120" y="432511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54.5%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8961120" y="43251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最難的一題回答被截斷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338328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micro-USD，20 題合計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" y="5349240"/>
            <a:ext cx="11185855" cy="868680"/>
          </a:xfrm>
          <a:prstGeom prst="roundRect">
            <a:avLst>
              <a:gd name="adj" fmla="val 1052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" y="534924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多省的 29%，幾乎都來自同一題：把最難的題目送去便宜模型，回答被截斷。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站在使用者立場：在意的是回答是不是他要的，不是數字好看。</a:t>
            </a:r>
            <a:endParaRPr lang="en-US" sz="16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節費｜數字怎麼算出來的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手算對得上；四種規則一次跑，只重算、不再呼叫模型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36</a:t>
            </a:r>
            <a:endParaRPr lang="en-US" sz="1000" dirty="0"/>
          </a:p>
        </p:txBody>
      </p:sp>
      <p:pic>
        <p:nvPicPr>
          <p:cNvPr id="7" name="Image 0" descr="/home/claude/slides/v6/media/s14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3491345" cy="3840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2821" y="4051798"/>
            <a:ext cx="2728137" cy="259232"/>
          </a:xfrm>
          <a:prstGeom prst="roundRect">
            <a:avLst>
              <a:gd name="adj" fmla="val 17637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2821" y="4969289"/>
            <a:ext cx="2104932" cy="448952"/>
          </a:xfrm>
          <a:prstGeom prst="roundRect">
            <a:avLst>
              <a:gd name="adj" fmla="val 10184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2920" y="5504688"/>
            <a:ext cx="394854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稽核記 1,438</a:t>
            </a:r>
            <a:endParaRPr lang="en-US" sz="1600" dirty="0"/>
          </a:p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手算 34×2 ＋ 137×10 ＝ 1,438</a:t>
            </a:r>
            <a:endParaRPr lang="en-US" sz="1600" dirty="0"/>
          </a:p>
        </p:txBody>
      </p:sp>
      <p:pic>
        <p:nvPicPr>
          <p:cNvPr id="11" name="Image 1" descr="/home/claude/slides/v6/media/s14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8585" y="1572768"/>
            <a:ext cx="7420190" cy="411037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40561" y="2086154"/>
            <a:ext cx="3393253" cy="238813"/>
          </a:xfrm>
          <a:prstGeom prst="roundRect">
            <a:avLst>
              <a:gd name="adj" fmla="val 19145"/>
            </a:avLst>
          </a:prstGeom>
          <a:solidFill>
            <a:srgbClr val="14262B">
              <a:alpha val="0"/>
            </a:srgbClr>
          </a:solidFill>
          <a:ln w="28575">
            <a:solidFill>
              <a:srgbClr val="0E7C7B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40561" y="4080921"/>
            <a:ext cx="5514685" cy="668759"/>
          </a:xfrm>
          <a:prstGeom prst="roundRect">
            <a:avLst>
              <a:gd name="adj" fmla="val 6837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340561" y="4749680"/>
            <a:ext cx="5514685" cy="668759"/>
          </a:xfrm>
          <a:prstGeom prst="roundRect">
            <a:avLst>
              <a:gd name="adj" fmla="val 6837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4268585" y="5774587"/>
            <a:ext cx="742019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藍：全部用強模型　橘：採用的規則　紅：對照組（門檻 500）</a:t>
            </a:r>
            <a:endParaRPr lang="en-US" sz="16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節費｜簡單題越多，省越多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 是簡單題只佔 65% 的情況；日常問題的比例通常更高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37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664208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14262B">
              <a:alpha val="0"/>
            </a:srgbClr>
          </a:solidFill>
          <a:ln w="22225">
            <a:solidFill>
              <a:srgbClr val="F2A54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38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58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65%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081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01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25.3%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777240" y="4270248"/>
            <a:ext cx="2905658" cy="384048"/>
          </a:xfrm>
          <a:prstGeom prst="roundRect">
            <a:avLst>
              <a:gd name="adj" fmla="val 28571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4270248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實測（20 題）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31538" y="1664208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05858" y="1938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505858" y="2258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80%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4505858" y="3081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05858" y="3401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38%</a:t>
            </a:r>
            <a:endParaRPr lang="en-US" sz="3600" dirty="0"/>
          </a:p>
        </p:txBody>
      </p:sp>
      <p:sp>
        <p:nvSpPr>
          <p:cNvPr id="19" name="Shape 17"/>
          <p:cNvSpPr/>
          <p:nvPr/>
        </p:nvSpPr>
        <p:spPr>
          <a:xfrm>
            <a:off x="4505858" y="4270248"/>
            <a:ext cx="2905658" cy="384048"/>
          </a:xfrm>
          <a:prstGeom prst="roundRect">
            <a:avLst>
              <a:gd name="adj" fmla="val 28571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05858" y="4270248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60157" y="1664208"/>
            <a:ext cx="3454298" cy="3291840"/>
          </a:xfrm>
          <a:prstGeom prst="roundRect">
            <a:avLst>
              <a:gd name="adj" fmla="val 2778"/>
            </a:avLst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34477" y="1938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簡單題佔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234477" y="2258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90%</a:t>
            </a:r>
            <a:endParaRPr lang="en-US" sz="3600" dirty="0"/>
          </a:p>
        </p:txBody>
      </p:sp>
      <p:sp>
        <p:nvSpPr>
          <p:cNvPr id="24" name="Text 22"/>
          <p:cNvSpPr txBox="1"/>
          <p:nvPr/>
        </p:nvSpPr>
        <p:spPr>
          <a:xfrm>
            <a:off x="8234477" y="3081528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省下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234477" y="3401568"/>
            <a:ext cx="290565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 57%</a:t>
            </a:r>
            <a:endParaRPr lang="en-US" sz="3600" dirty="0"/>
          </a:p>
        </p:txBody>
      </p:sp>
      <p:sp>
        <p:nvSpPr>
          <p:cNvPr id="26" name="Shape 24"/>
          <p:cNvSpPr/>
          <p:nvPr/>
        </p:nvSpPr>
        <p:spPr>
          <a:xfrm>
            <a:off x="8234477" y="4270248"/>
            <a:ext cx="2905658" cy="384048"/>
          </a:xfrm>
          <a:prstGeom prst="roundRect">
            <a:avLst>
              <a:gd name="adj" fmla="val 28571"/>
            </a:avLst>
          </a:prstGeom>
          <a:solidFill>
            <a:srgbClr val="22343B"/>
          </a:solidFill>
          <a:ln w="12700">
            <a:solidFill>
              <a:srgbClr val="2234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34477" y="4270248"/>
            <a:ext cx="29056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推算・完全分流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5212080"/>
            <a:ext cx="11185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兩顆模型單價差 20 倍：每多一題簡單問題交給便宜模型，就多省一次 20 倍的價差；80%、90% 是用這 20 題的平均單題成本推算、且假設每題都分對</a:t>
            </a:r>
            <a:endParaRPr lang="en-US" sz="1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節費｜20 題長什麼樣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超過 300 字，或含「分析、請比較、設計、除錯、design、debug…」→ 強模型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5455768" cy="4663440"/>
          </a:xfrm>
          <a:prstGeom prst="roundRect">
            <a:avLst>
              <a:gd name="adj" fmla="val 1961"/>
            </a:avLst>
          </a:prstGeom>
          <a:solidFill>
            <a:srgbClr val="14262B">
              <a:alpha val="0"/>
            </a:srgbClr>
          </a:solidFill>
          <a:ln w="19050">
            <a:solidFill>
              <a:srgbClr val="0E7C7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682496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E7C7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簡單題 13 題 → gpt-6-luna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121408"/>
            <a:ext cx="4998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把「會議延到下週三」翻成英文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把這句話改得比較有禮貌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怎麼合併兩欄文字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寫一則提醒交週報的訊息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affect 和 effect 的差別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五個部門聚餐的主題建議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HTTP 404 和 500 各代表什麼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寫一封改會議時間的短信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用三點整理一段公告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用白話說明什麼是雲端運算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把一段很長的公告改寫得更簡潔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把一段 base64 decode 成文字</a:t>
            </a:r>
            <a:endParaRPr lang="en-US" sz="16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「帳號」和「賬號」哪個比較常用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33008" y="1572768"/>
            <a:ext cx="5455768" cy="4663440"/>
          </a:xfrm>
          <a:prstGeom prst="roundRect">
            <a:avLst>
              <a:gd name="adj" fmla="val 1961"/>
            </a:avLst>
          </a:prstGeom>
          <a:solidFill>
            <a:srgbClr val="14262B">
              <a:alpha val="0"/>
            </a:srgbClr>
          </a:solidFill>
          <a:ln w="19050">
            <a:solidFill>
              <a:srgbClr val="F2A54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61608" y="1682496"/>
            <a:ext cx="4998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複雜題 7 題 → gpt-6-sol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61608" y="2121408"/>
            <a:ext cx="4998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分析客服改成 AI 的風險與準備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 PostgreSQL 和 DynamoDB 存訂單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設計員工請假系統的資料表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這段 Python 為什麼跑不停，請除錯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Design a rate limiter（英文）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訂單服務晚上尖峰逾時，從哪查起</a:t>
            </a:r>
            <a:endParaRPr lang="en-US" sz="16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五十人電商公司怎麼搬上雲端</a:t>
            </a:r>
            <a:endParaRPr lang="en-US" sz="16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①｜LiteLLM 拆解畫面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先驗簽章再跑；預算 0 的金鑰真的被擋；記憶體對照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39</a:t>
            </a:r>
            <a:endParaRPr lang="en-US" sz="1000" dirty="0"/>
          </a:p>
        </p:txBody>
      </p:sp>
      <p:pic>
        <p:nvPicPr>
          <p:cNvPr id="7" name="Image 0" descr="/home/claude/slides/v6/media/s26-Image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5577840" cy="218738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1965" y="2462816"/>
            <a:ext cx="5409947" cy="562159"/>
          </a:xfrm>
          <a:prstGeom prst="roundRect">
            <a:avLst>
              <a:gd name="adj" fmla="val 8133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pic>
        <p:nvPicPr>
          <p:cNvPr id="9" name="Image 1" descr="/home/claude/slides/v6/media/s26-Image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943036"/>
            <a:ext cx="5577840" cy="115912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38060" y="4336906"/>
            <a:ext cx="5514810" cy="386799"/>
          </a:xfrm>
          <a:prstGeom prst="roundRect">
            <a:avLst>
              <a:gd name="adj" fmla="val 11820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pic>
        <p:nvPicPr>
          <p:cNvPr id="11" name="Image 2" descr="/home/claude/slides/v6/media/s26-Image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5285039"/>
            <a:ext cx="5577840" cy="906223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769303" y="5698640"/>
            <a:ext cx="474116" cy="140283"/>
          </a:xfrm>
          <a:prstGeom prst="roundRect">
            <a:avLst>
              <a:gd name="adj" fmla="val 32591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6400800" y="2392142"/>
            <a:ext cx="5287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綠框 → image 簽章驗證通過，才開始拆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400800" y="4248278"/>
            <a:ext cx="5287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紅框 → 預算 0 的金鑰：Budget has been exceeded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0" y="5463831"/>
            <a:ext cx="52879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橘框 → LiteLLM 待機 584 MiB；我的 Gateway 62 MiB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看不到的地方 ③｜部署僅允許更換 image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部署前先比對 Terraform plan：只要動到 image 以外的資源，一律攔下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40</a:t>
            </a:r>
            <a:endParaRPr lang="en-US" sz="1000" dirty="0"/>
          </a:p>
        </p:txBody>
      </p:sp>
      <p:pic>
        <p:nvPicPr>
          <p:cNvPr id="7" name="Image 0" descr="/home/claude/slides/v6/media/s35-deploy_#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3794760" cy="391030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7238" y="2795130"/>
            <a:ext cx="1867022" cy="139989"/>
          </a:xfrm>
          <a:prstGeom prst="roundRect">
            <a:avLst>
              <a:gd name="adj" fmla="val 32660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7238" y="3889624"/>
            <a:ext cx="2870356" cy="133732"/>
          </a:xfrm>
          <a:prstGeom prst="roundRect">
            <a:avLst>
              <a:gd name="adj" fmla="val 34188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pic>
        <p:nvPicPr>
          <p:cNvPr id="10" name="Image 1" descr="/home/claude/slides/v6/media/s35-deploy_#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572768"/>
            <a:ext cx="3794760" cy="391030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906318" y="2588274"/>
            <a:ext cx="1806306" cy="133732"/>
          </a:xfrm>
          <a:prstGeom prst="roundRect">
            <a:avLst>
              <a:gd name="adj" fmla="val 34188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906318" y="3190461"/>
            <a:ext cx="1714852" cy="139989"/>
          </a:xfrm>
          <a:prstGeom prst="roundRect">
            <a:avLst>
              <a:gd name="adj" fmla="val 32660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2920" y="555622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首次部署：42 to add → 攔下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5556226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修正後：1 to add、1 to change、1 to destroy → 放行</a:t>
            </a:r>
            <a:endParaRPr lang="en-US" sz="1600" dirty="0"/>
          </a:p>
        </p:txBody>
      </p:sp>
      <p:pic>
        <p:nvPicPr>
          <p:cNvPr id="15" name="Image 2" descr="/home/claude/slides/v6/media/s35-apply_comple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41080" y="1572768"/>
            <a:ext cx="3047695" cy="1426165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909582" y="2598466"/>
            <a:ext cx="2476252" cy="97692"/>
          </a:xfrm>
          <a:prstGeom prst="roundRect">
            <a:avLst>
              <a:gd name="adj" fmla="val 46800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8909582" y="2886551"/>
            <a:ext cx="1963325" cy="97692"/>
          </a:xfrm>
          <a:prstGeom prst="roundRect">
            <a:avLst>
              <a:gd name="adj" fmla="val 46800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8641080" y="3072085"/>
            <a:ext cx="30476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換版 1 分 54 秒</a:t>
            </a:r>
            <a:endParaRPr lang="en-US" sz="16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added、1 changed、1 destroyed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8641080" y="3913333"/>
            <a:ext cx="3047695" cy="2396027"/>
          </a:xfrm>
          <a:prstGeom prst="roundRect">
            <a:avLst>
              <a:gd name="adj" fmla="val 3816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823960" y="3913333"/>
            <a:ext cx="2681935" cy="23960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為什麼要這道檢查</a:t>
            </a:r>
            <a:endParaRPr lang="en-US" sz="1600" dirty="0"/>
          </a:p>
          <a:p>
            <a:pPr marL="0" indent="0" algn="l">
              <a:lnSpc>
                <a:spcPct val="120000"/>
              </a:lnSpc>
              <a:buNone/>
            </a:pPr>
            <a:r>
              <a:rPr lang="en-US" sz="1600" dirty="0">
                <a:solidFill>
                  <a:srgbClr val="EEF4F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部署角色拿得到換版的權限，就拿得到改環境的權限；用 plan 的內容當閘門，第一個被攔下的是我自己</a:t>
            </a:r>
            <a:endParaRPr lang="en-US" sz="1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帳不會掉｜② 壞訊息進 DLQ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無法解析的訊息重試 5 次後轉入死信佇列；其他帳務不受影響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41</a:t>
            </a:r>
            <a:endParaRPr lang="en-US" sz="1000" dirty="0"/>
          </a:p>
        </p:txBody>
      </p:sp>
      <p:pic>
        <p:nvPicPr>
          <p:cNvPr id="7" name="Image 0" descr="/home/claude/slides/v6/media/s40-S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572768"/>
            <a:ext cx="6725883" cy="46908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7222" y="1607480"/>
            <a:ext cx="810469" cy="387935"/>
          </a:xfrm>
          <a:prstGeom prst="roundRect">
            <a:avLst>
              <a:gd name="adj" fmla="val 11785"/>
            </a:avLst>
          </a:prstGeom>
          <a:solidFill>
            <a:srgbClr val="14262B">
              <a:alpha val="0"/>
            </a:srgbClr>
          </a:solidFill>
          <a:ln w="28575">
            <a:solidFill>
              <a:srgbClr val="F2A5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37222" y="3806092"/>
            <a:ext cx="6639791" cy="1077962"/>
          </a:xfrm>
          <a:prstGeom prst="roundRect">
            <a:avLst>
              <a:gd name="adj" fmla="val 4241"/>
            </a:avLst>
          </a:prstGeom>
          <a:solidFill>
            <a:srgbClr val="14262B">
              <a:alpha val="0"/>
            </a:srgbClr>
          </a:solidFill>
          <a:ln w="28575">
            <a:solidFill>
              <a:srgbClr val="C855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969301" y="5677281"/>
            <a:ext cx="431129" cy="241580"/>
          </a:xfrm>
          <a:prstGeom prst="roundRect">
            <a:avLst>
              <a:gd name="adj" fmla="val 18925"/>
            </a:avLst>
          </a:prstGeom>
          <a:solidFill>
            <a:srgbClr val="14262B">
              <a:alpha val="0"/>
            </a:srgbClr>
          </a:solidFill>
          <a:ln w="28575">
            <a:solidFill>
              <a:srgbClr val="2E9E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548843" y="1572768"/>
            <a:ext cx="413993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50011" y="1645920"/>
            <a:ext cx="373759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DLQ 1・主佇列 0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壞訊息進死信佇列，不卡住後面的單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7548843" y="3127248"/>
            <a:ext cx="413993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50011" y="3200400"/>
            <a:ext cx="373759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C855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"not json" → 失敗 5 次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 120 秒試一次，約 10 分鐘後隔離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548843" y="4681728"/>
            <a:ext cx="4139933" cy="1325880"/>
          </a:xfrm>
          <a:prstGeom prst="roundRect">
            <a:avLst>
              <a:gd name="adj" fmla="val 6897"/>
            </a:avLst>
          </a:prstGeom>
          <a:solidFill>
            <a:srgbClr val="1A3A40"/>
          </a:solidFill>
          <a:ln w="12700">
            <a:solidFill>
              <a:srgbClr val="1A3A4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750011" y="4754880"/>
            <a:ext cx="3737597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2E9E6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bob 照常記帳</a:t>
            </a:r>
            <a:endParaRPr lang="en-US" sz="2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dirty="0">
                <a:solidFill>
                  <a:srgbClr val="B9C6C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壞單卡著的時候，正常的帳照寫</a:t>
            </a:r>
            <a:endParaRPr lang="en-US" sz="2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6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457200" cy="457200"/>
          </a:xfrm>
          <a:prstGeom prst="ellipse">
            <a:avLst/>
          </a:prstGeom>
          <a:solidFill>
            <a:srgbClr val="5B7C8D"/>
          </a:solidFill>
          <a:ln w="12700">
            <a:solidFill>
              <a:srgbClr val="14262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4262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附錄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1124712" y="256032"/>
            <a:ext cx="9326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量過的數字｜回應時間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F2A54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從家裡連問 10 題，平均 1.75 秒；10 題全部自動走便宜模型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11401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7D85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1000" dirty="0"/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1 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54480" y="1600200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554480" y="1600200"/>
            <a:ext cx="5144414" cy="365760"/>
          </a:xfrm>
          <a:prstGeom prst="roundRect">
            <a:avLst>
              <a:gd name="adj" fmla="val 12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90334" y="160020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2.91 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20824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2 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554480" y="2020824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554480" y="2020824"/>
            <a:ext cx="3111398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57318" y="2020824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1.76 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441448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3 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554480" y="2441448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1554480" y="2441448"/>
            <a:ext cx="3376574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2494" y="244144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1.91 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862072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4 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2862072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1554480" y="2862072"/>
            <a:ext cx="3111398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757318" y="2862072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1.76 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282696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5 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554480" y="3282696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554480" y="3282696"/>
            <a:ext cx="3235147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881067" y="328269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1.83 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703320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6 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554480" y="3703320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1554480" y="3703320"/>
            <a:ext cx="3482644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128564" y="3703320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1.97 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123944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7 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54480" y="4123944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1554480" y="4123944"/>
            <a:ext cx="2209800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55720" y="4123944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1.25 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544568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8 題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54480" y="4544568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554480" y="4544568"/>
            <a:ext cx="2740152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386072" y="4544568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1.55 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4965192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9 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554480" y="4965192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1554480" y="4965192"/>
            <a:ext cx="2934614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80534" y="4965192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1.66 秒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" y="5385816"/>
            <a:ext cx="960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第 10 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554480" y="5385816"/>
            <a:ext cx="5303520" cy="365760"/>
          </a:xfrm>
          <a:prstGeom prst="roundRect">
            <a:avLst>
              <a:gd name="adj" fmla="val 12000"/>
            </a:avLst>
          </a:prstGeom>
          <a:solidFill>
            <a:srgbClr val="22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1554480" y="5385816"/>
            <a:ext cx="1626412" cy="365760"/>
          </a:xfrm>
          <a:prstGeom prst="roundRect">
            <a:avLst>
              <a:gd name="adj" fmla="val 12000"/>
            </a:avLst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72332" y="5385816"/>
            <a:ext cx="10058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1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0.92 秒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4648200" y="1554480"/>
            <a:ext cx="0" cy="4242816"/>
          </a:xfrm>
          <a:prstGeom prst="line">
            <a:avLst/>
          </a:prstGeom>
          <a:ln w="19050">
            <a:solidFill>
              <a:srgbClr val="F2A54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733800" y="584301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>
                <a:solidFill>
                  <a:srgbClr val="F2A541"/>
                </a:solidFill>
                <a:latin typeface="Microsoft JhengHei"/>
                <a:ea typeface="Microsoft JhengHei"/>
                <a:cs typeface="Microsoft JhengHei"/>
              </a:rPr>
              <a:t>平均 1.75 秒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955280" y="1600200"/>
            <a:ext cx="3733800" cy="1325880"/>
          </a:xfrm>
          <a:prstGeom prst="roundRect">
            <a:avLst>
              <a:gd name="adj" fmla="val 12000"/>
            </a:avLst>
          </a:prstGeom>
          <a:solidFill>
            <a:srgbClr val="1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955280" y="1645920"/>
            <a:ext cx="373380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000" b="1">
                <a:solidFill>
                  <a:srgbClr val="F2A541"/>
                </a:solidFill>
                <a:latin typeface="Microsoft JhengHei"/>
                <a:ea typeface="Microsoft JhengHei"/>
                <a:cs typeface="Microsoft JhengHei"/>
              </a:rPr>
              <a:t>1.75 秒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55280" y="2468880"/>
            <a:ext cx="3733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平均（中位數 1.76）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55280" y="3063240"/>
            <a:ext cx="3733800" cy="868680"/>
          </a:xfrm>
          <a:prstGeom prst="roundRect">
            <a:avLst>
              <a:gd name="adj" fmla="val 12000"/>
            </a:avLst>
          </a:prstGeom>
          <a:solidFill>
            <a:srgbClr val="1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138160" y="3063240"/>
            <a:ext cx="3368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最快 0.92 秒</a:t>
            </a:r>
          </a:p>
          <a:p>
            <a:pPr algn="l"/>
            <a:r>
              <a:rPr sz="1600" b="0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最慢 2.91 秒（第 1 題暖機）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955280" y="4069080"/>
            <a:ext cx="3733800" cy="868680"/>
          </a:xfrm>
          <a:prstGeom prst="roundRect">
            <a:avLst>
              <a:gd name="adj" fmla="val 12000"/>
            </a:avLst>
          </a:prstGeom>
          <a:solidFill>
            <a:srgbClr val="1A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138160" y="4069080"/>
            <a:ext cx="336804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10／10 走 gpt-6-luna</a:t>
            </a:r>
          </a:p>
          <a:p>
            <a:pPr algn="l"/>
            <a:r>
              <a:rPr sz="1600" b="0">
                <a:solidFill>
                  <a:srgbClr val="EEF4F3"/>
                </a:solidFill>
                <a:latin typeface="Microsoft JhengHei"/>
                <a:ea typeface="Microsoft JhengHei"/>
                <a:cs typeface="Microsoft JhengHei"/>
              </a:rPr>
              <a:t>10 題共 67 micro-USD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955280" y="5074920"/>
            <a:ext cx="3733800" cy="1143000"/>
          </a:xfrm>
          <a:prstGeom prst="roundRect">
            <a:avLst>
              <a:gd name="adj" fmla="val 12000"/>
            </a:avLst>
          </a:prstGeom>
          <a:solidFill>
            <a:srgbClr val="1A3A40"/>
          </a:solidFill>
          <a:ln w="12700">
            <a:solidFill>
              <a:srgbClr val="5B7C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138160" y="5074920"/>
            <a:ext cx="336804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量法：10/28 晚上、家裡網路</a:t>
            </a:r>
          </a:p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ALB → Gateway → OpenAI → 回來</a:t>
            </a:r>
          </a:p>
          <a:p>
            <a:pPr algn="l"/>
            <a:r>
              <a:rPr sz="1600" b="0">
                <a:solidFill>
                  <a:srgbClr val="B9C6CA"/>
                </a:solidFill>
                <a:latin typeface="Microsoft JhengHei"/>
                <a:ea typeface="Microsoft JhengHei"/>
                <a:cs typeface="Microsoft JhengHei"/>
              </a:rPr>
              <a:t>只有 10 個樣本、都是簡單題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LM Gateway v6">
  <a:themeElements>
    <a:clrScheme name="LLM Gateway v6">
      <a:dk1>
        <a:srgbClr val="14262B"/>
      </a:dk1>
      <a:lt1>
        <a:srgbClr val="FFFFFF"/>
      </a:lt1>
      <a:dk2>
        <a:srgbClr val="0B5D5E"/>
      </a:dk2>
      <a:lt2>
        <a:srgbClr val="EEF4F3"/>
      </a:lt2>
      <a:accent1>
        <a:srgbClr val="0E7C7B"/>
      </a:accent1>
      <a:accent2>
        <a:srgbClr val="F2A541"/>
      </a:accent2>
      <a:accent3>
        <a:srgbClr val="C8553D"/>
      </a:accent3>
      <a:accent4>
        <a:srgbClr val="5B7C8D"/>
      </a:accent4>
      <a:accent5>
        <a:srgbClr val="2E9E6B"/>
      </a:accent5>
      <a:accent6>
        <a:srgbClr val="7D858C"/>
      </a:accent6>
      <a:hlink>
        <a:srgbClr val="0E7C7B"/>
      </a:hlink>
      <a:folHlink>
        <a:srgbClr val="5B7C8D"/>
      </a:folHlink>
    </a:clrScheme>
    <a:fontScheme name="LLM Gateway v6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2149</Words>
  <Application>Microsoft Office PowerPoint</Application>
  <PresentationFormat>寬螢幕</PresentationFormat>
  <Paragraphs>675</Paragraphs>
  <Slides>42</Slides>
  <Notes>41</Notes>
  <HiddenSlides>0</HiddenSlides>
  <MMClips>2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42</vt:i4>
      </vt:variant>
    </vt:vector>
  </HeadingPairs>
  <TitlesOfParts>
    <vt:vector size="46" baseType="lpstr">
      <vt:lpstr>Microsoft JhengHei</vt:lpstr>
      <vt:lpstr>Arial</vt:lpstr>
      <vt:lpstr>Calibri</vt:lpstr>
      <vt:lpstr>LLM Gateway v6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Gateway：企業級大語言模型調度與成本治理平台</dc:title>
  <dc:subject>PptxGenJS Presentation</dc:subject>
  <dc:creator>杜柏豫</dc:creator>
  <cp:lastModifiedBy>Tu Terry</cp:lastModifiedBy>
  <cp:revision>5</cp:revision>
  <dcterms:created xsi:type="dcterms:W3CDTF">2026-10-28T09:07:28Z</dcterms:created>
  <dcterms:modified xsi:type="dcterms:W3CDTF">2026-10-28T16:49:45Z</dcterms:modified>
</cp:coreProperties>
</file>