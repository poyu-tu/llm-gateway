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d749317f-91ce-6b13-59f4-2b0b5c2e7a5c}">
          <p14:sldIdLst>
            <p14:sldId id="256"/>
            <p14:sldId id="257"/>
          </p14:sldIdLst>
        </p14:section>
        <p14:section name="一頁講完" id="{60b0d394-c754-6570-5edd-75e682f28fd8}">
          <p14:sldIdLst>
            <p14:sldId id="258"/>
          </p14:sldIdLst>
        </p14:section>
        <p14:section name="想解決的問題" id="{d29428c2-712b-56f6-300d-14b8eb0c89db}">
          <p14:sldIdLst>
            <p14:sldId id="259"/>
          </p14:sldIdLst>
        </p14:section>
        <p14:section name="解決前後" id="{85b3616d-627c-c23f-0449-4f68fc65d054}">
          <p14:sldIdLst>
            <p14:sldId id="260"/>
          </p14:sldIdLst>
        </p14:section>
        <p14:section name="解法提綱" id="{1ed808fd-1c37-1188-24f4-c74332e0f9fa}">
          <p14:sldIdLst>
            <p14:sldId id="261"/>
            <p14:sldId id="262"/>
            <p14:sldId id="263"/>
            <p14:sldId id="264"/>
          </p14:sldIdLst>
        </p14:section>
        <p14:section name="技術實踐" id="{55f80b45-ae7e-67a0-4b8f-eb32d9c692e1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結語" id="{fdc6bbfc-69df-6d75-2987-674475eea7c0}">
          <p14:sldIdLst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75895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002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企業級大語言模型調度與成本治理平台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37560"/>
            <a:ext cx="484632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雲端工程師｜負責 LLM 上線之後的治理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12064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杜柏豫｜期末報告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55955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 v3（10 分鐘版）｜2026-10-19</a:t>
            </a:r>
            <a:endParaRPr lang="en-US" sz="1600" dirty="0"/>
          </a:p>
        </p:txBody>
      </p:sp>
      <p:sp>
        <p:nvSpPr>
          <p:cNvPr id="7" name="people"/>
          <p:cNvSpPr/>
          <p:nvPr/>
        </p:nvSpPr>
        <p:spPr>
          <a:xfrm>
            <a:off x="7269480" y="269748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0940" y="2948940"/>
            <a:ext cx="502920" cy="502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21040" y="3200400"/>
            <a:ext cx="301752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gateway"/>
          <p:cNvSpPr/>
          <p:nvPr/>
        </p:nvSpPr>
        <p:spPr>
          <a:xfrm>
            <a:off x="8686800" y="2468880"/>
            <a:ext cx="1463040" cy="14630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834640"/>
            <a:ext cx="731520" cy="7315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195560" y="3200400"/>
            <a:ext cx="301752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model"/>
          <p:cNvSpPr/>
          <p:nvPr/>
        </p:nvSpPr>
        <p:spPr>
          <a:xfrm>
            <a:off x="10561320" y="269748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2780" y="29489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08660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45820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037844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模型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六段，一半的時間給 Demo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417320" y="2834640"/>
            <a:ext cx="9372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5" name="agenda-node"/>
          <p:cNvSpPr/>
          <p:nvPr/>
        </p:nvSpPr>
        <p:spPr>
          <a:xfrm>
            <a:off x="1005840" y="242316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一頁講完</a:t>
            </a:r>
            <a:endParaRPr lang="en-US" sz="2000" dirty="0"/>
          </a:p>
        </p:txBody>
      </p:sp>
      <p:sp>
        <p:nvSpPr>
          <p:cNvPr id="8" name="agenda-node"/>
          <p:cNvSpPr/>
          <p:nvPr/>
        </p:nvSpPr>
        <p:spPr>
          <a:xfrm>
            <a:off x="2880360" y="242316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8036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想解決的問題</a:t>
            </a:r>
            <a:endParaRPr lang="en-US" sz="2000" dirty="0"/>
          </a:p>
        </p:txBody>
      </p:sp>
      <p:sp>
        <p:nvSpPr>
          <p:cNvPr id="11" name="agenda-node"/>
          <p:cNvSpPr/>
          <p:nvPr/>
        </p:nvSpPr>
        <p:spPr>
          <a:xfrm>
            <a:off x="4754880" y="242316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06908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解決前後</a:t>
            </a:r>
            <a:endParaRPr lang="en-US" sz="2000" dirty="0"/>
          </a:p>
        </p:txBody>
      </p:sp>
      <p:sp>
        <p:nvSpPr>
          <p:cNvPr id="14" name="agenda-node"/>
          <p:cNvSpPr/>
          <p:nvPr/>
        </p:nvSpPr>
        <p:spPr>
          <a:xfrm>
            <a:off x="6629400" y="242316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2940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4114800"/>
            <a:ext cx="1828800" cy="402336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三道關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4590288"/>
            <a:ext cx="1828800" cy="402336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放到 AWS 上</a:t>
            </a:r>
            <a:endParaRPr lang="en-US" sz="1600" dirty="0"/>
          </a:p>
        </p:txBody>
      </p:sp>
      <p:sp>
        <p:nvSpPr>
          <p:cNvPr id="19" name="agenda-node"/>
          <p:cNvSpPr/>
          <p:nvPr/>
        </p:nvSpPr>
        <p:spPr>
          <a:xfrm>
            <a:off x="8389620" y="2308860"/>
            <a:ext cx="1051560" cy="10515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89620" y="23088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1691640"/>
            <a:ext cx="1645920" cy="384048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 w="19050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主角：Demo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001000" y="4114800"/>
            <a:ext cx="1828800" cy="402336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4590288"/>
            <a:ext cx="1828800" cy="402336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5065776"/>
            <a:ext cx="1828800" cy="402336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001000" y="5541264"/>
            <a:ext cx="1828800" cy="402336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</a:t>
            </a:r>
            <a:endParaRPr lang="en-US" sz="1600" dirty="0"/>
          </a:p>
        </p:txBody>
      </p:sp>
      <p:sp>
        <p:nvSpPr>
          <p:cNvPr id="27" name="agenda-node"/>
          <p:cNvSpPr/>
          <p:nvPr/>
        </p:nvSpPr>
        <p:spPr>
          <a:xfrm>
            <a:off x="10378440" y="242316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37844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969264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結語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一頁講完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先講結論：在員工和 AI 模型之間，加一道閘道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1874520"/>
            <a:ext cx="11064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 AI 呼叫，都知道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是誰・花多少・送出什麼</a:t>
            </a:r>
            <a:endParaRPr lang="en-US" sz="3400" dirty="0"/>
          </a:p>
        </p:txBody>
      </p:sp>
      <p:sp>
        <p:nvSpPr>
          <p:cNvPr id="13" name="pillar-card"/>
          <p:cNvSpPr/>
          <p:nvPr/>
        </p:nvSpPr>
        <p:spPr>
          <a:xfrm>
            <a:off x="548640" y="3611880"/>
            <a:ext cx="3474720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88620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06908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737360" y="39593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是誰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846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每人一把 Key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錯的一律拒絕</a:t>
            </a:r>
            <a:endParaRPr lang="en-US" sz="1800" dirty="0"/>
          </a:p>
        </p:txBody>
      </p:sp>
      <p:sp>
        <p:nvSpPr>
          <p:cNvPr id="18" name="pillar-card"/>
          <p:cNvSpPr/>
          <p:nvPr/>
        </p:nvSpPr>
        <p:spPr>
          <a:xfrm>
            <a:off x="4343400" y="3611880"/>
            <a:ext cx="3474720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19" name="Shape 16"/>
          <p:cNvSpPr/>
          <p:nvPr/>
        </p:nvSpPr>
        <p:spPr>
          <a:xfrm>
            <a:off x="4617720" y="388620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406908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532120" y="39593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花多少</a:t>
            </a:r>
            <a:endParaRPr lang="en-US" sz="2600" dirty="0"/>
          </a:p>
        </p:txBody>
      </p:sp>
      <p:sp>
        <p:nvSpPr>
          <p:cNvPr id="22" name="Text 18"/>
          <p:cNvSpPr txBox="1"/>
          <p:nvPr/>
        </p:nvSpPr>
        <p:spPr>
          <a:xfrm>
            <a:off x="4617720" y="4846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每人每月有額度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自動選便宜的模型</a:t>
            </a:r>
            <a:endParaRPr lang="en-US" sz="1800" dirty="0"/>
          </a:p>
        </p:txBody>
      </p:sp>
      <p:sp>
        <p:nvSpPr>
          <p:cNvPr id="23" name="pillar-card"/>
          <p:cNvSpPr/>
          <p:nvPr/>
        </p:nvSpPr>
        <p:spPr>
          <a:xfrm>
            <a:off x="8138160" y="3611880"/>
            <a:ext cx="3474720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24" name="Shape 20"/>
          <p:cNvSpPr/>
          <p:nvPr/>
        </p:nvSpPr>
        <p:spPr>
          <a:xfrm>
            <a:off x="8412480" y="388620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406908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326880" y="39593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送出什麼</a:t>
            </a:r>
            <a:endParaRPr lang="en-US" sz="2600" dirty="0"/>
          </a:p>
        </p:txBody>
      </p:sp>
      <p:sp>
        <p:nvSpPr>
          <p:cNvPr id="27" name="Text 22"/>
          <p:cNvSpPr txBox="1"/>
          <p:nvPr/>
        </p:nvSpPr>
        <p:spPr>
          <a:xfrm>
            <a:off x="8412480" y="4846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個資先遮罩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紀錄不存原文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想解決的問題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開放了，卻管不住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874520"/>
            <a:ext cx="5669280" cy="475488"/>
          </a:xfrm>
          <a:prstGeom prst="roundRect">
            <a:avLst>
              <a:gd name="adj" fmla="val 19231"/>
            </a:avLst>
          </a:prstGeom>
          <a:solidFill>
            <a:schemeClr val="accent6">
              <a:alpha val="30000"/>
            </a:schemeClr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47672"/>
            <a:ext cx="329184" cy="32918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88720" y="187452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情境｜200 位員工，開放 AI 三個月後</a:t>
            </a:r>
            <a:endParaRPr lang="en-US" sz="1600" dirty="0"/>
          </a:p>
        </p:txBody>
      </p:sp>
      <p:sp>
        <p:nvSpPr>
          <p:cNvPr id="15" name="problem-card"/>
          <p:cNvSpPr/>
          <p:nvPr/>
        </p:nvSpPr>
        <p:spPr>
          <a:xfrm>
            <a:off x="548640" y="2651760"/>
            <a:ext cx="3474720" cy="3246120"/>
          </a:xfrm>
          <a:prstGeom prst="roundRect">
            <a:avLst>
              <a:gd name="adj" fmla="val 2817"/>
            </a:avLst>
          </a:prstGeom>
          <a:solidFill>
            <a:schemeClr val="tx2"/>
          </a:solidFill>
          <a:ln/>
        </p:spPr>
      </p:sp>
      <p:sp>
        <p:nvSpPr>
          <p:cNvPr id="16" name="Shape 13"/>
          <p:cNvSpPr/>
          <p:nvPr/>
        </p:nvSpPr>
        <p:spPr>
          <a:xfrm>
            <a:off x="1737360" y="2971800"/>
            <a:ext cx="1097280" cy="10972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324612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3152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成本歸屬</a:t>
            </a:r>
            <a:endParaRPr lang="en-US" sz="2600" dirty="0"/>
          </a:p>
        </p:txBody>
      </p:sp>
      <p:sp>
        <p:nvSpPr>
          <p:cNvPr id="19" name="Text 15"/>
          <p:cNvSpPr txBox="1"/>
          <p:nvPr/>
        </p:nvSpPr>
        <p:spPr>
          <a:xfrm>
            <a:off x="731520" y="4864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帳單只有總額，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不知道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</a:t>
            </a:r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花的</a:t>
            </a:r>
            <a:endParaRPr lang="en-US" sz="1800" dirty="0"/>
          </a:p>
        </p:txBody>
      </p:sp>
      <p:sp>
        <p:nvSpPr>
          <p:cNvPr id="20" name="problem-card"/>
          <p:cNvSpPr/>
          <p:nvPr/>
        </p:nvSpPr>
        <p:spPr>
          <a:xfrm>
            <a:off x="4343400" y="2651760"/>
            <a:ext cx="3474720" cy="3246120"/>
          </a:xfrm>
          <a:prstGeom prst="roundRect">
            <a:avLst>
              <a:gd name="adj" fmla="val 2817"/>
            </a:avLst>
          </a:prstGeom>
          <a:solidFill>
            <a:schemeClr val="tx2"/>
          </a:solidFill>
          <a:ln/>
        </p:spPr>
      </p:sp>
      <p:sp>
        <p:nvSpPr>
          <p:cNvPr id="21" name="Shape 17"/>
          <p:cNvSpPr/>
          <p:nvPr/>
        </p:nvSpPr>
        <p:spPr>
          <a:xfrm>
            <a:off x="5532120" y="2971800"/>
            <a:ext cx="1097280" cy="10972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3246120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52628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用量管控</a:t>
            </a:r>
            <a:endParaRPr lang="en-US" sz="2600" dirty="0"/>
          </a:p>
        </p:txBody>
      </p:sp>
      <p:sp>
        <p:nvSpPr>
          <p:cNvPr id="24" name="Text 19"/>
          <p:cNvSpPr txBox="1"/>
          <p:nvPr/>
        </p:nvSpPr>
        <p:spPr>
          <a:xfrm>
            <a:off x="4526280" y="4864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寫錯一個迴圈，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一晚</a:t>
            </a:r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燒光預算</a:t>
            </a:r>
            <a:endParaRPr lang="en-US" sz="1800" dirty="0"/>
          </a:p>
        </p:txBody>
      </p:sp>
      <p:sp>
        <p:nvSpPr>
          <p:cNvPr id="25" name="problem-card"/>
          <p:cNvSpPr/>
          <p:nvPr/>
        </p:nvSpPr>
        <p:spPr>
          <a:xfrm>
            <a:off x="8138160" y="2651760"/>
            <a:ext cx="3474720" cy="3246120"/>
          </a:xfrm>
          <a:prstGeom prst="roundRect">
            <a:avLst>
              <a:gd name="adj" fmla="val 2817"/>
            </a:avLst>
          </a:prstGeom>
          <a:solidFill>
            <a:schemeClr val="tx2"/>
          </a:solidFill>
          <a:ln/>
        </p:spPr>
      </p:sp>
      <p:sp>
        <p:nvSpPr>
          <p:cNvPr id="26" name="Shape 21"/>
          <p:cNvSpPr/>
          <p:nvPr/>
        </p:nvSpPr>
        <p:spPr>
          <a:xfrm>
            <a:off x="9326880" y="2971800"/>
            <a:ext cx="1097280" cy="10972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3246120"/>
            <a:ext cx="548640" cy="54864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32104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</a:t>
            </a:r>
            <a:endParaRPr lang="en-US" sz="2600" dirty="0"/>
          </a:p>
        </p:txBody>
      </p:sp>
      <p:sp>
        <p:nvSpPr>
          <p:cNvPr id="29" name="Text 23"/>
          <p:cNvSpPr txBox="1"/>
          <p:nvPr/>
        </p:nvSpPr>
        <p:spPr>
          <a:xfrm>
            <a:off x="8321040" y="4864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客戶資料貼進去，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事後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查不到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解決前後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從「月底看帳單」，到「每次呼叫都被管到」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1901952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154680" y="1856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之前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90195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635240" y="1856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24688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517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63040" y="24688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2788920" y="2450592"/>
            <a:ext cx="3566160" cy="777240"/>
          </a:xfrm>
          <a:prstGeom prst="roundRect">
            <a:avLst>
              <a:gd name="adj" fmla="val 9412"/>
            </a:avLst>
          </a:prstGeom>
          <a:solidFill>
            <a:schemeClr val="accent6">
              <a:alpha val="28000"/>
            </a:schemeClr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員工自己選，常選最貴的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6446520" y="2834640"/>
            <a:ext cx="658368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Text 16"/>
          <p:cNvSpPr txBox="1"/>
          <p:nvPr/>
        </p:nvSpPr>
        <p:spPr>
          <a:xfrm>
            <a:off x="7269480" y="2450592"/>
            <a:ext cx="434340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自動選，簡單的便宜 </a:t>
            </a:r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倍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5760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4048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63040" y="3657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2788920" y="3639312"/>
            <a:ext cx="3566160" cy="777240"/>
          </a:xfrm>
          <a:prstGeom prst="roundRect">
            <a:avLst>
              <a:gd name="adj" fmla="val 9412"/>
            </a:avLst>
          </a:prstGeom>
          <a:solidFill>
            <a:schemeClr val="accent6">
              <a:alpha val="28000"/>
            </a:schemeClr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原文直接送到供應商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6446520" y="4023360"/>
            <a:ext cx="658368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7" name="Text 21"/>
          <p:cNvSpPr txBox="1"/>
          <p:nvPr/>
        </p:nvSpPr>
        <p:spPr>
          <a:xfrm>
            <a:off x="7269480" y="3639312"/>
            <a:ext cx="434340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送出前，換成 </a:t>
            </a:r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548640" y="484632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02920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463040" y="48463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</a:t>
            </a:r>
            <a:endParaRPr lang="en-US" sz="2400" dirty="0"/>
          </a:p>
        </p:txBody>
      </p:sp>
      <p:sp>
        <p:nvSpPr>
          <p:cNvPr id="31" name="Text 24"/>
          <p:cNvSpPr txBox="1"/>
          <p:nvPr/>
        </p:nvSpPr>
        <p:spPr>
          <a:xfrm>
            <a:off x="2788920" y="4828032"/>
            <a:ext cx="3566160" cy="777240"/>
          </a:xfrm>
          <a:prstGeom prst="roundRect">
            <a:avLst>
              <a:gd name="adj" fmla="val 9412"/>
            </a:avLst>
          </a:prstGeom>
          <a:solidFill>
            <a:schemeClr val="accent6">
              <a:alpha val="28000"/>
            </a:schemeClr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月底收到帳單才知道</a:t>
            </a:r>
            <a:endParaRPr lang="en-US" sz="1800" dirty="0"/>
          </a:p>
        </p:txBody>
      </p:sp>
      <p:sp>
        <p:nvSpPr>
          <p:cNvPr id="32" name="Shape 25"/>
          <p:cNvSpPr/>
          <p:nvPr/>
        </p:nvSpPr>
        <p:spPr>
          <a:xfrm>
            <a:off x="6446520" y="5212080"/>
            <a:ext cx="658368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3" name="Text 26"/>
          <p:cNvSpPr txBox="1"/>
          <p:nvPr/>
        </p:nvSpPr>
        <p:spPr>
          <a:xfrm>
            <a:off x="7269480" y="4828032"/>
            <a:ext cx="434340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每人每月額度，</a:t>
            </a:r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用完就擋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解法提綱｜三道關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替每一戶裝上水表和限流閥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1488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2400300"/>
            <a:ext cx="502920" cy="5029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11480" y="3200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627632" y="2651760"/>
            <a:ext cx="5029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gateway-box"/>
          <p:cNvSpPr/>
          <p:nvPr/>
        </p:nvSpPr>
        <p:spPr>
          <a:xfrm>
            <a:off x="2194560" y="2057400"/>
            <a:ext cx="7772400" cy="1188720"/>
          </a:xfrm>
          <a:prstGeom prst="roundRect">
            <a:avLst>
              <a:gd name="adj" fmla="val 7692"/>
            </a:avLst>
          </a:prstGeom>
          <a:solidFill>
            <a:schemeClr val="accent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286000"/>
            <a:ext cx="731520" cy="7315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474720" y="210312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每一次呼叫，都先經過這裡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10012680" y="2651760"/>
            <a:ext cx="5029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10607040" y="21488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0" y="240030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469880" y="3200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模型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2286000" y="3246120"/>
            <a:ext cx="0" cy="68580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24" name="group-card"/>
          <p:cNvSpPr/>
          <p:nvPr/>
        </p:nvSpPr>
        <p:spPr>
          <a:xfrm>
            <a:off x="548640" y="3931920"/>
            <a:ext cx="3474720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/>
        </p:spPr>
      </p:sp>
      <p:sp>
        <p:nvSpPr>
          <p:cNvPr id="25" name="Shape 20"/>
          <p:cNvSpPr/>
          <p:nvPr/>
        </p:nvSpPr>
        <p:spPr>
          <a:xfrm>
            <a:off x="822960" y="42062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8912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737360" y="42245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管人</a:t>
            </a:r>
            <a:endParaRPr lang="en-US" sz="2800" dirty="0"/>
          </a:p>
        </p:txBody>
      </p:sp>
      <p:sp>
        <p:nvSpPr>
          <p:cNvPr id="28" name="Text 22"/>
          <p:cNvSpPr txBox="1"/>
          <p:nvPr/>
        </p:nvSpPr>
        <p:spPr>
          <a:xfrm>
            <a:off x="822960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確認身分・檢查額度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6080760" y="3246120"/>
            <a:ext cx="0" cy="68580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30" name="group-card"/>
          <p:cNvSpPr/>
          <p:nvPr/>
        </p:nvSpPr>
        <p:spPr>
          <a:xfrm>
            <a:off x="4343400" y="3931920"/>
            <a:ext cx="3474720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/>
        </p:spPr>
      </p:sp>
      <p:sp>
        <p:nvSpPr>
          <p:cNvPr id="31" name="Shape 25"/>
          <p:cNvSpPr/>
          <p:nvPr/>
        </p:nvSpPr>
        <p:spPr>
          <a:xfrm>
            <a:off x="4617720" y="42062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389120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5532120" y="42245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管錢</a:t>
            </a:r>
            <a:endParaRPr lang="en-US" sz="2800" dirty="0"/>
          </a:p>
        </p:txBody>
      </p:sp>
      <p:sp>
        <p:nvSpPr>
          <p:cNvPr id="34" name="Text 27"/>
          <p:cNvSpPr txBox="1"/>
          <p:nvPr/>
        </p:nvSpPr>
        <p:spPr>
          <a:xfrm>
            <a:off x="4617720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自動選模型・記帳</a:t>
            </a:r>
            <a:endParaRPr lang="en-US" sz="1800" dirty="0"/>
          </a:p>
        </p:txBody>
      </p:sp>
      <p:sp>
        <p:nvSpPr>
          <p:cNvPr id="35" name="Shape 28"/>
          <p:cNvSpPr/>
          <p:nvPr/>
        </p:nvSpPr>
        <p:spPr>
          <a:xfrm>
            <a:off x="9875520" y="3246120"/>
            <a:ext cx="0" cy="68580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36" name="group-card"/>
          <p:cNvSpPr/>
          <p:nvPr/>
        </p:nvSpPr>
        <p:spPr>
          <a:xfrm>
            <a:off x="8138160" y="3931920"/>
            <a:ext cx="3474720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/>
        </p:spPr>
      </p:sp>
      <p:sp>
        <p:nvSpPr>
          <p:cNvPr id="37" name="Shape 30"/>
          <p:cNvSpPr/>
          <p:nvPr/>
        </p:nvSpPr>
        <p:spPr>
          <a:xfrm>
            <a:off x="8412480" y="42062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4389120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326880" y="42245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管資料</a:t>
            </a:r>
            <a:endParaRPr lang="en-US" sz="2800" dirty="0"/>
          </a:p>
        </p:txBody>
      </p:sp>
      <p:sp>
        <p:nvSpPr>
          <p:cNvPr id="40" name="Text 32"/>
          <p:cNvSpPr txBox="1"/>
          <p:nvPr/>
        </p:nvSpPr>
        <p:spPr>
          <a:xfrm>
            <a:off x="8412480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遮掉個資・留稽核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解法提綱｜系統架構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外面連不進來，出口只放行 OpenAI；虛線是 M5～M7 還沒蓋的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vpc"/>
          <p:cNvSpPr/>
          <p:nvPr/>
        </p:nvSpPr>
        <p:spPr>
          <a:xfrm>
            <a:off x="2514600" y="1828800"/>
            <a:ext cx="6949440" cy="4343400"/>
          </a:xfrm>
          <a:prstGeom prst="roundRect">
            <a:avLst>
              <a:gd name="adj" fmla="val 2105"/>
            </a:avLst>
          </a:prstGeom>
          <a:solidFill>
            <a:schemeClr val="accent6">
              <a:alpha val="10000"/>
            </a:schemeClr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97480" y="18745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VPC 10.0.0.0/16｜ap-northeast-1</a:t>
            </a:r>
            <a:endParaRPr lang="en-US" sz="1600" dirty="0"/>
          </a:p>
        </p:txBody>
      </p:sp>
      <p:sp>
        <p:nvSpPr>
          <p:cNvPr id="14" name="public-subnet"/>
          <p:cNvSpPr/>
          <p:nvPr/>
        </p:nvSpPr>
        <p:spPr>
          <a:xfrm>
            <a:off x="2697480" y="2240280"/>
            <a:ext cx="6583680" cy="1188720"/>
          </a:xfrm>
          <a:prstGeom prst="roundRect">
            <a:avLst>
              <a:gd name="adj" fmla="val 7692"/>
            </a:avLst>
          </a:prstGeom>
          <a:solidFill>
            <a:schemeClr val="accent5">
              <a:alpha val="15000"/>
            </a:schemeClr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2834640" y="22860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公有子網 ×2（ap-northeast-1a、1c）</a:t>
            </a:r>
            <a:endParaRPr lang="en-US" sz="1600" dirty="0"/>
          </a:p>
        </p:txBody>
      </p:sp>
      <p:sp>
        <p:nvSpPr>
          <p:cNvPr id="16" name="private-subnet"/>
          <p:cNvSpPr/>
          <p:nvPr/>
        </p:nvSpPr>
        <p:spPr>
          <a:xfrm>
            <a:off x="2697480" y="3611880"/>
            <a:ext cx="6583680" cy="2377440"/>
          </a:xfrm>
          <a:prstGeom prst="roundRect">
            <a:avLst>
              <a:gd name="adj" fmla="val 3846"/>
            </a:avLst>
          </a:prstGeom>
          <a:solidFill>
            <a:schemeClr val="accent1">
              <a:alpha val="15000"/>
            </a:schemeClr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2834640" y="36576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私有子網（ap-northeast-1a，沒有公開 IP）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2651760"/>
            <a:ext cx="146304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26517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029968" y="2990088"/>
            <a:ext cx="896112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8640" y="3520440"/>
            <a:ext cx="1463040" cy="594360"/>
          </a:xfrm>
          <a:prstGeom prst="roundRect">
            <a:avLst>
              <a:gd name="adj" fmla="val 15385"/>
            </a:avLst>
          </a:prstGeom>
          <a:solidFill>
            <a:schemeClr val="tx1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594360" y="35204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M7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011680" y="3520440"/>
            <a:ext cx="36576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2377440" y="2990088"/>
            <a:ext cx="0" cy="530352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48640" y="4526280"/>
            <a:ext cx="146304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4360" y="45262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容器映像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 flipV="1">
            <a:off x="2029968" y="4663440"/>
            <a:ext cx="896112" cy="201168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48640" y="5486400"/>
            <a:ext cx="1463040" cy="594360"/>
          </a:xfrm>
          <a:prstGeom prst="roundRect">
            <a:avLst>
              <a:gd name="adj" fmla="val 15385"/>
            </a:avLst>
          </a:prstGeom>
          <a:solidFill>
            <a:schemeClr val="tx1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594360" y="54864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Grafana M6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926080" y="2651760"/>
            <a:ext cx="155448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971800" y="26517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唯一入口 :80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675120" y="2651760"/>
            <a:ext cx="246888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720840" y="26517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NAT ＋ DNS 防火牆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唯一出口 :443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162288" y="2990088"/>
            <a:ext cx="77724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966960" y="2651760"/>
            <a:ext cx="169164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012680" y="26517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名單只有這家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926080" y="4069080"/>
            <a:ext cx="210312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971800" y="40690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Fargate ＋ Console（M6）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703320" y="3337560"/>
            <a:ext cx="0" cy="73152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029200" y="4480560"/>
            <a:ext cx="210312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7132320" y="3337560"/>
            <a:ext cx="0" cy="114300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315200" y="4069080"/>
            <a:ext cx="182880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360920" y="40690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DynamoDB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金鑰・額度・稽核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029200" y="4754880"/>
            <a:ext cx="22860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5120640" y="48463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Gateway Endpoint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926080" y="5303520"/>
            <a:ext cx="182880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47" name="Text 45"/>
          <p:cNvSpPr txBox="1"/>
          <p:nvPr/>
        </p:nvSpPr>
        <p:spPr>
          <a:xfrm>
            <a:off x="2971800" y="5303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SQS（M5）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840480" y="4937760"/>
            <a:ext cx="0" cy="365760"/>
          </a:xfrm>
          <a:prstGeom prst="line">
            <a:avLst/>
          </a:prstGeom>
          <a:noFill/>
          <a:ln w="12700">
            <a:solidFill>
              <a:srgbClr val="333333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4754880" y="5577840"/>
            <a:ext cx="41148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5166360" y="5303520"/>
            <a:ext cx="192024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51" name="Text 49"/>
          <p:cNvSpPr txBox="1"/>
          <p:nvPr/>
        </p:nvSpPr>
        <p:spPr>
          <a:xfrm>
            <a:off x="5212080" y="5303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Lambda（M5）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086600" y="5577840"/>
            <a:ext cx="41148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7498080" y="5303520"/>
            <a:ext cx="164592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54" name="Text 52"/>
          <p:cNvSpPr txBox="1"/>
          <p:nvPr/>
        </p:nvSpPr>
        <p:spPr>
          <a:xfrm>
            <a:off x="7543800" y="53035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用量表（M5）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966960" y="3611880"/>
            <a:ext cx="169164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10012680" y="3611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金鑰不進程式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 flipH="1">
            <a:off x="9464040" y="3950208"/>
            <a:ext cx="50292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9966960" y="4480560"/>
            <a:ext cx="169164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10012680" y="44805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CloudWatch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日誌・告警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464040" y="4818888"/>
            <a:ext cx="50292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9966960" y="5349240"/>
            <a:ext cx="169164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10012680" y="53492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Terraform 帳本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464040" y="5687568"/>
            <a:ext cx="5029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dash"/>
          </a:ln>
        </p:spPr>
      </p:sp>
      <p:sp>
        <p:nvSpPr>
          <p:cNvPr id="64" name="Text 62"/>
          <p:cNvSpPr txBox="1"/>
          <p:nvPr/>
        </p:nvSpPr>
        <p:spPr>
          <a:xfrm>
            <a:off x="2514600" y="62636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實線：已蓋好或正在蓋　虛線：M5～M7，還沒蓋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解法提綱｜一次呼叫發生什麼事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步；紅色是擋下時回的代碼；第 9 步強模型限流時，改派便宜模型一次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tep"/>
          <p:cNvSpPr/>
          <p:nvPr/>
        </p:nvSpPr>
        <p:spPr>
          <a:xfrm>
            <a:off x="548640" y="192024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6424" y="202996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06424" y="2029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4871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 收到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39696" y="244602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step"/>
          <p:cNvSpPr/>
          <p:nvPr/>
        </p:nvSpPr>
        <p:spPr>
          <a:xfrm>
            <a:off x="2450592" y="192024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08376" y="202996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008376" y="2029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2496312" y="24871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 Key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2770632" y="306324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401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041648" y="244602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3" name="step"/>
          <p:cNvSpPr/>
          <p:nvPr/>
        </p:nvSpPr>
        <p:spPr>
          <a:xfrm>
            <a:off x="4352544" y="192024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0328" y="202996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910328" y="2029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398264" y="24871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讀額度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672584" y="306324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503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943600" y="244602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9" name="step"/>
          <p:cNvSpPr/>
          <p:nvPr/>
        </p:nvSpPr>
        <p:spPr>
          <a:xfrm>
            <a:off x="6254496" y="192024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accent5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2280" y="2029968"/>
            <a:ext cx="438912" cy="43891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12280" y="2029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300216" y="24871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遮罩個資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845552" y="244602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4" name="step"/>
          <p:cNvSpPr/>
          <p:nvPr/>
        </p:nvSpPr>
        <p:spPr>
          <a:xfrm>
            <a:off x="8156448" y="192024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14232" y="202996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714232" y="2029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8202168" y="24871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判斷超額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8476488" y="306324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747504" y="244602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0" name="step"/>
          <p:cNvSpPr/>
          <p:nvPr/>
        </p:nvSpPr>
        <p:spPr>
          <a:xfrm>
            <a:off x="10058400" y="192024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616184" y="202996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0616184" y="2029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10104120" y="24871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 0 試寫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10378440" y="306324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503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0835640" y="3520440"/>
            <a:ext cx="0" cy="50292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6" name="step"/>
          <p:cNvSpPr/>
          <p:nvPr/>
        </p:nvSpPr>
        <p:spPr>
          <a:xfrm>
            <a:off x="10058400" y="406908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47" name="Shape 45"/>
          <p:cNvSpPr/>
          <p:nvPr/>
        </p:nvSpPr>
        <p:spPr>
          <a:xfrm>
            <a:off x="10616184" y="417880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0616184" y="4178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800" dirty="0"/>
          </a:p>
        </p:txBody>
      </p:sp>
      <p:sp>
        <p:nvSpPr>
          <p:cNvPr id="49" name="Text 47"/>
          <p:cNvSpPr txBox="1"/>
          <p:nvPr/>
        </p:nvSpPr>
        <p:spPr>
          <a:xfrm>
            <a:off x="10104120" y="46360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選模型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 flipH="1">
            <a:off x="9747504" y="459486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1" name="step"/>
          <p:cNvSpPr/>
          <p:nvPr/>
        </p:nvSpPr>
        <p:spPr>
          <a:xfrm>
            <a:off x="8156448" y="406908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14232" y="417880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714232" y="4178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800" dirty="0"/>
          </a:p>
        </p:txBody>
      </p:sp>
      <p:sp>
        <p:nvSpPr>
          <p:cNvPr id="54" name="Text 52"/>
          <p:cNvSpPr txBox="1"/>
          <p:nvPr/>
        </p:nvSpPr>
        <p:spPr>
          <a:xfrm>
            <a:off x="8202168" y="46360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查單價</a:t>
            </a:r>
            <a:endParaRPr lang="en-US" sz="1800" dirty="0"/>
          </a:p>
        </p:txBody>
      </p:sp>
      <p:sp>
        <p:nvSpPr>
          <p:cNvPr id="55" name="Text 53"/>
          <p:cNvSpPr txBox="1"/>
          <p:nvPr/>
        </p:nvSpPr>
        <p:spPr>
          <a:xfrm>
            <a:off x="8476488" y="521208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500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 flipH="1">
            <a:off x="7845552" y="459486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7" name="step"/>
          <p:cNvSpPr/>
          <p:nvPr/>
        </p:nvSpPr>
        <p:spPr>
          <a:xfrm>
            <a:off x="6254496" y="406908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12280" y="417880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6812280" y="4178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800" dirty="0"/>
          </a:p>
        </p:txBody>
      </p:sp>
      <p:sp>
        <p:nvSpPr>
          <p:cNvPr id="60" name="Text 58"/>
          <p:cNvSpPr txBox="1"/>
          <p:nvPr/>
        </p:nvSpPr>
        <p:spPr>
          <a:xfrm>
            <a:off x="6300216" y="46360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呼叫 OpenAI</a:t>
            </a:r>
            <a:endParaRPr lang="en-US" sz="1800" dirty="0"/>
          </a:p>
        </p:txBody>
      </p:sp>
      <p:sp>
        <p:nvSpPr>
          <p:cNvPr id="61" name="Text 59"/>
          <p:cNvSpPr txBox="1"/>
          <p:nvPr/>
        </p:nvSpPr>
        <p:spPr>
          <a:xfrm>
            <a:off x="6574536" y="521208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502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 flipH="1">
            <a:off x="5943600" y="459486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63" name="step"/>
          <p:cNvSpPr/>
          <p:nvPr/>
        </p:nvSpPr>
        <p:spPr>
          <a:xfrm>
            <a:off x="4352544" y="406908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64" name="Shape 62"/>
          <p:cNvSpPr/>
          <p:nvPr/>
        </p:nvSpPr>
        <p:spPr>
          <a:xfrm>
            <a:off x="4910328" y="417880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4910328" y="4178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800" dirty="0"/>
          </a:p>
        </p:txBody>
      </p:sp>
      <p:sp>
        <p:nvSpPr>
          <p:cNvPr id="66" name="Text 64"/>
          <p:cNvSpPr txBox="1"/>
          <p:nvPr/>
        </p:nvSpPr>
        <p:spPr>
          <a:xfrm>
            <a:off x="4398264" y="46360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記帳・稽核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 flipH="1">
            <a:off x="4041648" y="459486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68" name="step"/>
          <p:cNvSpPr/>
          <p:nvPr/>
        </p:nvSpPr>
        <p:spPr>
          <a:xfrm>
            <a:off x="2450592" y="406908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69" name="Shape 67"/>
          <p:cNvSpPr/>
          <p:nvPr/>
        </p:nvSpPr>
        <p:spPr>
          <a:xfrm>
            <a:off x="3008376" y="417880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3008376" y="4178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800" dirty="0"/>
          </a:p>
        </p:txBody>
      </p:sp>
      <p:sp>
        <p:nvSpPr>
          <p:cNvPr id="71" name="Text 69"/>
          <p:cNvSpPr txBox="1"/>
          <p:nvPr/>
        </p:nvSpPr>
        <p:spPr>
          <a:xfrm>
            <a:off x="2496312" y="46360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回傳</a:t>
            </a:r>
            <a:endParaRPr lang="en-US" sz="1800" dirty="0"/>
          </a:p>
        </p:txBody>
      </p:sp>
      <p:sp>
        <p:nvSpPr>
          <p:cNvPr id="72" name="Text 70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綠色的第 4 步之後，送去 OpenAI 的、寫進稽核的，都是遮罩後的內容</a:t>
            </a:r>
            <a:endParaRPr lang="en-US" sz="1800" dirty="0"/>
          </a:p>
        </p:txBody>
      </p:sp>
      <p:sp>
        <p:nvSpPr>
          <p:cNvPr id="73" name="todo"/>
          <p:cNvSpPr/>
          <p:nvPr/>
        </p:nvSpPr>
        <p:spPr>
          <a:xfrm>
            <a:off x="548640" y="6172200"/>
            <a:ext cx="11064240" cy="411480"/>
          </a:xfrm>
          <a:prstGeom prst="roundRect">
            <a:avLst>
              <a:gd name="adj" fmla="val 22222"/>
            </a:avLst>
          </a:prstGeom>
          <a:solidFill>
            <a:schemeClr val="tx1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74" name="Text 72"/>
          <p:cNvSpPr txBox="1"/>
          <p:nvPr/>
        </p:nvSpPr>
        <p:spPr>
          <a:xfrm>
            <a:off x="731520" y="61493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M5 起：第 10 步改成「先送進 SQS，再回答」；記帳由 Lambda 在背後做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解法提綱｜三件事、兩層、一鍵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要用才開，用完就拆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takeaway"/>
          <p:cNvSpPr/>
          <p:nvPr/>
        </p:nvSpPr>
        <p:spPr>
          <a:xfrm>
            <a:off x="548640" y="1828800"/>
            <a:ext cx="347472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196596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2137410"/>
            <a:ext cx="342900" cy="3429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554480" y="18288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外面連不進來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容器沒有公開 IP</a:t>
            </a:r>
            <a:endParaRPr lang="en-US" sz="1600" dirty="0"/>
          </a:p>
        </p:txBody>
      </p:sp>
      <p:sp>
        <p:nvSpPr>
          <p:cNvPr id="16" name="takeaway"/>
          <p:cNvSpPr/>
          <p:nvPr/>
        </p:nvSpPr>
        <p:spPr>
          <a:xfrm>
            <a:off x="4343400" y="1828800"/>
            <a:ext cx="347472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17" name="Shape 14"/>
          <p:cNvSpPr/>
          <p:nvPr/>
        </p:nvSpPr>
        <p:spPr>
          <a:xfrm>
            <a:off x="4526280" y="196596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2137410"/>
            <a:ext cx="342900" cy="3429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349240" y="18288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只有一個出口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只放行名單上的網域</a:t>
            </a:r>
            <a:endParaRPr lang="en-US" sz="1600" dirty="0"/>
          </a:p>
        </p:txBody>
      </p:sp>
      <p:sp>
        <p:nvSpPr>
          <p:cNvPr id="20" name="takeaway"/>
          <p:cNvSpPr/>
          <p:nvPr/>
        </p:nvSpPr>
        <p:spPr>
          <a:xfrm>
            <a:off x="8138160" y="1828800"/>
            <a:ext cx="347472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21" name="Shape 17"/>
          <p:cNvSpPr/>
          <p:nvPr/>
        </p:nvSpPr>
        <p:spPr>
          <a:xfrm>
            <a:off x="8321040" y="196596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490" y="2137410"/>
            <a:ext cx="342900" cy="3429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144000" y="18288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沒有長期金鑰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用身分聯盟換通行證</a:t>
            </a:r>
            <a:endParaRPr lang="en-US" sz="1600" dirty="0"/>
          </a:p>
        </p:txBody>
      </p:sp>
      <p:sp>
        <p:nvSpPr>
          <p:cNvPr id="24" name="layer"/>
          <p:cNvSpPr/>
          <p:nvPr/>
        </p:nvSpPr>
        <p:spPr>
          <a:xfrm>
            <a:off x="548640" y="3017520"/>
            <a:ext cx="539496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22960" y="31089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長期層　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留著，閒置幾乎免費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82296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・Terraform 帳本、容器倉庫、三張資料表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822960" y="4087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・GitHub OIDC 角色、ECS 角色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822960" y="44714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・日誌群組、告警</a:t>
            </a:r>
            <a:endParaRPr lang="en-US" sz="1800" dirty="0"/>
          </a:p>
        </p:txBody>
      </p:sp>
      <p:sp>
        <p:nvSpPr>
          <p:cNvPr id="29" name="layer"/>
          <p:cNvSpPr/>
          <p:nvPr/>
        </p:nvSpPr>
        <p:spPr>
          <a:xfrm>
            <a:off x="6217920" y="3017520"/>
            <a:ext cx="539496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492240" y="31089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每日層　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按小時計費，測完當天拆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649224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・VPC、子網、安全群組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6492240" y="4087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・NAT、DNS 防火牆、ALB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6492240" y="44714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・Fargate 服務</a:t>
            </a:r>
            <a:endParaRPr lang="en-US" sz="1800" dirty="0"/>
          </a:p>
        </p:txBody>
      </p:sp>
      <p:sp>
        <p:nvSpPr>
          <p:cNvPr id="34" name="destroy-card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/>
        </p:spPr>
      </p:sp>
      <p:sp>
        <p:nvSpPr>
          <p:cNvPr id="35" name="Shape 30"/>
          <p:cNvSpPr/>
          <p:nvPr/>
        </p:nvSpPr>
        <p:spPr>
          <a:xfrm>
            <a:off x="777240" y="534924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5520690"/>
            <a:ext cx="342900" cy="34290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691640" y="525780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一鍵拆除　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借一小時的 AWS 角色，只拆得了貼「每日」標籤的東西；實測 51 秒拆光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接下來，直接看它跑起來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console-window"/>
          <p:cNvSpPr/>
          <p:nvPr/>
        </p:nvSpPr>
        <p:spPr>
          <a:xfrm>
            <a:off x="548640" y="1920240"/>
            <a:ext cx="6995160" cy="4023360"/>
          </a:xfrm>
          <a:prstGeom prst="roundRect">
            <a:avLst>
              <a:gd name="adj" fmla="val 227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 Console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560320"/>
            <a:ext cx="51206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輸入你的問題…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560320"/>
            <a:ext cx="12801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</a:t>
            </a:r>
            <a:endParaRPr lang="en-US" sz="1600" dirty="0"/>
          </a:p>
        </p:txBody>
      </p:sp>
      <p:sp>
        <p:nvSpPr>
          <p:cNvPr id="16" name="console-panel"/>
          <p:cNvSpPr/>
          <p:nvPr/>
        </p:nvSpPr>
        <p:spPr>
          <a:xfrm>
            <a:off x="777240" y="3291840"/>
            <a:ext cx="320040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" y="343814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41985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路由決策</a:t>
            </a:r>
            <a:endParaRPr lang="en-US" sz="1800" dirty="0"/>
          </a:p>
        </p:txBody>
      </p:sp>
      <p:sp>
        <p:nvSpPr>
          <p:cNvPr id="20" name="console-panel"/>
          <p:cNvSpPr/>
          <p:nvPr/>
        </p:nvSpPr>
        <p:spPr>
          <a:xfrm>
            <a:off x="4114800" y="3291840"/>
            <a:ext cx="320040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79392" y="343814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279392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341985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回應</a:t>
            </a:r>
            <a:endParaRPr lang="en-US" sz="1800" dirty="0"/>
          </a:p>
        </p:txBody>
      </p:sp>
      <p:sp>
        <p:nvSpPr>
          <p:cNvPr id="24" name="console-panel"/>
          <p:cNvSpPr/>
          <p:nvPr/>
        </p:nvSpPr>
        <p:spPr>
          <a:xfrm>
            <a:off x="777240" y="4617720"/>
            <a:ext cx="320040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1832" y="476402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47457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本次花費</a:t>
            </a:r>
            <a:endParaRPr lang="en-US" sz="1800" dirty="0"/>
          </a:p>
        </p:txBody>
      </p:sp>
      <p:sp>
        <p:nvSpPr>
          <p:cNvPr id="28" name="console-panel"/>
          <p:cNvSpPr/>
          <p:nvPr/>
        </p:nvSpPr>
        <p:spPr>
          <a:xfrm>
            <a:off x="4114800" y="4617720"/>
            <a:ext cx="320040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79392" y="476402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279392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754880" y="47457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剩餘額度</a:t>
            </a:r>
            <a:endParaRPr lang="en-US" sz="1800" dirty="0"/>
          </a:p>
        </p:txBody>
      </p:sp>
      <p:sp>
        <p:nvSpPr>
          <p:cNvPr id="32" name="chapter-card"/>
          <p:cNvSpPr/>
          <p:nvPr/>
        </p:nvSpPr>
        <p:spPr>
          <a:xfrm>
            <a:off x="7955280" y="1920240"/>
            <a:ext cx="365760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33" name="Shape 31"/>
          <p:cNvSpPr/>
          <p:nvPr/>
        </p:nvSpPr>
        <p:spPr>
          <a:xfrm>
            <a:off x="8183880" y="2167128"/>
            <a:ext cx="694944" cy="694944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7616" y="2340864"/>
            <a:ext cx="347472" cy="347472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9098280" y="19202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1｜節費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自動選模型・省多少</a:t>
            </a:r>
            <a:endParaRPr lang="en-US" sz="1600" dirty="0"/>
          </a:p>
        </p:txBody>
      </p:sp>
      <p:sp>
        <p:nvSpPr>
          <p:cNvPr id="36" name="chapter-card"/>
          <p:cNvSpPr/>
          <p:nvPr/>
        </p:nvSpPr>
        <p:spPr>
          <a:xfrm>
            <a:off x="7955280" y="3337560"/>
            <a:ext cx="365760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37" name="Shape 34"/>
          <p:cNvSpPr/>
          <p:nvPr/>
        </p:nvSpPr>
        <p:spPr>
          <a:xfrm>
            <a:off x="8183880" y="3584448"/>
            <a:ext cx="694944" cy="694944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3758184"/>
            <a:ext cx="347472" cy="347472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9098280" y="33375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2｜個資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送出前就遮掉</a:t>
            </a:r>
            <a:endParaRPr lang="en-US" sz="1600" dirty="0"/>
          </a:p>
        </p:txBody>
      </p:sp>
      <p:sp>
        <p:nvSpPr>
          <p:cNvPr id="40" name="chapter-card"/>
          <p:cNvSpPr/>
          <p:nvPr/>
        </p:nvSpPr>
        <p:spPr>
          <a:xfrm>
            <a:off x="7955280" y="4754880"/>
            <a:ext cx="365760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41" name="Shape 37"/>
          <p:cNvSpPr/>
          <p:nvPr/>
        </p:nvSpPr>
        <p:spPr>
          <a:xfrm>
            <a:off x="8183880" y="5001768"/>
            <a:ext cx="694944" cy="694944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5175504"/>
            <a:ext cx="347472" cy="347472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9098280" y="4754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3｜額度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用完就擋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買瓶飲料，不用叫整台貨車幫你送來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簡單的問題，交給便宜的模型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route-card"/>
          <p:cNvSpPr/>
          <p:nvPr/>
        </p:nvSpPr>
        <p:spPr>
          <a:xfrm>
            <a:off x="548640" y="1920240"/>
            <a:ext cx="7040880" cy="1874520"/>
          </a:xfrm>
          <a:prstGeom prst="roundRect">
            <a:avLst>
              <a:gd name="adj" fmla="val 4878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103120"/>
            <a:ext cx="27432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把這句翻成英文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834640"/>
            <a:ext cx="10058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810512" y="3081528"/>
            <a:ext cx="2743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148840" y="2834640"/>
            <a:ext cx="132588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gpt-6-luna</a:t>
            </a:r>
            <a:endParaRPr lang="en-US" sz="1600" dirty="0"/>
          </a:p>
        </p:txBody>
      </p:sp>
      <p:pic>
        <p:nvPicPr>
          <p:cNvPr id="17" name="Image 0" descr="/tmp/claude-0/-home-claude/96d60298-d9d1-5ce2-b774-39e8aefb4386/scratchpad/assets/s05-eas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2084832"/>
            <a:ext cx="3749040" cy="1545336"/>
          </a:xfrm>
          <a:prstGeom prst="rect">
            <a:avLst/>
          </a:prstGeom>
        </p:spPr>
      </p:pic>
      <p:sp>
        <p:nvSpPr>
          <p:cNvPr id="18" name="route-card"/>
          <p:cNvSpPr/>
          <p:nvPr/>
        </p:nvSpPr>
        <p:spPr>
          <a:xfrm>
            <a:off x="548640" y="4023360"/>
            <a:ext cx="7040880" cy="1874520"/>
          </a:xfrm>
          <a:prstGeom prst="roundRect">
            <a:avLst>
              <a:gd name="adj" fmla="val 4878"/>
            </a:avLst>
          </a:prstGeom>
          <a:solidFill>
            <a:schemeClr val="tx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4206240"/>
            <a:ext cx="27432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設計多人共用的 AI 服務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4937760"/>
            <a:ext cx="10058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810512" y="5184648"/>
            <a:ext cx="2743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2148840" y="4937760"/>
            <a:ext cx="132588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gpt-6-sol</a:t>
            </a:r>
            <a:endParaRPr lang="en-US" sz="1600" dirty="0"/>
          </a:p>
        </p:txBody>
      </p:sp>
      <p:pic>
        <p:nvPicPr>
          <p:cNvPr id="23" name="Image 1" descr="/tmp/claude-0/-home-claude/96d60298-d9d1-5ce2-b774-39e8aefb4386/scratchpad/assets/s05-h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187952"/>
            <a:ext cx="3749040" cy="1545336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909560" y="196596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倍</a:t>
            </a:r>
            <a:endParaRPr lang="en-US" sz="7200" dirty="0"/>
          </a:p>
        </p:txBody>
      </p:sp>
      <p:sp>
        <p:nvSpPr>
          <p:cNvPr id="25" name="Text 21"/>
          <p:cNvSpPr txBox="1"/>
          <p:nvPr/>
        </p:nvSpPr>
        <p:spPr>
          <a:xfrm>
            <a:off x="7909560" y="32004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兩顆模型的單價差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7909560" y="4343400"/>
            <a:ext cx="713232" cy="71323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868" y="4521708"/>
            <a:ext cx="356616" cy="35661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778240" y="41148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規則由公司定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使用者不能自己選模型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 ①｜驗收畫面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兩題真的送出去：AI 的回答，和稽核記下的理由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05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5394960" cy="2551176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78654" y="2039595"/>
            <a:ext cx="4528315" cy="315144"/>
          </a:xfrm>
          <a:prstGeom prst="roundRect">
            <a:avLst>
              <a:gd name="adj" fmla="val 11606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578654" y="3007537"/>
            <a:ext cx="2408598" cy="150068"/>
          </a:xfrm>
          <a:prstGeom prst="roundRect">
            <a:avLst>
              <a:gd name="adj" fmla="val 2437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5" name="ring"/>
          <p:cNvSpPr/>
          <p:nvPr/>
        </p:nvSpPr>
        <p:spPr>
          <a:xfrm>
            <a:off x="578654" y="4133050"/>
            <a:ext cx="1695773" cy="157572"/>
          </a:xfrm>
          <a:prstGeom prst="roundRect">
            <a:avLst>
              <a:gd name="adj" fmla="val 23212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pic>
        <p:nvPicPr>
          <p:cNvPr id="16" name="Image 1" descr="/tmp/claude-0/-home-claude/96d60298-d9d1-5ce2-b774-39e8aefb4386/scratchpad/assets/s05-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74520"/>
            <a:ext cx="5394960" cy="3227832"/>
          </a:xfrm>
          <a:prstGeom prst="rect">
            <a:avLst/>
          </a:prstGeom>
        </p:spPr>
      </p:pic>
      <p:sp>
        <p:nvSpPr>
          <p:cNvPr id="17" name="ring"/>
          <p:cNvSpPr/>
          <p:nvPr/>
        </p:nvSpPr>
        <p:spPr>
          <a:xfrm>
            <a:off x="6247934" y="2887482"/>
            <a:ext cx="1714532" cy="150068"/>
          </a:xfrm>
          <a:prstGeom prst="roundRect">
            <a:avLst>
              <a:gd name="adj" fmla="val 24373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8" name="ring"/>
          <p:cNvSpPr/>
          <p:nvPr/>
        </p:nvSpPr>
        <p:spPr>
          <a:xfrm>
            <a:off x="6247934" y="3712858"/>
            <a:ext cx="2408598" cy="150068"/>
          </a:xfrm>
          <a:prstGeom prst="roundRect">
            <a:avLst>
              <a:gd name="adj" fmla="val 2437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9" name="ring"/>
          <p:cNvSpPr/>
          <p:nvPr/>
        </p:nvSpPr>
        <p:spPr>
          <a:xfrm>
            <a:off x="6247934" y="4838371"/>
            <a:ext cx="1920876" cy="157572"/>
          </a:xfrm>
          <a:prstGeom prst="roundRect">
            <a:avLst>
              <a:gd name="adj" fmla="val 23212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48640" y="45720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 → gpt-6-luna，7 micro-USD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6217920" y="52120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複雜題 → gpt-6-sol，1,438 micro-USD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省更多很簡單，答對比較難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門檻放更寬可以省 54%，但難題 AI 回應會比較不準確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182880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endParaRPr lang="en-US" sz="1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118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題，每題兩顆模型都真的跑過｜簡單題佔 65%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343400"/>
            <a:ext cx="251460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全部用強模型</a:t>
            </a:r>
            <a:endParaRPr lang="en-US" sz="16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US$ 0.0557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154680" y="4892040"/>
            <a:ext cx="41148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611880" y="4343400"/>
            <a:ext cx="251460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25400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智慧路由</a:t>
            </a:r>
            <a:endParaRPr lang="en-US" sz="16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US$ 0.0416</a:t>
            </a:r>
            <a:endParaRPr lang="en-US" sz="1600" dirty="0"/>
          </a:p>
        </p:txBody>
      </p:sp>
      <p:sp>
        <p:nvSpPr>
          <p:cNvPr id="17" name="dashboard-card"/>
          <p:cNvSpPr/>
          <p:nvPr/>
        </p:nvSpPr>
        <p:spPr>
          <a:xfrm>
            <a:off x="6355080" y="1920240"/>
            <a:ext cx="5257800" cy="4023360"/>
          </a:xfrm>
          <a:prstGeom prst="roundRect">
            <a:avLst>
              <a:gd name="adj" fmla="val 2273"/>
            </a:avLst>
          </a:prstGeom>
          <a:solidFill>
            <a:schemeClr val="tx2"/>
          </a:solidFill>
          <a:ln/>
        </p:spPr>
      </p:sp>
      <p:sp>
        <p:nvSpPr>
          <p:cNvPr id="18" name="Shape 16"/>
          <p:cNvSpPr/>
          <p:nvPr/>
        </p:nvSpPr>
        <p:spPr>
          <a:xfrm>
            <a:off x="6629400" y="2194560"/>
            <a:ext cx="713232" cy="71323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7708" y="2372868"/>
            <a:ext cx="356616" cy="356616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498080" y="212140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每個人花多少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一眼看得到，不用等月底帳單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629400" y="3246120"/>
            <a:ext cx="4709160" cy="2468880"/>
          </a:xfrm>
          <a:prstGeom prst="roundRect">
            <a:avLst>
              <a:gd name="adj" fmla="val 3704"/>
            </a:avLst>
          </a:prstGeom>
          <a:solidFill>
            <a:schemeClr val="tx1"/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 ②｜數字怎麼算出來的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手算對得上；四種規則一次跑，只重算、不再呼叫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06-cal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3200400" cy="3520440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66928" y="4146804"/>
            <a:ext cx="2500884" cy="237744"/>
          </a:xfrm>
          <a:prstGeom prst="roundRect">
            <a:avLst>
              <a:gd name="adj" fmla="val 19231"/>
            </a:avLst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566928" y="4988052"/>
            <a:ext cx="1929384" cy="411480"/>
          </a:xfrm>
          <a:prstGeom prst="roundRect">
            <a:avLst>
              <a:gd name="adj" fmla="val 11111"/>
            </a:avLst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55321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稽核記 1,438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手算 34×2＋137×10＝1,438</a:t>
            </a:r>
            <a:endParaRPr lang="en-US" sz="1600" dirty="0"/>
          </a:p>
        </p:txBody>
      </p:sp>
      <p:pic>
        <p:nvPicPr>
          <p:cNvPr id="16" name="Image 1" descr="/tmp/claude-0/-home-claude/96d60298-d9d1-5ce2-b774-39e8aefb4386/scratchpad/assets/s06-tabl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874520"/>
            <a:ext cx="7589520" cy="4206240"/>
          </a:xfrm>
          <a:prstGeom prst="rect">
            <a:avLst/>
          </a:prstGeom>
        </p:spPr>
      </p:pic>
      <p:sp>
        <p:nvSpPr>
          <p:cNvPr id="17" name="ring"/>
          <p:cNvSpPr/>
          <p:nvPr/>
        </p:nvSpPr>
        <p:spPr>
          <a:xfrm>
            <a:off x="4096689" y="2400042"/>
            <a:ext cx="3470892" cy="244429"/>
          </a:xfrm>
          <a:prstGeom prst="roundRect">
            <a:avLst>
              <a:gd name="adj" fmla="val 14964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8" name="ring"/>
          <p:cNvSpPr/>
          <p:nvPr/>
        </p:nvSpPr>
        <p:spPr>
          <a:xfrm>
            <a:off x="4096689" y="4441024"/>
            <a:ext cx="5640199" cy="684401"/>
          </a:xfrm>
          <a:prstGeom prst="roundRect">
            <a:avLst>
              <a:gd name="adj" fmla="val 5344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9" name="ring"/>
          <p:cNvSpPr/>
          <p:nvPr/>
        </p:nvSpPr>
        <p:spPr>
          <a:xfrm>
            <a:off x="4096689" y="5125426"/>
            <a:ext cx="5640199" cy="684401"/>
          </a:xfrm>
          <a:prstGeom prst="roundRect">
            <a:avLst>
              <a:gd name="adj" fmla="val 5344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023360" y="63550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綠：全部用強模型　</a:t>
            </a:r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橘：採用的規則　</a:t>
            </a:r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紅：對照組（門檻 500）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 ②｜為什麼不選省 54% 的規則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省最多的規則，不是最好的規則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187452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全部用強模型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91840" y="1965960"/>
            <a:ext cx="4389120" cy="420624"/>
          </a:xfrm>
          <a:prstGeom prst="roundRect">
            <a:avLst>
              <a:gd name="adj" fmla="val 10870"/>
            </a:avLst>
          </a:prstGeom>
          <a:solidFill>
            <a:schemeClr val="tx2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1965960"/>
            <a:ext cx="4389120" cy="420624"/>
          </a:xfrm>
          <a:prstGeom prst="roundRect">
            <a:avLst>
              <a:gd name="adj" fmla="val 10870"/>
            </a:avLst>
          </a:prstGeom>
          <a:solidFill>
            <a:schemeClr val="accent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01568" y="196596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55,724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187452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58775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完全照判斷分流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291840" y="2679192"/>
            <a:ext cx="4389120" cy="420624"/>
          </a:xfrm>
          <a:prstGeom prst="roundRect">
            <a:avLst>
              <a:gd name="adj" fmla="val 10870"/>
            </a:avLst>
          </a:prstGeom>
          <a:solidFill>
            <a:schemeClr val="tx2"/>
          </a:solidFill>
          <a:ln/>
        </p:spPr>
      </p:sp>
      <p:sp>
        <p:nvSpPr>
          <p:cNvPr id="19" name="Shape 17"/>
          <p:cNvSpPr/>
          <p:nvPr/>
        </p:nvSpPr>
        <p:spPr>
          <a:xfrm>
            <a:off x="3291840" y="2679192"/>
            <a:ext cx="3399906" cy="420624"/>
          </a:xfrm>
          <a:prstGeom prst="roundRect">
            <a:avLst>
              <a:gd name="adj" fmla="val 10870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401568" y="267919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43,165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258775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22.5%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理論上限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30098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10/12 以前的規則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291840" y="3392424"/>
            <a:ext cx="4389120" cy="420624"/>
          </a:xfrm>
          <a:prstGeom prst="roundRect">
            <a:avLst>
              <a:gd name="adj" fmla="val 10870"/>
            </a:avLst>
          </a:prstGeom>
          <a:solidFill>
            <a:schemeClr val="tx2"/>
          </a:solidFill>
          <a:ln/>
        </p:spPr>
      </p:sp>
      <p:sp>
        <p:nvSpPr>
          <p:cNvPr id="24" name="Shape 22"/>
          <p:cNvSpPr/>
          <p:nvPr/>
        </p:nvSpPr>
        <p:spPr>
          <a:xfrm>
            <a:off x="3291840" y="3392424"/>
            <a:ext cx="3011908" cy="420624"/>
          </a:xfrm>
          <a:prstGeom prst="roundRect">
            <a:avLst>
              <a:gd name="adj" fmla="val 10870"/>
            </a:avLst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01568" y="339242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38,239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330098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31.4%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送對 15 題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01421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採用的規則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291840" y="4105656"/>
            <a:ext cx="4389120" cy="420624"/>
          </a:xfrm>
          <a:prstGeom prst="roundRect">
            <a:avLst>
              <a:gd name="adj" fmla="val 10870"/>
            </a:avLst>
          </a:prstGeom>
          <a:solidFill>
            <a:schemeClr val="tx2"/>
          </a:solidFill>
          <a:ln/>
        </p:spPr>
      </p:sp>
      <p:sp>
        <p:nvSpPr>
          <p:cNvPr id="29" name="Shape 27"/>
          <p:cNvSpPr/>
          <p:nvPr/>
        </p:nvSpPr>
        <p:spPr>
          <a:xfrm>
            <a:off x="3291840" y="4105656"/>
            <a:ext cx="3277583" cy="420624"/>
          </a:xfrm>
          <a:prstGeom prst="roundRect">
            <a:avLst>
              <a:gd name="adj" fmla="val 10870"/>
            </a:avLst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401568" y="4105656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41,612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863840" y="4014216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送對 18 題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72744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字數門檻放寬到 500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3291840" y="4818888"/>
            <a:ext cx="4389120" cy="420624"/>
          </a:xfrm>
          <a:prstGeom prst="roundRect">
            <a:avLst>
              <a:gd name="adj" fmla="val 10870"/>
            </a:avLst>
          </a:prstGeom>
          <a:solidFill>
            <a:schemeClr val="tx2"/>
          </a:solidFill>
          <a:ln/>
        </p:spPr>
      </p:sp>
      <p:sp>
        <p:nvSpPr>
          <p:cNvPr id="34" name="Shape 32"/>
          <p:cNvSpPr/>
          <p:nvPr/>
        </p:nvSpPr>
        <p:spPr>
          <a:xfrm>
            <a:off x="3291840" y="4818888"/>
            <a:ext cx="1995362" cy="420624"/>
          </a:xfrm>
          <a:prstGeom prst="roundRect">
            <a:avLst>
              <a:gd name="adj" fmla="val 10870"/>
            </a:avLst>
          </a:prstGeom>
          <a:solidFill>
            <a:schemeClr val="accent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401568" y="481888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25,333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863840" y="4727448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54.5%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最難的一題回答被截斷</a:t>
            </a:r>
            <a:endParaRPr lang="en-US" sz="1600" dirty="0"/>
          </a:p>
        </p:txBody>
      </p:sp>
      <p:sp>
        <p:nvSpPr>
          <p:cNvPr id="37" name="why-card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77240" y="5486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多省的 29%，幾乎都來自同一題：把最難的題目送去便宜模型，回答被截斷。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我站在使用者這邊：在意的是回答是不是他要的，不是數字好看。所以選省 25.3% 的那一組。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 ②｜簡單題越多，省越多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 是簡單題只佔 65% 的情況；日常問題的比例通常更高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hare-card"/>
          <p:cNvSpPr/>
          <p:nvPr/>
        </p:nvSpPr>
        <p:spPr>
          <a:xfrm>
            <a:off x="548640" y="1920240"/>
            <a:ext cx="3474720" cy="3291840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簡單題佔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2423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572000"/>
            <a:ext cx="23774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實測（20 題）</a:t>
            </a:r>
            <a:endParaRPr lang="en-US" sz="1600" dirty="0"/>
          </a:p>
        </p:txBody>
      </p:sp>
      <p:sp>
        <p:nvSpPr>
          <p:cNvPr id="18" name="share-card"/>
          <p:cNvSpPr/>
          <p:nvPr/>
        </p:nvSpPr>
        <p:spPr>
          <a:xfrm>
            <a:off x="4343400" y="1920240"/>
            <a:ext cx="3474720" cy="3291840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1772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簡單題佔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2423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80%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38%</a:t>
            </a:r>
            <a:endParaRPr lang="en-US" sz="48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4572000"/>
            <a:ext cx="2377440" cy="411480"/>
          </a:xfrm>
          <a:prstGeom prst="roundRect">
            <a:avLst>
              <a:gd name="adj" fmla="val 17778"/>
            </a:avLst>
          </a:prstGeom>
          <a:solidFill>
            <a:schemeClr val="accent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推算・完全分流</a:t>
            </a:r>
            <a:endParaRPr lang="en-US" sz="1600" dirty="0"/>
          </a:p>
        </p:txBody>
      </p:sp>
      <p:sp>
        <p:nvSpPr>
          <p:cNvPr id="24" name="share-card"/>
          <p:cNvSpPr/>
          <p:nvPr/>
        </p:nvSpPr>
        <p:spPr>
          <a:xfrm>
            <a:off x="8138160" y="1920240"/>
            <a:ext cx="3474720" cy="3291840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1248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簡單題佔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2423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90%</a:t>
            </a:r>
            <a:endParaRPr lang="en-US" sz="40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57%</a:t>
            </a:r>
            <a:endParaRPr lang="en-US" sz="4800" dirty="0"/>
          </a:p>
        </p:txBody>
      </p:sp>
      <p:sp>
        <p:nvSpPr>
          <p:cNvPr id="29" name="Text 27"/>
          <p:cNvSpPr txBox="1"/>
          <p:nvPr/>
        </p:nvSpPr>
        <p:spPr>
          <a:xfrm>
            <a:off x="8412480" y="4572000"/>
            <a:ext cx="2377440" cy="411480"/>
          </a:xfrm>
          <a:prstGeom prst="roundRect">
            <a:avLst>
              <a:gd name="adj" fmla="val 17778"/>
            </a:avLst>
          </a:prstGeom>
          <a:solidFill>
            <a:schemeClr val="accent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推算・完全分流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兩顆模型單價差 20 倍：每多一題簡單問題交給便宜模型，就多省一次 20 倍的價差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 ②｜20 題長什麼樣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 300 字，或含「分析、請比較、設計、除錯、design、debug…」→ 強模型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q-card"/>
          <p:cNvSpPr/>
          <p:nvPr/>
        </p:nvSpPr>
        <p:spPr>
          <a:xfrm>
            <a:off x="548640" y="1783080"/>
            <a:ext cx="5394960" cy="4434840"/>
          </a:xfrm>
          <a:prstGeom prst="roundRect">
            <a:avLst>
              <a:gd name="adj" fmla="val 2062"/>
            </a:avLst>
          </a:prstGeom>
          <a:solidFill>
            <a:schemeClr val="tx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1874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 13 題 → gpt-6-luna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3317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・把「會議延到下週三」翻成英文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6243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・把這句話改得比較有禮貌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29169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・Excel 怎麼合併兩欄文字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2095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・寫一則提醒交週報的訊息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021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・affect 和 effect 的差別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7947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・五個部門聚餐的主題建議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0873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・HTTP 404 和 500 各代表什麼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3799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・寫一封改會議時間的短信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6725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・用三點整理一段公告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9651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・用白話說明什麼是雲端運算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2578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・把一段很長的公告改寫得更簡潔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5504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・把一段 base64 decode 成文字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8430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・「帳號」和「賬號」哪個比較常用</a:t>
            </a:r>
            <a:endParaRPr lang="en-US" sz="1600" dirty="0"/>
          </a:p>
        </p:txBody>
      </p:sp>
      <p:sp>
        <p:nvSpPr>
          <p:cNvPr id="27" name="q-card"/>
          <p:cNvSpPr/>
          <p:nvPr/>
        </p:nvSpPr>
        <p:spPr>
          <a:xfrm>
            <a:off x="6309360" y="1783080"/>
            <a:ext cx="5303520" cy="4434840"/>
          </a:xfrm>
          <a:prstGeom prst="roundRect">
            <a:avLst>
              <a:gd name="adj" fmla="val 2062"/>
            </a:avLst>
          </a:prstGeom>
          <a:solidFill>
            <a:schemeClr val="tx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1874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複雜題 7 題 → gpt-6-sol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2331720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・分析客服改成 AI 的風險與準備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2761488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・比較 PostgreSQL 和 DynamoDB 存訂單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3191256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・設計員工請假系統的資料表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3621024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・這段 Python 為什麼跑不停，請除錯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4050792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・Design a rate limiter（英文）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4480560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・訂單服務晚上尖峰逾時，從哪查起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4910328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・五十人電商公司怎麼搬上雲端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技術實踐｜節費 ③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強模型塞車，自動改派便宜模型；限流是模擬的（畫面標 SIMULATION），其餘都是真的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07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11064240" cy="3922776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71739" y="2029465"/>
            <a:ext cx="5174091" cy="331080"/>
          </a:xfrm>
          <a:prstGeom prst="roundRect">
            <a:avLst>
              <a:gd name="adj" fmla="val 11047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6107708" y="4193036"/>
            <a:ext cx="3179910" cy="916245"/>
          </a:xfrm>
          <a:prstGeom prst="roundRect">
            <a:avLst>
              <a:gd name="adj" fmla="val 3992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5" name="ring"/>
          <p:cNvSpPr/>
          <p:nvPr/>
        </p:nvSpPr>
        <p:spPr>
          <a:xfrm>
            <a:off x="6107708" y="5532756"/>
            <a:ext cx="2063477" cy="153991"/>
          </a:xfrm>
          <a:prstGeom prst="roundRect">
            <a:avLst>
              <a:gd name="adj" fmla="val 23752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5806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同一句複雜題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原本該派給 gpt-6-sol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343400" y="5806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 → 改派 gpt-6-luna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稽核記 fallback: True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138160" y="5806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 micro-USD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回答照給，成本照便宜模型算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技術實踐｜個資 ①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號碼在離開公司之前，就被換掉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demo-frame"/>
          <p:cNvSpPr/>
          <p:nvPr/>
        </p:nvSpPr>
        <p:spPr>
          <a:xfrm>
            <a:off x="548640" y="1920240"/>
            <a:ext cx="6949440" cy="4023360"/>
          </a:xfrm>
          <a:prstGeom prst="roundRect">
            <a:avLst>
              <a:gd name="adj" fmla="val 2273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210312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194560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207008" y="21031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錄影：請 AI 原樣重複這句話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2560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 AI 把這句話原樣重複一次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2971800"/>
            <a:ext cx="475488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ID is </a:t>
            </a:r>
            <a:pPr algn="l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A123456780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2194560" y="3794760"/>
            <a:ext cx="347472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閘道先把號碼換成標籤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2423160" y="4389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回覆的是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2423160" y="4800600"/>
            <a:ext cx="4754880" cy="658368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25400">
            <a:solidFill>
              <a:schemeClr val="accent1"/>
            </a:solidFill>
          </a:ln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ID is </a:t>
            </a:r>
            <a:pPr algn="l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[TW_ID]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192024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類</a:t>
            </a:r>
            <a:endParaRPr lang="en-US" sz="6000" dirty="0"/>
          </a:p>
        </p:txBody>
      </p:sp>
      <p:sp>
        <p:nvSpPr>
          <p:cNvPr id="22" name="Text 19"/>
          <p:cNvSpPr txBox="1"/>
          <p:nvPr/>
        </p:nvSpPr>
        <p:spPr>
          <a:xfrm>
            <a:off x="7909560" y="29718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送出前就遮罩的個資</a:t>
            </a:r>
            <a:endParaRPr lang="en-US" sz="1600" dirty="0"/>
          </a:p>
        </p:txBody>
      </p:sp>
      <p:sp>
        <p:nvSpPr>
          <p:cNvPr id="23" name="pii-kind"/>
          <p:cNvSpPr/>
          <p:nvPr/>
        </p:nvSpPr>
        <p:spPr>
          <a:xfrm>
            <a:off x="7909560" y="3474720"/>
            <a:ext cx="17830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576" y="356616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8412480" y="3474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身分證</a:t>
            </a:r>
            <a:endParaRPr lang="en-US" sz="1600" dirty="0"/>
          </a:p>
        </p:txBody>
      </p:sp>
      <p:sp>
        <p:nvSpPr>
          <p:cNvPr id="26" name="pii-kind"/>
          <p:cNvSpPr/>
          <p:nvPr/>
        </p:nvSpPr>
        <p:spPr>
          <a:xfrm>
            <a:off x="9784080" y="3474720"/>
            <a:ext cx="17830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096" y="356616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0287000" y="3474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</a:t>
            </a:r>
            <a:endParaRPr lang="en-US" sz="1600" dirty="0"/>
          </a:p>
        </p:txBody>
      </p:sp>
      <p:sp>
        <p:nvSpPr>
          <p:cNvPr id="29" name="pii-kind"/>
          <p:cNvSpPr/>
          <p:nvPr/>
        </p:nvSpPr>
        <p:spPr>
          <a:xfrm>
            <a:off x="7909560" y="4023360"/>
            <a:ext cx="17830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576" y="411480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412480" y="4023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600" dirty="0"/>
          </a:p>
        </p:txBody>
      </p:sp>
      <p:sp>
        <p:nvSpPr>
          <p:cNvPr id="32" name="pii-kind"/>
          <p:cNvSpPr/>
          <p:nvPr/>
        </p:nvSpPr>
        <p:spPr>
          <a:xfrm>
            <a:off x="9784080" y="4023360"/>
            <a:ext cx="17830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2096" y="4114800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0287000" y="4023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信用卡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7909560" y="48463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1010" y="5017770"/>
            <a:ext cx="342900" cy="3429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732520" y="47548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模型根本沒看過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真的號碼留在公司這一側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技術實踐｜個資 ②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紀錄裡，也查不到原文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04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486400" cy="120700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309360" y="1828800"/>
            <a:ext cx="53035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上：送出含假身分證字號的句子，HTTP 200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下：回答、稽核紀錄、搜尋原號碼</a:t>
            </a:r>
            <a:endParaRPr lang="en-US" sz="1600" dirty="0"/>
          </a:p>
        </p:txBody>
      </p:sp>
      <p:pic>
        <p:nvPicPr>
          <p:cNvPr id="14" name="Image 1" descr="/tmp/claude-0/-home-claude/96d60298-d9d1-5ce2-b774-39e8aefb4386/scratchpad/assets/s04-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0"/>
            <a:ext cx="11064240" cy="3154680"/>
          </a:xfrm>
          <a:prstGeom prst="rect">
            <a:avLst/>
          </a:prstGeom>
        </p:spPr>
      </p:pic>
      <p:sp>
        <p:nvSpPr>
          <p:cNvPr id="15" name="ring"/>
          <p:cNvSpPr/>
          <p:nvPr/>
        </p:nvSpPr>
        <p:spPr>
          <a:xfrm>
            <a:off x="6855257" y="3366364"/>
            <a:ext cx="3872484" cy="221285"/>
          </a:xfrm>
          <a:prstGeom prst="roundRect">
            <a:avLst>
              <a:gd name="adj" fmla="val 16529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6" name="ring"/>
          <p:cNvSpPr/>
          <p:nvPr/>
        </p:nvSpPr>
        <p:spPr>
          <a:xfrm>
            <a:off x="576301" y="4815779"/>
            <a:ext cx="4232072" cy="232349"/>
          </a:xfrm>
          <a:prstGeom prst="roundRect">
            <a:avLst>
              <a:gd name="adj" fmla="val 15742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7" name="ring"/>
          <p:cNvSpPr/>
          <p:nvPr/>
        </p:nvSpPr>
        <p:spPr>
          <a:xfrm>
            <a:off x="576301" y="5756239"/>
            <a:ext cx="5891708" cy="320863"/>
          </a:xfrm>
          <a:prstGeom prst="roundRect">
            <a:avLst>
              <a:gd name="adj" fmla="val 11399"/>
            </a:avLst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橘框：AI 的回答和稽核紀錄裡，都只有 [TW_ID]，沒有號碼　　</a:t>
            </a:r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綠框：拿原本的號碼去搜，0 筆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技術實踐｜額度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用完就擋，最多只燒掉自己那一份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demo-frame"/>
          <p:cNvSpPr/>
          <p:nvPr/>
        </p:nvSpPr>
        <p:spPr>
          <a:xfrm>
            <a:off x="548640" y="1920240"/>
            <a:ext cx="6949440" cy="4023360"/>
          </a:xfrm>
          <a:prstGeom prst="roundRect">
            <a:avLst>
              <a:gd name="adj" fmla="val 2273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210312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194560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207008" y="21031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錄影：額度用完被擋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25146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alice 的月額度 1,000（故意設很小）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609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920240" y="3081528"/>
            <a:ext cx="4572000" cy="256032"/>
          </a:xfrm>
          <a:prstGeom prst="roundRect">
            <a:avLst>
              <a:gd name="adj" fmla="val 17857"/>
            </a:avLst>
          </a:prstGeom>
          <a:solidFill>
            <a:schemeClr val="tx1"/>
          </a:solidFill>
          <a:ln/>
        </p:spPr>
      </p:sp>
      <p:sp>
        <p:nvSpPr>
          <p:cNvPr id="19" name="Shape 16"/>
          <p:cNvSpPr/>
          <p:nvPr/>
        </p:nvSpPr>
        <p:spPr>
          <a:xfrm>
            <a:off x="1920240" y="3081528"/>
            <a:ext cx="2531225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68680" y="35661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818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920240" y="3630168"/>
            <a:ext cx="4572000" cy="256032"/>
          </a:xfrm>
          <a:prstGeom prst="roundRect">
            <a:avLst>
              <a:gd name="adj" fmla="val 17857"/>
            </a:avLst>
          </a:prstGeom>
          <a:solidFill>
            <a:schemeClr val="tx1"/>
          </a:solidFill>
          <a:ln/>
        </p:spPr>
      </p:sp>
      <p:sp>
        <p:nvSpPr>
          <p:cNvPr id="22" name="Shape 19"/>
          <p:cNvSpPr/>
          <p:nvPr/>
        </p:nvSpPr>
        <p:spPr>
          <a:xfrm>
            <a:off x="1920240" y="3630168"/>
            <a:ext cx="3399905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68680" y="41148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1,039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920240" y="4178808"/>
            <a:ext cx="4572000" cy="256032"/>
          </a:xfrm>
          <a:prstGeom prst="roundRect">
            <a:avLst>
              <a:gd name="adj" fmla="val 17857"/>
            </a:avLst>
          </a:prstGeom>
          <a:solidFill>
            <a:schemeClr val="tx1"/>
          </a:solidFill>
          <a:ln/>
        </p:spPr>
      </p:sp>
      <p:sp>
        <p:nvSpPr>
          <p:cNvPr id="25" name="Shape 22"/>
          <p:cNvSpPr/>
          <p:nvPr/>
        </p:nvSpPr>
        <p:spPr>
          <a:xfrm>
            <a:off x="1920240" y="4178808"/>
            <a:ext cx="4318462" cy="256032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/>
        </p:spPr>
      </p:sp>
      <p:sp>
        <p:nvSpPr>
          <p:cNvPr id="26" name="Shape 23"/>
          <p:cNvSpPr/>
          <p:nvPr/>
        </p:nvSpPr>
        <p:spPr>
          <a:xfrm>
            <a:off x="6076604" y="2926080"/>
            <a:ext cx="0" cy="169164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5619404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上限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68680" y="5074920"/>
            <a:ext cx="228600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 額度用完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3291840" y="5074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並告訴他何時恢復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909560" y="2514600"/>
            <a:ext cx="713232" cy="71323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868" y="2692908"/>
            <a:ext cx="356616" cy="356616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8778240" y="24231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超用就擋下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寫錯的迴圈也燒不到別人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7909560" y="3977640"/>
            <a:ext cx="713232" cy="71323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868" y="4155948"/>
            <a:ext cx="356616" cy="356616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778240" y="38862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讀不到就拒絕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寧可擋錯，也不放錯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額度｜驗收畫面 ①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alice 用到 1,039，下一次就被擋：429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02-cro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4389120" cy="4709160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91461" y="2018594"/>
            <a:ext cx="535259" cy="21410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591461" y="2939238"/>
            <a:ext cx="535259" cy="21410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5" name="ring"/>
          <p:cNvSpPr/>
          <p:nvPr/>
        </p:nvSpPr>
        <p:spPr>
          <a:xfrm>
            <a:off x="591461" y="3859883"/>
            <a:ext cx="556669" cy="21410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6" name="ring"/>
          <p:cNvSpPr/>
          <p:nvPr/>
        </p:nvSpPr>
        <p:spPr>
          <a:xfrm>
            <a:off x="591461" y="4320205"/>
            <a:ext cx="3623700" cy="21410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7" name="ring"/>
          <p:cNvSpPr/>
          <p:nvPr/>
        </p:nvSpPr>
        <p:spPr>
          <a:xfrm>
            <a:off x="591461" y="5016042"/>
            <a:ext cx="2430074" cy="21410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8" name="ring"/>
          <p:cNvSpPr/>
          <p:nvPr/>
        </p:nvSpPr>
        <p:spPr>
          <a:xfrm>
            <a:off x="591461" y="5925981"/>
            <a:ext cx="4212485" cy="21410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9" name="pt-card"/>
          <p:cNvSpPr/>
          <p:nvPr/>
        </p:nvSpPr>
        <p:spPr>
          <a:xfrm>
            <a:off x="5303520" y="2011680"/>
            <a:ext cx="630936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577840" y="201168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609 → 818 → 1,039</a:t>
            </a:r>
            <a:endParaRPr lang="en-US" sz="16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每叫一次，已用量往上加</a:t>
            </a:r>
            <a:endParaRPr lang="en-US" sz="1600" dirty="0"/>
          </a:p>
        </p:txBody>
      </p:sp>
      <p:sp>
        <p:nvSpPr>
          <p:cNvPr id="21" name="pt-card"/>
          <p:cNvSpPr/>
          <p:nvPr/>
        </p:nvSpPr>
        <p:spPr>
          <a:xfrm>
            <a:off x="5303520" y="3520440"/>
            <a:ext cx="630936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577840" y="352044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 Monthly quota exceeded</a:t>
            </a:r>
            <a:endParaRPr lang="en-US" sz="16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 1,000 就擋，請求碰不到模型</a:t>
            </a:r>
            <a:endParaRPr lang="en-US" sz="1600" dirty="0"/>
          </a:p>
        </p:txBody>
      </p:sp>
      <p:sp>
        <p:nvSpPr>
          <p:cNvPr id="23" name="pt-card"/>
          <p:cNvSpPr/>
          <p:nvPr/>
        </p:nvSpPr>
        <p:spPr>
          <a:xfrm>
            <a:off x="5303520" y="5029200"/>
            <a:ext cx="630936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577840" y="502920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retry-after 1,921,598 秒</a:t>
            </a:r>
            <a:endParaRPr lang="en-US" sz="16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告訴他下個月 1 號 00:00 才恢復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額度｜驗收畫面 ②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資料庫停掉，回 503，不放行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03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7680960" cy="3529584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71683" y="2051182"/>
            <a:ext cx="1378732" cy="153619"/>
          </a:xfrm>
          <a:prstGeom prst="roundRect">
            <a:avLst>
              <a:gd name="adj" fmla="val 23810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571683" y="3541288"/>
            <a:ext cx="3740628" cy="483900"/>
          </a:xfrm>
          <a:prstGeom prst="roundRect">
            <a:avLst>
              <a:gd name="adj" fmla="val 7559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5" name="ring"/>
          <p:cNvSpPr/>
          <p:nvPr/>
        </p:nvSpPr>
        <p:spPr>
          <a:xfrm>
            <a:off x="571683" y="4524451"/>
            <a:ext cx="2780508" cy="153619"/>
          </a:xfrm>
          <a:prstGeom prst="roundRect">
            <a:avLst>
              <a:gd name="adj" fmla="val 23810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6" name="pt-card"/>
          <p:cNvSpPr/>
          <p:nvPr/>
        </p:nvSpPr>
        <p:spPr>
          <a:xfrm>
            <a:off x="8503920" y="1920240"/>
            <a:ext cx="310896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0" y="192024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先問一次：200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bob 有額度，正常回答</a:t>
            </a:r>
            <a:endParaRPr lang="en-US" sz="1600" dirty="0"/>
          </a:p>
        </p:txBody>
      </p:sp>
      <p:sp>
        <p:nvSpPr>
          <p:cNvPr id="18" name="pt-card"/>
          <p:cNvSpPr/>
          <p:nvPr/>
        </p:nvSpPr>
        <p:spPr>
          <a:xfrm>
            <a:off x="8503920" y="3108960"/>
            <a:ext cx="310896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86800" y="310896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停掉資料庫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docker compose stop</a:t>
            </a:r>
            <a:endParaRPr lang="en-US" sz="1600" dirty="0"/>
          </a:p>
        </p:txBody>
      </p:sp>
      <p:sp>
        <p:nvSpPr>
          <p:cNvPr id="20" name="pt-card"/>
          <p:cNvSpPr/>
          <p:nvPr/>
        </p:nvSpPr>
        <p:spPr>
          <a:xfrm>
            <a:off x="8503920" y="4297680"/>
            <a:ext cx="310896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86800" y="429768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再問一次：503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讀不到額度就拒絕，不會變成無上限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技術實踐｜看不到的地方 ①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先拆現成的 LiteLLM，再修自己的設計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finding-card"/>
          <p:cNvSpPr/>
          <p:nvPr/>
        </p:nvSpPr>
        <p:spPr>
          <a:xfrm>
            <a:off x="548640" y="2011680"/>
            <a:ext cx="6035040" cy="1691640"/>
          </a:xfrm>
          <a:prstGeom prst="roundRect">
            <a:avLst>
              <a:gd name="adj" fmla="val 5405"/>
            </a:avLst>
          </a:prstGeom>
          <a:solidFill>
            <a:schemeClr val="tx2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2468880"/>
            <a:ext cx="777240" cy="7772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663190"/>
            <a:ext cx="388620" cy="3886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828800" y="201168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發現一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價格表沒有的模型，花費記為 0</a:t>
            </a:r>
            <a:endParaRPr lang="en-US" sz="1600" dirty="0"/>
          </a:p>
        </p:txBody>
      </p:sp>
      <p:sp>
        <p:nvSpPr>
          <p:cNvPr id="16" name="finding-card"/>
          <p:cNvSpPr/>
          <p:nvPr/>
        </p:nvSpPr>
        <p:spPr>
          <a:xfrm>
            <a:off x="548640" y="4023360"/>
            <a:ext cx="6035040" cy="1691640"/>
          </a:xfrm>
          <a:prstGeom prst="roundRect">
            <a:avLst>
              <a:gd name="adj" fmla="val 5405"/>
            </a:avLst>
          </a:prstGeom>
          <a:solidFill>
            <a:schemeClr val="tx2"/>
          </a:solidFill>
          <a:ln/>
        </p:spPr>
      </p:sp>
      <p:sp>
        <p:nvSpPr>
          <p:cNvPr id="17" name="Shape 14"/>
          <p:cNvSpPr/>
          <p:nvPr/>
        </p:nvSpPr>
        <p:spPr>
          <a:xfrm>
            <a:off x="822960" y="4480560"/>
            <a:ext cx="777240" cy="7772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4674870"/>
            <a:ext cx="388620" cy="3886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828800" y="402336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發現二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寫帳前當機，那筆帳永久遺失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675120" y="2834640"/>
            <a:ext cx="502920" cy="82296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 flipV="1">
            <a:off x="6675120" y="4206240"/>
            <a:ext cx="502920" cy="82296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fix-card"/>
          <p:cNvSpPr/>
          <p:nvPr/>
        </p:nvSpPr>
        <p:spPr>
          <a:xfrm>
            <a:off x="7269480" y="2011680"/>
            <a:ext cx="4343400" cy="3703320"/>
          </a:xfrm>
          <a:prstGeom prst="roundRect">
            <a:avLst>
              <a:gd name="adj" fmla="val 2469"/>
            </a:avLst>
          </a:prstGeom>
          <a:solidFill>
            <a:schemeClr val="accent2"/>
          </a:solidFill>
          <a:ln/>
        </p:spPr>
      </p:sp>
      <p:sp>
        <p:nvSpPr>
          <p:cNvPr id="23" name="Shape 19"/>
          <p:cNvSpPr/>
          <p:nvPr/>
        </p:nvSpPr>
        <p:spPr>
          <a:xfrm>
            <a:off x="7589520" y="2331720"/>
            <a:ext cx="777240" cy="7772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830" y="2526030"/>
            <a:ext cx="388620" cy="38862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549640" y="2331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我的修正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7589520" y="342900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沒有單價，就拒絕</a:t>
            </a:r>
            <a:endParaRPr lang="en-US" sz="26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先寫帳，再回答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①｜拆解畫面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先驗簽章再跑；預算 0 的金鑰真的被擋；記憶體量過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19-co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035040" cy="2368296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90902" y="2792378"/>
            <a:ext cx="5853313" cy="608575"/>
          </a:xfrm>
          <a:prstGeom prst="roundRect">
            <a:avLst>
              <a:gd name="adj" fmla="val 6010"/>
            </a:avLst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0" y="1828800"/>
            <a:ext cx="4754880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映像簽章驗證通過，才開始拆</a:t>
            </a:r>
            <a:endParaRPr lang="en-US" sz="2000" dirty="0"/>
          </a:p>
        </p:txBody>
      </p:sp>
      <p:pic>
        <p:nvPicPr>
          <p:cNvPr id="15" name="Image 1" descr="/tmp/claude-0/-home-claude/96d60298-d9d1-5ce2-b774-39e8aefb4386/scratchpad/assets/s19-bud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343400"/>
            <a:ext cx="6035040" cy="1252728"/>
          </a:xfrm>
          <a:prstGeom prst="rect">
            <a:avLst/>
          </a:prstGeom>
        </p:spPr>
      </p:pic>
      <p:sp>
        <p:nvSpPr>
          <p:cNvPr id="16" name="ring"/>
          <p:cNvSpPr/>
          <p:nvPr/>
        </p:nvSpPr>
        <p:spPr>
          <a:xfrm>
            <a:off x="586644" y="4769045"/>
            <a:ext cx="5966633" cy="418044"/>
          </a:xfrm>
          <a:prstGeom prst="roundRect">
            <a:avLst>
              <a:gd name="adj" fmla="val 8749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58000" y="4343400"/>
            <a:ext cx="47548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 0 的金鑰：Budget has been exceeded</a:t>
            </a:r>
            <a:endParaRPr lang="en-US" sz="2000" dirty="0"/>
          </a:p>
        </p:txBody>
      </p:sp>
      <p:pic>
        <p:nvPicPr>
          <p:cNvPr id="18" name="Image 2" descr="/tmp/claude-0/-home-claude/96d60298-d9d1-5ce2-b774-39e8aefb4386/scratchpad/assets/s20-mem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742432"/>
            <a:ext cx="6035040" cy="932688"/>
          </a:xfrm>
          <a:prstGeom prst="rect">
            <a:avLst/>
          </a:prstGeom>
        </p:spPr>
      </p:pic>
      <p:sp>
        <p:nvSpPr>
          <p:cNvPr id="19" name="ring"/>
          <p:cNvSpPr/>
          <p:nvPr/>
        </p:nvSpPr>
        <p:spPr>
          <a:xfrm>
            <a:off x="4083015" y="6168077"/>
            <a:ext cx="513054" cy="144415"/>
          </a:xfrm>
          <a:prstGeom prst="roundRect">
            <a:avLst>
              <a:gd name="adj" fmla="val 25327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858000" y="5742432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LiteLLM 待機 584 MiB；我的 Gateway 62 MiB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①｜兩個安靜出錯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實驗紀錄節錄：沒有任何錯誤訊息，帳就不對了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m05-unpric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5394960" cy="2148840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612110" y="3791318"/>
            <a:ext cx="3681267" cy="126940"/>
          </a:xfrm>
          <a:prstGeom prst="roundRect">
            <a:avLst>
              <a:gd name="adj" fmla="val 28814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1605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發現一｜價格表沒有的模型，花費記為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 記了 23，spend 是 0；預算 0.01 的金鑰永遠不會被擋</a:t>
            </a:r>
            <a:endParaRPr lang="en-US" sz="1600" dirty="0"/>
          </a:p>
        </p:txBody>
      </p:sp>
      <p:pic>
        <p:nvPicPr>
          <p:cNvPr id="15" name="Image 1" descr="/tmp/claude-0/-home-claude/96d60298-d9d1-5ce2-b774-39e8aefb4386/scratchpad/assets/m05-cr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74520"/>
            <a:ext cx="5394960" cy="2331720"/>
          </a:xfrm>
          <a:prstGeom prst="rect">
            <a:avLst/>
          </a:prstGeom>
        </p:spPr>
      </p:pic>
      <p:sp>
        <p:nvSpPr>
          <p:cNvPr id="16" name="ring"/>
          <p:cNvSpPr/>
          <p:nvPr/>
        </p:nvSpPr>
        <p:spPr>
          <a:xfrm>
            <a:off x="6281390" y="2318811"/>
            <a:ext cx="2538805" cy="126940"/>
          </a:xfrm>
          <a:prstGeom prst="roundRect">
            <a:avLst>
              <a:gd name="adj" fmla="val 28814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7" name="ring"/>
          <p:cNvSpPr/>
          <p:nvPr/>
        </p:nvSpPr>
        <p:spPr>
          <a:xfrm>
            <a:off x="6281390" y="3239128"/>
            <a:ext cx="1523283" cy="126940"/>
          </a:xfrm>
          <a:prstGeom prst="roundRect">
            <a:avLst>
              <a:gd name="adj" fmla="val 28814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8" name="ring"/>
          <p:cNvSpPr/>
          <p:nvPr/>
        </p:nvSpPr>
        <p:spPr>
          <a:xfrm>
            <a:off x="6281390" y="3975381"/>
            <a:ext cx="1523283" cy="126940"/>
          </a:xfrm>
          <a:prstGeom prst="roundRect">
            <a:avLst>
              <a:gd name="adj" fmla="val 28814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217920" y="42976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發現二｜寫帳前當機，那筆帳永久遺失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回答已送出、0.8 秒後強制終止；重啟 30 秒後帳還是 10 筆</a:t>
            </a:r>
            <a:endParaRPr lang="en-US" sz="1600" dirty="0"/>
          </a:p>
        </p:txBody>
      </p:sp>
      <p:sp>
        <p:nvSpPr>
          <p:cNvPr id="20" name="fix-line"/>
          <p:cNvSpPr/>
          <p:nvPr/>
        </p:nvSpPr>
        <p:spPr>
          <a:xfrm>
            <a:off x="548640" y="525780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77240" y="5257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我的修正：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沒有單價的模型一律拒絕呼叫；先寫帳、再回答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大樓僅有一個門，門口有警衛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名單只有一家：OpenAI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017520"/>
            <a:ext cx="301752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0175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私有子網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Fargate 容器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11880" y="3703320"/>
            <a:ext cx="45720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114800" y="3017520"/>
            <a:ext cx="324612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9120" y="30175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唯一出口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NAT＋DNS 防火牆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 flipV="1">
            <a:off x="7406640" y="2926080"/>
            <a:ext cx="566928" cy="77724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06640" y="3703320"/>
            <a:ext cx="566928" cy="86868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46720" y="2331720"/>
            <a:ext cx="3566160" cy="1188720"/>
          </a:xfrm>
          <a:prstGeom prst="roundRect">
            <a:avLst>
              <a:gd name="adj" fmla="val 7692"/>
            </a:avLst>
          </a:prstGeom>
          <a:solidFill>
            <a:schemeClr val="accent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06840" y="23317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名單上的網域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api.openai.com</a:t>
            </a:r>
            <a:endParaRPr lang="en-US" sz="16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2" y="2660904"/>
            <a:ext cx="530352" cy="530352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8046720" y="4023360"/>
            <a:ext cx="3566160" cy="1188720"/>
          </a:xfrm>
          <a:prstGeom prst="roundRect">
            <a:avLst>
              <a:gd name="adj" fmla="val 7692"/>
            </a:avLst>
          </a:prstGeom>
          <a:solidFill>
            <a:schemeClr val="accent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006840" y="40233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名單外的網域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不解析・留紀錄</a:t>
            </a:r>
            <a:endParaRPr lang="en-US" sz="16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4352544"/>
            <a:ext cx="530352" cy="5303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②｜雲端實測 ①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私有子網沒有通往網際網路的路，只有兩條專用走廊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m4-daily-resource-map-priv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11064240" cy="3026664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8954417" y="2870386"/>
            <a:ext cx="2388404" cy="530296"/>
          </a:xfrm>
          <a:prstGeom prst="roundRect">
            <a:avLst>
              <a:gd name="adj" fmla="val 10346"/>
            </a:avLst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8954417" y="3317682"/>
            <a:ext cx="2388404" cy="779263"/>
          </a:xfrm>
          <a:prstGeom prst="roundRect">
            <a:avLst>
              <a:gd name="adj" fmla="val 7040"/>
            </a:avLst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5120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綠框：私有子網 → 私有路由表 → 只接到 S3、DynamoDB 兩條 Gateway Endpoint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紅框：網際網路閘道寫著「0 個私有子網路由至網際網路」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②｜雲端實測 ②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公有子網才接大門；只有 ALB 和 NAT 住在這裡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m4-daily-resource-map-publ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11064240" cy="3054096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8943291" y="2866602"/>
            <a:ext cx="2400766" cy="591685"/>
          </a:xfrm>
          <a:prstGeom prst="roundRect">
            <a:avLst>
              <a:gd name="adj" fmla="val 9273"/>
            </a:avLst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公有子網 ×2 → 公有路由表 → 網際網路閘道（橘框：網際網路路由至 2 個公有子網路）；私有子網不在這條路上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②｜一鍵拆除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測完當天拆光，51 秒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m4-destroy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400800" cy="4498848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65227" y="1935976"/>
            <a:ext cx="1229124" cy="365335"/>
          </a:xfrm>
          <a:prstGeom prst="roundRect">
            <a:avLst>
              <a:gd name="adj" fmla="val 15017"/>
            </a:avLst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898664" y="5234621"/>
            <a:ext cx="1878135" cy="353426"/>
          </a:xfrm>
          <a:prstGeom prst="roundRect">
            <a:avLst>
              <a:gd name="adj" fmla="val 15523"/>
            </a:avLst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23760" y="1874520"/>
            <a:ext cx="4389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51 秒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Resources: 19 destroyed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daily state is empty：拆完自己檢查帳本是空的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整個 workflow 51 秒，其中拆除工作 44 秒（畫面上的 44s）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從手機按一下 GitHub 就能拆；拆除的身分只拆得了貼「每日」標籤的東西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技術實踐｜看不到的地方 ③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每一次推送都先過三關，沒過就進不了 main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gate-card"/>
          <p:cNvSpPr/>
          <p:nvPr/>
        </p:nvSpPr>
        <p:spPr>
          <a:xfrm>
            <a:off x="548640" y="1874520"/>
            <a:ext cx="3474720" cy="274320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13" name="Shape 11"/>
          <p:cNvSpPr/>
          <p:nvPr/>
        </p:nvSpPr>
        <p:spPr>
          <a:xfrm>
            <a:off x="1737360" y="2103120"/>
            <a:ext cx="1097280" cy="10972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2377440"/>
            <a:ext cx="548640" cy="54864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31520" y="32918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Tests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325 個自動測試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含真的資料庫</a:t>
            </a:r>
            <a:endParaRPr lang="en-US" sz="1600" dirty="0"/>
          </a:p>
        </p:txBody>
      </p:sp>
      <p:sp>
        <p:nvSpPr>
          <p:cNvPr id="16" name="gate-card"/>
          <p:cNvSpPr/>
          <p:nvPr/>
        </p:nvSpPr>
        <p:spPr>
          <a:xfrm>
            <a:off x="4343400" y="1874520"/>
            <a:ext cx="3474720" cy="274320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17" name="Shape 14"/>
          <p:cNvSpPr/>
          <p:nvPr/>
        </p:nvSpPr>
        <p:spPr>
          <a:xfrm>
            <a:off x="5532120" y="2103120"/>
            <a:ext cx="1097280" cy="10972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377440"/>
            <a:ext cx="548640" cy="5486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526280" y="32918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Image scan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Trivy 掃容器映像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第一次就抓到一個弱點</a:t>
            </a:r>
            <a:endParaRPr lang="en-US" sz="1600" dirty="0"/>
          </a:p>
        </p:txBody>
      </p:sp>
      <p:sp>
        <p:nvSpPr>
          <p:cNvPr id="20" name="gate-card"/>
          <p:cNvSpPr/>
          <p:nvPr/>
        </p:nvSpPr>
        <p:spPr>
          <a:xfrm>
            <a:off x="8138160" y="1874520"/>
            <a:ext cx="3474720" cy="274320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21" name="Shape 17"/>
          <p:cNvSpPr/>
          <p:nvPr/>
        </p:nvSpPr>
        <p:spPr>
          <a:xfrm>
            <a:off x="9326880" y="2103120"/>
            <a:ext cx="1097280" cy="10972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2377440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321040" y="32918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Config scan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Trivy 掃 Terraform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另有 CodeQL 掃程式碼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4800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要合併一定要經過 PR；所有工具鎖定版本與指紋，過 3 天冷卻期才用</a:t>
            </a:r>
            <a:endParaRPr lang="en-US" sz="1800" dirty="0"/>
          </a:p>
        </p:txBody>
      </p:sp>
      <p:sp>
        <p:nvSpPr>
          <p:cNvPr id="25" name="todo"/>
          <p:cNvSpPr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26" name="Text 21"/>
          <p:cNvSpPr txBox="1"/>
          <p:nvPr/>
        </p:nvSpPr>
        <p:spPr>
          <a:xfrm>
            <a:off x="731520" y="55321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CD（M6）：手動觸發 → GitHub 借角色 → 推映像到 ECR → terraform apply → 更新 Fargate 服務（設計，還沒蓋）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③｜沒有長期金鑰 ①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用身分證明換一小時的 AWS 角色；repo 裡沒有任何金鑰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m4-assumed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11064240" cy="3520440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3822508" y="4447148"/>
            <a:ext cx="4352415" cy="246216"/>
          </a:xfrm>
          <a:prstGeom prst="roundRect">
            <a:avLst>
              <a:gd name="adj" fmla="val 18569"/>
            </a:avLst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main 觸發：借到角色 assumed-role/llm-gateway-destroy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雲端呼叫 OpenAI 也一樣：用 AWS 身分換 5 分鐘的證明，再換一小時的通行證，沒有金鑰可以外流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③｜沒有長期金鑰 ②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從別的分支觸發：連身分證明都拿不到，在 GitHub 這層就擋下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m4-oidc-check-branch-blo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7040880" cy="3557016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3095932" y="2608464"/>
            <a:ext cx="859465" cy="200731"/>
          </a:xfrm>
          <a:prstGeom prst="roundRect">
            <a:avLst>
              <a:gd name="adj" fmla="val 22777"/>
            </a:avLst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2514143" y="5113869"/>
            <a:ext cx="3496082" cy="260147"/>
          </a:xfrm>
          <a:prstGeom prst="roundRect">
            <a:avLst>
              <a:gd name="adj" fmla="val 17575"/>
            </a:avLst>
          </a:prstGeom>
          <a:noFill/>
          <a:ln w="3175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63840" y="19202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橘框：分支 test/oidc-from-branch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 main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31089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紅框：environment protection rules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拒絕發身分證明，AWS 那邊連請求都沒收到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863840" y="42976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只准 main、只准 destroy 這個 environment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能在 main 手動觸發的人才拆得了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④｜帳不會掉（M5）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先把單據夾進出單夾，再把餐端給客人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194560"/>
            <a:ext cx="21945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1945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算好 HMAC 與摘要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88920" y="2697480"/>
            <a:ext cx="54864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83280" y="2194560"/>
            <a:ext cx="21945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21945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SQS 出單夾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確認收到才回答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23560" y="2697480"/>
            <a:ext cx="54864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17920" y="2194560"/>
            <a:ext cx="21945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21945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Lambda 後台會計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算成本・寫帳・扣額度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458200" y="2697480"/>
            <a:ext cx="54864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52560" y="2194560"/>
            <a:ext cx="256032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098280" y="21945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DynamoDB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用量表・稽核表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80560" y="3246120"/>
            <a:ext cx="0" cy="45720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383280" y="3749040"/>
            <a:ext cx="2194560" cy="731520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29000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DLQ 死信佇列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失敗 3 次放這裡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3832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為什麼要這樣排：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 LiteLLM 時看到它先回答、十幾秒後才寫帳，中間當機那筆帳就不見了。事件先進佇列，Gateway 之後當機也掉不了。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 1｜停掉 Lambda，使用者照樣拿到回答；重啟後補齊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 2｜刻意失敗 3 次，訊息進 DLQ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 3｜回答後立刻強制停止 Gateway，帳仍在 SQS</a:t>
            </a:r>
            <a:endParaRPr lang="en-US" sz="1600" dirty="0"/>
          </a:p>
        </p:txBody>
      </p:sp>
      <p:sp>
        <p:nvSpPr>
          <p:cNvPr id="30" name="todo"/>
          <p:cNvSpPr/>
          <p:nvPr/>
        </p:nvSpPr>
        <p:spPr>
          <a:xfrm>
            <a:off x="6217920" y="4754880"/>
            <a:ext cx="5394960" cy="1280160"/>
          </a:xfrm>
          <a:prstGeom prst="roundRect">
            <a:avLst>
              <a:gd name="adj" fmla="val 7143"/>
            </a:avLst>
          </a:prstGeom>
          <a:solidFill>
            <a:schemeClr val="tx1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6400800" y="5166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驗收畫面 S12、S13（M5 完成後補）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⑤｜小型 agent（M7）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管家花的是你的錢，所以要有預算、門禁、帳本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194560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1945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模型決定下一步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697480" y="2651760"/>
            <a:ext cx="5029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46120" y="2194560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91840" y="21945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CALL 工具(參數)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腳本執行本機小工具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94960" y="2651760"/>
            <a:ext cx="5029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943600" y="2194560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89320" y="21945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看結果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放進下一輪的 message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92440" y="2651760"/>
            <a:ext cx="5029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641080" y="2194560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0" y="21945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FINAL 回答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結束；有最大步數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 flipV="1">
            <a:off x="6995160" y="3154680"/>
            <a:ext cx="0" cy="45720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600200" y="3611880"/>
            <a:ext cx="53949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600200" y="3154680"/>
            <a:ext cx="0" cy="45720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6" name="gateway-bar"/>
          <p:cNvSpPr/>
          <p:nvPr/>
        </p:nvSpPr>
        <p:spPr>
          <a:xfrm>
            <a:off x="548640" y="3977640"/>
            <a:ext cx="1019556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397764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每一輪呼叫都經過 Gateway：身分、額度、遮罩、稽核；Gateway 的程式一行都不改（文字約定）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8463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 1｜兩三步的任務正常完成，稽核看得到每一步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2303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 2｜拿掉步數上限、改用 alice：迴圈被 429 擋下</a:t>
            </a:r>
            <a:endParaRPr lang="en-US" sz="1600" dirty="0"/>
          </a:p>
        </p:txBody>
      </p:sp>
      <p:sp>
        <p:nvSpPr>
          <p:cNvPr id="30" name="todo"/>
          <p:cNvSpPr/>
          <p:nvPr/>
        </p:nvSpPr>
        <p:spPr>
          <a:xfrm>
            <a:off x="6217920" y="4846320"/>
            <a:ext cx="539496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6400800" y="5212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驗收畫面（M7 完成後補）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結語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員工照常用 AI，老闆看得懂帳單，資安查得到紀錄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stat-card"/>
          <p:cNvSpPr/>
          <p:nvPr/>
        </p:nvSpPr>
        <p:spPr>
          <a:xfrm>
            <a:off x="548640" y="1965960"/>
            <a:ext cx="3474720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20574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省下的模型成本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474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題・簡單題佔 65%</a:t>
            </a:r>
            <a:endParaRPr lang="en-US" sz="1600" dirty="0"/>
          </a:p>
        </p:txBody>
      </p:sp>
      <p:sp>
        <p:nvSpPr>
          <p:cNvPr id="16" name="stat-card"/>
          <p:cNvSpPr/>
          <p:nvPr/>
        </p:nvSpPr>
        <p:spPr>
          <a:xfrm>
            <a:off x="4343400" y="1965960"/>
            <a:ext cx="3474720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17720" y="20574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類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個資在送出前遮罩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3474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身分證・手機・Email・信用卡</a:t>
            </a:r>
            <a:endParaRPr lang="en-US" sz="1600" dirty="0"/>
          </a:p>
        </p:txBody>
      </p:sp>
      <p:sp>
        <p:nvSpPr>
          <p:cNvPr id="20" name="stat-card"/>
          <p:cNvSpPr/>
          <p:nvPr/>
        </p:nvSpPr>
        <p:spPr>
          <a:xfrm>
            <a:off x="8138160" y="1965960"/>
            <a:ext cx="3474720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0" y="20574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US$11</a:t>
            </a:r>
            <a:endParaRPr lang="en-US" sz="54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專題全期花費（預估）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3474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雲端用完就拆，一鍵 51 秒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389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評估後不做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2103120" y="4389120"/>
            <a:ext cx="1645920" cy="457200"/>
          </a:xfrm>
          <a:prstGeom prst="roundRect">
            <a:avLst>
              <a:gd name="adj" fmla="val 16000"/>
            </a:avLst>
          </a:prstGeom>
          <a:solidFill>
            <a:schemeClr val="accent6">
              <a:alpha val="45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AWS WAF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858768" y="4389120"/>
            <a:ext cx="1508760" cy="457200"/>
          </a:xfrm>
          <a:prstGeom prst="roundRect">
            <a:avLst>
              <a:gd name="adj" fmla="val 16000"/>
            </a:avLst>
          </a:prstGeom>
          <a:solidFill>
            <a:schemeClr val="accent6">
              <a:alpha val="45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多可用區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77256" y="4389120"/>
            <a:ext cx="2377440" cy="457200"/>
          </a:xfrm>
          <a:prstGeom prst="roundRect">
            <a:avLst>
              <a:gd name="adj" fmla="val 16000"/>
            </a:avLst>
          </a:prstGeom>
          <a:solidFill>
            <a:schemeClr val="accent6">
              <a:alpha val="45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知識檢索（RAG）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001000" y="4389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理由與正式環境的做法，寫在文件</a:t>
            </a:r>
            <a:endParaRPr lang="en-US" sz="1600" dirty="0"/>
          </a:p>
        </p:txBody>
      </p:sp>
      <p:sp>
        <p:nvSpPr>
          <p:cNvPr id="29" name="positioning"/>
          <p:cNvSpPr/>
          <p:nvPr/>
        </p:nvSpPr>
        <p:spPr>
          <a:xfrm>
            <a:off x="548640" y="5074920"/>
            <a:ext cx="1106424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5193792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5365242"/>
            <a:ext cx="342900" cy="342900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1691640" y="50749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我能把 AI 服務 </a:t>
            </a:r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安全地、算得清楚地</a:t>
            </a:r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放上雲端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謝謝聆聽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歡迎提問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雲端工程師｜負責 LLM 上線之後的治理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1206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杜柏豫</a:t>
            </a:r>
            <a:endParaRPr lang="en-US" sz="1800" dirty="0"/>
          </a:p>
        </p:txBody>
      </p:sp>
      <p:sp>
        <p:nvSpPr>
          <p:cNvPr id="6" name="qr-card"/>
          <p:cNvSpPr/>
          <p:nvPr/>
        </p:nvSpPr>
        <p:spPr>
          <a:xfrm>
            <a:off x="8549640" y="1600200"/>
            <a:ext cx="2743200" cy="27432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/>
        </p:spPr>
      </p:sp>
      <p:pic>
        <p:nvPicPr>
          <p:cNvPr id="7" name="Image 0" descr="/tmp/claude-0/-home-claude/96d60298-d9d1-5ce2-b774-39e8aefb4386/scratchpad/assets/qr-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737360"/>
            <a:ext cx="2468880" cy="246888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608576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412480" y="45537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github.com/Poyu-Tu/llm-gateway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412480" y="4965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程式、證據紀錄與截圖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LM Gateway">
  <a:themeElements>
    <a:clrScheme name="LLM Gateway">
      <a:dk1>
        <a:srgbClr val="14262B"/>
      </a:dk1>
      <a:lt1>
        <a:srgbClr val="FFFFFF"/>
      </a:lt1>
      <a:dk2>
        <a:srgbClr val="0B5D5E"/>
      </a:dk2>
      <a:lt2>
        <a:srgbClr val="EEF4F3"/>
      </a:lt2>
      <a:accent1>
        <a:srgbClr val="0E7C7B"/>
      </a:accent1>
      <a:accent2>
        <a:srgbClr val="F2A541"/>
      </a:accent2>
      <a:accent3>
        <a:srgbClr val="C8553D"/>
      </a:accent3>
      <a:accent4>
        <a:srgbClr val="5B7C8D"/>
      </a:accent4>
      <a:accent5>
        <a:srgbClr val="2E9E6B"/>
      </a:accent5>
      <a:accent6>
        <a:srgbClr val="7D858C"/>
      </a:accent6>
      <a:hlink>
        <a:srgbClr val="0E7C7B"/>
      </a:hlink>
      <a:folHlink>
        <a:srgbClr val="5B7C8D"/>
      </a:folHlink>
    </a:clrScheme>
    <a:fontScheme name="LLM Gateway">
      <a:majorFont>
        <a:latin typeface="Microsoft JhengHe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Gateway 簡報 v3</dc:title>
  <dc:subject>PptxGenJS Presentation</dc:subject>
  <dc:creator>杜柏豫</dc:creator>
  <cp:lastModifiedBy>杜柏豫</cp:lastModifiedBy>
  <cp:revision>1</cp:revision>
  <dcterms:created xsi:type="dcterms:W3CDTF">2026-10-19T11:32:40Z</dcterms:created>
  <dcterms:modified xsi:type="dcterms:W3CDTF">2026-10-19T11:32:40Z</dcterms:modified>
</cp:coreProperties>
</file>