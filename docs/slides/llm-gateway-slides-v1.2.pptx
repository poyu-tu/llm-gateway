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9"/>
    <p:sldId id="258" r:id="rId4"/>
    <p:sldId id="289" r:id="rId40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57" r:id="rId3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結構" id="{a6c73d40-441b-4990-0ba1-daaba74e56bf}">
          <p14:sldIdLst>
            <p14:sldId id="256"/>
            <p14:sldId id="257"/>
          </p14:sldIdLst>
        </p14:section>
        <p14:section name="主影片（6 分鐘）" id="{6e9751d1-79eb-7094-d8ba-ca26894fb2c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技術版" id="{2f6c704a-c7d2-15b8-4963-d4da9769be89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附錄（不進影片）" id="{e54fab7f-c6f5-6983-3816-1071fcde5cfa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  <Relationship Id="rId39" Type="http://schemas.openxmlformats.org/officeDocument/2006/relationships/slide" Target="slides/slide33.xml"/>
  <Relationship Id="rId40" Type="http://schemas.openxmlformats.org/officeDocument/2006/relationships/slide" Target="slides/slide34.xml"/>
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62B"/>
                </a:solidFill>
                <a:latin typeface="+mn-lt"/>
              </a:rPr>
              <a:t>待機記憶體（MiB）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待機記憶體（MiB）</c:v>
                </c:pt>
              </c:strCache>
            </c:strRef>
          </c:tx>
          <c:spPr>
            <a:solidFill>
              <a:srgbClr val="5B7C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strRef>
              <c:f>Sheet1!$A$2:$A$4</c:f>
              <c:strCache>
                <c:ptCount val="3"/>
                <c:pt idx="0">
                  <c:v>LiteLLM 有資料庫</c:v>
                </c:pt>
                <c:pt idx="1">
                  <c:v>LiteLLM 無資料庫</c:v>
                </c:pt>
                <c:pt idx="2">
                  <c:v>本案 Gateway（M2）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584.0</c:v>
                </c:pt>
                <c:pt idx="1">
                  <c:v>473.5</c:v>
                </c:pt>
                <c:pt idx="2">
                  <c:v>62.06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6350" cap="flat">
              <a:solidFill>
                <a:srgbClr val="E3EA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D85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1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LLM Gateway｜期末簡報 v1.2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LLM Gateway｜期末簡報 v1.2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LLM Gateway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企業級大語言模型調度與成本治理平台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雲端工程師｜負責 LLM 上線之後的治理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期末簡報 v1.2｜2026-10-12｜杜柏豫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治理層</a:t>
            </a:r>
            <a:endParaRPr lang="en-US" sz="1400" dirty="0"/>
          </a:p>
        </p:txBody>
      </p:sp>
      <p:sp>
        <p:nvSpPr>
          <p:cNvPr id="7" name="cover-layer-1"/>
          <p:cNvSpPr/>
          <p:nvPr/>
        </p:nvSpPr>
        <p:spPr>
          <a:xfrm>
            <a:off x="7955280" y="187452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身分與額度</a:t>
            </a:r>
            <a:endParaRPr lang="en-US" sz="1800" dirty="0"/>
          </a:p>
        </p:txBody>
      </p:sp>
      <p:sp>
        <p:nvSpPr>
          <p:cNvPr id="8" name="cover-layer-2"/>
          <p:cNvSpPr/>
          <p:nvPr/>
        </p:nvSpPr>
        <p:spPr>
          <a:xfrm>
            <a:off x="7955280" y="274320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路由與計費</a:t>
            </a:r>
            <a:endParaRPr lang="en-US" sz="1800" dirty="0"/>
          </a:p>
        </p:txBody>
      </p:sp>
      <p:sp>
        <p:nvSpPr>
          <p:cNvPr id="9" name="cover-layer-3"/>
          <p:cNvSpPr/>
          <p:nvPr/>
        </p:nvSpPr>
        <p:spPr>
          <a:xfrm>
            <a:off x="7955280" y="361188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稽核與內容防護</a:t>
            </a:r>
            <a:endParaRPr lang="en-US" sz="1800" dirty="0"/>
          </a:p>
        </p:txBody>
      </p:sp>
      <p:sp>
        <p:nvSpPr>
          <p:cNvPr id="10" name="cover-layer-4"/>
          <p:cNvSpPr/>
          <p:nvPr/>
        </p:nvSpPr>
        <p:spPr>
          <a:xfrm>
            <a:off x="7955280" y="448056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網路邊界與供應鏈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附錄｜影片時間預算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一份簡報，兩支影片：時間預算</a:t>
            </a:r>
            <a:endParaRPr lang="en-US" sz="3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主影片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旁白字數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預估秒數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01　封面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02　問題與動機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03　解法與定位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04　功能展示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05　成本效益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06　現成方案拆解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07　網路邊界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08　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09　取捨與結語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合計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871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238 秒（約 4.0 分鐘）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6858000" y="160020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132320" y="17373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4.0 分鐘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7830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主影片旁白（9 頁）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216712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上限 6 分鐘；其餘約 2 分鐘留給示範畫面與轉場。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858000" y="310896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132320" y="32461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8.3 分鐘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32918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技術版旁白（20 頁）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367588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加上示範畫面後約 10～12 分鐘，目標為 10～15 分鐘。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858000" y="461772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132320" y="4754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220 字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480060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每分鐘語速假設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51846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旁白稿另存為獨立檔案。實際時間以計時試講為準。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頁碼是 v1.1 影片分鏡的編號。v1.2 新增的「一頁講完」「解決前後」兩頁尚未計入，旁白待補。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02｜想解決的問題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企業把 LLM 用起來之後，才會遇到的三個缺口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情境：公司開放 200 位員工使用 AI，三個月後收到帳單。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con-bg"/>
          <p:cNvSpPr/>
          <p:nvPr/>
        </p:nvSpPr>
        <p:spPr>
          <a:xfrm>
            <a:off x="868680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9077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成本歸屬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總額看得到，卻不知道是誰花的。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334256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icon-bg"/>
          <p:cNvSpPr/>
          <p:nvPr/>
        </p:nvSpPr>
        <p:spPr>
          <a:xfrm>
            <a:off x="4654296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9077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54296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用量管控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654296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一個寫錯的迴圈，一個晚上就把預算燒掉。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8119872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icon-bg"/>
          <p:cNvSpPr/>
          <p:nvPr/>
        </p:nvSpPr>
        <p:spPr>
          <a:xfrm>
            <a:off x="8439912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90779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39912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稽核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439912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客戶資料被貼進去，事後查不到紀錄。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04｜解法提綱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在使用者與模型之間，裝上水表和限流閥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74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使用者</a:t>
            </a:r>
            <a:endParaRPr lang="en-US" sz="2000" dirty="0"/>
          </a:p>
        </p:txBody>
      </p:sp>
      <p:sp>
        <p:nvSpPr>
          <p:cNvPr id="9" name="gateway"/>
          <p:cNvSpPr/>
          <p:nvPr/>
        </p:nvSpPr>
        <p:spPr>
          <a:xfrm>
            <a:off x="3657600" y="1783080"/>
            <a:ext cx="4873752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0" y="1783080"/>
            <a:ext cx="4873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LLM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每一次呼叫都先經過這裡</a:t>
            </a:r>
            <a:endParaRPr lang="en-US" sz="1400" dirty="0"/>
          </a:p>
        </p:txBody>
      </p:sp>
      <p:sp>
        <p:nvSpPr>
          <p:cNvPr id="11" name="model"/>
          <p:cNvSpPr/>
          <p:nvPr/>
        </p:nvSpPr>
        <p:spPr>
          <a:xfrm>
            <a:off x="9354312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68712" y="1874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模型</a:t>
            </a:r>
            <a:endParaRPr lang="en-US" sz="2000" dirty="0"/>
          </a:p>
        </p:txBody>
      </p:sp>
      <p:sp>
        <p:nvSpPr>
          <p:cNvPr id="14" name="arrow"/>
          <p:cNvSpPr/>
          <p:nvPr/>
        </p:nvSpPr>
        <p:spPr>
          <a:xfrm>
            <a:off x="2880360" y="256032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8577072" y="256032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tep-1"/>
          <p:cNvSpPr/>
          <p:nvPr/>
        </p:nvSpPr>
        <p:spPr>
          <a:xfrm>
            <a:off x="548640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　確認身分</a:t>
            </a:r>
            <a:endParaRPr lang="en-US" sz="1500" dirty="0"/>
          </a:p>
        </p:txBody>
      </p:sp>
      <p:sp>
        <p:nvSpPr>
          <p:cNvPr id="17" name="step-2"/>
          <p:cNvSpPr/>
          <p:nvPr/>
        </p:nvSpPr>
        <p:spPr>
          <a:xfrm>
            <a:off x="2428646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　檢查額度</a:t>
            </a:r>
            <a:endParaRPr lang="en-US" sz="1500" dirty="0"/>
          </a:p>
        </p:txBody>
      </p:sp>
      <p:sp>
        <p:nvSpPr>
          <p:cNvPr id="18" name="step-3"/>
          <p:cNvSpPr/>
          <p:nvPr/>
        </p:nvSpPr>
        <p:spPr>
          <a:xfrm>
            <a:off x="4308653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　遮掉個資</a:t>
            </a:r>
            <a:endParaRPr lang="en-US" sz="1500" dirty="0"/>
          </a:p>
        </p:txBody>
      </p:sp>
      <p:sp>
        <p:nvSpPr>
          <p:cNvPr id="19" name="step-4"/>
          <p:cNvSpPr/>
          <p:nvPr/>
        </p:nvSpPr>
        <p:spPr>
          <a:xfrm>
            <a:off x="6188659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　選模型</a:t>
            </a:r>
            <a:endParaRPr lang="en-US" sz="1500" dirty="0"/>
          </a:p>
        </p:txBody>
      </p:sp>
      <p:sp>
        <p:nvSpPr>
          <p:cNvPr id="20" name="step-5"/>
          <p:cNvSpPr/>
          <p:nvPr/>
        </p:nvSpPr>
        <p:spPr>
          <a:xfrm>
            <a:off x="8068666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　記帳</a:t>
            </a:r>
            <a:endParaRPr lang="en-US" sz="1500" dirty="0"/>
          </a:p>
        </p:txBody>
      </p:sp>
      <p:sp>
        <p:nvSpPr>
          <p:cNvPr id="21" name="step-6"/>
          <p:cNvSpPr/>
          <p:nvPr/>
        </p:nvSpPr>
        <p:spPr>
          <a:xfrm>
            <a:off x="9948672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　留稽核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我的定位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雲端工程師，負責 LLM 上線之後的治理，而不是模型本身。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05｜技術實踐｜看得到的效果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三個看得到的效果</a:t>
            </a:r>
            <a:endParaRPr lang="en-US" sz="3400" dirty="0"/>
          </a:p>
        </p:txBody>
      </p:sp>
      <p:sp>
        <p:nvSpPr>
          <p:cNvPr id="5" name="status-pill"/>
          <p:cNvSpPr/>
          <p:nvPr/>
        </p:nvSpPr>
        <p:spPr>
          <a:xfrm>
            <a:off x="990295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面板 1：M3 驗收中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7" name="step-num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智慧路由</a:t>
            </a:r>
            <a:endParaRPr lang="en-US" sz="2400" dirty="0"/>
          </a:p>
        </p:txBody>
      </p:sp>
      <p:sp>
        <p:nvSpPr>
          <p:cNvPr id="9" name="code-bg"/>
          <p:cNvSpPr/>
          <p:nvPr/>
        </p:nvSpPr>
        <p:spPr>
          <a:xfrm>
            <a:off x="822960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0" name="code"/>
          <p:cNvSpPr txBox="1"/>
          <p:nvPr/>
        </p:nvSpPr>
        <p:spPr>
          <a:xfrm>
            <a:off x="1005840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簡單問題 → gpt-6-luna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複雜問題 → gpt-6-sol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兩者單價相差 20 倍</a:t>
            </a:r>
            <a:endParaRPr lang="en-US" sz="1300" dirty="0"/>
          </a:p>
        </p:txBody>
      </p:sp>
      <p:sp>
        <p:nvSpPr>
          <p:cNvPr id="11" name="status-pill"/>
          <p:cNvSpPr/>
          <p:nvPr/>
        </p:nvSpPr>
        <p:spPr>
          <a:xfrm>
            <a:off x="822960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已實作｜M3 驗收時錄製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334256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3" name="step-num"/>
          <p:cNvSpPr/>
          <p:nvPr/>
        </p:nvSpPr>
        <p:spPr>
          <a:xfrm>
            <a:off x="4608576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月額度</a:t>
            </a:r>
            <a:endParaRPr lang="en-US" sz="2400" dirty="0"/>
          </a:p>
        </p:txBody>
      </p:sp>
      <p:sp>
        <p:nvSpPr>
          <p:cNvPr id="15" name="code-bg"/>
          <p:cNvSpPr/>
          <p:nvPr/>
        </p:nvSpPr>
        <p:spPr>
          <a:xfrm>
            <a:off x="4608576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6" name="code"/>
          <p:cNvSpPr txBox="1"/>
          <p:nvPr/>
        </p:nvSpPr>
        <p:spPr>
          <a:xfrm>
            <a:off x="4791456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　月額度 US$0.001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已用 1039 → 429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retry-after: 1921598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資料庫停掉 → 503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有額度也不放行</a:t>
            </a:r>
            <a:endParaRPr lang="en-US" sz="1300" dirty="0"/>
          </a:p>
        </p:txBody>
      </p:sp>
      <p:sp>
        <p:nvSpPr>
          <p:cNvPr id="17" name="status-pill"/>
          <p:cNvSpPr/>
          <p:nvPr/>
        </p:nvSpPr>
        <p:spPr>
          <a:xfrm>
            <a:off x="4608576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 已驗收｜S02、S03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8119872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19" name="step-num"/>
          <p:cNvSpPr/>
          <p:nvPr/>
        </p:nvSpPr>
        <p:spPr>
          <a:xfrm>
            <a:off x="8394192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88552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個資遮罩</a:t>
            </a:r>
            <a:endParaRPr lang="en-US" sz="2400" dirty="0"/>
          </a:p>
        </p:txBody>
      </p:sp>
      <p:sp>
        <p:nvSpPr>
          <p:cNvPr id="21" name="code-bg"/>
          <p:cNvSpPr/>
          <p:nvPr/>
        </p:nvSpPr>
        <p:spPr>
          <a:xfrm>
            <a:off x="8394192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2" name="code"/>
          <p:cNvSpPr txBox="1"/>
          <p:nvPr/>
        </p:nvSpPr>
        <p:spPr>
          <a:xfrm>
            <a:off x="8577072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請模型原樣重複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A123456780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模型的回答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[TW_ID]</a:t>
            </a:r>
            <a:endParaRPr lang="en-US" sz="1300" dirty="0"/>
          </a:p>
        </p:txBody>
      </p:sp>
      <p:sp>
        <p:nvSpPr>
          <p:cNvPr id="23" name="status-pill"/>
          <p:cNvSpPr/>
          <p:nvPr/>
        </p:nvSpPr>
        <p:spPr>
          <a:xfrm>
            <a:off x="8394192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 已驗收｜S04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面板 2、3 的文字取自 M2 驗收的實際輸出（10/9，已錄影）。面板 1 的路由已實作並通過自動測試，畫面為示意文字，M3 驗收時錄製。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06｜技術實踐｜成本效益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省多少，花多少</a:t>
            </a:r>
            <a:endParaRPr lang="en-US" sz="3400" dirty="0"/>
          </a:p>
        </p:txBody>
      </p:sp>
      <p:sp>
        <p:nvSpPr>
          <p:cNvPr id="5" name="status-pill"/>
          <p:cNvSpPr/>
          <p:nvPr/>
        </p:nvSpPr>
        <p:spPr>
          <a:xfrm>
            <a:off x="990295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X% 待 M3 實測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X%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智慧路由相較於全部使用強模型，省下的比例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M3 以 20 題測試集計算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334256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20 倍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便宜模型與強模型的單價差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gpt-6-luna 與 gpt-6-sol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119872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2752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US$11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專題全期花費（預估）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資源只在驗收時開啟，驗完即關閉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07｜技術實踐｜現成方案拆解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先拆解 LiteLLM，再修正自己的設計</a:t>
            </a:r>
            <a:endParaRPr lang="en-US" sz="3400" dirty="0"/>
          </a:p>
        </p:txBody>
      </p:sp>
      <p:sp>
        <p:nvSpPr>
          <p:cNvPr id="5" name="status-pill"/>
          <p:cNvSpPr/>
          <p:nvPr/>
        </p:nvSpPr>
        <p:spPr>
          <a:xfrm>
            <a:off x="990295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M0.5 實驗已完成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585216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發現一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價格表沒有的模型，花費記為 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呼叫成功、預算不會觸發，沒有任何警告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840480"/>
            <a:ext cx="585216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41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發現二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89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寫帳前當機，那筆帳永久遺失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560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回應後 0.8 秒強制終止，重啟後沒有補回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6492240" y="3749040"/>
            <a:ext cx="5943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fix"/>
          <p:cNvSpPr/>
          <p:nvPr/>
        </p:nvSpPr>
        <p:spPr>
          <a:xfrm>
            <a:off x="7178040" y="1874520"/>
            <a:ext cx="4462272" cy="3703320"/>
          </a:xfrm>
          <a:prstGeom prst="roundRect">
            <a:avLst>
              <a:gd name="adj" fmla="val 197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21031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我的修正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514600"/>
            <a:ext cx="39136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沒有單價的模型，拒絕呼叫</a:t>
            </a:r>
            <a:endParaRPr lang="en-US" sz="21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帳進了佇列，才回答使用者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08｜技術實踐｜網路邊界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對外只有一個出口，而且出口有人把關</a:t>
            </a:r>
            <a:endParaRPr lang="en-US" sz="3400" dirty="0"/>
          </a:p>
        </p:txBody>
      </p:sp>
      <p:sp>
        <p:nvSpPr>
          <p:cNvPr id="5" name="status-pill"/>
          <p:cNvSpPr/>
          <p:nvPr/>
        </p:nvSpPr>
        <p:spPr>
          <a:xfrm>
            <a:off x="990295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設計定案｜M4 實作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219456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1945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私有子網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Fargate 容器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沒有公開 IP</a:t>
            </a:r>
            <a:endParaRPr lang="en-US" sz="1400" dirty="0"/>
          </a:p>
        </p:txBody>
      </p:sp>
      <p:sp>
        <p:nvSpPr>
          <p:cNvPr id="8" name="egress"/>
          <p:cNvSpPr/>
          <p:nvPr/>
        </p:nvSpPr>
        <p:spPr>
          <a:xfrm>
            <a:off x="4434840" y="219456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1945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唯一出口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NAT Gateway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DNS Firewall 放行清單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安全群組只開 443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886200" y="338328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allowed"/>
          <p:cNvSpPr/>
          <p:nvPr/>
        </p:nvSpPr>
        <p:spPr>
          <a:xfrm>
            <a:off x="8321040" y="2194560"/>
            <a:ext cx="3319272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5374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0" y="219456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名單上的網域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api.openai.com</a:t>
            </a:r>
            <a:endParaRPr lang="en-US" sz="1400" dirty="0"/>
          </a:p>
        </p:txBody>
      </p:sp>
      <p:sp>
        <p:nvSpPr>
          <p:cNvPr id="14" name="blocked"/>
          <p:cNvSpPr/>
          <p:nvPr/>
        </p:nvSpPr>
        <p:spPr>
          <a:xfrm>
            <a:off x="8321040" y="3520440"/>
            <a:ext cx="3319272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8633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0" y="352044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名單外的網域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不解析，並留下紀錄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7772400" y="2720340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7772400" y="4046220"/>
            <a:ext cx="50292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現成的閘道工具不處理網路邊界，這是部署者的責任。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殘餘風險：不查 DNS、直接以 IP 連線。正式環境以 Network Firewall 處理。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09｜技術實踐｜稽核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只存指紋和摘要，原文不落地</a:t>
            </a:r>
            <a:endParaRPr lang="en-US" sz="3400" dirty="0"/>
          </a:p>
        </p:txBody>
      </p:sp>
      <p:sp>
        <p:nvSpPr>
          <p:cNvPr id="5" name="status-pill"/>
          <p:cNvSpPr/>
          <p:nvPr/>
        </p:nvSpPr>
        <p:spPr>
          <a:xfrm>
            <a:off x="990295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本機已驗收／雲端 M5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icon-bg"/>
          <p:cNvSpPr/>
          <p:nvPr/>
        </p:nvSpPr>
        <p:spPr>
          <a:xfrm>
            <a:off x="822960" y="21717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545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8745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指紋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HMAC-SHA256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42900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822960" y="37261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090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4290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摘要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遮罩之後的前 50 個字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原文不進佇列、資料庫與日誌。</a:t>
            </a:r>
            <a:endParaRPr lang="en-US" sz="1600" dirty="0"/>
          </a:p>
        </p:txBody>
      </p:sp>
      <p:pic>
        <p:nvPicPr>
          <p:cNvPr id="15" name="Image 2" descr="au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74520"/>
            <a:ext cx="5971032" cy="31621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69280" y="5128084"/>
            <a:ext cx="5971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驗收畫面：最後一行搜尋原句的後半段，沒有結果。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10｜取捨與結語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員工照常用 AI，老闆看得懂帳單，資安查得到紀錄</a:t>
            </a:r>
            <a:endParaRPr lang="en-US" sz="3400" dirty="0"/>
          </a:p>
        </p:txBody>
      </p:sp>
      <p:sp>
        <p:nvSpPr>
          <p:cNvPr id="5" name="status-pill"/>
          <p:cNvSpPr/>
          <p:nvPr/>
        </p:nvSpPr>
        <p:spPr>
          <a:xfrm>
            <a:off x="990295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花費結案時補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評估後不做，理由與正式環境的做法寫在文件</a:t>
            </a:r>
            <a:endParaRPr lang="en-US" sz="1400" dirty="0"/>
          </a:p>
        </p:txBody>
      </p:sp>
      <p:sp>
        <p:nvSpPr>
          <p:cNvPr id="7" name="skip-1"/>
          <p:cNvSpPr/>
          <p:nvPr/>
        </p:nvSpPr>
        <p:spPr>
          <a:xfrm>
            <a:off x="54864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AWS WAF</a:t>
            </a:r>
            <a:endParaRPr lang="en-US" sz="1600" dirty="0"/>
          </a:p>
        </p:txBody>
      </p:sp>
      <p:sp>
        <p:nvSpPr>
          <p:cNvPr id="8" name="skip-2"/>
          <p:cNvSpPr/>
          <p:nvPr/>
        </p:nvSpPr>
        <p:spPr>
          <a:xfrm>
            <a:off x="342900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多可用區</a:t>
            </a:r>
            <a:endParaRPr lang="en-US" sz="1600" dirty="0"/>
          </a:p>
        </p:txBody>
      </p:sp>
      <p:sp>
        <p:nvSpPr>
          <p:cNvPr id="9" name="skip-3"/>
          <p:cNvSpPr/>
          <p:nvPr/>
        </p:nvSpPr>
        <p:spPr>
          <a:xfrm>
            <a:off x="630936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知識檢索（RAG）</a:t>
            </a:r>
            <a:endParaRPr lang="en-US" sz="1600" dirty="0"/>
          </a:p>
        </p:txBody>
      </p:sp>
      <p:sp>
        <p:nvSpPr>
          <p:cNvPr id="10" name="position"/>
          <p:cNvSpPr/>
          <p:nvPr/>
        </p:nvSpPr>
        <p:spPr>
          <a:xfrm>
            <a:off x="548640" y="3566160"/>
            <a:ext cx="11091672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56616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我的定位</a:t>
            </a:r>
            <a:endParaRPr lang="en-US" sz="14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能把 AI 服務安全地、算得清楚地放上雲端的雲端工程師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程式、證據紀錄與截圖：github.com/Poyu-Tu/llm-gateway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01／20｜定位與範圍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聚焦治理層：LLM 上線之後的管控</a:t>
            </a:r>
            <a:endParaRPr lang="en-US" sz="3000" dirty="0"/>
          </a:p>
        </p:txBody>
      </p:sp>
      <p:sp>
        <p:nvSpPr>
          <p:cNvPr id="5" name="layer-1"/>
          <p:cNvSpPr/>
          <p:nvPr/>
        </p:nvSpPr>
        <p:spPr>
          <a:xfrm>
            <a:off x="548640" y="1645920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模型串接與紀錄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M1 完成</a:t>
            </a:r>
            <a:endParaRPr lang="en-US" sz="1200" dirty="0"/>
          </a:p>
        </p:txBody>
      </p:sp>
      <p:sp>
        <p:nvSpPr>
          <p:cNvPr id="8" name="layer-2"/>
          <p:cNvSpPr/>
          <p:nvPr/>
        </p:nvSpPr>
        <p:spPr>
          <a:xfrm>
            <a:off x="548640" y="2304288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治理：身分、額度、路由、計費、稽核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042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本專題主體</a:t>
            </a:r>
            <a:endParaRPr lang="en-US" sz="1200" dirty="0"/>
          </a:p>
        </p:txBody>
      </p:sp>
      <p:sp>
        <p:nvSpPr>
          <p:cNvPr id="11" name="layer-3"/>
          <p:cNvSpPr/>
          <p:nvPr/>
        </p:nvSpPr>
        <p:spPr>
          <a:xfrm>
            <a:off x="548640" y="2962656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626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工具呼叫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6265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M7 有條件</a:t>
            </a:r>
            <a:endParaRPr lang="en-US" sz="1200" dirty="0"/>
          </a:p>
        </p:txBody>
      </p:sp>
      <p:sp>
        <p:nvSpPr>
          <p:cNvPr id="14" name="layer-4"/>
          <p:cNvSpPr/>
          <p:nvPr/>
        </p:nvSpPr>
        <p:spPr>
          <a:xfrm>
            <a:off x="548640" y="3621024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621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多步驟迴圈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6210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M7 有條件</a:t>
            </a:r>
            <a:endParaRPr lang="en-US" sz="1200" dirty="0"/>
          </a:p>
        </p:txBody>
      </p:sp>
      <p:sp>
        <p:nvSpPr>
          <p:cNvPr id="17" name="layer-5"/>
          <p:cNvSpPr/>
          <p:nvPr/>
        </p:nvSpPr>
        <p:spPr>
          <a:xfrm>
            <a:off x="548640" y="4279392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79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知識檢索（RAG）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2793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不實作</a:t>
            </a:r>
            <a:endParaRPr lang="en-US" sz="1200" dirty="0"/>
          </a:p>
        </p:txBody>
      </p:sp>
      <p:sp>
        <p:nvSpPr>
          <p:cNvPr id="20" name="layer-6"/>
          <p:cNvSpPr/>
          <p:nvPr/>
        </p:nvSpPr>
        <p:spPr>
          <a:xfrm>
            <a:off x="548640" y="4937760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37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觀測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937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9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AI 應用的六個層次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16459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定位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196596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雲端工程師，負責 LLM 上線之後的治理與網路邊界，不是替企業做 AI 化。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0175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系統邊界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337560"/>
            <a:ext cx="49651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不自建模型、不做訓練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不做多租戶 SaaS，定位為企業內部平台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不實作知識檢索；接入方式於「取捨與限制」說明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不同時接多家供應商；不做限速、語意快取、管理後台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對照拆解現成方案（LiteLLM、AWS 原生服務）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02／20｜系統架構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同步路徑與非同步路徑分離，對外只有一個出口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本機已實作／雲端 M4、M5</a:t>
            </a:r>
            <a:endParaRPr lang="en-US" sz="1100" dirty="0"/>
          </a:p>
        </p:txBody>
      </p:sp>
      <p:sp>
        <p:nvSpPr>
          <p:cNvPr id="5" name="vpc"/>
          <p:cNvSpPr/>
          <p:nvPr/>
        </p:nvSpPr>
        <p:spPr>
          <a:xfrm>
            <a:off x="2331720" y="1600200"/>
            <a:ext cx="7589520" cy="4069080"/>
          </a:xfrm>
          <a:prstGeom prst="roundRect">
            <a:avLst>
              <a:gd name="adj" fmla="val 1798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51460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VPC（ap-northeast-1）</a:t>
            </a:r>
            <a:endParaRPr lang="en-US" sz="1100" dirty="0"/>
          </a:p>
        </p:txBody>
      </p:sp>
      <p:sp>
        <p:nvSpPr>
          <p:cNvPr id="7" name="node"/>
          <p:cNvSpPr/>
          <p:nvPr/>
        </p:nvSpPr>
        <p:spPr>
          <a:xfrm>
            <a:off x="548640" y="3246120"/>
            <a:ext cx="132588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246120"/>
            <a:ext cx="1179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使用者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瀏覽器、curl</a:t>
            </a:r>
            <a:endParaRPr lang="en-US" sz="1400" dirty="0"/>
          </a:p>
        </p:txBody>
      </p:sp>
      <p:sp>
        <p:nvSpPr>
          <p:cNvPr id="9" name="node"/>
          <p:cNvSpPr/>
          <p:nvPr/>
        </p:nvSpPr>
        <p:spPr>
          <a:xfrm>
            <a:off x="2606040" y="324612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324612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公有子網</a:t>
            </a:r>
            <a:endParaRPr lang="en-US" sz="1400" dirty="0"/>
          </a:p>
        </p:txBody>
      </p:sp>
      <p:sp>
        <p:nvSpPr>
          <p:cNvPr id="11" name="gateway"/>
          <p:cNvSpPr/>
          <p:nvPr/>
        </p:nvSpPr>
        <p:spPr>
          <a:xfrm>
            <a:off x="4343400" y="2011680"/>
            <a:ext cx="2331720" cy="3337560"/>
          </a:xfrm>
          <a:prstGeom prst="roundRect">
            <a:avLst>
              <a:gd name="adj" fmla="val 23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103120"/>
            <a:ext cx="2057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Gateway Service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ECS Fargate｜私有子網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① 驗證身分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② 查額度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③ 個資遮罩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④ 路由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⑤ 呼叫模型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⑥ 送計費事件</a:t>
            </a:r>
            <a:endParaRPr lang="en-US" sz="1400" dirty="0"/>
          </a:p>
        </p:txBody>
      </p:sp>
      <p:sp>
        <p:nvSpPr>
          <p:cNvPr id="13" name="node"/>
          <p:cNvSpPr/>
          <p:nvPr/>
        </p:nvSpPr>
        <p:spPr>
          <a:xfrm>
            <a:off x="7360920" y="196596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34072" y="19659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Gateway 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含 Endpoint Policy</a:t>
            </a:r>
            <a:endParaRPr lang="en-US" sz="1400" dirty="0"/>
          </a:p>
        </p:txBody>
      </p:sp>
      <p:sp>
        <p:nvSpPr>
          <p:cNvPr id="15" name="node"/>
          <p:cNvSpPr/>
          <p:nvPr/>
        </p:nvSpPr>
        <p:spPr>
          <a:xfrm>
            <a:off x="7360920" y="324612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4072" y="32461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NAT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DNS Firewall 放行清單｜443</a:t>
            </a:r>
            <a:endParaRPr lang="en-US" sz="1400" dirty="0"/>
          </a:p>
        </p:txBody>
      </p:sp>
      <p:sp>
        <p:nvSpPr>
          <p:cNvPr id="17" name="node"/>
          <p:cNvSpPr/>
          <p:nvPr/>
        </p:nvSpPr>
        <p:spPr>
          <a:xfrm>
            <a:off x="7178040" y="452628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51192" y="452628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SQS + DLQ</a:t>
            </a:r>
            <a:endParaRPr lang="en-US" sz="1400" dirty="0"/>
          </a:p>
        </p:txBody>
      </p:sp>
      <p:sp>
        <p:nvSpPr>
          <p:cNvPr id="19" name="node"/>
          <p:cNvSpPr/>
          <p:nvPr/>
        </p:nvSpPr>
        <p:spPr>
          <a:xfrm>
            <a:off x="8641080" y="4526280"/>
            <a:ext cx="109728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14232" y="452628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Lambda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Worker</a:t>
            </a:r>
            <a:endParaRPr lang="en-US" sz="1400" dirty="0"/>
          </a:p>
        </p:txBody>
      </p:sp>
      <p:sp>
        <p:nvSpPr>
          <p:cNvPr id="21" name="node"/>
          <p:cNvSpPr/>
          <p:nvPr/>
        </p:nvSpPr>
        <p:spPr>
          <a:xfrm>
            <a:off x="10241280" y="196596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14432" y="196596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DynamoDB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api_keys、quotas</a:t>
            </a:r>
            <a:endParaRPr lang="en-US" sz="1400" dirty="0"/>
          </a:p>
        </p:txBody>
      </p:sp>
      <p:sp>
        <p:nvSpPr>
          <p:cNvPr id="23" name="node"/>
          <p:cNvSpPr/>
          <p:nvPr/>
        </p:nvSpPr>
        <p:spPr>
          <a:xfrm>
            <a:off x="10241280" y="324612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14432" y="324612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OpenAI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Chat Completions</a:t>
            </a:r>
            <a:endParaRPr lang="en-US" sz="1400" dirty="0"/>
          </a:p>
        </p:txBody>
      </p:sp>
      <p:sp>
        <p:nvSpPr>
          <p:cNvPr id="25" name="node"/>
          <p:cNvSpPr/>
          <p:nvPr/>
        </p:nvSpPr>
        <p:spPr>
          <a:xfrm>
            <a:off x="10241280" y="452628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14432" y="452628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DynamoDB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usage、audit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1874520" y="3611880"/>
            <a:ext cx="7315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>
            <a:off x="3794760" y="3611880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6675120" y="2331720"/>
            <a:ext cx="6858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6675120" y="3611880"/>
            <a:ext cx="6858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6675120" y="489204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8366760" y="489204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>
            <a:off x="9646920" y="233172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>
            <a:off x="9646920" y="361188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arrow"/>
          <p:cNvSpPr/>
          <p:nvPr/>
        </p:nvSpPr>
        <p:spPr>
          <a:xfrm>
            <a:off x="9738360" y="489204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運算節點無 Public IP；對外僅經 NAT，DNS Firewall 只解析放行清單內的網域；S3、DynamoDB 走免費的 Gateway Endpoint。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03／20｜系統架構｜請求流程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回應之前，計費事件已在佇列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本機已實作／雲端 M4、M5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step-num"/>
          <p:cNvSpPr/>
          <p:nvPr/>
        </p:nvSpPr>
        <p:spPr>
          <a:xfrm>
            <a:off x="731520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ALB 接收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健康檢查、路徑判斷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6879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tep-num"/>
          <p:cNvSpPr/>
          <p:nvPr/>
        </p:nvSpPr>
        <p:spPr>
          <a:xfrm>
            <a:off x="3559759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62679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驗證 API Key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59759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失敗回 401；只存 SHA-256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205118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tep-num"/>
          <p:cNvSpPr/>
          <p:nvPr/>
        </p:nvSpPr>
        <p:spPr>
          <a:xfrm>
            <a:off x="6387998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0918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查月額度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87998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超額回 429；讀不到回 503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9033358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step-num"/>
          <p:cNvSpPr/>
          <p:nvPr/>
        </p:nvSpPr>
        <p:spPr>
          <a:xfrm>
            <a:off x="9216238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19158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個資偵測與遮罩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16238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遮罩後才離開 AWS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step-num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路由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規則式；無單價即拒絕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3376879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6" name="step-num"/>
          <p:cNvSpPr/>
          <p:nvPr/>
        </p:nvSpPr>
        <p:spPr>
          <a:xfrm>
            <a:off x="3559759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62679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呼叫 OpenAI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59759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經 NAT；限流時降級一次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205118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step-num"/>
          <p:cNvSpPr/>
          <p:nvPr/>
        </p:nvSpPr>
        <p:spPr>
          <a:xfrm>
            <a:off x="6387998" y="3182112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90918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計費事件入 SQS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87998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只帶中繼資料與 HMAC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9033358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4" name="step-num"/>
          <p:cNvSpPr/>
          <p:nvPr/>
        </p:nvSpPr>
        <p:spPr>
          <a:xfrm>
            <a:off x="9216238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719158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回應使用者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216238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不等記帳</a:t>
            </a:r>
            <a:endParaRPr lang="en-US" sz="1200" dirty="0"/>
          </a:p>
        </p:txBody>
      </p:sp>
      <p:sp>
        <p:nvSpPr>
          <p:cNvPr id="37" name="card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38" name="step-num"/>
          <p:cNvSpPr/>
          <p:nvPr/>
        </p:nvSpPr>
        <p:spPr>
          <a:xfrm>
            <a:off x="731520" y="48188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452628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非同步：Lambda 由 SQS 觸發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計算成本（micro-USD，無條件進位）、寫 usage、寫 audit、扣額度；失敗 3 次進 DLQ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15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超額回 429 並附 Retry-After（M2 已驗收）。M2 至 M4 由 Gateway 同步扣減，M5 起移交 Worker。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04／20｜現成方案拆解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先拆解 LiteLLM v1.102.0，再開始自建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M0.5 已完成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ep-num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選版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冷卻期：上架滿 3 天、未撤回、無未修補 KEV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6879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num"/>
          <p:cNvSpPr/>
          <p:nvPr/>
        </p:nvSpPr>
        <p:spPr>
          <a:xfrm>
            <a:off x="3559759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62679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驗簽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59759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cosign 驗證，對象是 digest 而非 tag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205118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num"/>
          <p:cNvSpPr/>
          <p:nvPr/>
        </p:nvSpPr>
        <p:spPr>
          <a:xfrm>
            <a:off x="638799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0918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強化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87998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官方 docker-compose 的 7 項不安全預設值逐項修正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9033358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ep-num"/>
          <p:cNvSpPr/>
          <p:nvPr/>
        </p:nvSpPr>
        <p:spPr>
          <a:xfrm>
            <a:off x="921623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19158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破壞測試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16238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斷網、關資料庫、不設資料庫、預算 0、強制終止</a:t>
            </a:r>
            <a:endParaRPr lang="en-US" sz="1200" dirty="0"/>
          </a:p>
        </p:txBody>
      </p:sp>
      <p:pic>
        <p:nvPicPr>
          <p:cNvPr id="21" name="Image 0" descr="co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5760720" cy="150069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4754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cosign 驗簽通過（S19）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20040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觀察結果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3520440"/>
            <a:ext cx="49651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資料庫斷線：回 503，恢復後自動回復（fail-closed）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未設資料庫：無法發虛擬金鑰，啟動時沒有警告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啟動時自 GitHub main 分支下載未驗證的價格表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待機記憶體 584 MiB，超過 Fargate 0.5 GB 規格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花費批次寫入：明細 7～10 秒、累計 12～14 秒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AWS 的 AgentCore Gateway 與 Bedrock 原生功能僅做文件對照，未實測（帳號的 Bedrock 模型存取被封鎖）。每個破壞測試各做一次。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05／20｜現成方案拆解｜發現一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價格表沒有的模型，花費記為 0，預算失效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M0.5 已完成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為了安全，關閉線上價格表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LITELLM_LOCAL_MODEL_COST_MAP=True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3017520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548640" y="269748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內建價格表未收錄平價新模型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gpt-6-luna、gpt-6-sol 不在表內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3017520" y="356616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card"/>
          <p:cNvSpPr/>
          <p:nvPr/>
        </p:nvSpPr>
        <p:spPr>
          <a:xfrm>
            <a:off x="548640" y="374904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呼叫成功，token 有記，spend 為 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預算 0.01 的金鑰不會被擋，沒有錯誤或警告</a:t>
            </a:r>
            <a:endParaRPr lang="en-US" sz="1200" dirty="0"/>
          </a:p>
        </p:txBody>
      </p:sp>
      <p:sp>
        <p:nvSpPr>
          <p:cNvPr id="16" name="code-bg"/>
          <p:cNvSpPr/>
          <p:nvPr/>
        </p:nvSpPr>
        <p:spPr>
          <a:xfrm>
            <a:off x="5852160" y="1645920"/>
            <a:ext cx="5788152" cy="18288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7" name="code"/>
          <p:cNvSpPr txBox="1"/>
          <p:nvPr/>
        </p:nvSpPr>
        <p:spPr>
          <a:xfrm>
            <a:off x="6035040" y="1755648"/>
            <a:ext cx="54223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LiteLLM_VerificationToken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spend | max_budget |   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0 |       0.01 | {gpt-6-luna}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LiteLLM_SpendLogs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model       | spend | total_tokens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openai/gpt-6-luna |     0 |           23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566160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直接查 PostgreSQL 的結果（節錄自 m05-unpriced-model-db.log）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本案設計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766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單價放在 repo 的設定檔；設定檔沒有單價的模型一律拒絕呼叫。價格資料也是治理的一部分。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06／20｜現成方案拆解｜發現二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寫帳前當機，該筆帳永久遺失；據此修正計費事件順序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M0.5 已完成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548640" y="1645920"/>
            <a:ext cx="5760720" cy="18288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731520" y="1755648"/>
            <a:ext cx="5394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17:40:28.423 cost=6.799999999999999e-06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killed 17:40:29.247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LiteLLM 停止中，查資料庫（累計花費|明細筆數）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6.799999999999999e-06|10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重啟 LiteLLM，等 30 秒後再查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6.799999999999999e-06|10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回應後 0.8 秒以 docker compose kill 強制終止；累計花費與明細都未寫入，重啟後也沒有補回（節錄自 m05-crash-lost-spend.log）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459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修正前（v2.5）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675120" y="1938528"/>
            <a:ext cx="496519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93852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取得模型回應 → 回應使用者 ∥ 送計費事件（平行）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8346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修正後（D31）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675120" y="3127248"/>
            <a:ext cx="4965192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312724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取得模型回應 → 確認事件進入 SQS → 回應使用者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93192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代價：每次請求多一次 SQS 寫入，約十幾毫秒。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526280"/>
            <a:ext cx="110916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原因：待寫入的花費只存在程序記憶體。佇列的價值在於事件離開 Gateway 之後不受 Gateway 當機影響，前提是事件在回應之前送出。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限制：只做一次；未測正常關機（stop）與 Redis 緩衝的情況。M5 故障演練會以同樣手法驗證本案。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07／20｜現成方案拆解｜十一個監管環節（1/2）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環節 1～6：身分、額度、路由、計費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M0.5 已完成</a:t>
            </a:r>
            <a:endParaRPr lang="en-US" sz="11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926080"/>
                <a:gridCol w="3410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環節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LiteLLM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AWS 原生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入口與身分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虛擬金鑰（需 PostgreSQL）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IAM；AgentCore 支援 OAuth、IAM 身分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API Key、ALB 單一入口、IAM 最小權限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月額度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key／team／user 預算；價格表沒有的模型不扣預算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AWS Budgets（事後告警）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quotas 表、fail-closed、無單價即拒絕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限速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RPM／TPM；多台需 Redis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AgentCore Gateway 每秒、每分鐘限流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不做；正式環境用 WAF rate-based rule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 智慧路由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Router、Auto Router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Intelligent Prompt Routing（同家族）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規則式複雜度判斷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 備援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fallback、重試、冷卻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跨區推論設定檔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供應商限流時降級一次；預算用完不降級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 計費與歸屬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批次寫回 PostgreSQL；寫入前當機會掉帳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Inference Profile、成本分配標籤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usage 表；先入 SQS 再回應；Lambda 非同步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LiteLLM 欄為 v1.102.0 實測與官方文件；AWS 原生欄為文件對照，未實測。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08／20｜現成方案拆解｜十一個監管環節（2/2）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環節 7～11：稽核、防護、觀測、網路邊界、供應鏈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M0.5 已完成</a:t>
            </a:r>
            <a:endParaRPr lang="en-US" sz="11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926080"/>
                <a:gridCol w="3410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環節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LiteLLM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AWS 原生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 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花費紀錄；callback 接外部平台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CloudTrail、Invocation Logging（完整內容）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audit 表只存 HMAC 與遮罩摘要、個資類別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8 內容防護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整合外部 guardrail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Bedrock Guardrails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regex 偵測與遮罩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 觀測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callback 接外部觀測平台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CloudWatch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metrics 端點、Prometheus、Grafana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 網路邊界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不處理，屬部署者責任；官方範例預設對外開埠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PrivateLink、DNS Firewall、Network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NAT、DNS Firewall 放行清單、443、Endpoint Policy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 供應鏈與部署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映像 cosign 簽章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ECR 映像掃描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Trivy、tfsec、OIDC、digest 鎖定、冷卻期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環節 1～9 現成方案皆有，本案實作最小版本。環節 10、11 是部署者的責任，現成工具不處理。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09／20｜現成方案拆解｜自建的理由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正式環境先評估現成方案；本專題自建最小版本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M0.5 已完成</a:t>
            </a:r>
            <a:endParaRPr lang="en-US" sz="11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選項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本專題不採用的原因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A. LiteLLM 自架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預算功能需常駐 PostgreSQL；待機 584 MiB 超過 512 MiB 規格；多供應商的價值本案用不到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B. AgentCore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限流單位為每秒、每分鐘，沒有每人月額度；全託管，無法拆解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C. Bedrock 原生功能組合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Budgets 為事後告警；Invocation Logging 儲存完整內容，與稽核設計衝突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D. 自建 Gateway（採用）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FastAPI、DynamoDB、SQS、Lambda；每個環節可逐一驗證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若改用 LiteLLM，需自行補上：模型單價的設定管理、記帳不遺失的機制、SALT_KEY 的保管。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0" y="1554480"/>
          <a:ext cx="478231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0" y="544068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Fargate 0.5 GB 規格為 512 MiB。本案 M1 映像為 56.08、M2 映像為 62.06 MiB。兩者功能不對等，此數字只說明所需功能較少時的資源需求。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10／20｜身分與額度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額度以美元計；讀不到額度時拒絕，不放行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完成｜S01～S03</a:t>
            </a:r>
            <a:endParaRPr lang="en-US" sz="11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816352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5079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定案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API Key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api_keys 表只存 SHA-256 雜湊；原文只在建立時顯示一次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資料庫外洩也拿不到可用的 Key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額度單位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美元；以 micro-USD 整數儲存，無條件進位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以 token 計會與路由脫鉤；整數避免浮點誤差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額度放哪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使用者層級的固定一筆；已用量每月一筆（台北時間）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換月不需任何人動手，也不需重置排程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資料庫讀不到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回 503，不放行（fail-closed）；驗證與額度共用訊息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代價是資料庫需高可用；DynamoDB 跨多個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超額回應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回 429，附 Retry-After；被擋的請求寫稽核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額度檢查在呼叫模型之前，重試不會多花錢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示範帳號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alice US$0.001、bob US$1.00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數次呼叫內即可示範被擋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264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扣減：呼叫模型前先加 0 確認寫得進去，回答後原子累加。已知會超扣：實測額度 1000 用到 1120。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pic>
        <p:nvPicPr>
          <p:cNvPr id="26" name="m2-shot-1" descr="crop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91456"/>
            <a:ext cx="3291840" cy="1202788"/>
          </a:xfrm>
          <a:prstGeom prst="rect">
            <a:avLst/>
          </a:prstGeom>
        </p:spPr>
      </p:pic>
      <p:sp>
        <p:nvSpPr>
          <p:cNvPr id="6" name="m2-caption-1"/>
          <p:cNvSpPr txBox="1"/>
          <p:nvPr/>
        </p:nvSpPr>
        <p:spPr>
          <a:xfrm>
            <a:off x="548640" y="4526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S01　錯的 Key → 401</a:t>
            </a:r>
            <a:endParaRPr lang="en-US" sz="1200" dirty="0"/>
          </a:p>
        </p:txBody>
      </p:sp>
      <p:pic>
        <p:nvPicPr>
          <p:cNvPr id="27" name="m2-shot-2" descr="crop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4791456"/>
            <a:ext cx="3291840" cy="1202788"/>
          </a:xfrm>
          <a:prstGeom prst="rect">
            <a:avLst/>
          </a:prstGeom>
        </p:spPr>
      </p:pic>
      <p:sp>
        <p:nvSpPr>
          <p:cNvPr id="6" name="m2-caption-2"/>
          <p:cNvSpPr txBox="1"/>
          <p:nvPr/>
        </p:nvSpPr>
        <p:spPr>
          <a:xfrm>
            <a:off x="4448556" y="4526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S02　額度用完 → 429，附 retry-after</a:t>
            </a:r>
            <a:endParaRPr lang="en-US" sz="1200" dirty="0"/>
          </a:p>
        </p:txBody>
      </p:sp>
      <p:pic>
        <p:nvPicPr>
          <p:cNvPr id="28" name="m2-shot-3" descr="crop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4791456"/>
            <a:ext cx="3291840" cy="1202788"/>
          </a:xfrm>
          <a:prstGeom prst="rect">
            <a:avLst/>
          </a:prstGeom>
        </p:spPr>
      </p:pic>
      <p:sp>
        <p:nvSpPr>
          <p:cNvPr id="6" name="m2-caption-3"/>
          <p:cNvSpPr txBox="1"/>
          <p:nvPr/>
        </p:nvSpPr>
        <p:spPr>
          <a:xfrm>
            <a:off x="8348472" y="4526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S03　資料庫停掉 → 503，有額度也不放行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11／20｜內容防護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入口個資遮罩：四類規則完成，順序由測試鎖定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完成｜S04</a:t>
            </a:r>
            <a:endParaRPr lang="en-US" sz="11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32918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順序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類別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規則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標籤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形狀比對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[EMAIL]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信用卡號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13～19 位數字，通過 Luhn 檢查才遮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[CARD]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手機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台灣手機格式；左右不得緊貼數字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[PHONE]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身分證字號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字母 + 1 或 2 + 8 位數字；不驗檢查碼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[TW_ID]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身分證不驗檢查碼、信用卡驗 Luhn：依漏遮的代價與誤遮的機率決定。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遮罩使用類別標籤，模型仍可理解語意，稽核可記錄個資類別。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驗收（S04）：請模型原樣重複含假身分證字號的句子，回答是 [TW_ID]；稽核檔搜尋不到號碼。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限制：regex 版本；正式環境改用託管的內容防護服務。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731520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card"/>
          <p:cNvSpPr/>
          <p:nvPr/>
        </p:nvSpPr>
        <p:spPr>
          <a:xfrm>
            <a:off x="9582912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0" y="1691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170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pytest 全數通過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82912" y="1691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9582912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類個資規則</a:t>
            </a:r>
            <a:endParaRPr lang="en-US" sz="1200" dirty="0"/>
          </a:p>
        </p:txBody>
      </p:sp>
      <p:sp>
        <p:nvSpPr>
          <p:cNvPr id="13" name="code-bg"/>
          <p:cNvSpPr/>
          <p:nvPr/>
        </p:nvSpPr>
        <p:spPr>
          <a:xfrm>
            <a:off x="7315200" y="3246120"/>
            <a:ext cx="432511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4" name="code"/>
          <p:cNvSpPr txBox="1"/>
          <p:nvPr/>
        </p:nvSpPr>
        <p:spPr>
          <a:xfrm>
            <a:off x="7498080" y="3355848"/>
            <a:ext cx="39593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對調遮罩順序後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Mail [EMAIL]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Mail [PHONE]@example.com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failed, 23 passed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4754880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測試先行：先寫測試並確認失敗，再寫功能。順序錯誤時網域會留在送出的內容中，由測試攔下（E78）。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12／20｜路由與成本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規則式路由；成本以回應的 usage 計算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路由已實作／M3 驗收中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便宜模型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gpt-6-luna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輸入 $0.10／輸出 $0.50 每百萬 token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reasoning_effort: none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348472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22792" y="1600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強模型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gpt-6-sol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輸入 $2／輸出 $10 每百萬 token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reasoning_effort: 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600200"/>
            <a:ext cx="3959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路由規則 v1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輸入達 300 字，或含指定關鍵字 → 強模型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其餘 → 便宜模型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使用者不能指定模型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成本計算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token × 單價，無條件進位為 micro-USD。實測輸入 13、輸出 11 token 為 US$0.0000068，記為 7。思考 token 計入輸出。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337304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5904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降級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強模型被供應商限流時降級一次並記錄；供應商預算用完時不降級，回 503。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125968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4568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門檻調整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以約 20 題測試集調整 300 字與關鍵字清單；模型換版、單價變更時重跑。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13／20｜計費與稽核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稽核只存 HMAC 與遮罩摘要，原文不落地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本機已驗收／雲端 M5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HMAC-SHA256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短句的一般雜湊可被字典攻擊還原；HMAC 需要金鑰。金鑰上雲後放 SSM SecureString。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81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摘要：遮罩後的前 50 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4728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順序固定為先遮罩、再截斷，避免個資被截成無法辨識的殘片。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48640" y="429768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4074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原文的活動範圍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731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只存在 Gateway 記憶體；不進佇列、資料庫與應用日誌。</a:t>
            </a:r>
            <a:endParaRPr lang="en-US" sz="1200" dirty="0"/>
          </a:p>
        </p:txBody>
      </p:sp>
      <p:pic>
        <p:nvPicPr>
          <p:cNvPr id="14" name="Image 0" descr="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45920"/>
            <a:ext cx="5925312" cy="313791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875272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M1 驗收（本機，JSON Lines）：以超過 50 字的句子呼叫，稽核有 prompt_hash 與 summary；搜尋原句後半段無結果。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14／20｜網路邊界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Zero Egress 改為受控出口：只有一個出口，而且有管控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設計定案／實作 M4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Bedrock Error 002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帳號層級封鎖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3063240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3422599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4039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改用 OpenAI API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5937199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6296558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7998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必須有對外出口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8811158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9170518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61958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受控出口</a:t>
            </a:r>
            <a:endParaRPr lang="en-US" sz="1400" dirty="0"/>
          </a:p>
        </p:txBody>
      </p:sp>
      <p:pic>
        <p:nvPicPr>
          <p:cNvPr id="16" name="Image 0" descr="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11091672" cy="105150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37032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AWS Support 結案回覆（2026-09-23）：帳號消費紀錄不足，Bedrock 團隊不開放模型存取，需由業務申請例外。</a:t>
            </a:r>
            <a:endParaRPr lang="en-US" sz="11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572000"/>
                <a:gridCol w="2286000"/>
                <a:gridCol w="29535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選項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做法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能否擋下直接以 IP 連線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評估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僅 NAT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沒有出口管控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B（採用）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NAT、DNS Firewall 放行清單、Security Group 僅開 443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否（殘餘風險）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幾乎零成本；可用查詢日誌實證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AWS 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 小時約增加 US$17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自架代理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多一台需修補的主機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15／20｜身分與金鑰管理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供應商端也做最小權限、硬性上限與短期金鑰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OpenAI 完成／AWS 端 M4</a:t>
            </a:r>
            <a:endParaRPr lang="en-US" sz="11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OpenAI 端防線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擋什麼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預付儲值 US$5，關閉自動加值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餘額用完即停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Project 硬性花費上限每月 US$2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比儲值更早擋下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模型白名單：僅兩顆模型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白名單外實測被擋（model_not_found）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金鑰 Restricted，只開 Chat Completions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無法使用會保存回應的 Responses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服務帳號金鑰，30 天到期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外洩也會自行失效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兩個不安全的預設值：自動加值預設開啟；金鑰預設永不過期。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7863840" y="1600200"/>
            <a:ext cx="37764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7863840" y="3749040"/>
            <a:ext cx="37764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170992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AWS 端：已完成（M0）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75688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主控台使用者啟用 MFA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刪除長期存取金鑰，CLI 改用臨時憑證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AWS Budgets US$20 告警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8587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AWS 端：待完成（M4、M6）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224528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Task Role 最小權限，不用萬用字元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金鑰放 SSM SecureString，啟動時注入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OIDC 取得臨時憑證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16／20｜供應鏈與 CI/CD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套件、映像與版本庫的基線已建立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基線完成／CI 於 M3、M6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已完成（M1）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193852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套件冷卻期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9385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uv 的 exclude-newer，日期寫死在版本庫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289864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986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基底映像鎖定 digest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898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同一份程式碼日後重建，結果相同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8640" y="385876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58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容器建置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8587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多階段、非 root、.dockerignore 白名單（建置內容 307 位元組）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81888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18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版本庫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8188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Secret 與 Push Protection、Dependabot；main 禁止強制推送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6002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待完成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7589520" y="1938528"/>
            <a:ext cx="4050792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8120" y="2103120"/>
            <a:ext cx="3593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CI：pytest、tfsec、Trivy（M3 起建立）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Action 釘在 commit SHA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OIDC 取得臨時憑證；CD 與 destroy 手動觸發（M6）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以有已知漏洞的舊映像驗證 Trivy 會擋下部署（M6）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17／20｜驗證、觀測與展示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每個驗收條件先寫成測試；故障以演練驗證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測試已建立／M5、M6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測試</a:t>
            </a:r>
            <a:endParaRPr lang="en-US" sz="2000" dirty="0"/>
          </a:p>
        </p:txBody>
      </p:sp>
      <p:sp>
        <p:nvSpPr>
          <p:cNvPr id="7" name="status-pill"/>
          <p:cNvSpPr/>
          <p:nvPr/>
        </p:nvSpPr>
        <p:spPr>
          <a:xfrm>
            <a:off x="2880360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已建立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170 個 pytest；模型一律用假的，不需金鑰、不花錢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驗收條件先寫成測試並確認失敗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測試曾擋下稽核紀錄遺失欄位的重構錯誤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334256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608576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故障演練</a:t>
            </a:r>
            <a:endParaRPr lang="en-US" sz="2000" dirty="0"/>
          </a:p>
        </p:txBody>
      </p:sp>
      <p:sp>
        <p:nvSpPr>
          <p:cNvPr id="11" name="status-pill"/>
          <p:cNvSpPr/>
          <p:nvPr/>
        </p:nvSpPr>
        <p:spPr>
          <a:xfrm>
            <a:off x="6665976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停用 Event Source Mapping，使用者仍取得回應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重新啟用後事件補記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處理失敗 3 次進入 DLQ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回應後強制終止，確認事件已在 SQS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119872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94192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觀測與展示</a:t>
            </a:r>
            <a:endParaRPr lang="en-US" sz="2000" dirty="0"/>
          </a:p>
        </p:txBody>
      </p:sp>
      <p:sp>
        <p:nvSpPr>
          <p:cNvPr id="15" name="status-pill"/>
          <p:cNvSpPr/>
          <p:nvPr/>
        </p:nvSpPr>
        <p:spPr>
          <a:xfrm>
            <a:off x="10451592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 端點；本機 Prometheus、Grafana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指標：請求數、token、成本、延遲、被拒次數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 Console：路由、成本、額度被擋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18／20｜成本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全期預估約 US$11；資源只在驗收時開啟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預估值／實際結案時補</a:t>
            </a:r>
            <a:endParaRPr lang="en-US" sz="11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項目（上雲約 50 小時）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Fargate 0.25 vCPU／0.5 GB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$0.77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$1.22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NAT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約 $3.15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公有 IPv4 × 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$0.75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DNS Firewall、S3、CloudWatch Logs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$0.27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Lambda、SQS、DynamoDB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$0（免費額度）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AWS 小計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約 $6.2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OpenAI 預付最低儲值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$5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132320" y="16002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406640" y="1600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約 US$11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0" y="16002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全期預估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7132320" y="29718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406640" y="2971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US$0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9718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實際花費（截至 10/12）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7132320" y="43434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406640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約 US$0.0025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0" y="43434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OpenAI 實際用量（截至 10/12）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做法：本機開發不開 AWS；雲端驗收以 terraform apply 建立、驗完即 destroy。忘記關閉時，閒置成本每日約 US$2.8。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19／20｜取捨與限制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不做清單，以及知識層的接入方式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清單已列／說明待補</a:t>
            </a:r>
            <a:endParaRPr lang="en-US" sz="11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43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不做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正式環境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AWS WAF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固定月費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 前加 rate-based rule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多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NAT 依 AZ 計費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至少 2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成本不成比例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依網域過濾出口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多供應商並接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範圍控制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LiteLLM 或 AgentCore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限速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以月額度為主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WAF 或 AgentCore 限流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知識檢索（RAG）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定位為治理層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見右側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殘餘風險：直接以 IP 連線的外洩；額度會小幅超扣（M2 實測額度 1000 用到 1120）。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6858000" y="1600200"/>
            <a:ext cx="4782312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132320" y="173736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知識層接入時（不實作，說明做法）</a:t>
            </a:r>
            <a:endParaRPr lang="en-US" sz="1200" dirty="0"/>
          </a:p>
        </p:txBody>
      </p:sp>
      <p:sp>
        <p:nvSpPr>
          <p:cNvPr id="9" name="step-num"/>
          <p:cNvSpPr/>
          <p:nvPr/>
        </p:nvSpPr>
        <p:spPr>
          <a:xfrm>
            <a:off x="7132320" y="22128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19456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經過同一個 Gateway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60604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embedding 與生成兩種呼叫同樣受身分、額度、計費、稽核、個資遮罩管理。</a:t>
            </a:r>
            <a:endParaRPr lang="en-US" sz="1200" dirty="0"/>
          </a:p>
        </p:txBody>
      </p:sp>
      <p:sp>
        <p:nvSpPr>
          <p:cNvPr id="12" name="step-num"/>
          <p:cNvSpPr/>
          <p:nvPr/>
        </p:nvSpPr>
        <p:spPr>
          <a:xfrm>
            <a:off x="7132320" y="34015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drift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79476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知識來源更新後檢索結果會改變，需定期重跑測試集並比對。</a:t>
            </a:r>
            <a:endParaRPr lang="en-US" sz="1200" dirty="0"/>
          </a:p>
        </p:txBody>
      </p:sp>
      <p:sp>
        <p:nvSpPr>
          <p:cNvPr id="15" name="step-num"/>
          <p:cNvSpPr/>
          <p:nvPr/>
        </p:nvSpPr>
        <p:spPr>
          <a:xfrm>
            <a:off x="7132320" y="45902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720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測試集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498348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以固定問答作為驗收基準。本案 M3 的路由測試集採同一做法：模型換版、單價變更、門檻調整時重跑。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技術細節 20／20｜升級路線與結論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正式環境的升級路線，以及這個專題證明了什麼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骨架／結案時定稿</a:t>
            </a:r>
            <a:endParaRPr lang="en-US" sz="11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6517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本專題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正式環境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可用性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單一可用區、單一容器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至少 2 AZ，每個 AZ 一個 NAT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出口管控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DNS Firewall 放行清單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加上 Network Firewall 依網域過濾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入口防護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ALB，HTTP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WAF rate-based rule；HTTPS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額度扣減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同步，M5 起非同步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預扣，事後多退少補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內容防護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regex 四類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託管的內容防護服務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供應商資料保留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入口遮罩降低風險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企業合約申請 Zero Data Retention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HTTPS 的 listener 連接埠與協定已在 Terraform 參數化，切換只需改變數。</a:t>
            </a:r>
            <a:endParaRPr lang="en-US" sz="1200" dirty="0"/>
          </a:p>
        </p:txBody>
      </p:sp>
      <p:sp>
        <p:nvSpPr>
          <p:cNvPr id="7" name="conclusion"/>
          <p:cNvSpPr/>
          <p:nvPr/>
        </p:nvSpPr>
        <p:spPr>
          <a:xfrm>
            <a:off x="7315200" y="1600200"/>
            <a:ext cx="4325112" cy="429768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178308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這個專題證明的三件事</a:t>
            </a:r>
            <a:endParaRPr lang="en-US" sz="1200" dirty="0"/>
          </a:p>
        </p:txBody>
      </p:sp>
      <p:sp>
        <p:nvSpPr>
          <p:cNvPr id="9" name="step-num"/>
          <p:cNvSpPr/>
          <p:nvPr/>
        </p:nvSpPr>
        <p:spPr>
          <a:xfrm>
            <a:off x="7589520" y="2331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28600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成本算得清楚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67919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每次呼叫以 usage 計價、歸屬到人</a:t>
            </a:r>
            <a:endParaRPr lang="en-US" sz="1200" dirty="0"/>
          </a:p>
        </p:txBody>
      </p:sp>
      <p:sp>
        <p:nvSpPr>
          <p:cNvPr id="12" name="step-num"/>
          <p:cNvSpPr/>
          <p:nvPr/>
        </p:nvSpPr>
        <p:spPr>
          <a:xfrm>
            <a:off x="7589520" y="32004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1546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用量擋得住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354787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月額度，讀不到額度時拒絕</a:t>
            </a:r>
            <a:endParaRPr lang="en-US" sz="1200" dirty="0"/>
          </a:p>
        </p:txBody>
      </p:sp>
      <p:sp>
        <p:nvSpPr>
          <p:cNvPr id="15" name="step-num"/>
          <p:cNvSpPr/>
          <p:nvPr/>
        </p:nvSpPr>
        <p:spPr>
          <a:xfrm>
            <a:off x="7589520" y="4069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02336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紀錄查得到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41655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只存 HMAC 與遮罩摘要，原文不落地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雲端工程師，負責 LLM 上線之後的治理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附錄｜素材狀態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各章節的素材狀態（截至 10/12）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問題與動機</a:t>
            </a:r>
            <a:endParaRPr lang="en-US" sz="1500" dirty="0"/>
          </a:p>
        </p:txBody>
      </p:sp>
      <p:sp>
        <p:nvSpPr>
          <p:cNvPr id="6" name="status-pill"/>
          <p:cNvSpPr/>
          <p:nvPr/>
        </p:nvSpPr>
        <p:spPr>
          <a:xfrm>
            <a:off x="3520440" y="1645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定位與範圍</a:t>
            </a:r>
            <a:endParaRPr lang="en-US" sz="1500" dirty="0"/>
          </a:p>
        </p:txBody>
      </p:sp>
      <p:sp>
        <p:nvSpPr>
          <p:cNvPr id="9" name="status-pill"/>
          <p:cNvSpPr/>
          <p:nvPr/>
        </p:nvSpPr>
        <p:spPr>
          <a:xfrm>
            <a:off x="3520440" y="2103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現成方案拆解</a:t>
            </a:r>
            <a:endParaRPr lang="en-US" sz="1500" dirty="0"/>
          </a:p>
        </p:txBody>
      </p:sp>
      <p:sp>
        <p:nvSpPr>
          <p:cNvPr id="12" name="status-pill"/>
          <p:cNvSpPr/>
          <p:nvPr/>
        </p:nvSpPr>
        <p:spPr>
          <a:xfrm>
            <a:off x="3520440" y="2560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系統架構</a:t>
            </a:r>
            <a:endParaRPr lang="en-US" sz="1500" dirty="0"/>
          </a:p>
        </p:txBody>
      </p:sp>
      <p:sp>
        <p:nvSpPr>
          <p:cNvPr id="15" name="status-pill"/>
          <p:cNvSpPr/>
          <p:nvPr/>
        </p:nvSpPr>
        <p:spPr>
          <a:xfrm>
            <a:off x="3520440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圖已有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身分與額度</a:t>
            </a:r>
            <a:endParaRPr lang="en-US" sz="1500" dirty="0"/>
          </a:p>
        </p:txBody>
      </p:sp>
      <p:sp>
        <p:nvSpPr>
          <p:cNvPr id="18" name="status-pill"/>
          <p:cNvSpPr/>
          <p:nvPr/>
        </p:nvSpPr>
        <p:spPr>
          <a:xfrm>
            <a:off x="3520440" y="34747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內容防護</a:t>
            </a:r>
            <a:endParaRPr lang="en-US" sz="1500" dirty="0"/>
          </a:p>
        </p:txBody>
      </p:sp>
      <p:sp>
        <p:nvSpPr>
          <p:cNvPr id="21" name="status-pill"/>
          <p:cNvSpPr/>
          <p:nvPr/>
        </p:nvSpPr>
        <p:spPr>
          <a:xfrm>
            <a:off x="3520440" y="3931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完成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路由與成本</a:t>
            </a:r>
            <a:endParaRPr lang="en-US" sz="1500" dirty="0"/>
          </a:p>
        </p:txBody>
      </p:sp>
      <p:sp>
        <p:nvSpPr>
          <p:cNvPr id="24" name="status-pill"/>
          <p:cNvSpPr/>
          <p:nvPr/>
        </p:nvSpPr>
        <p:spPr>
          <a:xfrm>
            <a:off x="3520440" y="4389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已實作／M3 驗收中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800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計費與稽核</a:t>
            </a:r>
            <a:endParaRPr lang="en-US" sz="1500" dirty="0"/>
          </a:p>
        </p:txBody>
      </p:sp>
      <p:sp>
        <p:nvSpPr>
          <p:cNvPr id="27" name="status-pill"/>
          <p:cNvSpPr/>
          <p:nvPr/>
        </p:nvSpPr>
        <p:spPr>
          <a:xfrm>
            <a:off x="3520440" y="4846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本機版已有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網路邊界</a:t>
            </a:r>
            <a:endParaRPr lang="en-US" sz="1500" dirty="0"/>
          </a:p>
        </p:txBody>
      </p:sp>
      <p:sp>
        <p:nvSpPr>
          <p:cNvPr id="30" name="status-pill"/>
          <p:cNvSpPr/>
          <p:nvPr/>
        </p:nvSpPr>
        <p:spPr>
          <a:xfrm>
            <a:off x="3520440" y="5303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轉折已有／M4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身分與金鑰管理</a:t>
            </a:r>
            <a:endParaRPr lang="en-US" sz="1500" dirty="0"/>
          </a:p>
        </p:txBody>
      </p:sp>
      <p:sp>
        <p:nvSpPr>
          <p:cNvPr id="33" name="status-pill"/>
          <p:cNvSpPr/>
          <p:nvPr/>
        </p:nvSpPr>
        <p:spPr>
          <a:xfrm>
            <a:off x="9253728" y="1645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OpenAI 端已有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784848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IaC 與 CI/CD</a:t>
            </a:r>
            <a:endParaRPr lang="en-US" sz="1500" dirty="0"/>
          </a:p>
        </p:txBody>
      </p:sp>
      <p:sp>
        <p:nvSpPr>
          <p:cNvPr id="36" name="status-pill"/>
          <p:cNvSpPr/>
          <p:nvPr/>
        </p:nvSpPr>
        <p:spPr>
          <a:xfrm>
            <a:off x="9253728" y="2103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M3、M6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281928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8484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供應鏈</a:t>
            </a:r>
            <a:endParaRPr lang="en-US" sz="1500" dirty="0"/>
          </a:p>
        </p:txBody>
      </p:sp>
      <p:sp>
        <p:nvSpPr>
          <p:cNvPr id="39" name="status-pill"/>
          <p:cNvSpPr/>
          <p:nvPr/>
        </p:nvSpPr>
        <p:spPr>
          <a:xfrm>
            <a:off x="9253728" y="2560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281928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784848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可觀測性</a:t>
            </a:r>
            <a:endParaRPr lang="en-US" sz="1500" dirty="0"/>
          </a:p>
        </p:txBody>
      </p:sp>
      <p:sp>
        <p:nvSpPr>
          <p:cNvPr id="42" name="status-pill"/>
          <p:cNvSpPr/>
          <p:nvPr/>
        </p:nvSpPr>
        <p:spPr>
          <a:xfrm>
            <a:off x="9253728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281928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784848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驗證</a:t>
            </a:r>
            <a:endParaRPr lang="en-US" sz="1500" dirty="0"/>
          </a:p>
        </p:txBody>
      </p:sp>
      <p:sp>
        <p:nvSpPr>
          <p:cNvPr id="45" name="status-pill"/>
          <p:cNvSpPr/>
          <p:nvPr/>
        </p:nvSpPr>
        <p:spPr>
          <a:xfrm>
            <a:off x="9253728" y="34747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pytest 已有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281928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15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展示</a:t>
            </a:r>
            <a:endParaRPr lang="en-US" sz="1500" dirty="0"/>
          </a:p>
        </p:txBody>
      </p:sp>
      <p:sp>
        <p:nvSpPr>
          <p:cNvPr id="48" name="status-pill"/>
          <p:cNvSpPr/>
          <p:nvPr/>
        </p:nvSpPr>
        <p:spPr>
          <a:xfrm>
            <a:off x="9253728" y="3931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281928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16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784848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成本</a:t>
            </a:r>
            <a:endParaRPr lang="en-US" sz="1500" dirty="0"/>
          </a:p>
        </p:txBody>
      </p:sp>
      <p:sp>
        <p:nvSpPr>
          <p:cNvPr id="51" name="status-pill"/>
          <p:cNvSpPr/>
          <p:nvPr/>
        </p:nvSpPr>
        <p:spPr>
          <a:xfrm>
            <a:off x="9253728" y="4389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預估已有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281928" y="4800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17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784848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取捨與限制</a:t>
            </a:r>
            <a:endParaRPr lang="en-US" sz="1500" dirty="0"/>
          </a:p>
        </p:txBody>
      </p:sp>
      <p:sp>
        <p:nvSpPr>
          <p:cNvPr id="54" name="status-pill"/>
          <p:cNvSpPr/>
          <p:nvPr/>
        </p:nvSpPr>
        <p:spPr>
          <a:xfrm>
            <a:off x="9253728" y="4846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清單已有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281928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18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6784848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升級路線與結論</a:t>
            </a:r>
            <a:endParaRPr lang="en-US" sz="1500" dirty="0"/>
          </a:p>
        </p:txBody>
      </p:sp>
      <p:sp>
        <p:nvSpPr>
          <p:cNvPr id="57" name="status-pill"/>
          <p:cNvSpPr/>
          <p:nvPr/>
        </p:nvSpPr>
        <p:spPr>
          <a:xfrm>
            <a:off x="9253728" y="5303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骨架已有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綠色為素材到位，黃色為部分到位，灰色為待該階段產出。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附錄｜時程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待產出章節與時程</a:t>
            </a:r>
            <a:endParaRPr lang="en-US" sz="30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074152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階段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產出的章節與畫面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預計完成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身分與額度、內容防護；S01～S04（已錄影）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10/9 完成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路由與成本、CI；S05～S07；省下的比例 X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網路邊界、身分與金鑰管理（雲端）、稽核寫入資料庫；S08～S11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10/25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非同步計費、故障演練；S12～S14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可觀測性、展示、供應鏈、CD；S15～S17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 情境下的額度管控（有條件）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視進度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收尾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影片初剪 11/4；兩支影片、簡報、文件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雲端畫面於各階段驗收時錄製，資源驗收後即 destroy。每完成一個階段，更新對應頁面的狀態標籤、畫面與旁白。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01｜一頁講完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每一次 AI 呼叫，都知道是誰、花多少、送出什麼</a:t>
            </a:r>
            <a:endParaRPr lang="en-US" sz="3400" dirty="0"/>
          </a:p>
        </p:txBody>
      </p:sp>
      <p:sp>
        <p:nvSpPr>
          <p:cNvPr id="10" name="status-pill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截至 10/12</a:t>
            </a:r>
            <a:endParaRPr lang="en-US" sz="1100" dirty="0"/>
          </a:p>
        </p:txBody>
      </p:sp>
      <p:sp>
        <p:nvSpPr>
          <p:cNvPr id="11" name="summary"/>
          <p:cNvSpPr txBox="1"/>
          <p:nvPr/>
        </p:nvSpPr>
        <p:spPr>
          <a:xfrm>
            <a:off x="548640" y="166420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sz="1800" dirty="0">
                <a:solidFill>
                  <a:schemeClr val="bg2"/>
                </a:solidFill>
              </a:rPr>
              <a:t>公司開放員工用 AI 之後，需要有人管得住錢、人和資料。</a:t>
            </a:r>
            <a:endParaRPr lang="en-US" sz="1800" dirty="0"/>
          </a:p>
          <a:p>
            <a:pPr algn="l" indent="0" marL="0">
              <a:spcBef>
                <a:spcPts val="400"/>
              </a:spcBef>
              <a:buNone/>
            </a:pPr>
            <a:r>
              <a:rPr lang="zh-TW" sz="1800" dirty="0">
                <a:solidFill>
                  <a:schemeClr val="bg2"/>
                </a:solidFill>
              </a:rPr>
              <a:t>我在使用者與模型之間加了一層閘道：本機已用真的模型驗收四個場景，下一步是部署到 AWS。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2633472"/>
            <a:ext cx="3520440" cy="228600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card-label"/>
          <p:cNvSpPr txBox="1"/>
          <p:nvPr/>
        </p:nvSpPr>
        <p:spPr>
          <a:xfrm>
            <a:off x="868680" y="28620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sz="1200" b="1" dirty="0">
                <a:solidFill>
                  <a:schemeClr val="accent2"/>
                </a:solidFill>
              </a:rPr>
              <a:t>問題</a:t>
            </a:r>
            <a:endParaRPr lang="en-US" sz="1200" dirty="0"/>
          </a:p>
        </p:txBody>
      </p:sp>
      <p:sp>
        <p:nvSpPr>
          <p:cNvPr id="14" name="card-heading"/>
          <p:cNvSpPr txBox="1"/>
          <p:nvPr/>
        </p:nvSpPr>
        <p:spPr>
          <a:xfrm>
            <a:off x="868680" y="3136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200" b="1" dirty="0">
                <a:solidFill>
                  <a:schemeClr val="bg1"/>
                </a:solidFill>
              </a:rPr>
              <a:t>AI 開放了，卻管不住</a:t>
            </a:r>
            <a:endParaRPr lang="en-US" sz="2200" dirty="0"/>
          </a:p>
        </p:txBody>
      </p:sp>
      <p:sp>
        <p:nvSpPr>
          <p:cNvPr id="15" name="dot"/>
          <p:cNvSpPr/>
          <p:nvPr/>
        </p:nvSpPr>
        <p:spPr>
          <a:xfrm>
            <a:off x="868680" y="382219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card-line"/>
          <p:cNvSpPr txBox="1"/>
          <p:nvPr/>
        </p:nvSpPr>
        <p:spPr>
          <a:xfrm>
            <a:off x="1051560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帳單只有總額，看不出是誰花的</a:t>
            </a:r>
            <a:endParaRPr lang="en-US" sz="1400" dirty="0"/>
          </a:p>
        </p:txBody>
      </p:sp>
      <p:sp>
        <p:nvSpPr>
          <p:cNvPr id="17" name="dot"/>
          <p:cNvSpPr/>
          <p:nvPr/>
        </p:nvSpPr>
        <p:spPr>
          <a:xfrm>
            <a:off x="868680" y="4169664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card-line"/>
          <p:cNvSpPr txBox="1"/>
          <p:nvPr/>
        </p:nvSpPr>
        <p:spPr>
          <a:xfrm>
            <a:off x="1051560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一個寫錯的迴圈，一晚燒掉預算</a:t>
            </a:r>
            <a:endParaRPr lang="en-US" sz="1400" dirty="0"/>
          </a:p>
        </p:txBody>
      </p:sp>
      <p:sp>
        <p:nvSpPr>
          <p:cNvPr id="19" name="dot"/>
          <p:cNvSpPr/>
          <p:nvPr/>
        </p:nvSpPr>
        <p:spPr>
          <a:xfrm>
            <a:off x="868680" y="451713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card-line"/>
          <p:cNvSpPr txBox="1"/>
          <p:nvPr/>
        </p:nvSpPr>
        <p:spPr>
          <a:xfrm>
            <a:off x="1051560" y="4425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個資被貼進去，事後查不到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4334256" y="2633472"/>
            <a:ext cx="3520440" cy="228600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card-label"/>
          <p:cNvSpPr txBox="1"/>
          <p:nvPr/>
        </p:nvSpPr>
        <p:spPr>
          <a:xfrm>
            <a:off x="4654296" y="28620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sz="1200" b="1" dirty="0">
                <a:solidFill>
                  <a:schemeClr val="accent2"/>
                </a:solidFill>
              </a:rPr>
              <a:t>解法</a:t>
            </a:r>
            <a:endParaRPr lang="en-US" sz="1200" dirty="0"/>
          </a:p>
        </p:txBody>
      </p:sp>
      <p:sp>
        <p:nvSpPr>
          <p:cNvPr id="23" name="card-heading"/>
          <p:cNvSpPr txBox="1"/>
          <p:nvPr/>
        </p:nvSpPr>
        <p:spPr>
          <a:xfrm>
            <a:off x="4654296" y="3136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200" b="1" dirty="0">
                <a:solidFill>
                  <a:schemeClr val="bg1"/>
                </a:solidFill>
              </a:rPr>
              <a:t>所有呼叫先過一道閘道</a:t>
            </a:r>
            <a:endParaRPr lang="en-US" sz="2200" dirty="0"/>
          </a:p>
        </p:txBody>
      </p:sp>
      <p:sp>
        <p:nvSpPr>
          <p:cNvPr id="24" name="dot"/>
          <p:cNvSpPr/>
          <p:nvPr/>
        </p:nvSpPr>
        <p:spPr>
          <a:xfrm>
            <a:off x="4654296" y="382219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card-line"/>
          <p:cNvSpPr txBox="1"/>
          <p:nvPr/>
        </p:nvSpPr>
        <p:spPr>
          <a:xfrm>
            <a:off x="4837176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驗身分、查額度，超用就擋</a:t>
            </a:r>
            <a:endParaRPr lang="en-US" sz="1400" dirty="0"/>
          </a:p>
        </p:txBody>
      </p:sp>
      <p:sp>
        <p:nvSpPr>
          <p:cNvPr id="26" name="dot"/>
          <p:cNvSpPr/>
          <p:nvPr/>
        </p:nvSpPr>
        <p:spPr>
          <a:xfrm>
            <a:off x="4654296" y="4169664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card-line"/>
          <p:cNvSpPr txBox="1"/>
          <p:nvPr/>
        </p:nvSpPr>
        <p:spPr>
          <a:xfrm>
            <a:off x="4837176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送出前遮個資，自動選模型</a:t>
            </a:r>
            <a:endParaRPr lang="en-US" sz="1400" dirty="0"/>
          </a:p>
        </p:txBody>
      </p:sp>
      <p:sp>
        <p:nvSpPr>
          <p:cNvPr id="28" name="dot"/>
          <p:cNvSpPr/>
          <p:nvPr/>
        </p:nvSpPr>
        <p:spPr>
          <a:xfrm>
            <a:off x="4654296" y="451713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card-line"/>
          <p:cNvSpPr txBox="1"/>
          <p:nvPr/>
        </p:nvSpPr>
        <p:spPr>
          <a:xfrm>
            <a:off x="4837176" y="4425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每筆記帳、留稽核，不存原文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8119872" y="2633472"/>
            <a:ext cx="3520440" cy="228600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card-label"/>
          <p:cNvSpPr txBox="1"/>
          <p:nvPr/>
        </p:nvSpPr>
        <p:spPr>
          <a:xfrm>
            <a:off x="8439912" y="28620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sz="1200" b="1" dirty="0">
                <a:solidFill>
                  <a:schemeClr val="accent2"/>
                </a:solidFill>
              </a:rPr>
              <a:t>現況</a:t>
            </a:r>
            <a:endParaRPr lang="en-US" sz="1200" dirty="0"/>
          </a:p>
        </p:txBody>
      </p:sp>
      <p:sp>
        <p:nvSpPr>
          <p:cNvPr id="32" name="card-heading"/>
          <p:cNvSpPr txBox="1"/>
          <p:nvPr/>
        </p:nvSpPr>
        <p:spPr>
          <a:xfrm>
            <a:off x="8439912" y="3136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200" b="1" dirty="0">
                <a:solidFill>
                  <a:schemeClr val="bg1"/>
                </a:solidFill>
              </a:rPr>
              <a:t>本機已驗收，接著上雲</a:t>
            </a:r>
            <a:endParaRPr lang="en-US" sz="2200" dirty="0"/>
          </a:p>
        </p:txBody>
      </p:sp>
      <p:sp>
        <p:nvSpPr>
          <p:cNvPr id="33" name="dot"/>
          <p:cNvSpPr/>
          <p:nvPr/>
        </p:nvSpPr>
        <p:spPr>
          <a:xfrm>
            <a:off x="8439912" y="382219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card-line"/>
          <p:cNvSpPr txBox="1"/>
          <p:nvPr/>
        </p:nvSpPr>
        <p:spPr>
          <a:xfrm>
            <a:off x="8622792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身分、額度、個資遮罩：已驗收</a:t>
            </a:r>
            <a:endParaRPr lang="en-US" sz="1400" dirty="0"/>
          </a:p>
        </p:txBody>
      </p:sp>
      <p:sp>
        <p:nvSpPr>
          <p:cNvPr id="35" name="dot"/>
          <p:cNvSpPr/>
          <p:nvPr/>
        </p:nvSpPr>
        <p:spPr>
          <a:xfrm>
            <a:off x="8439912" y="4169664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card-line"/>
          <p:cNvSpPr txBox="1"/>
          <p:nvPr/>
        </p:nvSpPr>
        <p:spPr>
          <a:xfrm>
            <a:off x="8622792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智慧路由：已實作，驗收中</a:t>
            </a:r>
            <a:endParaRPr lang="en-US" sz="1400" dirty="0"/>
          </a:p>
        </p:txBody>
      </p:sp>
      <p:sp>
        <p:nvSpPr>
          <p:cNvPr id="37" name="dot"/>
          <p:cNvSpPr/>
          <p:nvPr/>
        </p:nvSpPr>
        <p:spPr>
          <a:xfrm>
            <a:off x="8439912" y="4517136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card-line"/>
          <p:cNvSpPr txBox="1"/>
          <p:nvPr/>
        </p:nvSpPr>
        <p:spPr>
          <a:xfrm>
            <a:off x="8622792" y="4425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上雲與非同步記帳：10/19 起</a:t>
            </a:r>
            <a:endParaRPr lang="en-US" sz="1400" dirty="0"/>
          </a:p>
        </p:txBody>
      </p:sp>
      <p:sp>
        <p:nvSpPr>
          <p:cNvPr id="39" name="stat-number"/>
          <p:cNvSpPr txBox="1"/>
          <p:nvPr/>
        </p:nvSpPr>
        <p:spPr>
          <a:xfrm>
            <a:off x="548640" y="51755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3200" b="1" dirty="0">
                <a:solidFill>
                  <a:schemeClr val="accent2"/>
                </a:solidFill>
              </a:rPr>
              <a:t>170</a:t>
            </a:r>
            <a:endParaRPr lang="en-US" sz="3200" dirty="0"/>
          </a:p>
        </p:txBody>
      </p:sp>
      <p:sp>
        <p:nvSpPr>
          <p:cNvPr id="40" name="stat-label"/>
          <p:cNvSpPr txBox="1"/>
          <p:nvPr/>
        </p:nvSpPr>
        <p:spPr>
          <a:xfrm>
            <a:off x="548640" y="5705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300" dirty="0">
                <a:solidFill>
                  <a:schemeClr val="bg2"/>
                </a:solidFill>
              </a:rPr>
              <a:t>個自動測試，全數通過</a:t>
            </a:r>
            <a:endParaRPr lang="en-US" sz="1300" dirty="0"/>
          </a:p>
        </p:txBody>
      </p:sp>
      <p:sp>
        <p:nvSpPr>
          <p:cNvPr id="41" name="stat-number"/>
          <p:cNvSpPr txBox="1"/>
          <p:nvPr/>
        </p:nvSpPr>
        <p:spPr>
          <a:xfrm>
            <a:off x="3376879" y="51755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3200" b="1" dirty="0">
                <a:solidFill>
                  <a:schemeClr val="accent2"/>
                </a:solidFill>
              </a:rPr>
              <a:t>4</a:t>
            </a:r>
            <a:endParaRPr lang="en-US" sz="3200" dirty="0"/>
          </a:p>
        </p:txBody>
      </p:sp>
      <p:sp>
        <p:nvSpPr>
          <p:cNvPr id="42" name="stat-label"/>
          <p:cNvSpPr txBox="1"/>
          <p:nvPr/>
        </p:nvSpPr>
        <p:spPr>
          <a:xfrm>
            <a:off x="3376879" y="5705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300" dirty="0">
                <a:solidFill>
                  <a:schemeClr val="bg2"/>
                </a:solidFill>
              </a:rPr>
              <a:t>個場景以真的模型驗收並錄影</a:t>
            </a:r>
            <a:endParaRPr lang="en-US" sz="1300" dirty="0"/>
          </a:p>
        </p:txBody>
      </p:sp>
      <p:sp>
        <p:nvSpPr>
          <p:cNvPr id="43" name="stat-number"/>
          <p:cNvSpPr txBox="1"/>
          <p:nvPr/>
        </p:nvSpPr>
        <p:spPr>
          <a:xfrm>
            <a:off x="6205118" y="51755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3200" b="1" dirty="0">
                <a:solidFill>
                  <a:schemeClr val="accent2"/>
                </a:solidFill>
              </a:rPr>
              <a:t>20 倍</a:t>
            </a:r>
            <a:endParaRPr lang="en-US" sz="3200" dirty="0"/>
          </a:p>
        </p:txBody>
      </p:sp>
      <p:sp>
        <p:nvSpPr>
          <p:cNvPr id="44" name="stat-label"/>
          <p:cNvSpPr txBox="1"/>
          <p:nvPr/>
        </p:nvSpPr>
        <p:spPr>
          <a:xfrm>
            <a:off x="6205118" y="5705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300" dirty="0">
                <a:solidFill>
                  <a:schemeClr val="bg2"/>
                </a:solidFill>
              </a:rPr>
              <a:t>模型單價差，路由省錢的來源</a:t>
            </a:r>
            <a:endParaRPr lang="en-US" sz="1300" dirty="0"/>
          </a:p>
        </p:txBody>
      </p:sp>
      <p:sp>
        <p:nvSpPr>
          <p:cNvPr id="45" name="stat-number"/>
          <p:cNvSpPr txBox="1"/>
          <p:nvPr/>
        </p:nvSpPr>
        <p:spPr>
          <a:xfrm>
            <a:off x="9033358" y="51755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3200" b="1" dirty="0">
                <a:solidFill>
                  <a:schemeClr val="accent2"/>
                </a:solidFill>
              </a:rPr>
              <a:t>11</a:t>
            </a:r>
            <a:endParaRPr lang="en-US" sz="3200" dirty="0"/>
          </a:p>
        </p:txBody>
      </p:sp>
      <p:sp>
        <p:nvSpPr>
          <p:cNvPr id="46" name="stat-label"/>
          <p:cNvSpPr txBox="1"/>
          <p:nvPr/>
        </p:nvSpPr>
        <p:spPr>
          <a:xfrm>
            <a:off x="9033358" y="5705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300" dirty="0">
                <a:solidFill>
                  <a:schemeClr val="bg2"/>
                </a:solidFill>
              </a:rPr>
              <a:t>個監管環節，逐一對照現成方案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03｜解決前後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之前只能事後看帳單，之後每次呼叫都被管到</a:t>
            </a:r>
            <a:endParaRPr lang="en-US" sz="3400" dirty="0"/>
          </a:p>
        </p:txBody>
      </p:sp>
      <p:sp>
        <p:nvSpPr>
          <p:cNvPr id="10" name="status-pill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截至 10/12</a:t>
            </a:r>
            <a:endParaRPr lang="en-US" sz="1100" dirty="0"/>
          </a:p>
        </p:txBody>
      </p:sp>
      <p:sp>
        <p:nvSpPr>
          <p:cNvPr id="11" name="col-head"/>
          <p:cNvSpPr txBox="1"/>
          <p:nvPr/>
        </p:nvSpPr>
        <p:spPr>
          <a:xfrm>
            <a:off x="777240" y="17190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200" b="1" dirty="0">
                <a:solidFill>
                  <a:schemeClr val="accent2"/>
                </a:solidFill>
              </a:rPr>
              <a:t>面向</a:t>
            </a:r>
            <a:endParaRPr lang="en-US" sz="1200" dirty="0"/>
          </a:p>
        </p:txBody>
      </p:sp>
      <p:sp>
        <p:nvSpPr>
          <p:cNvPr id="12" name="col-head"/>
          <p:cNvSpPr txBox="1"/>
          <p:nvPr/>
        </p:nvSpPr>
        <p:spPr>
          <a:xfrm>
            <a:off x="2514600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200" b="1" dirty="0">
                <a:solidFill>
                  <a:schemeClr val="accent2"/>
                </a:solidFill>
              </a:rPr>
              <a:t>之前：供應商的金鑰直接發給員工</a:t>
            </a:r>
            <a:endParaRPr lang="en-US" sz="1200" dirty="0"/>
          </a:p>
        </p:txBody>
      </p:sp>
      <p:sp>
        <p:nvSpPr>
          <p:cNvPr id="13" name="col-head"/>
          <p:cNvSpPr txBox="1"/>
          <p:nvPr/>
        </p:nvSpPr>
        <p:spPr>
          <a:xfrm>
            <a:off x="6355080" y="17190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200" b="1" dirty="0">
                <a:solidFill>
                  <a:schemeClr val="accent2"/>
                </a:solidFill>
              </a:rPr>
              <a:t>之後：所有呼叫先經過 LLM Gateway</a:t>
            </a:r>
            <a:endParaRPr lang="en-US" sz="1200" dirty="0"/>
          </a:p>
        </p:txBody>
      </p:sp>
      <p:sp>
        <p:nvSpPr>
          <p:cNvPr id="14" name="col-head"/>
          <p:cNvSpPr txBox="1"/>
          <p:nvPr/>
        </p:nvSpPr>
        <p:spPr>
          <a:xfrm>
            <a:off x="10360152" y="1719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200" b="1" dirty="0">
                <a:solidFill>
                  <a:schemeClr val="accent2"/>
                </a:solidFill>
              </a:rPr>
              <a:t>狀態</a:t>
            </a:r>
            <a:endParaRPr lang="en-US" sz="1200" dirty="0"/>
          </a:p>
        </p:txBody>
      </p:sp>
      <p:sp>
        <p:nvSpPr>
          <p:cNvPr id="15" name="row"/>
          <p:cNvSpPr/>
          <p:nvPr/>
        </p:nvSpPr>
        <p:spPr>
          <a:xfrm>
            <a:off x="548640" y="2103120"/>
            <a:ext cx="11091672" cy="5486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row-aspect"/>
          <p:cNvSpPr txBox="1"/>
          <p:nvPr/>
        </p:nvSpPr>
        <p:spPr>
          <a:xfrm>
            <a:off x="777240" y="2103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誰在用</a:t>
            </a:r>
            <a:endParaRPr lang="en-US" sz="1500" dirty="0"/>
          </a:p>
        </p:txBody>
      </p:sp>
      <p:sp>
        <p:nvSpPr>
          <p:cNvPr id="17" name="row-before"/>
          <p:cNvSpPr txBox="1"/>
          <p:nvPr/>
        </p:nvSpPr>
        <p:spPr>
          <a:xfrm>
            <a:off x="25146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共用一把金鑰，分不出是誰</a:t>
            </a:r>
            <a:endParaRPr lang="en-US" sz="1400" dirty="0"/>
          </a:p>
        </p:txBody>
      </p:sp>
      <p:sp>
        <p:nvSpPr>
          <p:cNvPr id="18" name="row-arrow"/>
          <p:cNvSpPr txBox="1"/>
          <p:nvPr/>
        </p:nvSpPr>
        <p:spPr>
          <a:xfrm>
            <a:off x="5870448" y="2103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row-after"/>
          <p:cNvSpPr txBox="1"/>
          <p:nvPr/>
        </p:nvSpPr>
        <p:spPr>
          <a:xfrm>
            <a:off x="6355080" y="2103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b="1" dirty="0">
                <a:solidFill>
                  <a:schemeClr val="bg1"/>
                </a:solidFill>
              </a:rPr>
              <a:t>每人一把 Key，只存雜湊，錯的一律拒絕</a:t>
            </a:r>
            <a:endParaRPr lang="en-US" sz="1400" dirty="0"/>
          </a:p>
        </p:txBody>
      </p:sp>
      <p:sp>
        <p:nvSpPr>
          <p:cNvPr id="20" name="row-status"/>
          <p:cNvSpPr/>
          <p:nvPr/>
        </p:nvSpPr>
        <p:spPr>
          <a:xfrm>
            <a:off x="10360152" y="2240280"/>
            <a:ext cx="1097280" cy="274320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bg1"/>
                </a:solidFill>
              </a:rPr>
              <a:t>已驗收</a:t>
            </a:r>
            <a:endParaRPr lang="en-US" sz="1100" dirty="0"/>
          </a:p>
        </p:txBody>
      </p:sp>
      <p:sp>
        <p:nvSpPr>
          <p:cNvPr id="21" name="row"/>
          <p:cNvSpPr/>
          <p:nvPr/>
        </p:nvSpPr>
        <p:spPr>
          <a:xfrm>
            <a:off x="548640" y="2724912"/>
            <a:ext cx="11091672" cy="5486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row-aspect"/>
          <p:cNvSpPr txBox="1"/>
          <p:nvPr/>
        </p:nvSpPr>
        <p:spPr>
          <a:xfrm>
            <a:off x="777240" y="27249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花多少</a:t>
            </a:r>
            <a:endParaRPr lang="en-US" sz="1500" dirty="0"/>
          </a:p>
        </p:txBody>
      </p:sp>
      <p:sp>
        <p:nvSpPr>
          <p:cNvPr id="23" name="row-before"/>
          <p:cNvSpPr txBox="1"/>
          <p:nvPr/>
        </p:nvSpPr>
        <p:spPr>
          <a:xfrm>
            <a:off x="2514600" y="2724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月底收到帳單才知道</a:t>
            </a:r>
            <a:endParaRPr lang="en-US" sz="1400" dirty="0"/>
          </a:p>
        </p:txBody>
      </p:sp>
      <p:sp>
        <p:nvSpPr>
          <p:cNvPr id="24" name="row-arrow"/>
          <p:cNvSpPr txBox="1"/>
          <p:nvPr/>
        </p:nvSpPr>
        <p:spPr>
          <a:xfrm>
            <a:off x="5870448" y="27249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row-after"/>
          <p:cNvSpPr txBox="1"/>
          <p:nvPr/>
        </p:nvSpPr>
        <p:spPr>
          <a:xfrm>
            <a:off x="6355080" y="27249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b="1" dirty="0">
                <a:solidFill>
                  <a:schemeClr val="bg1"/>
                </a:solidFill>
              </a:rPr>
              <a:t>每人每月有美元額度，用完就擋</a:t>
            </a:r>
            <a:endParaRPr lang="en-US" sz="1400" dirty="0"/>
          </a:p>
        </p:txBody>
      </p:sp>
      <p:sp>
        <p:nvSpPr>
          <p:cNvPr id="26" name="row-status"/>
          <p:cNvSpPr/>
          <p:nvPr/>
        </p:nvSpPr>
        <p:spPr>
          <a:xfrm>
            <a:off x="10360152" y="2862072"/>
            <a:ext cx="1097280" cy="274320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bg1"/>
                </a:solidFill>
              </a:rPr>
              <a:t>已驗收</a:t>
            </a:r>
            <a:endParaRPr lang="en-US" sz="1100" dirty="0"/>
          </a:p>
        </p:txBody>
      </p:sp>
      <p:sp>
        <p:nvSpPr>
          <p:cNvPr id="27" name="row"/>
          <p:cNvSpPr/>
          <p:nvPr/>
        </p:nvSpPr>
        <p:spPr>
          <a:xfrm>
            <a:off x="548640" y="3346704"/>
            <a:ext cx="11091672" cy="5486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row-aspect"/>
          <p:cNvSpPr txBox="1"/>
          <p:nvPr/>
        </p:nvSpPr>
        <p:spPr>
          <a:xfrm>
            <a:off x="777240" y="33467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用哪顆模型</a:t>
            </a:r>
            <a:endParaRPr lang="en-US" sz="1500" dirty="0"/>
          </a:p>
        </p:txBody>
      </p:sp>
      <p:sp>
        <p:nvSpPr>
          <p:cNvPr id="29" name="row-before"/>
          <p:cNvSpPr txBox="1"/>
          <p:nvPr/>
        </p:nvSpPr>
        <p:spPr>
          <a:xfrm>
            <a:off x="2514600" y="3346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使用者自己選，通常選最貴的</a:t>
            </a:r>
            <a:endParaRPr lang="en-US" sz="1400" dirty="0"/>
          </a:p>
        </p:txBody>
      </p:sp>
      <p:sp>
        <p:nvSpPr>
          <p:cNvPr id="30" name="row-arrow"/>
          <p:cNvSpPr txBox="1"/>
          <p:nvPr/>
        </p:nvSpPr>
        <p:spPr>
          <a:xfrm>
            <a:off x="5870448" y="33467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row-after"/>
          <p:cNvSpPr txBox="1"/>
          <p:nvPr/>
        </p:nvSpPr>
        <p:spPr>
          <a:xfrm>
            <a:off x="6355080" y="3346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b="1" dirty="0">
                <a:solidFill>
                  <a:schemeClr val="bg1"/>
                </a:solidFill>
              </a:rPr>
              <a:t>依內容自動選，簡單的用便宜 20 倍的</a:t>
            </a:r>
            <a:endParaRPr lang="en-US" sz="1400" dirty="0"/>
          </a:p>
        </p:txBody>
      </p:sp>
      <p:sp>
        <p:nvSpPr>
          <p:cNvPr id="32" name="row-status"/>
          <p:cNvSpPr/>
          <p:nvPr/>
        </p:nvSpPr>
        <p:spPr>
          <a:xfrm>
            <a:off x="10360152" y="3483864"/>
            <a:ext cx="1097280" cy="274320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tx1"/>
                </a:solidFill>
              </a:rPr>
              <a:t>驗收中</a:t>
            </a:r>
            <a:endParaRPr lang="en-US" sz="1100" dirty="0"/>
          </a:p>
        </p:txBody>
      </p:sp>
      <p:sp>
        <p:nvSpPr>
          <p:cNvPr id="33" name="row"/>
          <p:cNvSpPr/>
          <p:nvPr/>
        </p:nvSpPr>
        <p:spPr>
          <a:xfrm>
            <a:off x="548640" y="3968496"/>
            <a:ext cx="11091672" cy="5486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row-aspect"/>
          <p:cNvSpPr txBox="1"/>
          <p:nvPr/>
        </p:nvSpPr>
        <p:spPr>
          <a:xfrm>
            <a:off x="777240" y="39684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個資</a:t>
            </a:r>
            <a:endParaRPr lang="en-US" sz="1500" dirty="0"/>
          </a:p>
        </p:txBody>
      </p:sp>
      <p:sp>
        <p:nvSpPr>
          <p:cNvPr id="35" name="row-before"/>
          <p:cNvSpPr txBox="1"/>
          <p:nvPr/>
        </p:nvSpPr>
        <p:spPr>
          <a:xfrm>
            <a:off x="2514600" y="39684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原文直接送到供應商</a:t>
            </a:r>
            <a:endParaRPr lang="en-US" sz="1400" dirty="0"/>
          </a:p>
        </p:txBody>
      </p:sp>
      <p:sp>
        <p:nvSpPr>
          <p:cNvPr id="36" name="row-arrow"/>
          <p:cNvSpPr txBox="1"/>
          <p:nvPr/>
        </p:nvSpPr>
        <p:spPr>
          <a:xfrm>
            <a:off x="5870448" y="396849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row-after"/>
          <p:cNvSpPr txBox="1"/>
          <p:nvPr/>
        </p:nvSpPr>
        <p:spPr>
          <a:xfrm>
            <a:off x="6355080" y="39684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b="1" dirty="0">
                <a:solidFill>
                  <a:schemeClr val="bg1"/>
                </a:solidFill>
              </a:rPr>
              <a:t>送出前遮罩四類個資，模型只看到標籤</a:t>
            </a:r>
            <a:endParaRPr lang="en-US" sz="1400" dirty="0"/>
          </a:p>
        </p:txBody>
      </p:sp>
      <p:sp>
        <p:nvSpPr>
          <p:cNvPr id="38" name="row-status"/>
          <p:cNvSpPr/>
          <p:nvPr/>
        </p:nvSpPr>
        <p:spPr>
          <a:xfrm>
            <a:off x="10360152" y="4105656"/>
            <a:ext cx="1097280" cy="274320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bg1"/>
                </a:solidFill>
              </a:rPr>
              <a:t>已驗收</a:t>
            </a:r>
            <a:endParaRPr lang="en-US" sz="1100" dirty="0"/>
          </a:p>
        </p:txBody>
      </p:sp>
      <p:sp>
        <p:nvSpPr>
          <p:cNvPr id="39" name="row"/>
          <p:cNvSpPr/>
          <p:nvPr/>
        </p:nvSpPr>
        <p:spPr>
          <a:xfrm>
            <a:off x="548640" y="4590288"/>
            <a:ext cx="11091672" cy="5486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row-aspect"/>
          <p:cNvSpPr txBox="1"/>
          <p:nvPr/>
        </p:nvSpPr>
        <p:spPr>
          <a:xfrm>
            <a:off x="777240" y="45902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紀錄</a:t>
            </a:r>
            <a:endParaRPr lang="en-US" sz="1500" dirty="0"/>
          </a:p>
        </p:txBody>
      </p:sp>
      <p:sp>
        <p:nvSpPr>
          <p:cNvPr id="41" name="row-before"/>
          <p:cNvSpPr txBox="1"/>
          <p:nvPr/>
        </p:nvSpPr>
        <p:spPr>
          <a:xfrm>
            <a:off x="2514600" y="45902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查不到誰問過什麼</a:t>
            </a:r>
            <a:endParaRPr lang="en-US" sz="1400" dirty="0"/>
          </a:p>
        </p:txBody>
      </p:sp>
      <p:sp>
        <p:nvSpPr>
          <p:cNvPr id="42" name="row-arrow"/>
          <p:cNvSpPr txBox="1"/>
          <p:nvPr/>
        </p:nvSpPr>
        <p:spPr>
          <a:xfrm>
            <a:off x="5870448" y="45902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row-after"/>
          <p:cNvSpPr txBox="1"/>
          <p:nvPr/>
        </p:nvSpPr>
        <p:spPr>
          <a:xfrm>
            <a:off x="6355080" y="4590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b="1" dirty="0">
                <a:solidFill>
                  <a:schemeClr val="bg1"/>
                </a:solidFill>
              </a:rPr>
              <a:t>每筆留稽核：誰、模型、成本，不存原文</a:t>
            </a:r>
            <a:endParaRPr lang="en-US" sz="1400" dirty="0"/>
          </a:p>
        </p:txBody>
      </p:sp>
      <p:sp>
        <p:nvSpPr>
          <p:cNvPr id="44" name="row-status"/>
          <p:cNvSpPr/>
          <p:nvPr/>
        </p:nvSpPr>
        <p:spPr>
          <a:xfrm>
            <a:off x="10360152" y="4727448"/>
            <a:ext cx="1097280" cy="274320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bg1"/>
                </a:solidFill>
              </a:rPr>
              <a:t>已驗收</a:t>
            </a:r>
            <a:endParaRPr lang="en-US" sz="1100" dirty="0"/>
          </a:p>
        </p:txBody>
      </p:sp>
      <p:sp>
        <p:nvSpPr>
          <p:cNvPr id="45" name="row"/>
          <p:cNvSpPr/>
          <p:nvPr/>
        </p:nvSpPr>
        <p:spPr>
          <a:xfrm>
            <a:off x="548640" y="5212080"/>
            <a:ext cx="11091672" cy="5486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row-aspect"/>
          <p:cNvSpPr txBox="1"/>
          <p:nvPr/>
        </p:nvSpPr>
        <p:spPr>
          <a:xfrm>
            <a:off x="777240" y="5212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連到哪裡</a:t>
            </a:r>
            <a:endParaRPr lang="en-US" sz="1500" dirty="0"/>
          </a:p>
        </p:txBody>
      </p:sp>
      <p:sp>
        <p:nvSpPr>
          <p:cNvPr id="47" name="row-before"/>
          <p:cNvSpPr txBox="1"/>
          <p:nvPr/>
        </p:nvSpPr>
        <p:spPr>
          <a:xfrm>
            <a:off x="251460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dirty="0">
                <a:solidFill>
                  <a:schemeClr val="bg2"/>
                </a:solidFill>
              </a:rPr>
              <a:t>程式可以連到任何網站</a:t>
            </a:r>
            <a:endParaRPr lang="en-US" sz="1400" dirty="0"/>
          </a:p>
        </p:txBody>
      </p:sp>
      <p:sp>
        <p:nvSpPr>
          <p:cNvPr id="48" name="row-arrow"/>
          <p:cNvSpPr txBox="1"/>
          <p:nvPr/>
        </p:nvSpPr>
        <p:spPr>
          <a:xfrm>
            <a:off x="5870448" y="5212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49" name="row-after"/>
          <p:cNvSpPr txBox="1"/>
          <p:nvPr/>
        </p:nvSpPr>
        <p:spPr>
          <a:xfrm>
            <a:off x="6355080" y="5212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400" b="1" dirty="0">
                <a:solidFill>
                  <a:schemeClr val="bg1"/>
                </a:solidFill>
              </a:rPr>
              <a:t>只有一個出口，只放行名單上的網域</a:t>
            </a:r>
            <a:endParaRPr lang="en-US" sz="1400" dirty="0"/>
          </a:p>
        </p:txBody>
      </p:sp>
      <p:sp>
        <p:nvSpPr>
          <p:cNvPr id="50" name="row-status"/>
          <p:cNvSpPr/>
          <p:nvPr/>
        </p:nvSpPr>
        <p:spPr>
          <a:xfrm>
            <a:off x="10360152" y="5349240"/>
            <a:ext cx="1097280" cy="274320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100" b="1" dirty="0">
                <a:solidFill>
                  <a:schemeClr val="bg1"/>
                </a:solidFill>
              </a:rPr>
              <a:t>10/19 起</a:t>
            </a:r>
            <a:endParaRPr lang="en-US" sz="1100" dirty="0"/>
          </a:p>
        </p:txBody>
      </p:sp>
      <p:sp>
        <p:nvSpPr>
          <p:cNvPr id="51" name="footnote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1200" dirty="0">
                <a:solidFill>
                  <a:schemeClr val="accent4"/>
                </a:solidFill>
              </a:rPr>
              <a:t>「之前」是情境假設，不是特定公司的現況。已驗收的四項都用真的模型跑過並錄影；「驗收中」已實作並通過自動測試。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期末簡報 v1</dc:title>
  <dc:subject>PptxGenJS Presentation</dc:subject>
  <dc:creator>杜柏豫</dc:creator>
  <cp:lastModifiedBy>杜柏豫</cp:lastModifiedBy>
  <cp:revision>1</cp:revision>
  <dcterms:created xsi:type="dcterms:W3CDTF">2026-10-05T17:56:08Z</dcterms:created>
  <dcterms:modified xsi:type="dcterms:W3CDTF">2026-10-05T17:56:08Z</dcterms:modified>
</cp:coreProperties>
</file>