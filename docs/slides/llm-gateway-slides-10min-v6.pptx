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7" r:id="rId41"/>
    <p:sldId id="298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附錄" id="{99C6C19C-65CF-80A7-C07A-FDC133EC2B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efault-1" id="{903F8E3D-8652-777C-DA0B-A6152230B278}">
          <p14:sldIdLst>
            <p14:sldId id="290"/>
            <p14:sldId id="291"/>
            <p14:sldId id="292"/>
            <p14:sldId id="293"/>
            <p14:sldId id="295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9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51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上線之後的治理層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呼叫，都知道是誰、花多少、送出什麼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96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8" name="Image 0" descr="/home/claude/slides/v6/media/s01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26" y="1588770"/>
            <a:ext cx="553212" cy="5532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4847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14232" y="1069848"/>
            <a:ext cx="1600200" cy="1600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1" name="Image 1" descr="/home/claude/slides/v6/media/s01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77" y="1429893"/>
            <a:ext cx="880110" cy="8801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36015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10725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4" name="Image 2" descr="/home/claude/slides/v6/media/s01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226" y="1588770"/>
            <a:ext cx="553212" cy="5532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76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4847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0405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個資送出前遮罩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兩次上雲的 AWS 累計費用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5852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11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 約 5 分鐘（含影片）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一句話說清楚這個閘道管什麼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開放之後，管不住的三件事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從月底看帳單，到每次呼叫都被管到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8728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304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7448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467448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三道關卡・雲端架構・一次呼叫的流程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8728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35204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3048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67448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67448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節費・個資・額度・看不到的地方・Demo 影片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78728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3048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3048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467448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467448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三個數字、評估後不做的、下一步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在員工和 AI 模型之間，加一道閘道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7" name="Image 0" descr="/home/claude/slides/v6/media/s0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920490"/>
            <a:ext cx="342900" cy="342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00200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31538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05858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2" name="Image 1" descr="/home/claude/slides/v6/media/s03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308" y="3920490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28818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4505858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960157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34477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7" name="Image 2" descr="/home/claude/slides/v6/media/s03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927" y="3920490"/>
            <a:ext cx="342900" cy="3429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57437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8234477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pic>
        <p:nvPicPr>
          <p:cNvPr id="14" name="Image 0" descr="/home/claude/slides/v6/media/s0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9164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4289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8" name="Image 1" descr="/home/claude/slides/v6/media/s0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09" y="30175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2920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231538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32908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3" name="Image 2" descr="/home/claude/slides/v6/media/s0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228" y="301752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31538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4505858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
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960157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61526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8" name="Image 3" descr="/home/claude/slides/v6/media/s04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846" y="301752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60157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30" name="Text 24"/>
          <p:cNvSpPr txBox="1"/>
          <p:nvPr/>
        </p:nvSpPr>
        <p:spPr>
          <a:xfrm>
            <a:off x="8234477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治理轉型：從事後抓包，到每次呼叫即時攔截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之前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之後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6" name="Image 0" descr="/home/claude/slides/v6/media/s05-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2926080" y="22860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546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20840" y="265176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3524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356616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5" name="Image 1" descr="/home/claude/slides/v6/media/s05-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4904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1732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2926080" y="3566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1546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720840" y="393192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3524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02920" y="484632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34" name="Image 2" descr="/home/claude/slides/v6/media/s05-Ima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292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417320" y="4846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600" dirty="0"/>
          </a:p>
        </p:txBody>
      </p:sp>
      <p:sp>
        <p:nvSpPr>
          <p:cNvPr id="36" name="Shape 31"/>
          <p:cNvSpPr/>
          <p:nvPr/>
        </p:nvSpPr>
        <p:spPr>
          <a:xfrm>
            <a:off x="2926080" y="48463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5468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6720840" y="521208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635240" y="4846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4" name="Image 0" descr="/home/claude/slides/v6/media/s0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200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5448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286000" y="173736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1" descr="/home/claude/slides/v6/media/s06-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9659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47472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34747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96696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1069848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3" name="Image 2" descr="/home/claude/slides/v6/media/s0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0" y="20345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4241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2252929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8" name="Image 3" descr="/home/claude/slides/v6/media/s06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05765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981548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31538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551578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4" name="Image 4" descr="/home/claude/slides/v6/media/s06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028" y="405765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20258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4551578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9710166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960157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280197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40" name="Image 5" descr="/home/claude/slides/v6/media/s06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647" y="4057650"/>
            <a:ext cx="342900" cy="3429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148877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280197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解法提綱｜雲端架構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外面連不進來，出口只放行名單上的網域；每日層用完就拆，長期層平常不拆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1" y="1572768"/>
            <a:ext cx="2545080" cy="4892040"/>
          </a:xfrm>
          <a:prstGeom prst="roundRect">
            <a:avLst>
              <a:gd name="adj" fmla="val 3469"/>
            </a:avLst>
          </a:prstGeom>
          <a:solidFill>
            <a:srgbClr val="1C2F38"/>
          </a:solidFill>
          <a:ln w="12700">
            <a:solidFill>
              <a:srgbClr val="1C2F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769864"/>
            <a:ext cx="11140441" cy="694944"/>
          </a:xfrm>
          <a:prstGeom prst="roundRect">
            <a:avLst>
              <a:gd name="adj" fmla="val 13158"/>
            </a:avLst>
          </a:prstGeom>
          <a:solidFill>
            <a:srgbClr val="1C2F38"/>
          </a:solidFill>
          <a:ln w="12700">
            <a:solidFill>
              <a:srgbClr val="1C2F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61848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長期層・平常不拆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1572768"/>
            <a:ext cx="6720840" cy="3867912"/>
          </a:xfrm>
          <a:prstGeom prst="roundRect">
            <a:avLst>
              <a:gd name="adj" fmla="val 2273"/>
            </a:avLst>
          </a:prstGeom>
          <a:solidFill>
            <a:srgbClr val="0F2F36"/>
          </a:solidFill>
          <a:ln w="12700">
            <a:solidFill>
              <a:srgbClr val="0F2F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572768"/>
            <a:ext cx="6720840" cy="3886200"/>
          </a:xfrm>
          <a:prstGeom prst="roundRect">
            <a:avLst>
              <a:gd name="adj" fmla="val 2273"/>
            </a:avLst>
          </a:prstGeom>
          <a:solidFill>
            <a:srgbClr val="14262B">
              <a:alpha val="0"/>
            </a:srgbClr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VPC・每日層（用完就拆）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1938528"/>
            <a:ext cx="6446520" cy="1143000"/>
          </a:xfrm>
          <a:prstGeom prst="roundRect">
            <a:avLst>
              <a:gd name="adj" fmla="val 6400"/>
            </a:avLst>
          </a:prstGeom>
          <a:solidFill>
            <a:srgbClr val="16393E"/>
          </a:solidFill>
          <a:ln w="12700">
            <a:solidFill>
              <a:srgbClr val="1639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30428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23744" y="230428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入口 :80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用 HTTP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30428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230428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95160" y="230428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0024" y="23042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網際網路閘道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286000" y="3264408"/>
            <a:ext cx="6446520" cy="2176272"/>
          </a:xfrm>
          <a:prstGeom prst="roundRect">
            <a:avLst>
              <a:gd name="adj" fmla="val 3333"/>
            </a:avLst>
          </a:prstGeom>
          <a:solidFill>
            <a:srgbClr val="102D33"/>
          </a:solidFill>
          <a:ln w="12700">
            <a:solidFill>
              <a:srgbClr val="102D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320521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私有子網・沒有公開 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675888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23744" y="3675888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367588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7104" y="367588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468880" y="4800600"/>
            <a:ext cx="6080760" cy="530352"/>
          </a:xfrm>
          <a:prstGeom prst="roundRect">
            <a:avLst>
              <a:gd name="adj" fmla="val 13793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4800600"/>
            <a:ext cx="5971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 → DynamoDB・S3（不走網際網路）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02920" y="20574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" y="20574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30175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" y="30175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7784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" y="45720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7784" y="45720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測試掃描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 部署・拆除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89720" y="2304288"/>
            <a:ext cx="2361895" cy="658368"/>
          </a:xfrm>
          <a:prstGeom prst="roundRect">
            <a:avLst>
              <a:gd name="adj" fmla="val 11111"/>
            </a:avLst>
          </a:prstGeom>
          <a:solidFill>
            <a:srgbClr val="14262B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44585" y="230428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89721" y="3675888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44585" y="3675888"/>
            <a:ext cx="23070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89721" y="4663440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44584" y="4663440"/>
            <a:ext cx="23070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四張表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4360" y="58978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9224" y="58978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角色・OIDC 信任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88920" y="5897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843784" y="5897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image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343400" y="58978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98264" y="5897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760720" y="58978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15584" y="5897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366760" y="5897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21624" y="58978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S3（Terraform 帳本）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874520" y="2331720"/>
            <a:ext cx="594360" cy="3017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502920" y="1783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164310" y="2962656"/>
            <a:ext cx="0" cy="71323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389120" y="3950208"/>
            <a:ext cx="116128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550408" y="2962656"/>
            <a:ext cx="0" cy="9875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29400" y="2633472"/>
            <a:ext cx="3657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549640" y="2633472"/>
            <a:ext cx="640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8549640" y="23408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 flipV="1">
            <a:off x="4023360" y="3478573"/>
            <a:ext cx="0" cy="197315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0" y="3487717"/>
            <a:ext cx="57150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38360" y="3593592"/>
            <a:ext cx="0" cy="82296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6172200" y="3240829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 flipH="1">
            <a:off x="8549640" y="405993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8549640" y="37856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0" y="4453128"/>
            <a:ext cx="0" cy="347472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549640" y="506577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429000" y="4453128"/>
            <a:ext cx="0" cy="347472"/>
          </a:xfrm>
          <a:prstGeom prst="line">
            <a:avLst/>
          </a:prstGeom>
          <a:noFill/>
          <a:ln w="22225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9464040" y="5330952"/>
            <a:ext cx="0" cy="566928"/>
          </a:xfrm>
          <a:prstGeom prst="line">
            <a:avLst/>
          </a:prstGeom>
          <a:noFill/>
          <a:ln w="22225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874520" y="2715768"/>
            <a:ext cx="594360" cy="57607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874520" y="2807208"/>
            <a:ext cx="594360" cy="121615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5029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 /metrics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188720" y="5440680"/>
            <a:ext cx="0" cy="45720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1234440" y="5577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 換一小時角色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874520" y="5029200"/>
            <a:ext cx="274320" cy="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8710860" y="1325880"/>
            <a:ext cx="2743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03090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請求／對外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40484" y="1325880"/>
            <a:ext cx="274320" cy="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26052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698480" y="1325880"/>
            <a:ext cx="274320" cy="0"/>
          </a:xfrm>
          <a:prstGeom prst="line">
            <a:avLst/>
          </a:prstGeom>
          <a:noFill/>
          <a:ln w="31750">
            <a:solidFill>
              <a:srgbClr val="5B7C8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101852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部署（虛線）</a:t>
            </a:r>
            <a:endParaRPr lang="en-US" sz="1200" dirty="0"/>
          </a:p>
        </p:txBody>
      </p:sp>
      <p:sp>
        <p:nvSpPr>
          <p:cNvPr id="91" name="Shape 65">
            <a:extLst>
              <a:ext uri="{FF2B5EF4-FFF2-40B4-BE49-F238E27FC236}">
                <a16:creationId xmlns:a16="http://schemas.microsoft.com/office/drawing/2014/main" id="{499A055A-7F4E-C90D-121F-2ECA8A32B3E5}"/>
              </a:ext>
            </a:extLst>
          </p:cNvPr>
          <p:cNvSpPr/>
          <p:nvPr/>
        </p:nvSpPr>
        <p:spPr>
          <a:xfrm flipV="1">
            <a:off x="9736756" y="3477127"/>
            <a:ext cx="0" cy="197315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前六步是門禁，後五步做事；紅色是擋下時回的代碼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20140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1201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8840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420051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037271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037271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420051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54391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854391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65971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337182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954402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95440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3718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71522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771522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3102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254313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871533" y="1938528"/>
            <a:ext cx="365760" cy="3657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871533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254313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00233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171444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788664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878866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171444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05784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605784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817364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88575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705795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10705795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88575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預寫 0 元帳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522915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10522915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88675" y="3291840"/>
            <a:ext cx="0" cy="6400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420051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037271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3037271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2420051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 flipH="1">
            <a:off x="4065971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337182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954402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495440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4337182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5983102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6254313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871533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6871533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6254313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688653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6688653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 flipH="1">
            <a:off x="7900233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8171444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8788664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878866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171444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605784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 txBox="1"/>
          <p:nvPr/>
        </p:nvSpPr>
        <p:spPr>
          <a:xfrm>
            <a:off x="8605784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 flipH="1">
            <a:off x="9817364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10088575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10705795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10705795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1008857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步之後，送往 OpenAI 與寫入稽核的內容，都已是遮罩後的內容</a:t>
            </a:r>
            <a:endParaRPr lang="en-US" sz="1600" dirty="0"/>
          </a:p>
        </p:txBody>
      </p:sp>
      <p:sp>
        <p:nvSpPr>
          <p:cNvPr id="80" name="TextBox 79"/>
          <p:cNvSpPr txBox="1"/>
          <p:nvPr/>
        </p:nvSpPr>
        <p:spPr>
          <a:xfrm>
            <a:off x="502920" y="15179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2A541"/>
                </a:solidFill>
                <a:latin typeface="Microsoft JhengHei"/>
              </a:rPr>
              <a:t>門禁（1–6）：任何一步擋下，就回代碼、不碰模型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362102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C6CA"/>
                </a:solidFill>
                <a:latin typeface="Microsoft JhengHei"/>
              </a:rPr>
              <a:t>做事（7–11）：確認帳單進了佇列，才回傳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5" name="Image 0" descr="/home/claude/slides/v6/media/s0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31538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0" name="Image 1" descr="/home/claude/slides/v6/media/s0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45938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145938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960157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5" name="Image 2" descr="/home/claude/slides/v6/media/s0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74557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874557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02920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77240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閒置幾乎免費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77240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帳本、ECR、四張資料表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OIDC、ECS、Worker 角色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DLQ、日誌群組、告警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233008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507328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按小時計費，用完拆除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507328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VPC、子網、安全群組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NAT、DNS 防火牆、ALB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服務、Lambda Worker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502920" y="516636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6" name="Image 3" descr="/home/claude/slides/v6/media/s0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15" y="5377815"/>
            <a:ext cx="445770" cy="44577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508760" y="516636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 daily 標籤的資源；用完當天就拆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技術實踐｜Demo Console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問了一題設計題：路由選強模型，本次用量與剩餘額度即時更新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pic>
        <p:nvPicPr>
          <p:cNvPr id="13" name="Image 0" descr="/home/claude/slides/v6/media/s10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323759" cy="47823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8360335" cy="4818888"/>
          </a:xfrm>
          <a:prstGeom prst="roundRect">
            <a:avLst>
              <a:gd name="adj" fmla="val 75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00999" y="1572768"/>
            <a:ext cx="2587776" cy="4782312"/>
          </a:xfrm>
          <a:prstGeom prst="roundRect">
            <a:avLst>
              <a:gd name="adj" fmla="val 353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75319" y="1755648"/>
            <a:ext cx="2130576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右欄由上而下是：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本次用量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就是接下來的：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簡單的問題交給便宜的模型；兩題真的送出去，稽核記下理由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「把這句翻成英文」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7452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短句、沒有關鍵字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「設計多人共用的 AI 服務」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3212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字或含設計、分析等關鍵字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41080" y="1572768"/>
            <a:ext cx="3047695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1572768"/>
            <a:ext cx="2773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單價差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規則由公司定，使用者不能自己選模型</a:t>
            </a:r>
            <a:endParaRPr lang="en-US" sz="1600" dirty="0"/>
          </a:p>
        </p:txBody>
      </p:sp>
      <p:pic>
        <p:nvPicPr>
          <p:cNvPr id="31" name="Image 0" descr="/home/claude/slides/v6/media/s12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61488"/>
            <a:ext cx="5455768" cy="257991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3318096" y="3109777"/>
            <a:ext cx="1789492" cy="136736"/>
          </a:xfrm>
          <a:prstGeom prst="roundRect">
            <a:avLst>
              <a:gd name="adj" fmla="val 334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3472" y="3907230"/>
            <a:ext cx="2436000" cy="151699"/>
          </a:xfrm>
          <a:prstGeom prst="roundRect">
            <a:avLst>
              <a:gd name="adj" fmla="val 301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3472" y="5035864"/>
            <a:ext cx="1714748" cy="159439"/>
          </a:xfrm>
          <a:prstGeom prst="roundRect">
            <a:avLst>
              <a:gd name="adj" fmla="val 2867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pic>
        <p:nvPicPr>
          <p:cNvPr id="35" name="Image 1" descr="/home/claude/slides/v6/media/s1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2761488"/>
            <a:ext cx="5045574" cy="301752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261263" y="3708386"/>
            <a:ext cx="1603483" cy="140315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61263" y="4479966"/>
            <a:ext cx="2252849" cy="140315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61263" y="5512925"/>
            <a:ext cx="1796729" cy="147255"/>
          </a:xfrm>
          <a:prstGeom prst="roundRect">
            <a:avLst>
              <a:gd name="adj" fmla="val 3104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02920" y="5414558"/>
            <a:ext cx="545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6233008" y="5852160"/>
            <a:ext cx="545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選擇理由 keyword 也記在稽核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題實測，不是模擬；省更多很簡單，答對比較難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00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23160" y="4315968"/>
            <a:ext cx="27432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88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26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983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為什麼不選省 54.5% 的規則：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門檻放寬到 500 字，最難的一題回答被截斷；省更多很簡單，答對比較難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572768"/>
            <a:ext cx="6705295" cy="4645152"/>
          </a:xfrm>
          <a:prstGeom prst="roundRect">
            <a:avLst>
              <a:gd name="adj" fmla="val 196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pic>
        <p:nvPicPr>
          <p:cNvPr id="22" name="Image 0" descr="/home/claude/slides/v6/media/s1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73936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60720" y="1682496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Grafana：誰花多少、被擋幾次，不用等月底</a:t>
            </a:r>
            <a:endParaRPr lang="en-US" sz="1600" dirty="0"/>
          </a:p>
        </p:txBody>
      </p:sp>
      <p:pic>
        <p:nvPicPr>
          <p:cNvPr id="24" name="Image 1" descr="/home/claude/slides/v6/media/s13-S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441448"/>
            <a:ext cx="6248095" cy="32810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193792" y="2423160"/>
            <a:ext cx="6284671" cy="3317652"/>
          </a:xfrm>
          <a:prstGeom prst="roundRect">
            <a:avLst>
              <a:gd name="adj" fmla="val 1102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技術實踐｜節費：備援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強模型塞車時，自動改派便宜模型，回答照給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pic>
        <p:nvPicPr>
          <p:cNvPr id="13" name="Image 0" descr="/home/claude/slides/v6/media/s18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94" y="1572768"/>
            <a:ext cx="8502306" cy="3017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62549" y="1762268"/>
            <a:ext cx="3975678" cy="254679"/>
          </a:xfrm>
          <a:prstGeom prst="roundRect">
            <a:avLst>
              <a:gd name="adj" fmla="val 1795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6253" y="3339967"/>
            <a:ext cx="2443563" cy="791358"/>
          </a:xfrm>
          <a:prstGeom prst="roundRect">
            <a:avLst>
              <a:gd name="adj" fmla="val 648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16253" y="4417996"/>
            <a:ext cx="1585680" cy="186684"/>
          </a:xfrm>
          <a:prstGeom prst="roundRect">
            <a:avLst>
              <a:gd name="adj" fmla="val 38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4645152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畫面標 SIMULATION：限流是模擬的，其餘都是真的請求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稽核記下改派的模型與理由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07738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08906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fallback: True，理由 RateLimitError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112557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13725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micro-USD，回答照給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使用者不用重送，也不用知道換了模型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號碼在離開公司之前，就被換成標籤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/home/claude/slides/v6/media/console-pii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635240" cy="43867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7671816" cy="4423308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5640" y="2090402"/>
            <a:ext cx="4061948" cy="482541"/>
          </a:xfrm>
          <a:prstGeom prst="roundRect">
            <a:avLst>
              <a:gd name="adj" fmla="val 94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141" y="2616810"/>
            <a:ext cx="3664915" cy="526408"/>
          </a:xfrm>
          <a:prstGeom prst="roundRect">
            <a:avLst>
              <a:gd name="adj" fmla="val 86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07186" y="2616810"/>
            <a:ext cx="1847728" cy="263204"/>
          </a:xfrm>
          <a:prstGeom prst="roundRect">
            <a:avLst>
              <a:gd name="adj" fmla="val 1737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6032652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一句話塞四種個資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回答只剩標籤，送出前已遮罩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1481328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304288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0" y="276148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2" name="Image 1" descr="/home/claude/slides/v6/media/s1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85292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61120" y="276148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412480" y="326440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5" name="Image 2" descr="/home/claude/slides/v6/media/s1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335584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61120" y="326440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412480" y="376732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8" name="Image 3" descr="/home/claude/slides/v6/media/s1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85876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1120" y="376732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412480" y="427024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31" name="Image 4" descr="/home/claude/slides/v6/media/s19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6168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961120" y="427024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8412480" y="500176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4" name="Image 5" descr="/home/claude/slides/v6/media/s19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5924" y="5125212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98280" y="4956048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8412480" y="5760720"/>
            <a:ext cx="3273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</a:rPr>
              <a:t>遮罩用規則比對（regex），不經模型、不多一次呼叫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紀錄裡也查不到原文：稽核只留雜湊值與遮罩後的摘要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/home/claude/slides/v6/media/s21-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315200" cy="395580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1932" y="1779657"/>
            <a:ext cx="1411834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932" y="3435162"/>
            <a:ext cx="7193768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1932" y="4883383"/>
            <a:ext cx="3359140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5834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表，由 Lambda Worker 寫入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92440" y="1572768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1645920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這一筆已記帳、已扣額度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2440" y="2825496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898648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字的雜湊值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 HMAC；拿原文來搜，搜不到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092440" y="4078224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93608" y="4151376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800" dirty="0"/>
          </a:p>
        </p:txBody>
      </p:sp>
      <p:pic>
        <p:nvPicPr>
          <p:cNvPr id="24" name="Image 1" descr="/home/claude/slides/v6/media/pii-search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985775"/>
            <a:ext cx="3324101" cy="32358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84632" y="5967487"/>
            <a:ext cx="3360677" cy="360161"/>
          </a:xfrm>
          <a:prstGeom prst="roundRect">
            <a:avLst>
              <a:gd name="adj" fmla="val 10155"/>
            </a:avLst>
          </a:prstGeom>
          <a:solidFill>
            <a:srgbClr val="14262B">
              <a:alpha val="0"/>
            </a:srgbClr>
          </a:solidFill>
          <a:ln w="9525">
            <a:solidFill>
              <a:srgbClr val="2E9E6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6520" y="5912623"/>
            <a:ext cx="5242255" cy="469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拿原本的號碼去搜稽核紀錄：0 筆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本機與雲端的紀錄都一樣，沒有原文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用完就擋，最多只燒掉自己那一份；讀不到額度就拒絕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pic>
        <p:nvPicPr>
          <p:cNvPr id="13" name="Image 0" descr="/home/claude/slides/v6/media/console-quota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583680" cy="378257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620256" cy="3819147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43169" y="3464053"/>
            <a:ext cx="1777593" cy="775427"/>
          </a:xfrm>
          <a:prstGeom prst="roundRect">
            <a:avLst>
              <a:gd name="adj" fmla="val 50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769" y="4402131"/>
            <a:ext cx="2205532" cy="310170"/>
          </a:xfrm>
          <a:prstGeom prst="roundRect">
            <a:avLst>
              <a:gd name="adj" fmla="val 12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428491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carol 額度歸零：剩餘 US$0，下一題直接被擋，告知 11/1 恢復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60920" y="1572768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9" name="Image 1" descr="/home/claude/slides/v6/media/s2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099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46720" y="152704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60920" y="235000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2" name="Image 2" descr="/home/claude/slides/v6/media/s22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4871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0" y="230428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pic>
        <p:nvPicPr>
          <p:cNvPr id="24" name="Image 3" descr="/home/claude/slides/v6/media/s24-Image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172968"/>
            <a:ext cx="4325111" cy="198955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42632" y="3154679"/>
            <a:ext cx="4361687" cy="2026127"/>
          </a:xfrm>
          <a:prstGeom prst="roundRect">
            <a:avLst>
              <a:gd name="adj" fmla="val 236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73906" y="4103595"/>
            <a:ext cx="2108094" cy="298535"/>
          </a:xfrm>
          <a:prstGeom prst="roundRect">
            <a:avLst>
              <a:gd name="adj" fmla="val 2212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73906" y="4642248"/>
            <a:ext cx="1567002" cy="121970"/>
          </a:xfrm>
          <a:prstGeom prst="roundRect">
            <a:avLst>
              <a:gd name="adj" fmla="val 697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60920" y="5253959"/>
            <a:ext cx="43251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停掉資料庫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再問一次：503，fail-closed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額度｜用完就擋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的月額度故意設很小：用到 1,039，下一次就是 429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/home/claude/slides/v6/media/s2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4371040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5756" y="1807312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5756" y="2724377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5756" y="3641443"/>
            <a:ext cx="554248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5756" y="4100210"/>
            <a:ext cx="3608730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5756" y="4793052"/>
            <a:ext cx="2420245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5756" y="5699797"/>
            <a:ext cx="4195324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94000" y="157276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95168" y="164592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194000" y="312724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95168" y="320040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194000" y="468172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95168" y="475488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告知下個月 1 號 00:00 才恢復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①｜先拆 LiteLLM：兩個靜默錯誤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沒有任何錯誤訊息，帳就已經不對；修了它們，才修自己的設計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pic>
        <p:nvPicPr>
          <p:cNvPr id="13" name="Image 0" descr="/home/claude/slides/v6/media/s27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455768" cy="21758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7297" y="3513661"/>
            <a:ext cx="3937325" cy="128595"/>
          </a:xfrm>
          <a:prstGeom prst="roundRect">
            <a:avLst>
              <a:gd name="adj" fmla="val 35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5" name="Image 1" descr="/home/claude/slides/v6/media/s27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572768"/>
            <a:ext cx="5455768" cy="236202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97386" y="2022734"/>
            <a:ext cx="2567484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97386" y="2955026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97386" y="3700954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4088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233008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34176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02920" y="5324682"/>
            <a:ext cx="11185855" cy="1030398"/>
          </a:xfrm>
          <a:prstGeom prst="roundRect">
            <a:avLst>
              <a:gd name="adj" fmla="val 887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5519841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5" name="Image 2" descr="/home/claude/slides/v6/media/s25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679861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00200" y="5324682"/>
            <a:ext cx="9905695" cy="103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　</a:t>
            </a: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沒有單價，就拒絕呼叫；先寫帳，再回答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①｜主動告警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靜默錯誤 vs. 主動告警：異常當下就通知到信箱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pic>
        <p:nvPicPr>
          <p:cNvPr id="13" name="Image 0" descr="/home/claude/slides/v6/media/s28-ALARM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29968"/>
            <a:ext cx="4752505" cy="2651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45978" y="4123798"/>
            <a:ext cx="688638" cy="151415"/>
          </a:xfrm>
          <a:prstGeom prst="roundRect">
            <a:avLst>
              <a:gd name="adj" fmla="val 301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1647" y="2751247"/>
            <a:ext cx="950501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pic>
        <p:nvPicPr>
          <p:cNvPr id="16" name="Image 1" descr="/home/claude/slides/v6/media/ok-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45" y="2029968"/>
            <a:ext cx="6159030" cy="254141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35459" y="4144421"/>
            <a:ext cx="708288" cy="165192"/>
          </a:xfrm>
          <a:prstGeom prst="roundRect">
            <a:avLst>
              <a:gd name="adj" fmla="val 2767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74435" y="2596703"/>
            <a:ext cx="880741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1572768"/>
            <a:ext cx="356616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OK → ALARM（測試日誌觸發）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20624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10/27 23:45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529745" y="1572768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529745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ALARM → OK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861465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分鐘後恢復 OK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4791456"/>
            <a:ext cx="47525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OK → ALARM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之後每次請求回 503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5529745" y="4791456"/>
            <a:ext cx="6159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ALARM → OK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路徑：日誌 → CloudWatch → SNS → 信箱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以一筆測試日誌觸發告警，確認整條通知路徑可用；真實的預算用完尚未發生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實測驗證｜私有子網不直接接網際網路閘道，出站只經 NAT ＋ DNS 防火牆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1572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71800" y="1984248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3320" y="15727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355080" y="1709928"/>
            <a:ext cx="457200" cy="18288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2075688"/>
            <a:ext cx="457200" cy="1828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03720" y="1572768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1" name="Image 0" descr="/home/claude/slides/v6/media/s2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64592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60920" y="157276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名單上：</a:t>
            </a: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＋ 必要的 AWS 服務網域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03720" y="2011680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4" name="Image 1" descr="/home/claude/slides/v6/media/s2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08483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360920" y="201168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名單外：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6" name="Image 2" descr="/home/claude/slides/v6/media/s30-Image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24328"/>
            <a:ext cx="11185855" cy="306309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146230" y="3973929"/>
            <a:ext cx="1203598" cy="128038"/>
          </a:xfrm>
          <a:prstGeom prst="roundRect">
            <a:avLst>
              <a:gd name="adj" fmla="val 3570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56743" y="4127697"/>
            <a:ext cx="2281914" cy="781396"/>
          </a:xfrm>
          <a:prstGeom prst="roundRect">
            <a:avLst>
              <a:gd name="adj" fmla="val 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02920" y="577886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私有子網只接 S3、DynamoDB 兩條 Endpoint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0 個私有子網路由至網際網路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②｜一鍵拆除每日層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用完當天拆光；拆完之後，每天的 AWS 費用接近 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Image 0" descr="/home/claude/slides/v6/media/s32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005917" cy="3520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15935" y="1620998"/>
            <a:ext cx="961136" cy="285860"/>
          </a:xfrm>
          <a:prstGeom prst="roundRect">
            <a:avLst>
              <a:gd name="adj" fmla="val 1599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6744" y="4202185"/>
            <a:ext cx="1468736" cy="276707"/>
          </a:xfrm>
          <a:prstGeom prst="roundRect">
            <a:avLst>
              <a:gd name="adj" fmla="val 1652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202936"/>
            <a:ext cx="63775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19 個資源｜第一次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751576"/>
            <a:ext cx="63775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11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40 個資源｜第三次，等 Lambda 網卡收回</a:t>
            </a:r>
            <a:endParaRPr lang="en-US" sz="1600" dirty="0"/>
          </a:p>
        </p:txBody>
      </p:sp>
      <p:pic>
        <p:nvPicPr>
          <p:cNvPr id="18" name="Image 1" descr="/home/claude/slides/v6/media/s33-S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877" y="1572768"/>
            <a:ext cx="5859899" cy="269093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655122" y="2272412"/>
            <a:ext cx="627009" cy="1628017"/>
          </a:xfrm>
          <a:prstGeom prst="roundRect">
            <a:avLst>
              <a:gd name="adj" fmla="val 7292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55390" y="2595324"/>
            <a:ext cx="627009" cy="1305105"/>
          </a:xfrm>
          <a:prstGeom prst="roundRect">
            <a:avLst>
              <a:gd name="adj" fmla="val 729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28877" y="4355146"/>
            <a:ext cx="58598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10/19 上雲驗收：約 US$0.3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10/23 上雲演練：約 US$0.22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觀察期 10/19～10/24；矮的橘色柱子是查帳本身的費用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③｜持續整合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每次推送先過三關，沒過就進不了 main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5" name="Image 0" descr="/home/claude/slides/v6/media/s3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444 個，含真實資料庫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1538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9" name="Image 1" descr="/home/claude/slides/v6/media/s3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5938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Trivy；攔下過 1 個弱點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960157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3" name="Image 2" descr="/home/claude/slides/v6/media/s3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874557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IaC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＋ CodeQL</a:t>
            </a:r>
            <a:endParaRPr lang="en-US" sz="1600" dirty="0"/>
          </a:p>
        </p:txBody>
      </p:sp>
      <p:pic>
        <p:nvPicPr>
          <p:cNvPr id="25" name="Image 3" descr="/home/claude/slides/v6/media/s34-S16_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780" y="2670048"/>
            <a:ext cx="8142136" cy="33649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2006492" y="2651760"/>
            <a:ext cx="8178712" cy="3401568"/>
          </a:xfrm>
          <a:prstGeom prst="roundRect">
            <a:avLst>
              <a:gd name="adj" fmla="val 107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Actions：Tests、Image scan、Config scan 三關全綠；右側是 Trivy 的掃描結果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③｜持續部署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部署按一下：建置、掃描、推 image 到換版全自動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pic>
        <p:nvPicPr>
          <p:cNvPr id="13" name="Image 0" descr="/home/claude/slides/v6/media/s34-deploy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101459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9558" y="3473040"/>
            <a:ext cx="6949488" cy="597148"/>
          </a:xfrm>
          <a:prstGeom prst="roundRect">
            <a:avLst>
              <a:gd name="adj" fmla="val 7656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9558" y="5612078"/>
            <a:ext cx="6949488" cy="575570"/>
          </a:xfrm>
          <a:prstGeom prst="roundRect">
            <a:avLst>
              <a:gd name="adj" fmla="val 794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70139" y="1572768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71307" y="1645920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首次部署：被部署防護檢查攔下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計畫要新建 42 個資源，一個都沒套用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970139" y="3145536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1307" y="3218688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第三次：真的失敗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 22 題全對，仍缺一個唯讀權限；補上再跑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970139" y="4718304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71307" y="4791456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修正後：僅更換 image，3 分 21 秒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建置、掃描、推 image、換版，全程自動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用身分證明（OIDC）換一小時的 AWS 角色；repo 裡沒有任何金鑰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  <p:pic>
        <p:nvPicPr>
          <p:cNvPr id="13" name="Image 0" descr="/home/claude/slides/v6/media/oidc-mai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400800" cy="270202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437376" cy="2738602"/>
          </a:xfrm>
          <a:prstGeom prst="roundRect">
            <a:avLst>
              <a:gd name="adj" fmla="val 1336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7052" y="3547409"/>
            <a:ext cx="3344418" cy="188872"/>
          </a:xfrm>
          <a:prstGeom prst="roundRect">
            <a:avLst>
              <a:gd name="adj" fmla="val 2420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pic>
        <p:nvPicPr>
          <p:cNvPr id="16" name="Image 1" descr="/home/claude/slides/v6/media/oidc-branch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72768"/>
            <a:ext cx="4510735" cy="302539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59752" y="1554480"/>
            <a:ext cx="4547311" cy="3061966"/>
          </a:xfrm>
          <a:prstGeom prst="roundRect">
            <a:avLst>
              <a:gd name="adj" fmla="val 119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70438" y="2196906"/>
            <a:ext cx="730288" cy="170632"/>
          </a:xfrm>
          <a:prstGeom prst="roundRect">
            <a:avLst>
              <a:gd name="adj" fmla="val 267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75610" y="4327991"/>
            <a:ext cx="2970770" cy="221156"/>
          </a:xfrm>
          <a:prstGeom prst="roundRect">
            <a:avLst>
              <a:gd name="adj" fmla="val 206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473531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511936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assumed-role/llm-gateway-destroy；一小時後自動失效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178040" y="473531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從別的分支觸發：GitHub 這層就擋下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78040" y="5119366"/>
            <a:ext cx="4510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分支名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environment protection rules，AWS 連請求都沒收到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02920" y="571500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7150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</a:t>
            </a:r>
            <a:r>
              <a:rPr lang="en-US" sz="18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AWS 身分換通行證，沒有金鑰可以外流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算好雜湊值與摘要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0360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54298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5738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738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5677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7117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SQS 觸發；寫三本帳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83117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57055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8495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20158" y="2715768"/>
            <a:ext cx="0" cy="4114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4318" y="317296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4318" y="3172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5677" y="3127248"/>
            <a:ext cx="5283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先回答、再寫帳，中間當機帳就掉了；這裡反過來，確認帳單進了佇列才回答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9776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三個情境實測，接下來三頁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Worker 停工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回答照給，帳單在佇列裡等；Worker 回來同一秒補帳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231538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2706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壞訊息進 DLQ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無法解析的訊息重試 5 次後隔離；其他帳務不受影響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960157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61325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SQS 不可用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回答照給，同一秒改由閘道自己記帳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帳不會掉｜① Worker 停工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客人照樣拿到回答，帳單在出單夾裡等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pic>
        <p:nvPicPr>
          <p:cNvPr id="13" name="Image 0" descr="/home/claude/slides/v6/media/s39-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317242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3243" y="2461219"/>
            <a:ext cx="956430" cy="195609"/>
          </a:xfrm>
          <a:prstGeom prst="roundRect">
            <a:avLst>
              <a:gd name="adj" fmla="val 233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243" y="4155562"/>
            <a:ext cx="858513" cy="323670"/>
          </a:xfrm>
          <a:prstGeom prst="roundRect">
            <a:avLst>
              <a:gd name="adj" fmla="val 141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0506" y="3078538"/>
            <a:ext cx="2823807" cy="722863"/>
          </a:xfrm>
          <a:prstGeom prst="roundRect">
            <a:avLst>
              <a:gd name="adj" fmla="val 63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39974" y="5330156"/>
            <a:ext cx="497167" cy="218126"/>
          </a:xfrm>
          <a:prstGeom prst="roundRect">
            <a:avLst>
              <a:gd name="adj" fmla="val 209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40202" y="157276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41370" y="164592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140202" y="312724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41370" y="320040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140202" y="468172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41370" y="475488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代價：軟上限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Worker 停工期間可能多用一點；要硬上限得預扣，評估後不做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帳不會掉｜③ SQS 不可用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回答照給，同一秒改由閘道自己記帳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pic>
        <p:nvPicPr>
          <p:cNvPr id="13" name="Image 0" descr="/home/claude/slides/v6/media/s41-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85855" cy="405201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990762" y="2457324"/>
            <a:ext cx="756164" cy="1797881"/>
          </a:xfrm>
          <a:prstGeom prst="roundRect">
            <a:avLst>
              <a:gd name="adj" fmla="val 6046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968" y="5110991"/>
            <a:ext cx="10985628" cy="470845"/>
          </a:xfrm>
          <a:prstGeom prst="roundRect">
            <a:avLst>
              <a:gd name="adj" fmla="val 9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761947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SQS 的網域從放行名單拿掉，DNS 防火牆擋下（14:43:24）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同一秒 Gateway 記錄 charge_queue_failed、自己記帳，回答照給；bob 的用量 35 → 40，Worker 沒有紀錄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每道檢查都有盲點：信任政策的實際行為，四道檢查都驗不到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驗證範圍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98424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9842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本機自動測試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程式邏輯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984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IAM、真實雲端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85292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8529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8529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語法與型別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372160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2160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權限模擬器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21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這個角色能做什麼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誰能借用這個角色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59028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5902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5902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政策格式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信任政策的實際行為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95160" y="1572768"/>
            <a:ext cx="4693615" cy="4110942"/>
          </a:xfrm>
          <a:prstGeom prst="roundRect">
            <a:avLst>
              <a:gd name="adj" fmla="val 23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17556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信任政策寫了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「只有這個函式可以借用這個角色」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700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建立網卡時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不帶函式的識別，條件永遠不成立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35844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apply 失敗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44988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移除來源條件；仍只准 lambda.amazonaws.com 借用，交給函式需 iam:PassRole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5767935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767935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學到的事：之後每道檢查都寫明它驗不到什麼；四道都不看「誰能借這張證」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⑤｜agent 會犯錯，也會被擋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模型想 → 叫工具 → 看結果，每一輪都經過同一道閘道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pic>
        <p:nvPicPr>
          <p:cNvPr id="13" name="Image 0" descr="/home/claude/slides/v6/media/s43-agent_self-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82847" cy="43251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8017" y="2998325"/>
            <a:ext cx="6724515" cy="559237"/>
          </a:xfrm>
          <a:prstGeom prst="roundRect">
            <a:avLst>
              <a:gd name="adj" fmla="val 81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8017" y="5190292"/>
            <a:ext cx="2905772" cy="159164"/>
          </a:xfrm>
          <a:prstGeom prst="roundRect">
            <a:avLst>
              <a:gd name="adj" fmla="val 287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971032"/>
            <a:ext cx="6782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 跑 8 步完成；第 4 步自己編了不存在的模型名</a:t>
            </a:r>
            <a:endParaRPr lang="en-US" sz="1600" dirty="0"/>
          </a:p>
        </p:txBody>
      </p:sp>
      <p:pic>
        <p:nvPicPr>
          <p:cNvPr id="17" name="Image 1" descr="/home/claude/slides/v6/media/s43-agent_4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87" y="1572768"/>
            <a:ext cx="4128688" cy="100158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541799" y="1554480"/>
            <a:ext cx="4165264" cy="1038165"/>
          </a:xfrm>
          <a:prstGeom prst="roundRect">
            <a:avLst>
              <a:gd name="adj" fmla="val 3523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41799" y="2434235"/>
            <a:ext cx="3470319" cy="149266"/>
          </a:xfrm>
          <a:prstGeom prst="roundRect">
            <a:avLst>
              <a:gd name="adj" fmla="val 33222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60087" y="2629221"/>
            <a:ext cx="412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額度歸零再跑：第 4 步回 429，停止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60087" y="3443037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61255" y="3516189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編錯模型名，被打槍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工具回「沒有這個模型」，下一步自己改對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560087" y="4459438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761255" y="4532590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8 步、8,122 micro-USD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每一步都走 Gateway：身分、額度、遮罩、稽核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7560087" y="5475839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61255" y="5548991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的程式一行沒改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只是另一個客戶：同一把 Key、同一本帳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 agent｜人和 agent 共用一本帳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用 bob 的 Key 跑 8 步，Console 的剩餘額度跟著動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pic>
        <p:nvPicPr>
          <p:cNvPr id="13" name="Image 0" descr="/home/claude/slides/v6/media/s44-agen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955280" cy="218673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19626" y="2156407"/>
            <a:ext cx="7921868" cy="288430"/>
          </a:xfrm>
          <a:prstGeom prst="roundRect">
            <a:avLst>
              <a:gd name="adj" fmla="val 1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9626" y="3250211"/>
            <a:ext cx="2003935" cy="135577"/>
          </a:xfrm>
          <a:prstGeom prst="roundRect">
            <a:avLst>
              <a:gd name="adj" fmla="val 3372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32520" y="1572768"/>
            <a:ext cx="2956255" cy="218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agent（本機）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步、共花 8,080 micro-USD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第 3 步又編錯模型名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完成與總花費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跑完、還沒重新整理</a:t>
            </a:r>
            <a:endParaRPr lang="en-US" sz="1600" dirty="0"/>
          </a:p>
        </p:txBody>
      </p:sp>
      <p:pic>
        <p:nvPicPr>
          <p:cNvPr id="18" name="Image 1" descr="/home/claude/slides/v6/media/s44-console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36741"/>
            <a:ext cx="3383280" cy="129132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63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69080" y="5182405"/>
            <a:ext cx="5029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475488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重新整理之後</a:t>
            </a:r>
            <a:endParaRPr lang="en-US" sz="1600" dirty="0"/>
          </a:p>
        </p:txBody>
      </p:sp>
      <p:pic>
        <p:nvPicPr>
          <p:cNvPr id="22" name="Image 2" descr="/home/claude/slides/v6/media/s44-consol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36741"/>
            <a:ext cx="3383280" cy="129132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3659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12480" y="4170981"/>
            <a:ext cx="3276295" cy="1657088"/>
          </a:xfrm>
          <a:prstGeom prst="roundRect">
            <a:avLst>
              <a:gd name="adj" fmla="val 55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641080" y="4170981"/>
            <a:ext cx="2819095" cy="165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0.98363 → 0.97555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少了 0.00808 ＝ agent 印的 8,080 micro-USD；Gateway 的程式一行沒改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①｜Console：節費・個資・額度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問簡單題走便宜模型 → 一句話塞四種個資被遮罩 → carol 額度用完回 429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89608" y="1591056"/>
            <a:ext cx="8412480" cy="4732020"/>
          </a:xfrm>
          <a:prstGeom prst="roundRect">
            <a:avLst>
              <a:gd name="adj" fmla="val 1932"/>
            </a:avLst>
          </a:prstGeom>
          <a:solidFill>
            <a:srgbClr val="0F1E22"/>
          </a:solidFill>
          <a:ln w="12700">
            <a:solidFill>
              <a:srgbClr val="0F1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9608" y="1591056"/>
            <a:ext cx="8412480" cy="4732020"/>
          </a:xfrm>
          <a:prstGeom prst="roundRect">
            <a:avLst>
              <a:gd name="adj" fmla="val 1932"/>
            </a:avLst>
          </a:prstGeom>
          <a:solidFill>
            <a:srgbClr val="14262B">
              <a:alpha val="0"/>
            </a:srgbClr>
          </a:solidFill>
          <a:ln w="19050">
            <a:solidFill>
              <a:srgbClr val="5B7C8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547208" y="3408426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0" descr="/home/claude/slides/v6/media/s1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096" y="3655314"/>
            <a:ext cx="603504" cy="60350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89608" y="58658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影片位置：錄好後嵌入（加速、1600 px、無聲）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②｜上雲與 agent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部署只換 image → Grafana 看誰花多少 → agent 跑 8 步、Console 額度同步減少 → 一鍵拆除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89608" y="1591056"/>
            <a:ext cx="8412480" cy="4732020"/>
          </a:xfrm>
          <a:prstGeom prst="roundRect">
            <a:avLst>
              <a:gd name="adj" fmla="val 1932"/>
            </a:avLst>
          </a:prstGeom>
          <a:solidFill>
            <a:srgbClr val="0F1E22"/>
          </a:solidFill>
          <a:ln w="12700">
            <a:solidFill>
              <a:srgbClr val="0F1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89608" y="1591056"/>
            <a:ext cx="8412480" cy="4732020"/>
          </a:xfrm>
          <a:prstGeom prst="roundRect">
            <a:avLst>
              <a:gd name="adj" fmla="val 1932"/>
            </a:avLst>
          </a:prstGeom>
          <a:solidFill>
            <a:srgbClr val="14262B">
              <a:alpha val="0"/>
            </a:srgbClr>
          </a:solidFill>
          <a:ln w="19050">
            <a:solidFill>
              <a:srgbClr val="5B7C8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547208" y="3408426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0" descr="/home/claude/slides/v6/media/s1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096" y="3655314"/>
            <a:ext cx="603504" cy="60350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89608" y="58658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影片位置：錄好後嵌入（加速、1600 px、無聲）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65%，每題兩顆模型都真的跑過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1538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858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0157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34477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234477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兩次上雲的 AWS 累計費用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用完就拆，一鍵 4 分 11 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767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5740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5740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196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05740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5740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Console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196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5196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 與角色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652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部門拆帳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8" name="Image 0" descr="/home/claude/slides/v6/media/s45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527548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691640" y="516636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r>
              <a:rPr lang="en-US" sz="2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18802">
            <a:off x="7180446" y="-1328287"/>
            <a:ext cx="6583680" cy="6583680"/>
          </a:xfrm>
          <a:prstGeom prst="ellipse">
            <a:avLst/>
          </a:prstGeom>
          <a:solidFill>
            <a:srgbClr val="0B5D5E">
              <a:alpha val="22000"/>
            </a:srgbClr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818802">
            <a:off x="8460606" y="-48127"/>
            <a:ext cx="4023360" cy="4023360"/>
          </a:xfrm>
          <a:prstGeom prst="ellipse">
            <a:avLst/>
          </a:prstGeom>
          <a:solidFill>
            <a:srgbClr val="F2A541">
              <a:alpha val="15000"/>
            </a:srgbClr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4" name="Image 0" descr="/home/claude/slides/v6/media/s01-Image_1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20818802">
            <a:off x="9466446" y="957713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965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822960" y="3520440"/>
            <a:ext cx="6903720" cy="2103120"/>
          </a:xfrm>
          <a:prstGeom prst="roundRect">
            <a:avLst>
              <a:gd name="adj" fmla="val 7742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3703320"/>
            <a:ext cx="173736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slides/v6/media/s46-Image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767328"/>
            <a:ext cx="1609344" cy="1609344"/>
          </a:xfrm>
          <a:prstGeom prst="rect">
            <a:avLst/>
          </a:prstGeom>
        </p:spPr>
      </p:pic>
      <p:pic>
        <p:nvPicPr>
          <p:cNvPr id="9" name="Image 2" descr="/home/claude/slides/v6/media/s4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315968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118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945575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節費｜為什麼不選省 54% 的規則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省最多的規則，未必是最好的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7D858C"/>
          </a:solidFill>
          <a:ln w="12700">
            <a:solidFill>
              <a:srgbClr val="7D85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2395728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395728"/>
            <a:ext cx="3258243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理論上限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008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3054096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054096"/>
            <a:ext cx="2886412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3008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3008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15 題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666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3712464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712464"/>
            <a:ext cx="3141017" cy="3657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6667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18 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25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83280" y="4370832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370832"/>
            <a:ext cx="1912222" cy="365760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325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325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最難的一題回答被截斷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micro-USD，20 題合計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92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站在使用者立場：在意的是回答是不是他要的，不是數字好看。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節費｜數字怎麼算出來的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00" dirty="0"/>
          </a:p>
        </p:txBody>
      </p:sp>
      <p:pic>
        <p:nvPicPr>
          <p:cNvPr id="7" name="Image 0" descr="/home/claude/slides/v6/media/s1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491345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2821" y="4051798"/>
            <a:ext cx="2728137" cy="259232"/>
          </a:xfrm>
          <a:prstGeom prst="roundRect">
            <a:avLst>
              <a:gd name="adj" fmla="val 176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2821" y="4969289"/>
            <a:ext cx="2104932" cy="448952"/>
          </a:xfrm>
          <a:prstGeom prst="roundRect">
            <a:avLst>
              <a:gd name="adj" fmla="val 101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5504688"/>
            <a:ext cx="3948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 ＋ 137×10 ＝ 1,438</a:t>
            </a:r>
            <a:endParaRPr lang="en-US" sz="1600" dirty="0"/>
          </a:p>
        </p:txBody>
      </p:sp>
      <p:pic>
        <p:nvPicPr>
          <p:cNvPr id="11" name="Image 1" descr="/home/claude/slides/v6/media/s1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585" y="1572768"/>
            <a:ext cx="7420190" cy="41103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0561" y="2086154"/>
            <a:ext cx="3393253" cy="238813"/>
          </a:xfrm>
          <a:prstGeom prst="roundRect">
            <a:avLst>
              <a:gd name="adj" fmla="val 19145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40561" y="4080921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0561" y="4749680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68585" y="5774587"/>
            <a:ext cx="7420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藍：全部用強模型　橘：採用的規則　紅：對照組（門檻 500）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節費｜簡單題越多，省越多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1538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5858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05858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505858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4505858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5858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60157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4477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34477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234477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34477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234477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477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倍的價差；80%、90% 是用這 20 題的平均單題成本推算、且假設每題都分對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節費｜20 題長什麼樣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把「會議延到下週三」翻成英文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把這句話改得比較有禮貌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怎麼合併兩欄文字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寫一則提醒交週報的訊息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affect 和 effect 的差別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五個部門聚餐的主題建議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404 和 500 各代表什麼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寫一封改會議時間的短信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用三點整理一段公告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用白話說明什麼是雲端運算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把一段很長的公告改寫得更簡潔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 base64 decode 成文字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「帳號」和「賬號」哪個比較常用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分析客服改成 AI 的風險與準備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PostgreSQL 和 DynamoDB 存訂單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設計員工請假系統的資料表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 Python 為什麼跑不停，請除錯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a rate limiter（英文）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訂單服務晚上尖峰逾時，從哪查起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五十人電商公司怎麼搬上雲端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①｜LiteLLM 拆解畫面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的金鑰真的被擋；記憶體對照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00" dirty="0"/>
          </a:p>
        </p:txBody>
      </p:sp>
      <p:pic>
        <p:nvPicPr>
          <p:cNvPr id="7" name="Image 0" descr="/home/claude/slides/v6/media/s2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577840" cy="21873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1965" y="2462816"/>
            <a:ext cx="5409947" cy="562159"/>
          </a:xfrm>
          <a:prstGeom prst="roundRect">
            <a:avLst>
              <a:gd name="adj" fmla="val 813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pic>
        <p:nvPicPr>
          <p:cNvPr id="9" name="Image 1" descr="/home/claude/slides/v6/media/s26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43036"/>
            <a:ext cx="5577840" cy="115912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8060" y="4336906"/>
            <a:ext cx="5514810" cy="386799"/>
          </a:xfrm>
          <a:prstGeom prst="roundRect">
            <a:avLst>
              <a:gd name="adj" fmla="val 1182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1" name="Image 2" descr="/home/claude/slides/v6/media/s26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285039"/>
            <a:ext cx="5577840" cy="90622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769303" y="5698640"/>
            <a:ext cx="474116" cy="140283"/>
          </a:xfrm>
          <a:prstGeom prst="roundRect">
            <a:avLst>
              <a:gd name="adj" fmla="val 3259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0" y="2392142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image 簽章驗證通過，才開始拆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248278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預算 0 的金鑰：Budget has been exceeded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5463831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LiteLLM 待機 584 MiB；我的 Gateway 62 MiB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③｜部署僅允許更換 image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部署前先比對 Terraform plan：只要動到 image 以外的資源，一律攔下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000" dirty="0"/>
          </a:p>
        </p:txBody>
      </p:sp>
      <p:pic>
        <p:nvPicPr>
          <p:cNvPr id="7" name="Image 0" descr="/home/claude/slides/v6/media/s35-deploy_#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794760" cy="39103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7238" y="2795130"/>
            <a:ext cx="186702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7238" y="3889624"/>
            <a:ext cx="287035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0" name="Image 1" descr="/home/claude/slides/v6/media/s35-deploy_#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72768"/>
            <a:ext cx="3794760" cy="391030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06318" y="2588274"/>
            <a:ext cx="180630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06318" y="3190461"/>
            <a:ext cx="171485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首次部署：42 to add → 攔下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修正後：1 to add、1 to change、1 to destroy → 放行</a:t>
            </a:r>
            <a:endParaRPr lang="en-US" sz="1600" dirty="0"/>
          </a:p>
        </p:txBody>
      </p:sp>
      <p:pic>
        <p:nvPicPr>
          <p:cNvPr id="15" name="Image 2" descr="/home/claude/slides/v6/media/s35-apply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572768"/>
            <a:ext cx="3047695" cy="14261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09582" y="2598466"/>
            <a:ext cx="2476252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09582" y="2886551"/>
            <a:ext cx="1963325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641080" y="3072085"/>
            <a:ext cx="3047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換版 1 分 54 秒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added、1 changed、1 destroyed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641080" y="3913333"/>
            <a:ext cx="3047695" cy="2396027"/>
          </a:xfrm>
          <a:prstGeom prst="roundRect">
            <a:avLst>
              <a:gd name="adj" fmla="val 381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3960" y="3913333"/>
            <a:ext cx="2681935" cy="2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為什麼要這道檢查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部署角色拿得到換版的權限，就拿得到改環境的權限；用 plan 的內容當閘門，第一個被攔下的是我自己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帳不會掉｜② 壞訊息進 DLQ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無法解析的訊息重試 5 次後轉入死信佇列；其他帳務不受影響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000" dirty="0"/>
          </a:p>
        </p:txBody>
      </p:sp>
      <p:pic>
        <p:nvPicPr>
          <p:cNvPr id="7" name="Image 0" descr="/home/claude/slides/v6/media/s40-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25883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7222" y="1607480"/>
            <a:ext cx="810469" cy="387935"/>
          </a:xfrm>
          <a:prstGeom prst="roundRect">
            <a:avLst>
              <a:gd name="adj" fmla="val 117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222" y="3806092"/>
            <a:ext cx="6639791" cy="1077962"/>
          </a:xfrm>
          <a:prstGeom prst="roundRect">
            <a:avLst>
              <a:gd name="adj" fmla="val 424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69301" y="5677281"/>
            <a:ext cx="431129" cy="241580"/>
          </a:xfrm>
          <a:prstGeom prst="roundRect">
            <a:avLst>
              <a:gd name="adj" fmla="val 189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8843" y="157276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50011" y="164592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48843" y="312724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0011" y="320040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分鐘後隔離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548843" y="468172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0011" y="475488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 v6">
  <a:themeElements>
    <a:clrScheme name="LLM Gateway v6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 v6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2057</Words>
  <Application>Microsoft Office PowerPoint</Application>
  <PresentationFormat>寬螢幕</PresentationFormat>
  <Paragraphs>643</Paragraphs>
  <Slides>41</Slides>
  <Notes>41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44" baseType="lpstr">
      <vt:lpstr>Microsoft JhengHei</vt:lpstr>
      <vt:lpstr>Arial</vt:lpstr>
      <vt:lpstr>LLM Gateway v6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Gateway：企業級大語言模型調度與成本治理平台</dc:title>
  <dc:subject>PptxGenJS Presentation</dc:subject>
  <dc:creator>杜柏豫</dc:creator>
  <cp:lastModifiedBy>TW-1120-杜柏豫</cp:lastModifiedBy>
  <cp:revision>4</cp:revision>
  <dcterms:created xsi:type="dcterms:W3CDTF">2026-10-28T09:07:28Z</dcterms:created>
  <dcterms:modified xsi:type="dcterms:W3CDTF">2026-10-28T10:09:47Z</dcterms:modified>
</cp:coreProperties>
</file>