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85fa8fb6-c036-b652-d9a2-d593fc10bf3c}">
          <p14:sldIdLst>
            <p14:sldId id="256"/>
            <p14:sldId id="257"/>
          </p14:sldIdLst>
        </p14:section>
        <p14:section name="一頁講完" id="{8d5e51f4-0b84-8138-cc9a-e7ba9e242a70}">
          <p14:sldIdLst>
            <p14:sldId id="258"/>
          </p14:sldIdLst>
        </p14:section>
        <p14:section name="想解決的問題" id="{c7724d8f-7d2c-ae90-4931-b8a874994abf}">
          <p14:sldIdLst>
            <p14:sldId id="259"/>
          </p14:sldIdLst>
        </p14:section>
        <p14:section name="解決前後" id="{47e04308-eafb-d650-7f6a-fd436162bea7}">
          <p14:sldIdLst>
            <p14:sldId id="260"/>
          </p14:sldIdLst>
        </p14:section>
        <p14:section name="解法提綱" id="{04dcb3db-e8bc-e136-5f1d-f36b3dfc5f2f}">
          <p14:sldIdLst>
            <p14:sldId id="261"/>
            <p14:sldId id="262"/>
          </p14:sldIdLst>
        </p14:section>
        <p14:section name="技術實踐" id="{4067e511-1de9-c789-8fbb-440046d710f0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結語" id="{d8ff2a20-cb13-ee10-01df-d3ba2775a2d4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Gateway｜期末報告｜杜柏豫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Gateway｜期末報告｜杜柏豫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杜柏豫｜期末報告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595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 v2.0（10 分鐘版）｜2026-10-12</a:t>
            </a:r>
            <a:endParaRPr lang="en-US" sz="1200" dirty="0"/>
          </a:p>
        </p:txBody>
      </p:sp>
      <p:sp>
        <p:nvSpPr>
          <p:cNvPr id="7" name="people"/>
          <p:cNvSpPr/>
          <p:nvPr/>
        </p:nvSpPr>
        <p:spPr>
          <a:xfrm>
            <a:off x="726948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940" y="294894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gateway"/>
          <p:cNvSpPr/>
          <p:nvPr/>
        </p:nvSpPr>
        <p:spPr>
          <a:xfrm>
            <a:off x="8686800" y="246888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834640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19556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model"/>
          <p:cNvSpPr/>
          <p:nvPr/>
        </p:nvSpPr>
        <p:spPr>
          <a:xfrm>
            <a:off x="1056132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29489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3784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六段，一半的時間給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17320" y="3017520"/>
            <a:ext cx="937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agenda-node"/>
          <p:cNvSpPr/>
          <p:nvPr/>
        </p:nvSpPr>
        <p:spPr>
          <a:xfrm>
            <a:off x="1005840" y="2606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2000" dirty="0"/>
          </a:p>
        </p:txBody>
      </p:sp>
      <p:sp>
        <p:nvSpPr>
          <p:cNvPr id="8" name="agenda-node"/>
          <p:cNvSpPr/>
          <p:nvPr/>
        </p:nvSpPr>
        <p:spPr>
          <a:xfrm>
            <a:off x="2880360" y="2606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000" dirty="0"/>
          </a:p>
        </p:txBody>
      </p:sp>
      <p:sp>
        <p:nvSpPr>
          <p:cNvPr id="11" name="agenda-node"/>
          <p:cNvSpPr/>
          <p:nvPr/>
        </p:nvSpPr>
        <p:spPr>
          <a:xfrm>
            <a:off x="4754880" y="2606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2000" dirty="0"/>
          </a:p>
        </p:txBody>
      </p:sp>
      <p:sp>
        <p:nvSpPr>
          <p:cNvPr id="14" name="agenda-node"/>
          <p:cNvSpPr/>
          <p:nvPr/>
        </p:nvSpPr>
        <p:spPr>
          <a:xfrm>
            <a:off x="6629400" y="2606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279392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700016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放到 AWS 上</a:t>
            </a:r>
            <a:endParaRPr lang="en-US" sz="1300" dirty="0"/>
          </a:p>
        </p:txBody>
      </p:sp>
      <p:sp>
        <p:nvSpPr>
          <p:cNvPr id="19" name="agenda-node"/>
          <p:cNvSpPr/>
          <p:nvPr/>
        </p:nvSpPr>
        <p:spPr>
          <a:xfrm>
            <a:off x="8389620" y="249174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9620" y="24917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18745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905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主角：Demo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279392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700016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5120640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5541264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</a:t>
            </a:r>
            <a:endParaRPr lang="en-US" sz="1300" dirty="0"/>
          </a:p>
        </p:txBody>
      </p:sp>
      <p:sp>
        <p:nvSpPr>
          <p:cNvPr id="27" name="agenda-node"/>
          <p:cNvSpPr/>
          <p:nvPr/>
        </p:nvSpPr>
        <p:spPr>
          <a:xfrm>
            <a:off x="10378440" y="2606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784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先講結論：在員工和 AI 模型之間，加一道閘道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是誰・花多少・送出什麼</a:t>
            </a:r>
            <a:endParaRPr lang="en-US" sz="3400" dirty="0"/>
          </a:p>
        </p:txBody>
      </p:sp>
      <p:sp>
        <p:nvSpPr>
          <p:cNvPr id="13" name="pillar-card"/>
          <p:cNvSpPr/>
          <p:nvPr/>
        </p:nvSpPr>
        <p:spPr>
          <a:xfrm>
            <a:off x="54864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069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3736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每人一把 Key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錯的一律拒絕</a:t>
            </a:r>
            <a:endParaRPr lang="en-US" sz="1800" dirty="0"/>
          </a:p>
        </p:txBody>
      </p:sp>
      <p:sp>
        <p:nvSpPr>
          <p:cNvPr id="18" name="pillar-card"/>
          <p:cNvSpPr/>
          <p:nvPr/>
        </p:nvSpPr>
        <p:spPr>
          <a:xfrm>
            <a:off x="434340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9" name="Shape 16"/>
          <p:cNvSpPr/>
          <p:nvPr/>
        </p:nvSpPr>
        <p:spPr>
          <a:xfrm>
            <a:off x="461772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06908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3212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每人每月有額度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自動選便宜的模型</a:t>
            </a:r>
            <a:endParaRPr lang="en-US" sz="1800" dirty="0"/>
          </a:p>
        </p:txBody>
      </p:sp>
      <p:sp>
        <p:nvSpPr>
          <p:cNvPr id="23" name="pillar-card"/>
          <p:cNvSpPr/>
          <p:nvPr/>
        </p:nvSpPr>
        <p:spPr>
          <a:xfrm>
            <a:off x="813816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06908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32688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送出什麼</a:t>
            </a:r>
            <a:endParaRPr lang="en-US" sz="26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個資先遮罩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紀錄不存原文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74520"/>
            <a:ext cx="5120640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30000"/>
            </a:scheme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47672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88720" y="18745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5" name="problem-card"/>
          <p:cNvSpPr/>
          <p:nvPr/>
        </p:nvSpPr>
        <p:spPr>
          <a:xfrm>
            <a:off x="54864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16" name="Shape 13"/>
          <p:cNvSpPr/>
          <p:nvPr/>
        </p:nvSpPr>
        <p:spPr>
          <a:xfrm>
            <a:off x="173736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246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15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800" dirty="0"/>
          </a:p>
        </p:txBody>
      </p:sp>
      <p:sp>
        <p:nvSpPr>
          <p:cNvPr id="20" name="problem-card"/>
          <p:cNvSpPr/>
          <p:nvPr/>
        </p:nvSpPr>
        <p:spPr>
          <a:xfrm>
            <a:off x="434340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553212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2461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5262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452628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800" dirty="0"/>
          </a:p>
        </p:txBody>
      </p:sp>
      <p:sp>
        <p:nvSpPr>
          <p:cNvPr id="25" name="problem-card"/>
          <p:cNvSpPr/>
          <p:nvPr/>
        </p:nvSpPr>
        <p:spPr>
          <a:xfrm>
            <a:off x="813816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6" name="Shape 21"/>
          <p:cNvSpPr/>
          <p:nvPr/>
        </p:nvSpPr>
        <p:spPr>
          <a:xfrm>
            <a:off x="932688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2461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210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從「月底看帳單」，到「每次呼叫都被管到」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90195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15468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之前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019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3524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2788920" y="245059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員工自己選，常選最貴的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46520" y="283464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7269480" y="245059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自動選，簡單的便宜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657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2788920" y="363931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原文直接送到供應商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446520" y="402336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7269480" y="363931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送出前，換成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2920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63040" y="4846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2788920" y="482803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月底收到帳單才知道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6446520" y="521208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Text 26"/>
          <p:cNvSpPr txBox="1"/>
          <p:nvPr/>
        </p:nvSpPr>
        <p:spPr>
          <a:xfrm>
            <a:off x="7269480" y="482803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每人每月額度，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「之前」是情境假設，不是特定公司的現況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003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1148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627632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gateway-box"/>
          <p:cNvSpPr/>
          <p:nvPr/>
        </p:nvSpPr>
        <p:spPr>
          <a:xfrm>
            <a:off x="2194560" y="2057400"/>
            <a:ext cx="777240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8600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74720" y="21031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012680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106070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24003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46988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228600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4" name="group-card"/>
          <p:cNvSpPr/>
          <p:nvPr/>
        </p:nvSpPr>
        <p:spPr>
          <a:xfrm>
            <a:off x="54864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5" name="Shape 20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3736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確認身分・檢查額度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08076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0" name="group-card"/>
          <p:cNvSpPr/>
          <p:nvPr/>
        </p:nvSpPr>
        <p:spPr>
          <a:xfrm>
            <a:off x="434340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1" name="Shape 25"/>
          <p:cNvSpPr/>
          <p:nvPr/>
        </p:nvSpPr>
        <p:spPr>
          <a:xfrm>
            <a:off x="461772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3891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53212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2800" dirty="0"/>
          </a:p>
        </p:txBody>
      </p:sp>
      <p:sp>
        <p:nvSpPr>
          <p:cNvPr id="34" name="Text 27"/>
          <p:cNvSpPr txBox="1"/>
          <p:nvPr/>
        </p:nvSpPr>
        <p:spPr>
          <a:xfrm>
            <a:off x="461772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自動選模型・記帳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987552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6" name="group-card"/>
          <p:cNvSpPr/>
          <p:nvPr/>
        </p:nvSpPr>
        <p:spPr>
          <a:xfrm>
            <a:off x="813816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7" name="Shape 30"/>
          <p:cNvSpPr/>
          <p:nvPr/>
        </p:nvSpPr>
        <p:spPr>
          <a:xfrm>
            <a:off x="841248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3891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32688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2800" dirty="0"/>
          </a:p>
        </p:txBody>
      </p:sp>
      <p:sp>
        <p:nvSpPr>
          <p:cNvPr id="40" name="Text 32"/>
          <p:cNvSpPr txBox="1"/>
          <p:nvPr/>
        </p:nvSpPr>
        <p:spPr>
          <a:xfrm>
            <a:off x="841248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解法提綱｜放到 AWS 上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 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80576" y="566928"/>
            <a:ext cx="2459736" cy="310896"/>
          </a:xfrm>
          <a:prstGeom prst="roundRect">
            <a:avLst>
              <a:gd name="adj" fmla="val 23529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本機已實作｜雲端 M4、M5</a:t>
            </a:r>
            <a:endParaRPr lang="en-US" sz="1100" dirty="0"/>
          </a:p>
        </p:txBody>
      </p:sp>
      <p:sp>
        <p:nvSpPr>
          <p:cNvPr id="13" name="private-subnet"/>
          <p:cNvSpPr/>
          <p:nvPr/>
        </p:nvSpPr>
        <p:spPr>
          <a:xfrm>
            <a:off x="3337560" y="1874520"/>
            <a:ext cx="4114800" cy="2697480"/>
          </a:xfrm>
          <a:prstGeom prst="roundRect">
            <a:avLst>
              <a:gd name="adj" fmla="val 339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474720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私有子網（沒有公開 IP）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377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64208" y="2788920"/>
            <a:ext cx="32918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01168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57400" y="2377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負載平衡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27248" y="2788920"/>
            <a:ext cx="4114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66160" y="2331720"/>
            <a:ext cx="20116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2331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 Fargate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66160" y="361188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11880" y="3611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361188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3611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06440" y="361188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5216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用量與稽核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23360" y="3246120"/>
            <a:ext cx="0" cy="347472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98848" y="3977640"/>
            <a:ext cx="14630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596128" y="3977640"/>
            <a:ext cx="19202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596128" y="2788920"/>
            <a:ext cx="214884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72400" y="233172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23317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NAT＋DNS 防火牆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573768" y="2788920"/>
            <a:ext cx="2834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875520" y="233172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921240" y="2331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API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只放行這一家</a:t>
            </a:r>
            <a:endParaRPr lang="en-US" sz="1600" dirty="0"/>
          </a:p>
        </p:txBody>
      </p:sp>
      <p:sp>
        <p:nvSpPr>
          <p:cNvPr id="38" name="badge"/>
          <p:cNvSpPr/>
          <p:nvPr/>
        </p:nvSpPr>
        <p:spPr>
          <a:xfrm>
            <a:off x="3401568" y="2148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40156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badge"/>
          <p:cNvSpPr/>
          <p:nvPr/>
        </p:nvSpPr>
        <p:spPr>
          <a:xfrm>
            <a:off x="7607808" y="2148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60780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42" name="badge"/>
          <p:cNvSpPr/>
          <p:nvPr/>
        </p:nvSpPr>
        <p:spPr>
          <a:xfrm>
            <a:off x="3401568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401568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callout"/>
          <p:cNvSpPr/>
          <p:nvPr/>
        </p:nvSpPr>
        <p:spPr>
          <a:xfrm>
            <a:off x="548640" y="4892040"/>
            <a:ext cx="347472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45" name="badge"/>
          <p:cNvSpPr/>
          <p:nvPr/>
        </p:nvSpPr>
        <p:spPr>
          <a:xfrm>
            <a:off x="777240" y="52212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724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325880" y="48920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容器放在私有子網</a:t>
            </a:r>
            <a:endParaRPr lang="en-US" sz="1600" dirty="0"/>
          </a:p>
        </p:txBody>
      </p:sp>
      <p:sp>
        <p:nvSpPr>
          <p:cNvPr id="48" name="callout"/>
          <p:cNvSpPr/>
          <p:nvPr/>
        </p:nvSpPr>
        <p:spPr>
          <a:xfrm>
            <a:off x="4343400" y="4892040"/>
            <a:ext cx="347472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49" name="badge"/>
          <p:cNvSpPr/>
          <p:nvPr/>
        </p:nvSpPr>
        <p:spPr>
          <a:xfrm>
            <a:off x="4572000" y="52212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7200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120640" y="48920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只查得到名單上的網域</a:t>
            </a:r>
            <a:endParaRPr lang="en-US" sz="1600" dirty="0"/>
          </a:p>
        </p:txBody>
      </p:sp>
      <p:sp>
        <p:nvSpPr>
          <p:cNvPr id="52" name="callout"/>
          <p:cNvSpPr/>
          <p:nvPr/>
        </p:nvSpPr>
        <p:spPr>
          <a:xfrm>
            <a:off x="8138160" y="4892040"/>
            <a:ext cx="347472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53" name="badge"/>
          <p:cNvSpPr/>
          <p:nvPr/>
        </p:nvSpPr>
        <p:spPr>
          <a:xfrm>
            <a:off x="8366760" y="52212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36676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8915400" y="48920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記帳不拖慢回答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交給佇列另外處理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接下來，直接看它跑起來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56448" y="566928"/>
            <a:ext cx="3483864" cy="310896"/>
          </a:xfrm>
          <a:prstGeom prst="roundRect">
            <a:avLst>
              <a:gd name="adj" fmla="val 23529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Console 於 M6 完成，畫面為示意</a:t>
            </a:r>
            <a:endParaRPr lang="en-US" sz="1100" dirty="0"/>
          </a:p>
        </p:txBody>
      </p:sp>
      <p:sp>
        <p:nvSpPr>
          <p:cNvPr id="13" name="console-window"/>
          <p:cNvSpPr/>
          <p:nvPr/>
        </p:nvSpPr>
        <p:spPr>
          <a:xfrm>
            <a:off x="548640" y="1920240"/>
            <a:ext cx="699516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 Console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423160"/>
            <a:ext cx="512064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輸入你的問題…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423160"/>
            <a:ext cx="12801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</a:t>
            </a:r>
            <a:endParaRPr lang="en-US" sz="1400" dirty="0"/>
          </a:p>
        </p:txBody>
      </p:sp>
      <p:sp>
        <p:nvSpPr>
          <p:cNvPr id="17" name="console-panel"/>
          <p:cNvSpPr/>
          <p:nvPr/>
        </p:nvSpPr>
        <p:spPr>
          <a:xfrm>
            <a:off x="777240" y="3154680"/>
            <a:ext cx="32004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3300984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99032" y="32735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路由決策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776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 → gpt-6-luna</a:t>
            </a:r>
            <a:endParaRPr lang="en-US" sz="1500" dirty="0"/>
          </a:p>
        </p:txBody>
      </p:sp>
      <p:sp>
        <p:nvSpPr>
          <p:cNvPr id="22" name="console-panel"/>
          <p:cNvSpPr/>
          <p:nvPr/>
        </p:nvSpPr>
        <p:spPr>
          <a:xfrm>
            <a:off x="4114800" y="3154680"/>
            <a:ext cx="32004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3300984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279392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36592" y="32735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776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（模型的回答）</a:t>
            </a:r>
            <a:endParaRPr lang="en-US" sz="1500" dirty="0"/>
          </a:p>
        </p:txBody>
      </p:sp>
      <p:sp>
        <p:nvSpPr>
          <p:cNvPr id="27" name="console-panel"/>
          <p:cNvSpPr/>
          <p:nvPr/>
        </p:nvSpPr>
        <p:spPr>
          <a:xfrm>
            <a:off x="777240" y="4526280"/>
            <a:ext cx="32004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1832" y="4672584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4672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99032" y="4645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本次花費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5148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___</a:t>
            </a:r>
            <a:endParaRPr lang="en-US" sz="1500" dirty="0"/>
          </a:p>
        </p:txBody>
      </p:sp>
      <p:sp>
        <p:nvSpPr>
          <p:cNvPr id="32" name="console-panel"/>
          <p:cNvSpPr/>
          <p:nvPr/>
        </p:nvSpPr>
        <p:spPr>
          <a:xfrm>
            <a:off x="4114800" y="4526280"/>
            <a:ext cx="32004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9392" y="4672584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79392" y="4672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736592" y="4645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剩餘額度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97680" y="5257800"/>
            <a:ext cx="2834640" cy="237744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</p:sp>
      <p:sp>
        <p:nvSpPr>
          <p:cNvPr id="37" name="Shape 35"/>
          <p:cNvSpPr/>
          <p:nvPr/>
        </p:nvSpPr>
        <p:spPr>
          <a:xfrm>
            <a:off x="4297680" y="5257800"/>
            <a:ext cx="2011680" cy="237744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/>
        </p:spPr>
      </p:sp>
      <p:sp>
        <p:nvSpPr>
          <p:cNvPr id="38" name="chapter-card"/>
          <p:cNvSpPr/>
          <p:nvPr/>
        </p:nvSpPr>
        <p:spPr>
          <a:xfrm>
            <a:off x="7955280" y="192024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39" name="Shape 37"/>
          <p:cNvSpPr/>
          <p:nvPr/>
        </p:nvSpPr>
        <p:spPr>
          <a:xfrm>
            <a:off x="8183880" y="216712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2340864"/>
            <a:ext cx="347472" cy="347472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9098280" y="1920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1｜節費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自動選模型・省多少</a:t>
            </a:r>
            <a:endParaRPr lang="en-US" sz="1600" dirty="0"/>
          </a:p>
        </p:txBody>
      </p:sp>
      <p:sp>
        <p:nvSpPr>
          <p:cNvPr id="42" name="chapter-card"/>
          <p:cNvSpPr/>
          <p:nvPr/>
        </p:nvSpPr>
        <p:spPr>
          <a:xfrm>
            <a:off x="7955280" y="333756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43" name="Shape 40"/>
          <p:cNvSpPr/>
          <p:nvPr/>
        </p:nvSpPr>
        <p:spPr>
          <a:xfrm>
            <a:off x="8183880" y="358444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3758184"/>
            <a:ext cx="347472" cy="347472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9098280" y="33375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2｜個資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送出前就遮掉</a:t>
            </a:r>
            <a:endParaRPr lang="en-US" sz="1600" dirty="0"/>
          </a:p>
        </p:txBody>
      </p:sp>
      <p:sp>
        <p:nvSpPr>
          <p:cNvPr id="46" name="chapter-card"/>
          <p:cNvSpPr/>
          <p:nvPr/>
        </p:nvSpPr>
        <p:spPr>
          <a:xfrm>
            <a:off x="7955280" y="475488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47" name="Shape 43"/>
          <p:cNvSpPr/>
          <p:nvPr/>
        </p:nvSpPr>
        <p:spPr>
          <a:xfrm>
            <a:off x="8183880" y="500176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5175504"/>
            <a:ext cx="347472" cy="347472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9098280" y="4754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3｜額度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 ①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簡單的事，不必用最貴的模型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73184" y="566928"/>
            <a:ext cx="2167128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已實作｜M3 驗收時錄影</a:t>
            </a:r>
            <a:endParaRPr lang="en-US" sz="1100" dirty="0"/>
          </a:p>
        </p:txBody>
      </p:sp>
      <p:sp>
        <p:nvSpPr>
          <p:cNvPr id="13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21031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85416"/>
            <a:ext cx="164592" cy="16459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70432" y="21031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 S05：兩種問題選到不同模型（M3 驗收時錄）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2743200"/>
            <a:ext cx="27432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把這句翻成英文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611880" y="3086100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3931920" y="283464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892040" y="3086100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212080" y="274320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便宜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977640"/>
            <a:ext cx="27432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分析這份 300 字的需求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11880" y="4320540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3931920" y="406908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892040" y="4320540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212080" y="397764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349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畫面為示意，M3 驗收時換成錄影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909560" y="19659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7200" dirty="0"/>
          </a:p>
        </p:txBody>
      </p:sp>
      <p:sp>
        <p:nvSpPr>
          <p:cNvPr id="29" name="Text 26"/>
          <p:cNvSpPr txBox="1"/>
          <p:nvPr/>
        </p:nvSpPr>
        <p:spPr>
          <a:xfrm>
            <a:off x="790956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兩顆模型的單價差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909560" y="434340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68" y="4521708"/>
            <a:ext cx="356616" cy="35661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7782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使用者不能自己指定模型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 ②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同一組問題，省下 X%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19488" y="566928"/>
            <a:ext cx="2020824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X%：M3 實測後填入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8288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X%</a:t>
            </a:r>
            <a:endParaRPr lang="en-US" sz="1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 × 2 顆模型，每一題都真的跑過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___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99232" y="4864608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520440" y="434340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254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4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___</a:t>
            </a:r>
            <a:endParaRPr lang="en-US" sz="1400" dirty="0"/>
          </a:p>
        </p:txBody>
      </p:sp>
      <p:sp>
        <p:nvSpPr>
          <p:cNvPr id="18" name="dashboard-card"/>
          <p:cNvSpPr/>
          <p:nvPr/>
        </p:nvSpPr>
        <p:spPr>
          <a:xfrm>
            <a:off x="6355080" y="1920240"/>
            <a:ext cx="5257800" cy="4023360"/>
          </a:xfrm>
          <a:prstGeom prst="roundRect">
            <a:avLst>
              <a:gd name="adj" fmla="val 2273"/>
            </a:avLst>
          </a:prstGeom>
          <a:solidFill>
            <a:schemeClr val="tx2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2194560"/>
            <a:ext cx="713232" cy="71323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708" y="2372868"/>
            <a:ext cx="356616" cy="35661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498080" y="21214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一眼看得到，不用等月底帳單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34290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680960" y="3502152"/>
            <a:ext cx="3611880" cy="237744"/>
          </a:xfrm>
          <a:prstGeom prst="roundRect">
            <a:avLst>
              <a:gd name="adj" fmla="val 19231"/>
            </a:avLst>
          </a:prstGeom>
          <a:solidFill>
            <a:schemeClr val="tx1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0" y="3502152"/>
            <a:ext cx="3017520" cy="237744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29400" y="40507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680960" y="4123944"/>
            <a:ext cx="3611880" cy="237744"/>
          </a:xfrm>
          <a:prstGeom prst="roundRect">
            <a:avLst>
              <a:gd name="adj" fmla="val 19231"/>
            </a:avLst>
          </a:prstGeom>
          <a:solidFill>
            <a:schemeClr val="tx1"/>
          </a:solidFill>
          <a:ln/>
        </p:spPr>
      </p:sp>
      <p:sp>
        <p:nvSpPr>
          <p:cNvPr id="27" name="Shape 24"/>
          <p:cNvSpPr/>
          <p:nvPr/>
        </p:nvSpPr>
        <p:spPr>
          <a:xfrm>
            <a:off x="7680960" y="4123944"/>
            <a:ext cx="155448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29400" y="467258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carol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680960" y="4745736"/>
            <a:ext cx="3611880" cy="237744"/>
          </a:xfrm>
          <a:prstGeom prst="roundRect">
            <a:avLst>
              <a:gd name="adj" fmla="val 19231"/>
            </a:avLst>
          </a:prstGeom>
          <a:solidFill>
            <a:schemeClr val="tx1"/>
          </a:solidFill>
          <a:ln/>
        </p:spPr>
      </p:sp>
      <p:sp>
        <p:nvSpPr>
          <p:cNvPr id="30" name="Shape 27"/>
          <p:cNvSpPr/>
          <p:nvPr/>
        </p:nvSpPr>
        <p:spPr>
          <a:xfrm>
            <a:off x="7680960" y="4745736"/>
            <a:ext cx="82296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62940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儀表板示意｜M6 完成後換成真實畫面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65792" y="566928"/>
            <a:ext cx="1874520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 已驗收｜S04</a:t>
            </a:r>
            <a:endParaRPr lang="en-US" sz="1100" dirty="0"/>
          </a:p>
        </p:txBody>
      </p:sp>
      <p:sp>
        <p:nvSpPr>
          <p:cNvPr id="13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21031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85416"/>
            <a:ext cx="164592" cy="16459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70432" y="21031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 S04：請 AI 原樣唸一次（10/9 已錄）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2514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我請 AI 把這句話原樣唸一次：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288036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A123456780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3703320"/>
            <a:ext cx="32918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閘道先把號碼換成標籤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唸出來的是：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461772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25400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[TW_ID]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1920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60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971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4" name="pii-kind"/>
          <p:cNvSpPr/>
          <p:nvPr/>
        </p:nvSpPr>
        <p:spPr>
          <a:xfrm>
            <a:off x="790956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356616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1248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7" name="pii-kind"/>
          <p:cNvSpPr/>
          <p:nvPr/>
        </p:nvSpPr>
        <p:spPr>
          <a:xfrm>
            <a:off x="978408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096" y="356616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28700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30" name="pii-kind"/>
          <p:cNvSpPr/>
          <p:nvPr/>
        </p:nvSpPr>
        <p:spPr>
          <a:xfrm>
            <a:off x="790956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411480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41248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3" name="pii-kind"/>
          <p:cNvSpPr/>
          <p:nvPr/>
        </p:nvSpPr>
        <p:spPr>
          <a:xfrm>
            <a:off x="978408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411480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28700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7909560" y="48463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5017770"/>
            <a:ext cx="342900" cy="3429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732520" y="4754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紀錄裡，也查不到原文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87968" y="566928"/>
            <a:ext cx="2752344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 已驗收｜雲端版 M5 重拍</a:t>
            </a:r>
            <a:endParaRPr lang="en-US" sz="1100" dirty="0"/>
          </a:p>
        </p:txBody>
      </p:sp>
      <p:pic>
        <p:nvPicPr>
          <p:cNvPr id="13" name="Image 0" descr="/tmp/claude-0/-home-claude/50b01337-8bfa-5c17-8010-eee6eb592088/scratchpad/assets/s04-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11064240" cy="2508752"/>
          </a:xfrm>
          <a:prstGeom prst="rect">
            <a:avLst/>
          </a:prstGeom>
        </p:spPr>
      </p:pic>
      <p:sp>
        <p:nvSpPr>
          <p:cNvPr id="14" name="highlight-ring"/>
          <p:cNvSpPr/>
          <p:nvPr/>
        </p:nvSpPr>
        <p:spPr>
          <a:xfrm>
            <a:off x="1892383" y="2757607"/>
            <a:ext cx="9309496" cy="317595"/>
          </a:xfrm>
          <a:prstGeom prst="roundRect">
            <a:avLst>
              <a:gd name="adj" fmla="val 17275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5" name="highlight-ring"/>
          <p:cNvSpPr/>
          <p:nvPr/>
        </p:nvSpPr>
        <p:spPr>
          <a:xfrm>
            <a:off x="580112" y="3040646"/>
            <a:ext cx="940556" cy="311162"/>
          </a:xfrm>
          <a:prstGeom prst="roundRect">
            <a:avLst>
              <a:gd name="adj" fmla="val 17632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6" name="highlight-ring"/>
          <p:cNvSpPr/>
          <p:nvPr/>
        </p:nvSpPr>
        <p:spPr>
          <a:xfrm>
            <a:off x="1146190" y="4140637"/>
            <a:ext cx="6215368" cy="626364"/>
          </a:xfrm>
          <a:prstGeom prst="roundRect">
            <a:avLst>
              <a:gd name="adj" fmla="val 8759"/>
            </a:avLst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449218" y="3636867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↑ 存的只有：指紋（雜湊）＋ 遮罩後的摘要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688934" y="4228675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拿原本的號碼搜：0 筆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90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S04 驗收畫面（10/9，本機）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80576" y="566928"/>
            <a:ext cx="2459736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 已驗收｜S02、S03</a:t>
            </a:r>
            <a:endParaRPr lang="en-US" sz="1100" dirty="0"/>
          </a:p>
        </p:txBody>
      </p:sp>
      <p:sp>
        <p:nvSpPr>
          <p:cNvPr id="13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21031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85416"/>
            <a:ext cx="164592" cy="16459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70432" y="21031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 S02：額度用完被擋（10/9 已錄）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24871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 1,000（故意設很小）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2971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920240" y="303580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0" name="Shape 17"/>
          <p:cNvSpPr/>
          <p:nvPr/>
        </p:nvSpPr>
        <p:spPr>
          <a:xfrm>
            <a:off x="1920240" y="3035808"/>
            <a:ext cx="2531225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68680" y="3520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818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920240" y="358444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3" name="Shape 20"/>
          <p:cNvSpPr/>
          <p:nvPr/>
        </p:nvSpPr>
        <p:spPr>
          <a:xfrm>
            <a:off x="1920240" y="3584448"/>
            <a:ext cx="3399905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68680" y="4069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1,039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920240" y="413308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6" name="Shape 23"/>
          <p:cNvSpPr/>
          <p:nvPr/>
        </p:nvSpPr>
        <p:spPr>
          <a:xfrm>
            <a:off x="1920240" y="4133088"/>
            <a:ext cx="431846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7" name="Shape 24"/>
          <p:cNvSpPr/>
          <p:nvPr/>
        </p:nvSpPr>
        <p:spPr>
          <a:xfrm>
            <a:off x="6076604" y="2880360"/>
            <a:ext cx="0" cy="169164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710844" y="4590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" y="4937760"/>
            <a:ext cx="21945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額度用完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3246120" y="49377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並告訴他何時恢復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" y="55321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單位：micro-USD（百萬分之一美元）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909560" y="2514600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68" y="2692908"/>
            <a:ext cx="356616" cy="35661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77824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7909560" y="397764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155948"/>
            <a:ext cx="356616" cy="356616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778240" y="3886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①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先拆現成的 LiteLLM，再修自己的設計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65792" y="566928"/>
            <a:ext cx="1874520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M0.5 實驗已完成</a:t>
            </a:r>
            <a:endParaRPr lang="en-US" sz="1100" dirty="0"/>
          </a:p>
        </p:txBody>
      </p:sp>
      <p:sp>
        <p:nvSpPr>
          <p:cNvPr id="13" name="finding-card"/>
          <p:cNvSpPr/>
          <p:nvPr/>
        </p:nvSpPr>
        <p:spPr>
          <a:xfrm>
            <a:off x="548640" y="201168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663190"/>
            <a:ext cx="388620" cy="3886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828800" y="20116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價格表沒有的模型，花費記為 0</a:t>
            </a:r>
            <a:endParaRPr lang="en-US" sz="1600" dirty="0"/>
          </a:p>
        </p:txBody>
      </p:sp>
      <p:sp>
        <p:nvSpPr>
          <p:cNvPr id="17" name="finding-card"/>
          <p:cNvSpPr/>
          <p:nvPr/>
        </p:nvSpPr>
        <p:spPr>
          <a:xfrm>
            <a:off x="548640" y="402336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674870"/>
            <a:ext cx="388620" cy="3886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828800" y="40233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寫帳前當機，那筆帳永久遺失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675120" y="28346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 flipV="1">
            <a:off x="6675120" y="42062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fix-card"/>
          <p:cNvSpPr/>
          <p:nvPr/>
        </p:nvSpPr>
        <p:spPr>
          <a:xfrm>
            <a:off x="7269480" y="2011680"/>
            <a:ext cx="4343400" cy="3703320"/>
          </a:xfrm>
          <a:prstGeom prst="roundRect">
            <a:avLst>
              <a:gd name="adj" fmla="val 2469"/>
            </a:avLst>
          </a:prstGeom>
          <a:solidFill>
            <a:schemeClr val="accent2"/>
          </a:solidFill>
          <a:ln/>
        </p:spPr>
      </p:sp>
      <p:sp>
        <p:nvSpPr>
          <p:cNvPr id="24" name="Shape 20"/>
          <p:cNvSpPr/>
          <p:nvPr/>
        </p:nvSpPr>
        <p:spPr>
          <a:xfrm>
            <a:off x="7589520" y="233172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30" y="2526030"/>
            <a:ext cx="388620" cy="3886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54964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7589520" y="34290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</a:t>
            </a:r>
            <a:endParaRPr lang="en-US" sz="26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帳進了佇列，才回答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②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只有一個出口，而且有人把關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65792" y="566928"/>
            <a:ext cx="1874520" cy="310896"/>
          </a:xfrm>
          <a:prstGeom prst="roundRect">
            <a:avLst>
              <a:gd name="adj" fmla="val 23529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設計定案｜M4 實作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7889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11880" y="3474720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14800" y="2788920"/>
            <a:ext cx="32461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2788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NAT＋DNS 防火牆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V="1">
            <a:off x="7406640" y="2697480"/>
            <a:ext cx="566928" cy="7772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3474720"/>
            <a:ext cx="566928" cy="8686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46720" y="210312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21031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api.openai.com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2432304"/>
            <a:ext cx="530352" cy="53035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046720" y="37947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006840" y="37947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123944"/>
            <a:ext cx="530352" cy="53035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48640" y="5349240"/>
            <a:ext cx="420624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22392"/>
            <a:ext cx="265176" cy="26517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5156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 S08：M4 驗收時錄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tat-card"/>
          <p:cNvSpPr/>
          <p:nvPr/>
        </p:nvSpPr>
        <p:spPr>
          <a:xfrm>
            <a:off x="54864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省下的模型成本</a:t>
            </a:r>
            <a:endParaRPr lang="en-US" sz="1600" dirty="0"/>
          </a:p>
        </p:txBody>
      </p:sp>
      <p:sp>
        <p:nvSpPr>
          <p:cNvPr id="15" name="stat-card"/>
          <p:cNvSpPr/>
          <p:nvPr/>
        </p:nvSpPr>
        <p:spPr>
          <a:xfrm>
            <a:off x="434340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600" dirty="0"/>
          </a:p>
        </p:txBody>
      </p:sp>
      <p:sp>
        <p:nvSpPr>
          <p:cNvPr id="18" name="stat-card"/>
          <p:cNvSpPr/>
          <p:nvPr/>
        </p:nvSpPr>
        <p:spPr>
          <a:xfrm>
            <a:off x="813816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US$11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專題全期花費（預估）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062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4206240"/>
            <a:ext cx="1600200" cy="438912"/>
          </a:xfrm>
          <a:prstGeom prst="roundRect">
            <a:avLst>
              <a:gd name="adj" fmla="val 16667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4206240"/>
            <a:ext cx="1463040" cy="438912"/>
          </a:xfrm>
          <a:prstGeom prst="roundRect">
            <a:avLst>
              <a:gd name="adj" fmla="val 16667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40096" y="4206240"/>
            <a:ext cx="2286000" cy="438912"/>
          </a:xfrm>
          <a:prstGeom prst="roundRect">
            <a:avLst>
              <a:gd name="adj" fmla="val 16667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42062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理由與正式環境的做法，寫在文件</a:t>
            </a:r>
            <a:endParaRPr lang="en-US" sz="1400" dirty="0"/>
          </a:p>
        </p:txBody>
      </p:sp>
      <p:sp>
        <p:nvSpPr>
          <p:cNvPr id="26" name="positioning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120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292090"/>
            <a:ext cx="342900" cy="34290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691640" y="49834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歡迎提問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1800" dirty="0"/>
          </a:p>
        </p:txBody>
      </p:sp>
      <p:sp>
        <p:nvSpPr>
          <p:cNvPr id="6" name="qr-card"/>
          <p:cNvSpPr/>
          <p:nvPr/>
        </p:nvSpPr>
        <p:spPr>
          <a:xfrm>
            <a:off x="8549640" y="160020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</p:spPr>
      </p:sp>
      <p:pic>
        <p:nvPicPr>
          <p:cNvPr id="7" name="Image 0" descr="/tmp/claude-0/-home-claude/50b01337-8bfa-5c17-8010-eee6eb592088/scratchpad/assets/qr-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737360"/>
            <a:ext cx="2468880" cy="24688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902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0" y="4553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程式、證據紀錄與截圖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簡報 v2.0</dc:title>
  <dc:subject>PptxGenJS Presentation</dc:subject>
  <dc:creator>杜柏豫</dc:creator>
  <cp:lastModifiedBy>杜柏豫</cp:lastModifiedBy>
  <cp:revision>1</cp:revision>
  <dcterms:created xsi:type="dcterms:W3CDTF">2026-10-12T13:06:50Z</dcterms:created>
  <dcterms:modified xsi:type="dcterms:W3CDTF">2026-10-12T13:06:50Z</dcterms:modified>
</cp:coreProperties>
</file>