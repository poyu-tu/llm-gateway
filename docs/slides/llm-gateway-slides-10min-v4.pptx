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93" r:id="rId44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4" r:id="rId45"/>
    <p:sldId id="295" r:id="rId46"/>
    <p:sldId id="296" r:id="rId47"/>
    <p:sldId id="297" r:id="rId48"/>
    <p:sldId id="290" r:id="rId36"/>
    <p:sldId id="291" r:id="rId37"/>
    <p:sldId id="292" r:id="rId38"/>
  </p:sldIdLst>
  <p:notesMasterIdLst>
    <p:notesMasterId r:id="rId3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開場" id="{d749317f-91ce-6b13-59f4-2b0b5c2e7a5c}">
          <p14:sldIdLst>
            <p14:sldId id="256"/>
            <p14:sldId id="257"/>
          </p14:sldIdLst>
        </p14:section>
        <p14:section name="一頁講完" id="{60b0d394-c754-6570-5edd-75e682f28fd8}">
          <p14:sldIdLst>
            <p14:sldId id="258"/>
          </p14:sldIdLst>
        </p14:section>
        <p14:section name="想解決的問題" id="{d29428c2-712b-56f6-300d-14b8eb0c89db}">
          <p14:sldIdLst>
            <p14:sldId id="259"/>
          </p14:sldIdLst>
        </p14:section>
        <p14:section name="解決前後" id="{85b3616d-627c-c23f-0449-4f68fc65d054}">
          <p14:sldIdLst>
            <p14:sldId id="260"/>
          </p14:sldIdLst>
        </p14:section>
        <p14:section name="解法提綱" id="{1ed808fd-1c37-1188-24f4-c74332e0f9fa}">
          <p14:sldIdLst>
            <p14:sldId id="261"/>
            <p14:sldId id="262"/>
            <p14:sldId id="263"/>
            <p14:sldId id="264"/>
          </p14:sldIdLst>
        </p14:section>
        <p14:section name="技術實踐" id="{55f80b45-ae7e-67a0-4b8f-eb32d9c692e1}">
          <p14:sldIdLst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  <p14:sldId id="283"/>
            <p14:sldId id="284"/>
            <p14:sldId id="285"/>
            <p14:sldId id="286"/>
            <p14:sldId id="287"/>
            <p14:sldId id="288"/>
            <p14:sldId id="289"/>
            <p14:sldId id="290"/>
          </p14:sldIdLst>
        </p14:section>
        <p14:section name="結語" id="{fdc6bbfc-69df-6d75-2987-674475eea7c0}">
          <p14:sldIdLst>
            <p14:sldId id="291"/>
            <p14:sldId id="29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notesMaster" Target="notesMasters/notesMaster1.xml"/><Relationship Id="rId40" Type="http://schemas.openxmlformats.org/officeDocument/2006/relationships/presProps" Target="presProps.xml"/><Relationship Id="rId41" Type="http://schemas.openxmlformats.org/officeDocument/2006/relationships/viewProps" Target="viewProps.xml"/><Relationship Id="rId42" Type="http://schemas.openxmlformats.org/officeDocument/2006/relationships/theme" Target="theme/theme1.xml"/><Relationship Id="rId43" Type="http://schemas.openxmlformats.org/officeDocument/2006/relationships/tableStyles" Target="tableStyles.xml"/>  <Relationship Id="rId44" Type="http://schemas.openxmlformats.org/officeDocument/2006/relationships/slide" Target="slides/slide38.xml"/>
  <Relationship Id="rId45" Type="http://schemas.openxmlformats.org/officeDocument/2006/relationships/slide" Target="slides/slide39.xml"/>
  <Relationship Id="rId46" Type="http://schemas.openxmlformats.org/officeDocument/2006/relationships/slide" Target="slides/slide40.xml"/>
  <Relationship Id="rId47" Type="http://schemas.openxmlformats.org/officeDocument/2006/relationships/slide" Target="slides/slide41.xml"/>
  <Relationship Id="rId48" Type="http://schemas.openxmlformats.org/officeDocument/2006/relationships/slide" Target="slides/slide42.xml"/>
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IN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261872" y="384048"/>
            <a:ext cx="7589520" cy="65836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170432"/>
            <a:ext cx="11064240" cy="5029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LAIN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7589520" cy="65836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170432"/>
            <a:ext cx="11064240" cy="5029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image" Target="../media/image-19-5.png"/><Relationship Id="rId6" Type="http://schemas.openxmlformats.org/officeDocument/2006/relationships/image" Target="../media/image-19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image" Target="../media/image-31-2.png"/><Relationship Id="rId3" Type="http://schemas.openxmlformats.org/officeDocument/2006/relationships/image" Target="../media/image-31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image" Target="../media/image-37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7.xml"/></Relationships>
</file>

<file path=ppt/slides/_rels/slide38.xml.rels><?xml version="1.0" encoding="UTF-8" standalone="yes"?>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image" Target="../media/image-v4-s14.png"/></Relationships>
</file>

<file path=ppt/slides/_rels/slide3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-v4-s12.png"/></Relationships>
</file>

<file path=ppt/slides/_rels/slide4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-v4-s13.png"/></Relationships>
</file>

<file path=ppt/slides/_rels/slide4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-v4-s6.png"/></Relationships>
</file>

<file path=ppt/slides/_rels/slide4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0020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LLM Gateway</a:t>
            </a:r>
            <a:endParaRPr lang="en-US" sz="5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56032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企業級大語言模型調度與成本治理平台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337560"/>
            <a:ext cx="4846320" cy="502920"/>
          </a:xfrm>
          <a:prstGeom prst="roundRect">
            <a:avLst>
              <a:gd name="adj" fmla="val 14545"/>
            </a:avLst>
          </a:prstGeom>
          <a:solidFill>
            <a:schemeClr val="accent2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雲端工程師｜負責 LLM 上線之後的治理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5120640"/>
            <a:ext cx="6583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杜柏豫｜期末報告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5559552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簡報 v4（10 分鐘版）｜2026-10-24</a:t>
            </a:r>
            <a:endParaRPr lang="en-US" sz="1600" dirty="0"/>
          </a:p>
        </p:txBody>
      </p:sp>
      <p:sp>
        <p:nvSpPr>
          <p:cNvPr id="7" name="people"/>
          <p:cNvSpPr/>
          <p:nvPr/>
        </p:nvSpPr>
        <p:spPr>
          <a:xfrm>
            <a:off x="7269480" y="2697480"/>
            <a:ext cx="1005840" cy="100584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20940" y="2948940"/>
            <a:ext cx="502920" cy="50292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321040" y="3200400"/>
            <a:ext cx="301752" cy="0"/>
          </a:xfrm>
          <a:prstGeom prst="line">
            <a:avLst/>
          </a:prstGeom>
          <a:noFill/>
          <a:ln w="317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10" name="gateway"/>
          <p:cNvSpPr/>
          <p:nvPr/>
        </p:nvSpPr>
        <p:spPr>
          <a:xfrm>
            <a:off x="8686800" y="2468880"/>
            <a:ext cx="1463040" cy="14630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2560" y="2834640"/>
            <a:ext cx="731520" cy="73152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10195560" y="3200400"/>
            <a:ext cx="301752" cy="0"/>
          </a:xfrm>
          <a:prstGeom prst="line">
            <a:avLst/>
          </a:prstGeom>
          <a:noFill/>
          <a:ln w="317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13" name="model"/>
          <p:cNvSpPr/>
          <p:nvPr/>
        </p:nvSpPr>
        <p:spPr>
          <a:xfrm>
            <a:off x="10561320" y="2697480"/>
            <a:ext cx="1005840" cy="100584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12780" y="2948940"/>
            <a:ext cx="502920" cy="50292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7086600" y="41148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員工</a:t>
            </a:r>
            <a:endParaRPr lang="en-US" sz="1600" dirty="0"/>
          </a:p>
        </p:txBody>
      </p:sp>
      <p:sp>
        <p:nvSpPr>
          <p:cNvPr id="16" name="Text 11"/>
          <p:cNvSpPr txBox="1"/>
          <p:nvPr/>
        </p:nvSpPr>
        <p:spPr>
          <a:xfrm>
            <a:off x="8458200" y="41148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LLM Gateway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10378440" y="41148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模型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7589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Agenda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17043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六段，一半的時間給 Demo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417320" y="2834640"/>
            <a:ext cx="9372600" cy="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</a:ln>
        </p:spPr>
      </p:sp>
      <p:sp>
        <p:nvSpPr>
          <p:cNvPr id="5" name="agenda-node"/>
          <p:cNvSpPr/>
          <p:nvPr/>
        </p:nvSpPr>
        <p:spPr>
          <a:xfrm>
            <a:off x="1005840" y="2423160"/>
            <a:ext cx="822960" cy="8229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05840" y="24231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320040" y="35204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一頁講完</a:t>
            </a:r>
            <a:endParaRPr lang="en-US" sz="2000" dirty="0"/>
          </a:p>
        </p:txBody>
      </p:sp>
      <p:sp>
        <p:nvSpPr>
          <p:cNvPr id="8" name="agenda-node"/>
          <p:cNvSpPr/>
          <p:nvPr/>
        </p:nvSpPr>
        <p:spPr>
          <a:xfrm>
            <a:off x="2880360" y="2423160"/>
            <a:ext cx="822960" cy="8229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880360" y="24231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02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2194560" y="35204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想解決的問題</a:t>
            </a:r>
            <a:endParaRPr lang="en-US" sz="2000" dirty="0"/>
          </a:p>
        </p:txBody>
      </p:sp>
      <p:sp>
        <p:nvSpPr>
          <p:cNvPr id="11" name="agenda-node"/>
          <p:cNvSpPr/>
          <p:nvPr/>
        </p:nvSpPr>
        <p:spPr>
          <a:xfrm>
            <a:off x="4754880" y="2423160"/>
            <a:ext cx="822960" cy="8229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754880" y="24231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03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4069080" y="35204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解決前後</a:t>
            </a:r>
            <a:endParaRPr lang="en-US" sz="2000" dirty="0"/>
          </a:p>
        </p:txBody>
      </p:sp>
      <p:sp>
        <p:nvSpPr>
          <p:cNvPr id="14" name="agenda-node"/>
          <p:cNvSpPr/>
          <p:nvPr/>
        </p:nvSpPr>
        <p:spPr>
          <a:xfrm>
            <a:off x="6629400" y="2423160"/>
            <a:ext cx="822960" cy="8229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629400" y="24231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04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5943600" y="35204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解法提綱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6126480" y="4114800"/>
            <a:ext cx="1828800" cy="402336"/>
          </a:xfrm>
          <a:prstGeom prst="roundRect">
            <a:avLst>
              <a:gd name="adj" fmla="val 18182"/>
            </a:avLst>
          </a:prstGeom>
          <a:solidFill>
            <a:schemeClr val="tx2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三道關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126480" y="4590288"/>
            <a:ext cx="1828800" cy="402336"/>
          </a:xfrm>
          <a:prstGeom prst="roundRect">
            <a:avLst>
              <a:gd name="adj" fmla="val 18182"/>
            </a:avLst>
          </a:prstGeom>
          <a:solidFill>
            <a:schemeClr val="tx2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放到 AWS 上</a:t>
            </a:r>
            <a:endParaRPr lang="en-US" sz="1600" dirty="0"/>
          </a:p>
        </p:txBody>
      </p:sp>
      <p:sp>
        <p:nvSpPr>
          <p:cNvPr id="19" name="agenda-node"/>
          <p:cNvSpPr/>
          <p:nvPr/>
        </p:nvSpPr>
        <p:spPr>
          <a:xfrm>
            <a:off x="8389620" y="2308860"/>
            <a:ext cx="1051560" cy="105156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389620" y="230886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</a:t>
            </a:r>
            <a:endParaRPr lang="en-US" sz="2400" dirty="0"/>
          </a:p>
        </p:txBody>
      </p:sp>
      <p:sp>
        <p:nvSpPr>
          <p:cNvPr id="21" name="Text 19"/>
          <p:cNvSpPr txBox="1"/>
          <p:nvPr/>
        </p:nvSpPr>
        <p:spPr>
          <a:xfrm>
            <a:off x="7818120" y="35204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技術實踐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8092440" y="1691640"/>
            <a:ext cx="1645920" cy="384048"/>
          </a:xfrm>
          <a:prstGeom prst="roundRect">
            <a:avLst>
              <a:gd name="adj" fmla="val 19048"/>
            </a:avLst>
          </a:prstGeom>
          <a:solidFill>
            <a:schemeClr val="tx1"/>
          </a:solidFill>
          <a:ln w="19050">
            <a:solidFill>
              <a:schemeClr val="accent2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主角：Demo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8001000" y="4114800"/>
            <a:ext cx="1828800" cy="402336"/>
          </a:xfrm>
          <a:prstGeom prst="roundRect">
            <a:avLst>
              <a:gd name="adj" fmla="val 18182"/>
            </a:avLst>
          </a:prstGeom>
          <a:solidFill>
            <a:schemeClr val="tx2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節費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8001000" y="4590288"/>
            <a:ext cx="1828800" cy="402336"/>
          </a:xfrm>
          <a:prstGeom prst="roundRect">
            <a:avLst>
              <a:gd name="adj" fmla="val 18182"/>
            </a:avLst>
          </a:prstGeom>
          <a:solidFill>
            <a:schemeClr val="tx2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個資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8001000" y="5065776"/>
            <a:ext cx="1828800" cy="402336"/>
          </a:xfrm>
          <a:prstGeom prst="roundRect">
            <a:avLst>
              <a:gd name="adj" fmla="val 18182"/>
            </a:avLst>
          </a:prstGeom>
          <a:solidFill>
            <a:schemeClr val="tx2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額度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8001000" y="5541264"/>
            <a:ext cx="1828800" cy="402336"/>
          </a:xfrm>
          <a:prstGeom prst="roundRect">
            <a:avLst>
              <a:gd name="adj" fmla="val 18182"/>
            </a:avLst>
          </a:prstGeom>
          <a:solidFill>
            <a:schemeClr val="tx2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看不到的地方</a:t>
            </a:r>
            <a:endParaRPr lang="en-US" sz="1600" dirty="0"/>
          </a:p>
        </p:txBody>
      </p:sp>
      <p:sp>
        <p:nvSpPr>
          <p:cNvPr id="27" name="agenda-node"/>
          <p:cNvSpPr/>
          <p:nvPr/>
        </p:nvSpPr>
        <p:spPr>
          <a:xfrm>
            <a:off x="10378440" y="2423160"/>
            <a:ext cx="822960" cy="8229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10378440" y="24231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06</a:t>
            </a:r>
            <a:endParaRPr lang="en-US" sz="2000" dirty="0"/>
          </a:p>
        </p:txBody>
      </p:sp>
      <p:sp>
        <p:nvSpPr>
          <p:cNvPr id="29" name="Text 27"/>
          <p:cNvSpPr txBox="1"/>
          <p:nvPr/>
        </p:nvSpPr>
        <p:spPr>
          <a:xfrm>
            <a:off x="9692640" y="35204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結語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261872" y="384048"/>
            <a:ext cx="7589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一頁講完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17043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先講結論：在員工和 AI 模型之間，加一道閘道</a:t>
            </a:r>
            <a:endParaRPr lang="en-US" sz="2000" dirty="0"/>
          </a:p>
        </p:txBody>
      </p:sp>
      <p:sp>
        <p:nvSpPr>
          <p:cNvPr id="4" name="agenda-number"/>
          <p:cNvSpPr/>
          <p:nvPr/>
        </p:nvSpPr>
        <p:spPr>
          <a:xfrm>
            <a:off x="548640" y="438912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4389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progress-dot"/>
          <p:cNvSpPr/>
          <p:nvPr/>
        </p:nvSpPr>
        <p:spPr>
          <a:xfrm>
            <a:off x="10323576" y="274320"/>
            <a:ext cx="128016" cy="12801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7" name="progress-dot"/>
          <p:cNvSpPr/>
          <p:nvPr/>
        </p:nvSpPr>
        <p:spPr>
          <a:xfrm>
            <a:off x="10561320" y="274320"/>
            <a:ext cx="128016" cy="128016"/>
          </a:xfrm>
          <a:prstGeom prst="ellipse">
            <a:avLst/>
          </a:prstGeom>
          <a:solidFill>
            <a:schemeClr val="accent6">
              <a:alpha val="60000"/>
            </a:schemeClr>
          </a:solidFill>
          <a:ln/>
        </p:spPr>
      </p:sp>
      <p:sp>
        <p:nvSpPr>
          <p:cNvPr id="8" name="progress-dot"/>
          <p:cNvSpPr/>
          <p:nvPr/>
        </p:nvSpPr>
        <p:spPr>
          <a:xfrm>
            <a:off x="10799064" y="274320"/>
            <a:ext cx="128016" cy="128016"/>
          </a:xfrm>
          <a:prstGeom prst="ellipse">
            <a:avLst/>
          </a:prstGeom>
          <a:solidFill>
            <a:schemeClr val="accent6">
              <a:alpha val="60000"/>
            </a:schemeClr>
          </a:solidFill>
          <a:ln/>
        </p:spPr>
      </p:sp>
      <p:sp>
        <p:nvSpPr>
          <p:cNvPr id="9" name="progress-dot"/>
          <p:cNvSpPr/>
          <p:nvPr/>
        </p:nvSpPr>
        <p:spPr>
          <a:xfrm>
            <a:off x="11036808" y="274320"/>
            <a:ext cx="128016" cy="128016"/>
          </a:xfrm>
          <a:prstGeom prst="ellipse">
            <a:avLst/>
          </a:prstGeom>
          <a:solidFill>
            <a:schemeClr val="accent6">
              <a:alpha val="60000"/>
            </a:schemeClr>
          </a:solidFill>
          <a:ln/>
        </p:spPr>
      </p:sp>
      <p:sp>
        <p:nvSpPr>
          <p:cNvPr id="10" name="progress-dot"/>
          <p:cNvSpPr/>
          <p:nvPr/>
        </p:nvSpPr>
        <p:spPr>
          <a:xfrm>
            <a:off x="11274552" y="274320"/>
            <a:ext cx="128016" cy="128016"/>
          </a:xfrm>
          <a:prstGeom prst="ellipse">
            <a:avLst/>
          </a:prstGeom>
          <a:solidFill>
            <a:schemeClr val="accent6">
              <a:alpha val="60000"/>
            </a:schemeClr>
          </a:solidFill>
          <a:ln/>
        </p:spPr>
      </p:sp>
      <p:sp>
        <p:nvSpPr>
          <p:cNvPr id="11" name="progress-dot"/>
          <p:cNvSpPr/>
          <p:nvPr/>
        </p:nvSpPr>
        <p:spPr>
          <a:xfrm>
            <a:off x="11512296" y="274320"/>
            <a:ext cx="128016" cy="128016"/>
          </a:xfrm>
          <a:prstGeom prst="ellipse">
            <a:avLst/>
          </a:prstGeom>
          <a:solidFill>
            <a:schemeClr val="accent6">
              <a:alpha val="60000"/>
            </a:schemeClr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1874520"/>
            <a:ext cx="110642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每一次 AI 呼叫，都知道</a:t>
            </a:r>
            <a:endParaRPr lang="en-US" sz="3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是誰・花多少・送出什麼</a:t>
            </a:r>
            <a:endParaRPr lang="en-US" sz="3400" dirty="0"/>
          </a:p>
        </p:txBody>
      </p:sp>
      <p:sp>
        <p:nvSpPr>
          <p:cNvPr id="13" name="pillar-card"/>
          <p:cNvSpPr/>
          <p:nvPr/>
        </p:nvSpPr>
        <p:spPr>
          <a:xfrm>
            <a:off x="548640" y="3611880"/>
            <a:ext cx="3474720" cy="2286000"/>
          </a:xfrm>
          <a:prstGeom prst="roundRect">
            <a:avLst>
              <a:gd name="adj" fmla="val 4000"/>
            </a:avLst>
          </a:prstGeom>
          <a:solidFill>
            <a:schemeClr val="tx2"/>
          </a:solidFill>
          <a:ln/>
        </p:spPr>
      </p:sp>
      <p:sp>
        <p:nvSpPr>
          <p:cNvPr id="14" name="Shape 12"/>
          <p:cNvSpPr/>
          <p:nvPr/>
        </p:nvSpPr>
        <p:spPr>
          <a:xfrm>
            <a:off x="822960" y="3886200"/>
            <a:ext cx="731520" cy="73152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4069080"/>
            <a:ext cx="365760" cy="365760"/>
          </a:xfrm>
          <a:prstGeom prst="rect">
            <a:avLst/>
          </a:prstGeom>
        </p:spPr>
      </p:pic>
      <p:sp>
        <p:nvSpPr>
          <p:cNvPr id="16" name="Text 13"/>
          <p:cNvSpPr txBox="1"/>
          <p:nvPr/>
        </p:nvSpPr>
        <p:spPr>
          <a:xfrm>
            <a:off x="1737360" y="3959352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是誰</a:t>
            </a:r>
            <a:endParaRPr lang="en-US" sz="2600" dirty="0"/>
          </a:p>
        </p:txBody>
      </p:sp>
      <p:sp>
        <p:nvSpPr>
          <p:cNvPr id="17" name="Text 14"/>
          <p:cNvSpPr txBox="1"/>
          <p:nvPr/>
        </p:nvSpPr>
        <p:spPr>
          <a:xfrm>
            <a:off x="822960" y="484632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每人一把 Key</a:t>
            </a: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錯的一律拒絕</a:t>
            </a:r>
            <a:endParaRPr lang="en-US" sz="1800" dirty="0"/>
          </a:p>
        </p:txBody>
      </p:sp>
      <p:sp>
        <p:nvSpPr>
          <p:cNvPr id="18" name="pillar-card"/>
          <p:cNvSpPr/>
          <p:nvPr/>
        </p:nvSpPr>
        <p:spPr>
          <a:xfrm>
            <a:off x="4343400" y="3611880"/>
            <a:ext cx="3474720" cy="2286000"/>
          </a:xfrm>
          <a:prstGeom prst="roundRect">
            <a:avLst>
              <a:gd name="adj" fmla="val 4000"/>
            </a:avLst>
          </a:prstGeom>
          <a:solidFill>
            <a:schemeClr val="tx2"/>
          </a:solidFill>
          <a:ln/>
        </p:spPr>
      </p:sp>
      <p:sp>
        <p:nvSpPr>
          <p:cNvPr id="19" name="Shape 16"/>
          <p:cNvSpPr/>
          <p:nvPr/>
        </p:nvSpPr>
        <p:spPr>
          <a:xfrm>
            <a:off x="4617720" y="3886200"/>
            <a:ext cx="731520" cy="73152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4069080"/>
            <a:ext cx="365760" cy="365760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5532120" y="3959352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花多少</a:t>
            </a:r>
            <a:endParaRPr lang="en-US" sz="2600" dirty="0"/>
          </a:p>
        </p:txBody>
      </p:sp>
      <p:sp>
        <p:nvSpPr>
          <p:cNvPr id="22" name="Text 18"/>
          <p:cNvSpPr txBox="1"/>
          <p:nvPr/>
        </p:nvSpPr>
        <p:spPr>
          <a:xfrm>
            <a:off x="4617720" y="484632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每人每月有額度</a:t>
            </a: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自動選便宜的模型</a:t>
            </a:r>
            <a:endParaRPr lang="en-US" sz="1800" dirty="0"/>
          </a:p>
        </p:txBody>
      </p:sp>
      <p:sp>
        <p:nvSpPr>
          <p:cNvPr id="23" name="pillar-card"/>
          <p:cNvSpPr/>
          <p:nvPr/>
        </p:nvSpPr>
        <p:spPr>
          <a:xfrm>
            <a:off x="8138160" y="3611880"/>
            <a:ext cx="3474720" cy="2286000"/>
          </a:xfrm>
          <a:prstGeom prst="roundRect">
            <a:avLst>
              <a:gd name="adj" fmla="val 4000"/>
            </a:avLst>
          </a:prstGeom>
          <a:solidFill>
            <a:schemeClr val="tx2"/>
          </a:solidFill>
          <a:ln/>
        </p:spPr>
      </p:sp>
      <p:sp>
        <p:nvSpPr>
          <p:cNvPr id="24" name="Shape 20"/>
          <p:cNvSpPr/>
          <p:nvPr/>
        </p:nvSpPr>
        <p:spPr>
          <a:xfrm>
            <a:off x="8412480" y="3886200"/>
            <a:ext cx="731520" cy="73152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0" y="4069080"/>
            <a:ext cx="365760" cy="365760"/>
          </a:xfrm>
          <a:prstGeom prst="rect">
            <a:avLst/>
          </a:prstGeom>
        </p:spPr>
      </p:pic>
      <p:sp>
        <p:nvSpPr>
          <p:cNvPr id="26" name="Text 21"/>
          <p:cNvSpPr txBox="1"/>
          <p:nvPr/>
        </p:nvSpPr>
        <p:spPr>
          <a:xfrm>
            <a:off x="9326880" y="3959352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送出什麼</a:t>
            </a:r>
            <a:endParaRPr lang="en-US" sz="2600" dirty="0"/>
          </a:p>
        </p:txBody>
      </p:sp>
      <p:sp>
        <p:nvSpPr>
          <p:cNvPr id="27" name="Text 22"/>
          <p:cNvSpPr txBox="1"/>
          <p:nvPr/>
        </p:nvSpPr>
        <p:spPr>
          <a:xfrm>
            <a:off x="8412480" y="484632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個資先遮罩</a:t>
            </a: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紀錄不存原文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261872" y="384048"/>
            <a:ext cx="7589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想解決的問題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17043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開放了，卻管不住</a:t>
            </a:r>
            <a:endParaRPr lang="en-US" sz="2000" dirty="0"/>
          </a:p>
        </p:txBody>
      </p:sp>
      <p:sp>
        <p:nvSpPr>
          <p:cNvPr id="4" name="agenda-number"/>
          <p:cNvSpPr/>
          <p:nvPr/>
        </p:nvSpPr>
        <p:spPr>
          <a:xfrm>
            <a:off x="548640" y="438912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4389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02</a:t>
            </a:r>
            <a:endParaRPr lang="en-US" sz="1600" dirty="0"/>
          </a:p>
        </p:txBody>
      </p:sp>
      <p:sp>
        <p:nvSpPr>
          <p:cNvPr id="6" name="progress-dot"/>
          <p:cNvSpPr/>
          <p:nvPr/>
        </p:nvSpPr>
        <p:spPr>
          <a:xfrm>
            <a:off x="10323576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progress-dot"/>
          <p:cNvSpPr/>
          <p:nvPr/>
        </p:nvSpPr>
        <p:spPr>
          <a:xfrm>
            <a:off x="10561320" y="274320"/>
            <a:ext cx="128016" cy="12801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8" name="progress-dot"/>
          <p:cNvSpPr/>
          <p:nvPr/>
        </p:nvSpPr>
        <p:spPr>
          <a:xfrm>
            <a:off x="10799064" y="274320"/>
            <a:ext cx="128016" cy="128016"/>
          </a:xfrm>
          <a:prstGeom prst="ellipse">
            <a:avLst/>
          </a:prstGeom>
          <a:solidFill>
            <a:schemeClr val="accent6">
              <a:alpha val="60000"/>
            </a:schemeClr>
          </a:solidFill>
          <a:ln/>
        </p:spPr>
      </p:sp>
      <p:sp>
        <p:nvSpPr>
          <p:cNvPr id="9" name="progress-dot"/>
          <p:cNvSpPr/>
          <p:nvPr/>
        </p:nvSpPr>
        <p:spPr>
          <a:xfrm>
            <a:off x="11036808" y="274320"/>
            <a:ext cx="128016" cy="128016"/>
          </a:xfrm>
          <a:prstGeom prst="ellipse">
            <a:avLst/>
          </a:prstGeom>
          <a:solidFill>
            <a:schemeClr val="accent6">
              <a:alpha val="60000"/>
            </a:schemeClr>
          </a:solidFill>
          <a:ln/>
        </p:spPr>
      </p:sp>
      <p:sp>
        <p:nvSpPr>
          <p:cNvPr id="10" name="progress-dot"/>
          <p:cNvSpPr/>
          <p:nvPr/>
        </p:nvSpPr>
        <p:spPr>
          <a:xfrm>
            <a:off x="11274552" y="274320"/>
            <a:ext cx="128016" cy="128016"/>
          </a:xfrm>
          <a:prstGeom prst="ellipse">
            <a:avLst/>
          </a:prstGeom>
          <a:solidFill>
            <a:schemeClr val="accent6">
              <a:alpha val="60000"/>
            </a:schemeClr>
          </a:solidFill>
          <a:ln/>
        </p:spPr>
      </p:sp>
      <p:sp>
        <p:nvSpPr>
          <p:cNvPr id="11" name="progress-dot"/>
          <p:cNvSpPr/>
          <p:nvPr/>
        </p:nvSpPr>
        <p:spPr>
          <a:xfrm>
            <a:off x="11512296" y="274320"/>
            <a:ext cx="128016" cy="128016"/>
          </a:xfrm>
          <a:prstGeom prst="ellipse">
            <a:avLst/>
          </a:prstGeom>
          <a:solidFill>
            <a:schemeClr val="accent6">
              <a:alpha val="60000"/>
            </a:schemeClr>
          </a:solidFill>
          <a:ln/>
        </p:spPr>
      </p:sp>
      <p:sp>
        <p:nvSpPr>
          <p:cNvPr id="12" name="Shape 10"/>
          <p:cNvSpPr/>
          <p:nvPr/>
        </p:nvSpPr>
        <p:spPr>
          <a:xfrm>
            <a:off x="548640" y="1874520"/>
            <a:ext cx="5669280" cy="475488"/>
          </a:xfrm>
          <a:prstGeom prst="roundRect">
            <a:avLst>
              <a:gd name="adj" fmla="val 19231"/>
            </a:avLst>
          </a:prstGeom>
          <a:solidFill>
            <a:schemeClr val="accent6">
              <a:alpha val="30000"/>
            </a:schemeClr>
          </a:solidFill>
          <a:ln/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947672"/>
            <a:ext cx="329184" cy="329184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1188720" y="1874520"/>
            <a:ext cx="4937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情境｜200 位員工，開放 AI 三個月後</a:t>
            </a:r>
            <a:endParaRPr lang="en-US" sz="1600" dirty="0"/>
          </a:p>
        </p:txBody>
      </p:sp>
      <p:sp>
        <p:nvSpPr>
          <p:cNvPr id="15" name="problem-card"/>
          <p:cNvSpPr/>
          <p:nvPr/>
        </p:nvSpPr>
        <p:spPr>
          <a:xfrm>
            <a:off x="548640" y="2651760"/>
            <a:ext cx="3474720" cy="3246120"/>
          </a:xfrm>
          <a:prstGeom prst="roundRect">
            <a:avLst>
              <a:gd name="adj" fmla="val 2817"/>
            </a:avLst>
          </a:prstGeom>
          <a:solidFill>
            <a:schemeClr val="tx2"/>
          </a:solidFill>
          <a:ln/>
        </p:spPr>
      </p:sp>
      <p:sp>
        <p:nvSpPr>
          <p:cNvPr id="16" name="Shape 13"/>
          <p:cNvSpPr/>
          <p:nvPr/>
        </p:nvSpPr>
        <p:spPr>
          <a:xfrm>
            <a:off x="1737360" y="2971800"/>
            <a:ext cx="1097280" cy="109728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0" y="3246120"/>
            <a:ext cx="548640" cy="548640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731520" y="425196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成本歸屬</a:t>
            </a:r>
            <a:endParaRPr lang="en-US" sz="2600" dirty="0"/>
          </a:p>
        </p:txBody>
      </p:sp>
      <p:sp>
        <p:nvSpPr>
          <p:cNvPr id="19" name="Text 15"/>
          <p:cNvSpPr txBox="1"/>
          <p:nvPr/>
        </p:nvSpPr>
        <p:spPr>
          <a:xfrm>
            <a:off x="731520" y="4864608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帳單只有總額，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不知道</a:t>
            </a:r>
            <a:pPr algn="ctr" indent="0" marL="0">
              <a:buNone/>
            </a:pPr>
            <a:r>
              <a:rPr lang="en-US" sz="1800" b="1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誰</a:t>
            </a:r>
            <a:pPr algn="ctr" indent="0" marL="0">
              <a:buNone/>
            </a:pPr>
            <a:r>
              <a:rPr lang="en-US" sz="18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花的</a:t>
            </a:r>
            <a:endParaRPr lang="en-US" sz="1800" dirty="0"/>
          </a:p>
        </p:txBody>
      </p:sp>
      <p:sp>
        <p:nvSpPr>
          <p:cNvPr id="20" name="problem-card"/>
          <p:cNvSpPr/>
          <p:nvPr/>
        </p:nvSpPr>
        <p:spPr>
          <a:xfrm>
            <a:off x="4343400" y="2651760"/>
            <a:ext cx="3474720" cy="3246120"/>
          </a:xfrm>
          <a:prstGeom prst="roundRect">
            <a:avLst>
              <a:gd name="adj" fmla="val 2817"/>
            </a:avLst>
          </a:prstGeom>
          <a:solidFill>
            <a:schemeClr val="tx2"/>
          </a:solidFill>
          <a:ln/>
        </p:spPr>
      </p:sp>
      <p:sp>
        <p:nvSpPr>
          <p:cNvPr id="21" name="Shape 17"/>
          <p:cNvSpPr/>
          <p:nvPr/>
        </p:nvSpPr>
        <p:spPr>
          <a:xfrm>
            <a:off x="5532120" y="2971800"/>
            <a:ext cx="1097280" cy="109728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6440" y="3246120"/>
            <a:ext cx="548640" cy="548640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4526280" y="425196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用量管控</a:t>
            </a:r>
            <a:endParaRPr lang="en-US" sz="2600" dirty="0"/>
          </a:p>
        </p:txBody>
      </p:sp>
      <p:sp>
        <p:nvSpPr>
          <p:cNvPr id="24" name="Text 19"/>
          <p:cNvSpPr txBox="1"/>
          <p:nvPr/>
        </p:nvSpPr>
        <p:spPr>
          <a:xfrm>
            <a:off x="4526280" y="4864608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寫錯一個迴圈，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一晚</a:t>
            </a:r>
            <a:pPr algn="ctr" indent="0" marL="0">
              <a:buNone/>
            </a:pPr>
            <a:r>
              <a:rPr lang="en-US" sz="18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燒光預算</a:t>
            </a:r>
            <a:endParaRPr lang="en-US" sz="1800" dirty="0"/>
          </a:p>
        </p:txBody>
      </p:sp>
      <p:sp>
        <p:nvSpPr>
          <p:cNvPr id="25" name="problem-card"/>
          <p:cNvSpPr/>
          <p:nvPr/>
        </p:nvSpPr>
        <p:spPr>
          <a:xfrm>
            <a:off x="8138160" y="2651760"/>
            <a:ext cx="3474720" cy="3246120"/>
          </a:xfrm>
          <a:prstGeom prst="roundRect">
            <a:avLst>
              <a:gd name="adj" fmla="val 2817"/>
            </a:avLst>
          </a:prstGeom>
          <a:solidFill>
            <a:schemeClr val="tx2"/>
          </a:solidFill>
          <a:ln/>
        </p:spPr>
      </p:sp>
      <p:sp>
        <p:nvSpPr>
          <p:cNvPr id="26" name="Shape 21"/>
          <p:cNvSpPr/>
          <p:nvPr/>
        </p:nvSpPr>
        <p:spPr>
          <a:xfrm>
            <a:off x="9326880" y="2971800"/>
            <a:ext cx="1097280" cy="109728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0" y="3246120"/>
            <a:ext cx="548640" cy="548640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8321040" y="425196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稽核</a:t>
            </a:r>
            <a:endParaRPr lang="en-US" sz="2600" dirty="0"/>
          </a:p>
        </p:txBody>
      </p:sp>
      <p:sp>
        <p:nvSpPr>
          <p:cNvPr id="29" name="Text 23"/>
          <p:cNvSpPr txBox="1"/>
          <p:nvPr/>
        </p:nvSpPr>
        <p:spPr>
          <a:xfrm>
            <a:off x="8321040" y="4864608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客戶資料貼進去，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事後</a:t>
            </a:r>
            <a:pPr algn="ctr" indent="0" marL="0">
              <a:buNone/>
            </a:pPr>
            <a:r>
              <a:rPr lang="en-US" sz="1800" b="1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查不到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261872" y="384048"/>
            <a:ext cx="7589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解決前後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17043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從「月底看帳單」，到「每次呼叫都被管到」</a:t>
            </a:r>
            <a:endParaRPr lang="en-US" sz="2000" dirty="0"/>
          </a:p>
        </p:txBody>
      </p:sp>
      <p:sp>
        <p:nvSpPr>
          <p:cNvPr id="4" name="agenda-number"/>
          <p:cNvSpPr/>
          <p:nvPr/>
        </p:nvSpPr>
        <p:spPr>
          <a:xfrm>
            <a:off x="548640" y="438912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4389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03</a:t>
            </a:r>
            <a:endParaRPr lang="en-US" sz="1600" dirty="0"/>
          </a:p>
        </p:txBody>
      </p:sp>
      <p:sp>
        <p:nvSpPr>
          <p:cNvPr id="6" name="progress-dot"/>
          <p:cNvSpPr/>
          <p:nvPr/>
        </p:nvSpPr>
        <p:spPr>
          <a:xfrm>
            <a:off x="10323576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progress-dot"/>
          <p:cNvSpPr/>
          <p:nvPr/>
        </p:nvSpPr>
        <p:spPr>
          <a:xfrm>
            <a:off x="10561320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progress-dot"/>
          <p:cNvSpPr/>
          <p:nvPr/>
        </p:nvSpPr>
        <p:spPr>
          <a:xfrm>
            <a:off x="10799064" y="274320"/>
            <a:ext cx="128016" cy="12801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9" name="progress-dot"/>
          <p:cNvSpPr/>
          <p:nvPr/>
        </p:nvSpPr>
        <p:spPr>
          <a:xfrm>
            <a:off x="11036808" y="274320"/>
            <a:ext cx="128016" cy="128016"/>
          </a:xfrm>
          <a:prstGeom prst="ellipse">
            <a:avLst/>
          </a:prstGeom>
          <a:solidFill>
            <a:schemeClr val="accent6">
              <a:alpha val="60000"/>
            </a:schemeClr>
          </a:solidFill>
          <a:ln/>
        </p:spPr>
      </p:sp>
      <p:sp>
        <p:nvSpPr>
          <p:cNvPr id="10" name="progress-dot"/>
          <p:cNvSpPr/>
          <p:nvPr/>
        </p:nvSpPr>
        <p:spPr>
          <a:xfrm>
            <a:off x="11274552" y="274320"/>
            <a:ext cx="128016" cy="128016"/>
          </a:xfrm>
          <a:prstGeom prst="ellipse">
            <a:avLst/>
          </a:prstGeom>
          <a:solidFill>
            <a:schemeClr val="accent6">
              <a:alpha val="60000"/>
            </a:schemeClr>
          </a:solidFill>
          <a:ln/>
        </p:spPr>
      </p:sp>
      <p:sp>
        <p:nvSpPr>
          <p:cNvPr id="11" name="progress-dot"/>
          <p:cNvSpPr/>
          <p:nvPr/>
        </p:nvSpPr>
        <p:spPr>
          <a:xfrm>
            <a:off x="11512296" y="274320"/>
            <a:ext cx="128016" cy="128016"/>
          </a:xfrm>
          <a:prstGeom prst="ellipse">
            <a:avLst/>
          </a:prstGeom>
          <a:solidFill>
            <a:schemeClr val="accent6">
              <a:alpha val="60000"/>
            </a:schemeClr>
          </a:solidFill>
          <a:ln/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88920" y="1901952"/>
            <a:ext cx="274320" cy="274320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3154680" y="185623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之前</a:t>
            </a:r>
            <a:endParaRPr lang="en-US" sz="16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9480" y="1901952"/>
            <a:ext cx="274320" cy="274320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7635240" y="185623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之後</a:t>
            </a:r>
            <a:endParaRPr lang="en-US" sz="1600" dirty="0"/>
          </a:p>
        </p:txBody>
      </p:sp>
      <p:sp>
        <p:nvSpPr>
          <p:cNvPr id="16" name="Shape 12"/>
          <p:cNvSpPr/>
          <p:nvPr/>
        </p:nvSpPr>
        <p:spPr>
          <a:xfrm>
            <a:off x="548640" y="2468880"/>
            <a:ext cx="731520" cy="73152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651760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463040" y="246888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節費</a:t>
            </a:r>
            <a:endParaRPr lang="en-US" sz="2400" dirty="0"/>
          </a:p>
        </p:txBody>
      </p:sp>
      <p:sp>
        <p:nvSpPr>
          <p:cNvPr id="19" name="Text 14"/>
          <p:cNvSpPr txBox="1"/>
          <p:nvPr/>
        </p:nvSpPr>
        <p:spPr>
          <a:xfrm>
            <a:off x="2788920" y="2450592"/>
            <a:ext cx="3566160" cy="777240"/>
          </a:xfrm>
          <a:prstGeom prst="roundRect">
            <a:avLst>
              <a:gd name="adj" fmla="val 9412"/>
            </a:avLst>
          </a:prstGeom>
          <a:solidFill>
            <a:schemeClr val="accent6">
              <a:alpha val="28000"/>
            </a:schemeClr>
          </a:solidFill>
          <a:ln/>
        </p:spPr>
        <p:txBody>
          <a:bodyPr wrap="square" lIns="152400" tIns="152400" rIns="152400" bIns="15240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員工自己選，常選最貴的</a:t>
            </a:r>
            <a:endParaRPr lang="en-US" sz="1800" dirty="0"/>
          </a:p>
        </p:txBody>
      </p:sp>
      <p:sp>
        <p:nvSpPr>
          <p:cNvPr id="20" name="Shape 15"/>
          <p:cNvSpPr/>
          <p:nvPr/>
        </p:nvSpPr>
        <p:spPr>
          <a:xfrm>
            <a:off x="6446520" y="2834640"/>
            <a:ext cx="658368" cy="0"/>
          </a:xfrm>
          <a:prstGeom prst="line">
            <a:avLst/>
          </a:prstGeom>
          <a:noFill/>
          <a:ln w="3175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21" name="Text 16"/>
          <p:cNvSpPr txBox="1"/>
          <p:nvPr/>
        </p:nvSpPr>
        <p:spPr>
          <a:xfrm>
            <a:off x="7269480" y="2450592"/>
            <a:ext cx="4343400" cy="777240"/>
          </a:xfrm>
          <a:prstGeom prst="roundRect">
            <a:avLst>
              <a:gd name="adj" fmla="val 9412"/>
            </a:avLst>
          </a:prstGeom>
          <a:solidFill>
            <a:schemeClr val="tx2"/>
          </a:solidFill>
          <a:ln w="19050">
            <a:solidFill>
              <a:schemeClr val="accent1"/>
            </a:solidFill>
          </a:ln>
        </p:spPr>
        <p:txBody>
          <a:bodyPr wrap="square" lIns="152400" tIns="152400" rIns="152400" bIns="15240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自動選，簡單的便宜 </a:t>
            </a:r>
            <a:pPr algn="l" indent="0" marL="0">
              <a:buNone/>
            </a:pPr>
            <a:r>
              <a:rPr lang="en-US" sz="1800" b="1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 倍</a:t>
            </a:r>
            <a:endParaRPr lang="en-US" sz="1800" dirty="0"/>
          </a:p>
        </p:txBody>
      </p:sp>
      <p:sp>
        <p:nvSpPr>
          <p:cNvPr id="22" name="Shape 17"/>
          <p:cNvSpPr/>
          <p:nvPr/>
        </p:nvSpPr>
        <p:spPr>
          <a:xfrm>
            <a:off x="548640" y="3657600"/>
            <a:ext cx="731520" cy="73152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840480"/>
            <a:ext cx="365760" cy="365760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463040" y="365760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個資</a:t>
            </a:r>
            <a:endParaRPr lang="en-US" sz="2400" dirty="0"/>
          </a:p>
        </p:txBody>
      </p:sp>
      <p:sp>
        <p:nvSpPr>
          <p:cNvPr id="25" name="Text 19"/>
          <p:cNvSpPr txBox="1"/>
          <p:nvPr/>
        </p:nvSpPr>
        <p:spPr>
          <a:xfrm>
            <a:off x="2788920" y="3639312"/>
            <a:ext cx="3566160" cy="777240"/>
          </a:xfrm>
          <a:prstGeom prst="roundRect">
            <a:avLst>
              <a:gd name="adj" fmla="val 9412"/>
            </a:avLst>
          </a:prstGeom>
          <a:solidFill>
            <a:schemeClr val="accent6">
              <a:alpha val="28000"/>
            </a:schemeClr>
          </a:solidFill>
          <a:ln/>
        </p:spPr>
        <p:txBody>
          <a:bodyPr wrap="square" lIns="152400" tIns="152400" rIns="152400" bIns="15240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原文直接送到供應商</a:t>
            </a:r>
            <a:endParaRPr lang="en-US" sz="1800" dirty="0"/>
          </a:p>
        </p:txBody>
      </p:sp>
      <p:sp>
        <p:nvSpPr>
          <p:cNvPr id="26" name="Shape 20"/>
          <p:cNvSpPr/>
          <p:nvPr/>
        </p:nvSpPr>
        <p:spPr>
          <a:xfrm>
            <a:off x="6446520" y="4023360"/>
            <a:ext cx="658368" cy="0"/>
          </a:xfrm>
          <a:prstGeom prst="line">
            <a:avLst/>
          </a:prstGeom>
          <a:noFill/>
          <a:ln w="3175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27" name="Text 21"/>
          <p:cNvSpPr txBox="1"/>
          <p:nvPr/>
        </p:nvSpPr>
        <p:spPr>
          <a:xfrm>
            <a:off x="7269480" y="3639312"/>
            <a:ext cx="4343400" cy="777240"/>
          </a:xfrm>
          <a:prstGeom prst="roundRect">
            <a:avLst>
              <a:gd name="adj" fmla="val 9412"/>
            </a:avLst>
          </a:prstGeom>
          <a:solidFill>
            <a:schemeClr val="tx2"/>
          </a:solidFill>
          <a:ln w="19050">
            <a:solidFill>
              <a:schemeClr val="accent1"/>
            </a:solidFill>
          </a:ln>
        </p:spPr>
        <p:txBody>
          <a:bodyPr wrap="square" lIns="152400" tIns="152400" rIns="152400" bIns="15240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送出前，換成 </a:t>
            </a:r>
            <a:pPr algn="l" indent="0" marL="0">
              <a:buNone/>
            </a:pPr>
            <a:r>
              <a:rPr lang="en-US" sz="1800" b="1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標籤</a:t>
            </a:r>
            <a:endParaRPr lang="en-US" sz="1800" dirty="0"/>
          </a:p>
        </p:txBody>
      </p:sp>
      <p:sp>
        <p:nvSpPr>
          <p:cNvPr id="28" name="Shape 22"/>
          <p:cNvSpPr/>
          <p:nvPr/>
        </p:nvSpPr>
        <p:spPr>
          <a:xfrm>
            <a:off x="548640" y="4846320"/>
            <a:ext cx="731520" cy="73152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5029200"/>
            <a:ext cx="365760" cy="365760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1463040" y="484632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額度</a:t>
            </a:r>
            <a:endParaRPr lang="en-US" sz="2400" dirty="0"/>
          </a:p>
        </p:txBody>
      </p:sp>
      <p:sp>
        <p:nvSpPr>
          <p:cNvPr id="31" name="Text 24"/>
          <p:cNvSpPr txBox="1"/>
          <p:nvPr/>
        </p:nvSpPr>
        <p:spPr>
          <a:xfrm>
            <a:off x="2788920" y="4828032"/>
            <a:ext cx="3566160" cy="777240"/>
          </a:xfrm>
          <a:prstGeom prst="roundRect">
            <a:avLst>
              <a:gd name="adj" fmla="val 9412"/>
            </a:avLst>
          </a:prstGeom>
          <a:solidFill>
            <a:schemeClr val="accent6">
              <a:alpha val="28000"/>
            </a:schemeClr>
          </a:solidFill>
          <a:ln/>
        </p:spPr>
        <p:txBody>
          <a:bodyPr wrap="square" lIns="152400" tIns="152400" rIns="152400" bIns="15240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月底收到帳單才知道</a:t>
            </a:r>
            <a:endParaRPr lang="en-US" sz="1800" dirty="0"/>
          </a:p>
        </p:txBody>
      </p:sp>
      <p:sp>
        <p:nvSpPr>
          <p:cNvPr id="32" name="Shape 25"/>
          <p:cNvSpPr/>
          <p:nvPr/>
        </p:nvSpPr>
        <p:spPr>
          <a:xfrm>
            <a:off x="6446520" y="5212080"/>
            <a:ext cx="658368" cy="0"/>
          </a:xfrm>
          <a:prstGeom prst="line">
            <a:avLst/>
          </a:prstGeom>
          <a:noFill/>
          <a:ln w="3175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33" name="Text 26"/>
          <p:cNvSpPr txBox="1"/>
          <p:nvPr/>
        </p:nvSpPr>
        <p:spPr>
          <a:xfrm>
            <a:off x="7269480" y="4828032"/>
            <a:ext cx="4343400" cy="777240"/>
          </a:xfrm>
          <a:prstGeom prst="roundRect">
            <a:avLst>
              <a:gd name="adj" fmla="val 9412"/>
            </a:avLst>
          </a:prstGeom>
          <a:solidFill>
            <a:schemeClr val="tx2"/>
          </a:solidFill>
          <a:ln w="19050">
            <a:solidFill>
              <a:schemeClr val="accent1"/>
            </a:solidFill>
          </a:ln>
        </p:spPr>
        <p:txBody>
          <a:bodyPr wrap="square" lIns="152400" tIns="152400" rIns="152400" bIns="15240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每人每月額度，</a:t>
            </a:r>
            <a:pPr algn="l" indent="0" marL="0">
              <a:buNone/>
            </a:pPr>
            <a:r>
              <a:rPr lang="en-US" sz="1800" b="1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用完就擋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261872" y="384048"/>
            <a:ext cx="7589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解法提綱｜三道關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17043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替每一戶裝上水表和限流閥</a:t>
            </a:r>
            <a:endParaRPr lang="en-US" sz="2000" dirty="0"/>
          </a:p>
        </p:txBody>
      </p:sp>
      <p:sp>
        <p:nvSpPr>
          <p:cNvPr id="4" name="agenda-number"/>
          <p:cNvSpPr/>
          <p:nvPr/>
        </p:nvSpPr>
        <p:spPr>
          <a:xfrm>
            <a:off x="548640" y="438912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4389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04</a:t>
            </a:r>
            <a:endParaRPr lang="en-US" sz="1600" dirty="0"/>
          </a:p>
        </p:txBody>
      </p:sp>
      <p:sp>
        <p:nvSpPr>
          <p:cNvPr id="6" name="progress-dot"/>
          <p:cNvSpPr/>
          <p:nvPr/>
        </p:nvSpPr>
        <p:spPr>
          <a:xfrm>
            <a:off x="10323576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progress-dot"/>
          <p:cNvSpPr/>
          <p:nvPr/>
        </p:nvSpPr>
        <p:spPr>
          <a:xfrm>
            <a:off x="10561320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progress-dot"/>
          <p:cNvSpPr/>
          <p:nvPr/>
        </p:nvSpPr>
        <p:spPr>
          <a:xfrm>
            <a:off x="10799064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progress-dot"/>
          <p:cNvSpPr/>
          <p:nvPr/>
        </p:nvSpPr>
        <p:spPr>
          <a:xfrm>
            <a:off x="11036808" y="274320"/>
            <a:ext cx="128016" cy="12801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0" name="progress-dot"/>
          <p:cNvSpPr/>
          <p:nvPr/>
        </p:nvSpPr>
        <p:spPr>
          <a:xfrm>
            <a:off x="11274552" y="274320"/>
            <a:ext cx="128016" cy="128016"/>
          </a:xfrm>
          <a:prstGeom prst="ellipse">
            <a:avLst/>
          </a:prstGeom>
          <a:solidFill>
            <a:schemeClr val="accent6">
              <a:alpha val="60000"/>
            </a:schemeClr>
          </a:solidFill>
          <a:ln/>
        </p:spPr>
      </p:sp>
      <p:sp>
        <p:nvSpPr>
          <p:cNvPr id="11" name="progress-dot"/>
          <p:cNvSpPr/>
          <p:nvPr/>
        </p:nvSpPr>
        <p:spPr>
          <a:xfrm>
            <a:off x="11512296" y="274320"/>
            <a:ext cx="128016" cy="128016"/>
          </a:xfrm>
          <a:prstGeom prst="ellipse">
            <a:avLst/>
          </a:prstGeom>
          <a:solidFill>
            <a:schemeClr val="accent6">
              <a:alpha val="60000"/>
            </a:schemeClr>
          </a:solidFill>
          <a:ln/>
        </p:spPr>
      </p:sp>
      <p:sp>
        <p:nvSpPr>
          <p:cNvPr id="12" name="Shape 10"/>
          <p:cNvSpPr/>
          <p:nvPr/>
        </p:nvSpPr>
        <p:spPr>
          <a:xfrm>
            <a:off x="548640" y="2148840"/>
            <a:ext cx="1005840" cy="100584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" y="2400300"/>
            <a:ext cx="502920" cy="50292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11480" y="320040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員工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1627632" y="2651760"/>
            <a:ext cx="502920" cy="0"/>
          </a:xfrm>
          <a:prstGeom prst="line">
            <a:avLst/>
          </a:prstGeom>
          <a:noFill/>
          <a:ln w="317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16" name="gateway-box"/>
          <p:cNvSpPr/>
          <p:nvPr/>
        </p:nvSpPr>
        <p:spPr>
          <a:xfrm>
            <a:off x="2194560" y="2057400"/>
            <a:ext cx="7772400" cy="1188720"/>
          </a:xfrm>
          <a:prstGeom prst="roundRect">
            <a:avLst>
              <a:gd name="adj" fmla="val 7692"/>
            </a:avLst>
          </a:prstGeom>
          <a:solidFill>
            <a:schemeClr val="accent2"/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4600" y="2286000"/>
            <a:ext cx="731520" cy="731520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3474720" y="2103120"/>
            <a:ext cx="6309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LLM Gateway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每一次呼叫，都先經過這裡</a:t>
            </a:r>
            <a:endParaRPr lang="en-US" sz="1600" dirty="0"/>
          </a:p>
        </p:txBody>
      </p:sp>
      <p:sp>
        <p:nvSpPr>
          <p:cNvPr id="19" name="Shape 15"/>
          <p:cNvSpPr/>
          <p:nvPr/>
        </p:nvSpPr>
        <p:spPr>
          <a:xfrm>
            <a:off x="10012680" y="2651760"/>
            <a:ext cx="502920" cy="0"/>
          </a:xfrm>
          <a:prstGeom prst="line">
            <a:avLst/>
          </a:prstGeom>
          <a:noFill/>
          <a:ln w="317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20" name="Shape 16"/>
          <p:cNvSpPr/>
          <p:nvPr/>
        </p:nvSpPr>
        <p:spPr>
          <a:xfrm>
            <a:off x="10607040" y="2148840"/>
            <a:ext cx="1005840" cy="100584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58500" y="2400300"/>
            <a:ext cx="502920" cy="50292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0469880" y="320040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模型</a:t>
            </a:r>
            <a:endParaRPr lang="en-US" sz="1600" dirty="0"/>
          </a:p>
        </p:txBody>
      </p:sp>
      <p:sp>
        <p:nvSpPr>
          <p:cNvPr id="23" name="Shape 18"/>
          <p:cNvSpPr/>
          <p:nvPr/>
        </p:nvSpPr>
        <p:spPr>
          <a:xfrm>
            <a:off x="2286000" y="3246120"/>
            <a:ext cx="0" cy="685800"/>
          </a:xfrm>
          <a:prstGeom prst="line">
            <a:avLst/>
          </a:prstGeom>
          <a:noFill/>
          <a:ln w="25400">
            <a:solidFill>
              <a:schemeClr val="accent2"/>
            </a:solidFill>
            <a:prstDash val="solid"/>
          </a:ln>
        </p:spPr>
      </p:sp>
      <p:sp>
        <p:nvSpPr>
          <p:cNvPr id="24" name="group-card"/>
          <p:cNvSpPr/>
          <p:nvPr/>
        </p:nvSpPr>
        <p:spPr>
          <a:xfrm>
            <a:off x="548640" y="3931920"/>
            <a:ext cx="3474720" cy="1965960"/>
          </a:xfrm>
          <a:prstGeom prst="roundRect">
            <a:avLst>
              <a:gd name="adj" fmla="val 4651"/>
            </a:avLst>
          </a:prstGeom>
          <a:solidFill>
            <a:schemeClr val="tx2"/>
          </a:solidFill>
          <a:ln/>
        </p:spPr>
      </p:sp>
      <p:sp>
        <p:nvSpPr>
          <p:cNvPr id="25" name="Shape 20"/>
          <p:cNvSpPr/>
          <p:nvPr/>
        </p:nvSpPr>
        <p:spPr>
          <a:xfrm>
            <a:off x="822960" y="4206240"/>
            <a:ext cx="731520" cy="73152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4389120"/>
            <a:ext cx="365760" cy="365760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1737360" y="4224528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管人</a:t>
            </a:r>
            <a:endParaRPr lang="en-US" sz="2800" dirty="0"/>
          </a:p>
        </p:txBody>
      </p:sp>
      <p:sp>
        <p:nvSpPr>
          <p:cNvPr id="28" name="Text 22"/>
          <p:cNvSpPr txBox="1"/>
          <p:nvPr/>
        </p:nvSpPr>
        <p:spPr>
          <a:xfrm>
            <a:off x="822960" y="51206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確認身分・檢查額度</a:t>
            </a:r>
            <a:endParaRPr lang="en-US" sz="1800" dirty="0"/>
          </a:p>
        </p:txBody>
      </p:sp>
      <p:sp>
        <p:nvSpPr>
          <p:cNvPr id="29" name="Shape 23"/>
          <p:cNvSpPr/>
          <p:nvPr/>
        </p:nvSpPr>
        <p:spPr>
          <a:xfrm>
            <a:off x="6080760" y="3246120"/>
            <a:ext cx="0" cy="685800"/>
          </a:xfrm>
          <a:prstGeom prst="line">
            <a:avLst/>
          </a:prstGeom>
          <a:noFill/>
          <a:ln w="25400">
            <a:solidFill>
              <a:schemeClr val="accent2"/>
            </a:solidFill>
            <a:prstDash val="solid"/>
          </a:ln>
        </p:spPr>
      </p:sp>
      <p:sp>
        <p:nvSpPr>
          <p:cNvPr id="30" name="group-card"/>
          <p:cNvSpPr/>
          <p:nvPr/>
        </p:nvSpPr>
        <p:spPr>
          <a:xfrm>
            <a:off x="4343400" y="3931920"/>
            <a:ext cx="3474720" cy="1965960"/>
          </a:xfrm>
          <a:prstGeom prst="roundRect">
            <a:avLst>
              <a:gd name="adj" fmla="val 4651"/>
            </a:avLst>
          </a:prstGeom>
          <a:solidFill>
            <a:schemeClr val="tx2"/>
          </a:solidFill>
          <a:ln/>
        </p:spPr>
      </p:sp>
      <p:sp>
        <p:nvSpPr>
          <p:cNvPr id="31" name="Shape 25"/>
          <p:cNvSpPr/>
          <p:nvPr/>
        </p:nvSpPr>
        <p:spPr>
          <a:xfrm>
            <a:off x="4617720" y="4206240"/>
            <a:ext cx="731520" cy="73152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00600" y="4389120"/>
            <a:ext cx="365760" cy="365760"/>
          </a:xfrm>
          <a:prstGeom prst="rect">
            <a:avLst/>
          </a:prstGeom>
        </p:spPr>
      </p:pic>
      <p:sp>
        <p:nvSpPr>
          <p:cNvPr id="33" name="Text 26"/>
          <p:cNvSpPr txBox="1"/>
          <p:nvPr/>
        </p:nvSpPr>
        <p:spPr>
          <a:xfrm>
            <a:off x="5532120" y="4224528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管錢</a:t>
            </a:r>
            <a:endParaRPr lang="en-US" sz="2800" dirty="0"/>
          </a:p>
        </p:txBody>
      </p:sp>
      <p:sp>
        <p:nvSpPr>
          <p:cNvPr id="34" name="Text 27"/>
          <p:cNvSpPr txBox="1"/>
          <p:nvPr/>
        </p:nvSpPr>
        <p:spPr>
          <a:xfrm>
            <a:off x="4617720" y="51206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自動選模型・記帳</a:t>
            </a:r>
            <a:endParaRPr lang="en-US" sz="1800" dirty="0"/>
          </a:p>
        </p:txBody>
      </p:sp>
      <p:sp>
        <p:nvSpPr>
          <p:cNvPr id="35" name="Shape 28"/>
          <p:cNvSpPr/>
          <p:nvPr/>
        </p:nvSpPr>
        <p:spPr>
          <a:xfrm>
            <a:off x="9875520" y="3246120"/>
            <a:ext cx="0" cy="685800"/>
          </a:xfrm>
          <a:prstGeom prst="line">
            <a:avLst/>
          </a:prstGeom>
          <a:noFill/>
          <a:ln w="25400">
            <a:solidFill>
              <a:schemeClr val="accent2"/>
            </a:solidFill>
            <a:prstDash val="solid"/>
          </a:ln>
        </p:spPr>
      </p:sp>
      <p:sp>
        <p:nvSpPr>
          <p:cNvPr id="36" name="group-card"/>
          <p:cNvSpPr/>
          <p:nvPr/>
        </p:nvSpPr>
        <p:spPr>
          <a:xfrm>
            <a:off x="8138160" y="3931920"/>
            <a:ext cx="3474720" cy="1965960"/>
          </a:xfrm>
          <a:prstGeom prst="roundRect">
            <a:avLst>
              <a:gd name="adj" fmla="val 4651"/>
            </a:avLst>
          </a:prstGeom>
          <a:solidFill>
            <a:schemeClr val="tx2"/>
          </a:solidFill>
          <a:ln/>
        </p:spPr>
      </p:sp>
      <p:sp>
        <p:nvSpPr>
          <p:cNvPr id="37" name="Shape 30"/>
          <p:cNvSpPr/>
          <p:nvPr/>
        </p:nvSpPr>
        <p:spPr>
          <a:xfrm>
            <a:off x="8412480" y="4206240"/>
            <a:ext cx="731520" cy="73152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3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95360" y="4389120"/>
            <a:ext cx="365760" cy="365760"/>
          </a:xfrm>
          <a:prstGeom prst="rect">
            <a:avLst/>
          </a:prstGeom>
        </p:spPr>
      </p:pic>
      <p:sp>
        <p:nvSpPr>
          <p:cNvPr id="39" name="Text 31"/>
          <p:cNvSpPr txBox="1"/>
          <p:nvPr/>
        </p:nvSpPr>
        <p:spPr>
          <a:xfrm>
            <a:off x="9326880" y="4224528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管資料</a:t>
            </a:r>
            <a:endParaRPr lang="en-US" sz="2800" dirty="0"/>
          </a:p>
        </p:txBody>
      </p:sp>
      <p:sp>
        <p:nvSpPr>
          <p:cNvPr id="40" name="Text 32"/>
          <p:cNvSpPr txBox="1"/>
          <p:nvPr/>
        </p:nvSpPr>
        <p:spPr>
          <a:xfrm>
            <a:off x="8412480" y="51206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遮掉個資・留稽核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261872" y="384048"/>
            <a:ext cx="7589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解法提綱｜系統架構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17043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外面連不進來，出口只放行 OpenAI</a:t>
            </a:r>
            <a:endParaRPr lang="en-US" sz="2000" dirty="0"/>
          </a:p>
        </p:txBody>
      </p:sp>
      <p:sp>
        <p:nvSpPr>
          <p:cNvPr id="4" name="agenda-number"/>
          <p:cNvSpPr/>
          <p:nvPr/>
        </p:nvSpPr>
        <p:spPr>
          <a:xfrm>
            <a:off x="548640" y="438912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4389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04</a:t>
            </a:r>
            <a:endParaRPr lang="en-US" sz="1600" dirty="0"/>
          </a:p>
        </p:txBody>
      </p:sp>
      <p:sp>
        <p:nvSpPr>
          <p:cNvPr id="6" name="progress-dot"/>
          <p:cNvSpPr/>
          <p:nvPr/>
        </p:nvSpPr>
        <p:spPr>
          <a:xfrm>
            <a:off x="10323576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progress-dot"/>
          <p:cNvSpPr/>
          <p:nvPr/>
        </p:nvSpPr>
        <p:spPr>
          <a:xfrm>
            <a:off x="10561320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progress-dot"/>
          <p:cNvSpPr/>
          <p:nvPr/>
        </p:nvSpPr>
        <p:spPr>
          <a:xfrm>
            <a:off x="10799064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progress-dot"/>
          <p:cNvSpPr/>
          <p:nvPr/>
        </p:nvSpPr>
        <p:spPr>
          <a:xfrm>
            <a:off x="11036808" y="274320"/>
            <a:ext cx="128016" cy="12801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0" name="progress-dot"/>
          <p:cNvSpPr/>
          <p:nvPr/>
        </p:nvSpPr>
        <p:spPr>
          <a:xfrm>
            <a:off x="11274552" y="274320"/>
            <a:ext cx="128016" cy="128016"/>
          </a:xfrm>
          <a:prstGeom prst="ellipse">
            <a:avLst/>
          </a:prstGeom>
          <a:solidFill>
            <a:schemeClr val="accent6">
              <a:alpha val="60000"/>
            </a:schemeClr>
          </a:solidFill>
          <a:ln/>
        </p:spPr>
      </p:sp>
      <p:sp>
        <p:nvSpPr>
          <p:cNvPr id="11" name="progress-dot"/>
          <p:cNvSpPr/>
          <p:nvPr/>
        </p:nvSpPr>
        <p:spPr>
          <a:xfrm>
            <a:off x="11512296" y="274320"/>
            <a:ext cx="128016" cy="128016"/>
          </a:xfrm>
          <a:prstGeom prst="ellipse">
            <a:avLst/>
          </a:prstGeom>
          <a:solidFill>
            <a:schemeClr val="accent6">
              <a:alpha val="60000"/>
            </a:schemeClr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  <p:sp>
        <p:nvSpPr>
          <p:cNvPr id="26" name="vpc"/>
          <p:cNvSpPr/>
          <p:nvPr/>
        </p:nvSpPr>
        <p:spPr>
          <a:xfrm>
            <a:off x="2194560" y="1783080"/>
            <a:ext cx="6492240" cy="3794760"/>
          </a:xfrm>
          <a:prstGeom prst="roundRect">
            <a:avLst>
              <a:gd name="adj" fmla="val 2409"/>
            </a:avLst>
          </a:prstGeom>
          <a:solidFill>
            <a:schemeClr val="accent6">
              <a:alpha val="10000"/>
            </a:schemeClr>
          </a:solidFill>
          <a:ln w="15875">
            <a:solidFill>
              <a:schemeClr val="accent6"/>
            </a:solidFill>
            <a:prstDash val="solid"/>
          </a:ln>
        </p:spPr>
      </p:sp>
      <p:sp>
        <p:nvSpPr>
          <p:cNvPr id="27" name="Text"/>
          <p:cNvSpPr txBox="1"/>
          <p:nvPr/>
        </p:nvSpPr>
        <p:spPr>
          <a:xfrm>
            <a:off x="2377440" y="1828800"/>
            <a:ext cx="6126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VPC　</a:t>
            </a:r>
            <a:r>
              <a:rPr lang="en-US" sz="1600" b="1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每日層</a:t>
            </a:r>
            <a:endParaRPr lang="en-US" sz="1600" dirty="0"/>
          </a:p>
        </p:txBody>
      </p:sp>
      <p:sp>
        <p:nvSpPr>
          <p:cNvPr id="28" name="public-subnet"/>
          <p:cNvSpPr/>
          <p:nvPr/>
        </p:nvSpPr>
        <p:spPr>
          <a:xfrm>
            <a:off x="2377440" y="2148840"/>
            <a:ext cx="6126480" cy="914400"/>
          </a:xfrm>
          <a:prstGeom prst="roundRect">
            <a:avLst>
              <a:gd name="adj" fmla="val 10000"/>
            </a:avLst>
          </a:prstGeom>
          <a:solidFill>
            <a:schemeClr val="accent5">
              <a:alpha val="15000"/>
            </a:schemeClr>
          </a:solidFill>
          <a:ln w="15875">
            <a:solidFill>
              <a:schemeClr val="accent5"/>
            </a:solidFill>
            <a:prstDash val="dash"/>
          </a:ln>
        </p:spPr>
      </p:sp>
      <p:sp>
        <p:nvSpPr>
          <p:cNvPr id="29" name="Text"/>
          <p:cNvSpPr txBox="1"/>
          <p:nvPr/>
        </p:nvSpPr>
        <p:spPr>
          <a:xfrm>
            <a:off x="2514600" y="21945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accent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公有子網 ×2</a:t>
            </a:r>
            <a:endParaRPr lang="en-US" sz="1600" dirty="0"/>
          </a:p>
        </p:txBody>
      </p:sp>
      <p:sp>
        <p:nvSpPr>
          <p:cNvPr id="30" name="node"/>
          <p:cNvSpPr/>
          <p:nvPr/>
        </p:nvSpPr>
        <p:spPr>
          <a:xfrm>
            <a:off x="2560320" y="2468880"/>
            <a:ext cx="1463040" cy="502920"/>
          </a:xfrm>
          <a:prstGeom prst="roundRect">
            <a:avLst>
              <a:gd name="adj" fmla="val 18181"/>
            </a:avLst>
          </a:prstGeom>
          <a:solidFill>
            <a:schemeClr val="tx2"/>
          </a:solidFill>
          <a:ln/>
        </p:spPr>
      </p:sp>
      <p:sp>
        <p:nvSpPr>
          <p:cNvPr id="31" name="Text"/>
          <p:cNvSpPr txBox="1"/>
          <p:nvPr/>
        </p:nvSpPr>
        <p:spPr>
          <a:xfrm>
            <a:off x="2606040" y="246888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ALB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入口 :80</a:t>
            </a:r>
            <a:endParaRPr lang="en-US" sz="1600" dirty="0"/>
          </a:p>
        </p:txBody>
      </p:sp>
      <p:sp>
        <p:nvSpPr>
          <p:cNvPr id="32" name="node"/>
          <p:cNvSpPr/>
          <p:nvPr/>
        </p:nvSpPr>
        <p:spPr>
          <a:xfrm>
            <a:off x="4297680" y="2468880"/>
            <a:ext cx="2286000" cy="502920"/>
          </a:xfrm>
          <a:prstGeom prst="roundRect">
            <a:avLst>
              <a:gd name="adj" fmla="val 18181"/>
            </a:avLst>
          </a:prstGeom>
          <a:solidFill>
            <a:schemeClr val="tx2"/>
          </a:solidFill>
          <a:ln/>
        </p:spPr>
      </p:sp>
      <p:sp>
        <p:nvSpPr>
          <p:cNvPr id="33" name="Text"/>
          <p:cNvSpPr txBox="1"/>
          <p:nvPr/>
        </p:nvSpPr>
        <p:spPr>
          <a:xfrm>
            <a:off x="4343400" y="246888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NAT ＋ DNS 防火牆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出口 :443</a:t>
            </a:r>
            <a:endParaRPr lang="en-US" sz="1600" dirty="0"/>
          </a:p>
        </p:txBody>
      </p:sp>
      <p:sp>
        <p:nvSpPr>
          <p:cNvPr id="34" name="node"/>
          <p:cNvSpPr/>
          <p:nvPr/>
        </p:nvSpPr>
        <p:spPr>
          <a:xfrm>
            <a:off x="6858000" y="2468880"/>
            <a:ext cx="1463040" cy="502920"/>
          </a:xfrm>
          <a:prstGeom prst="roundRect">
            <a:avLst>
              <a:gd name="adj" fmla="val 18181"/>
            </a:avLst>
          </a:prstGeom>
          <a:solidFill>
            <a:schemeClr val="tx2"/>
          </a:solidFill>
          <a:ln/>
        </p:spPr>
      </p:sp>
      <p:sp>
        <p:nvSpPr>
          <p:cNvPr id="35" name="Text"/>
          <p:cNvSpPr txBox="1"/>
          <p:nvPr/>
        </p:nvSpPr>
        <p:spPr>
          <a:xfrm>
            <a:off x="6903720" y="246888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網際網路閘道</a:t>
            </a:r>
            <a:endParaRPr lang="en-US" sz="1600" dirty="0"/>
          </a:p>
        </p:txBody>
      </p:sp>
      <p:sp>
        <p:nvSpPr>
          <p:cNvPr id="36" name="private-subnet"/>
          <p:cNvSpPr/>
          <p:nvPr/>
        </p:nvSpPr>
        <p:spPr>
          <a:xfrm>
            <a:off x="2377440" y="3246120"/>
            <a:ext cx="6126480" cy="2148840"/>
          </a:xfrm>
          <a:prstGeom prst="roundRect">
            <a:avLst>
              <a:gd name="adj" fmla="val 4255"/>
            </a:avLst>
          </a:prstGeom>
          <a:solidFill>
            <a:schemeClr val="accent1">
              <a:alpha val="15000"/>
            </a:schemeClr>
          </a:solidFill>
          <a:ln w="15875">
            <a:solidFill>
              <a:schemeClr val="accent1"/>
            </a:solidFill>
            <a:prstDash val="dash"/>
          </a:ln>
        </p:spPr>
      </p:sp>
      <p:sp>
        <p:nvSpPr>
          <p:cNvPr id="37" name="Text"/>
          <p:cNvSpPr txBox="1"/>
          <p:nvPr/>
        </p:nvSpPr>
        <p:spPr>
          <a:xfrm>
            <a:off x="5623560" y="3291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私有子網・沒有公開 IP</a:t>
            </a:r>
            <a:endParaRPr lang="en-US" sz="1600" dirty="0"/>
          </a:p>
        </p:txBody>
      </p:sp>
      <p:sp>
        <p:nvSpPr>
          <p:cNvPr id="38" name="node"/>
          <p:cNvSpPr/>
          <p:nvPr/>
        </p:nvSpPr>
        <p:spPr>
          <a:xfrm>
            <a:off x="2560320" y="3611880"/>
            <a:ext cx="2103120" cy="548640"/>
          </a:xfrm>
          <a:prstGeom prst="roundRect">
            <a:avLst>
              <a:gd name="adj" fmla="val 16666"/>
            </a:avLst>
          </a:prstGeom>
          <a:solidFill>
            <a:schemeClr val="tx2"/>
          </a:solidFill>
          <a:ln/>
        </p:spPr>
      </p:sp>
      <p:sp>
        <p:nvSpPr>
          <p:cNvPr id="39" name="Text"/>
          <p:cNvSpPr txBox="1"/>
          <p:nvPr/>
        </p:nvSpPr>
        <p:spPr>
          <a:xfrm>
            <a:off x="2606040" y="361188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LLM Gateway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Fargate</a:t>
            </a:r>
            <a:endParaRPr lang="en-US" sz="1600" dirty="0"/>
          </a:p>
        </p:txBody>
      </p:sp>
      <p:sp>
        <p:nvSpPr>
          <p:cNvPr id="40" name="node"/>
          <p:cNvSpPr/>
          <p:nvPr/>
        </p:nvSpPr>
        <p:spPr>
          <a:xfrm>
            <a:off x="6217920" y="3611880"/>
            <a:ext cx="2103120" cy="548640"/>
          </a:xfrm>
          <a:prstGeom prst="roundRect">
            <a:avLst>
              <a:gd name="adj" fmla="val 16666"/>
            </a:avLst>
          </a:prstGeom>
          <a:solidFill>
            <a:schemeClr val="tx2"/>
          </a:solidFill>
          <a:ln/>
        </p:spPr>
      </p:sp>
      <p:sp>
        <p:nvSpPr>
          <p:cNvPr id="41" name="Text"/>
          <p:cNvSpPr txBox="1"/>
          <p:nvPr/>
        </p:nvSpPr>
        <p:spPr>
          <a:xfrm>
            <a:off x="6263640" y="361188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Lambda Worker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寫三本帳</a:t>
            </a:r>
            <a:endParaRPr lang="en-US" sz="1600" dirty="0"/>
          </a:p>
        </p:txBody>
      </p:sp>
      <p:sp>
        <p:nvSpPr>
          <p:cNvPr id="42" name="node"/>
          <p:cNvSpPr/>
          <p:nvPr/>
        </p:nvSpPr>
        <p:spPr>
          <a:xfrm>
            <a:off x="2560320" y="4663440"/>
            <a:ext cx="5760720" cy="457200"/>
          </a:xfrm>
          <a:prstGeom prst="roundRect">
            <a:avLst>
              <a:gd name="adj" fmla="val 20000"/>
            </a:avLst>
          </a:prstGeom>
          <a:solidFill>
            <a:schemeClr val="tx2"/>
          </a:solidFill>
          <a:ln/>
        </p:spPr>
      </p:sp>
      <p:sp>
        <p:nvSpPr>
          <p:cNvPr id="43" name="Text"/>
          <p:cNvSpPr txBox="1"/>
          <p:nvPr/>
        </p:nvSpPr>
        <p:spPr>
          <a:xfrm>
            <a:off x="2606040" y="466344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Gateway Endpoint ×2：DynamoDB・S3</a:t>
            </a:r>
            <a:endParaRPr lang="en-US" sz="1600" dirty="0"/>
          </a:p>
        </p:txBody>
      </p:sp>
      <p:sp>
        <p:nvSpPr>
          <p:cNvPr id="44" name="node"/>
          <p:cNvSpPr/>
          <p:nvPr/>
        </p:nvSpPr>
        <p:spPr>
          <a:xfrm>
            <a:off x="548640" y="2423160"/>
            <a:ext cx="1463040" cy="502920"/>
          </a:xfrm>
          <a:prstGeom prst="roundRect">
            <a:avLst>
              <a:gd name="adj" fmla="val 18181"/>
            </a:avLst>
          </a:prstGeom>
          <a:solidFill>
            <a:schemeClr val="tx2"/>
          </a:solidFill>
          <a:ln/>
        </p:spPr>
      </p:sp>
      <p:sp>
        <p:nvSpPr>
          <p:cNvPr id="45" name="Text"/>
          <p:cNvSpPr txBox="1"/>
          <p:nvPr/>
        </p:nvSpPr>
        <p:spPr>
          <a:xfrm>
            <a:off x="594360" y="242316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員工</a:t>
            </a:r>
            <a:endParaRPr lang="en-US" sz="1600" dirty="0"/>
          </a:p>
        </p:txBody>
      </p:sp>
      <p:sp>
        <p:nvSpPr>
          <p:cNvPr id="46" name="node"/>
          <p:cNvSpPr/>
          <p:nvPr/>
        </p:nvSpPr>
        <p:spPr>
          <a:xfrm>
            <a:off x="548640" y="3611880"/>
            <a:ext cx="1463040" cy="548640"/>
          </a:xfrm>
          <a:prstGeom prst="roundRect">
            <a:avLst>
              <a:gd name="adj" fmla="val 16666"/>
            </a:avLst>
          </a:prstGeom>
          <a:solidFill>
            <a:schemeClr val="tx2"/>
          </a:solidFill>
          <a:ln/>
        </p:spPr>
      </p:sp>
      <p:sp>
        <p:nvSpPr>
          <p:cNvPr id="47" name="Text"/>
          <p:cNvSpPr txBox="1"/>
          <p:nvPr/>
        </p:nvSpPr>
        <p:spPr>
          <a:xfrm>
            <a:off x="594360" y="361188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GitHub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CI・一鍵拆除</a:t>
            </a:r>
            <a:endParaRPr lang="en-US" sz="1600" dirty="0"/>
          </a:p>
        </p:txBody>
      </p:sp>
      <p:sp>
        <p:nvSpPr>
          <p:cNvPr id="48" name="node"/>
          <p:cNvSpPr/>
          <p:nvPr/>
        </p:nvSpPr>
        <p:spPr>
          <a:xfrm>
            <a:off x="548640" y="4663440"/>
            <a:ext cx="1463040" cy="457200"/>
          </a:xfrm>
          <a:prstGeom prst="roundRect">
            <a:avLst>
              <a:gd name="adj" fmla="val 20000"/>
            </a:avLst>
          </a:prstGeom>
          <a:solidFill>
            <a:schemeClr val="tx1"/>
          </a:solidFill>
          <a:ln w="15875">
            <a:solidFill>
              <a:schemeClr val="accent6"/>
            </a:solidFill>
            <a:prstDash val="dash"/>
          </a:ln>
        </p:spPr>
      </p:sp>
      <p:sp>
        <p:nvSpPr>
          <p:cNvPr id="49" name="Text"/>
          <p:cNvSpPr txBox="1"/>
          <p:nvPr/>
        </p:nvSpPr>
        <p:spPr>
          <a:xfrm>
            <a:off x="594360" y="46634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agent M7</a:t>
            </a:r>
            <a:endParaRPr lang="en-US" sz="1600" dirty="0"/>
          </a:p>
        </p:txBody>
      </p:sp>
      <p:sp>
        <p:nvSpPr>
          <p:cNvPr id="50" name="node"/>
          <p:cNvSpPr/>
          <p:nvPr/>
        </p:nvSpPr>
        <p:spPr>
          <a:xfrm>
            <a:off x="548640" y="5212080"/>
            <a:ext cx="1463040" cy="457200"/>
          </a:xfrm>
          <a:prstGeom prst="roundRect">
            <a:avLst>
              <a:gd name="adj" fmla="val 20000"/>
            </a:avLst>
          </a:prstGeom>
          <a:solidFill>
            <a:schemeClr val="tx1"/>
          </a:solidFill>
          <a:ln w="15875">
            <a:solidFill>
              <a:schemeClr val="accent6"/>
            </a:solidFill>
            <a:prstDash val="dash"/>
          </a:ln>
        </p:spPr>
      </p:sp>
      <p:sp>
        <p:nvSpPr>
          <p:cNvPr id="51" name="Text"/>
          <p:cNvSpPr txBox="1"/>
          <p:nvPr/>
        </p:nvSpPr>
        <p:spPr>
          <a:xfrm>
            <a:off x="594360" y="52120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Grafana M6</a:t>
            </a:r>
            <a:endParaRPr lang="en-US" sz="1600" dirty="0"/>
          </a:p>
        </p:txBody>
      </p:sp>
      <p:sp>
        <p:nvSpPr>
          <p:cNvPr id="52" name="node"/>
          <p:cNvSpPr/>
          <p:nvPr/>
        </p:nvSpPr>
        <p:spPr>
          <a:xfrm>
            <a:off x="8869680" y="2423160"/>
            <a:ext cx="2743200" cy="502920"/>
          </a:xfrm>
          <a:prstGeom prst="roundRect">
            <a:avLst>
              <a:gd name="adj" fmla="val 18181"/>
            </a:avLst>
          </a:prstGeom>
          <a:solidFill>
            <a:schemeClr val="dk2"/>
          </a:solidFill>
          <a:ln/>
        </p:spPr>
      </p:sp>
      <p:sp>
        <p:nvSpPr>
          <p:cNvPr id="53" name="Text"/>
          <p:cNvSpPr txBox="1"/>
          <p:nvPr/>
        </p:nvSpPr>
        <p:spPr>
          <a:xfrm>
            <a:off x="8915400" y="242316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OpenAI</a:t>
            </a:r>
            <a:endParaRPr lang="en-US" sz="1600" dirty="0"/>
          </a:p>
        </p:txBody>
      </p:sp>
      <p:sp>
        <p:nvSpPr>
          <p:cNvPr id="54" name="Text"/>
          <p:cNvSpPr txBox="1"/>
          <p:nvPr/>
        </p:nvSpPr>
        <p:spPr>
          <a:xfrm>
            <a:off x="8869680" y="3291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accent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長期層</a:t>
            </a:r>
            <a:endParaRPr lang="en-US" sz="1600" dirty="0"/>
          </a:p>
        </p:txBody>
      </p:sp>
      <p:sp>
        <p:nvSpPr>
          <p:cNvPr id="55" name="node"/>
          <p:cNvSpPr/>
          <p:nvPr/>
        </p:nvSpPr>
        <p:spPr>
          <a:xfrm>
            <a:off x="8869680" y="3611880"/>
            <a:ext cx="2743200" cy="548640"/>
          </a:xfrm>
          <a:prstGeom prst="roundRect">
            <a:avLst>
              <a:gd name="adj" fmla="val 16666"/>
            </a:avLst>
          </a:prstGeom>
          <a:solidFill>
            <a:schemeClr val="tx2"/>
          </a:solidFill>
          <a:ln/>
        </p:spPr>
      </p:sp>
      <p:sp>
        <p:nvSpPr>
          <p:cNvPr id="56" name="Text"/>
          <p:cNvSpPr txBox="1"/>
          <p:nvPr/>
        </p:nvSpPr>
        <p:spPr>
          <a:xfrm>
            <a:off x="8915400" y="361188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SQS ＋ DLQ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出單夾</a:t>
            </a:r>
            <a:endParaRPr lang="en-US" sz="1600" dirty="0"/>
          </a:p>
        </p:txBody>
      </p:sp>
      <p:sp>
        <p:nvSpPr>
          <p:cNvPr id="57" name="node"/>
          <p:cNvSpPr/>
          <p:nvPr/>
        </p:nvSpPr>
        <p:spPr>
          <a:xfrm>
            <a:off x="8869680" y="4663440"/>
            <a:ext cx="2743200" cy="457200"/>
          </a:xfrm>
          <a:prstGeom prst="roundRect">
            <a:avLst>
              <a:gd name="adj" fmla="val 20000"/>
            </a:avLst>
          </a:prstGeom>
          <a:solidFill>
            <a:schemeClr val="tx2"/>
          </a:solidFill>
          <a:ln/>
        </p:spPr>
      </p:sp>
      <p:sp>
        <p:nvSpPr>
          <p:cNvPr id="58" name="Text"/>
          <p:cNvSpPr txBox="1"/>
          <p:nvPr/>
        </p:nvSpPr>
        <p:spPr>
          <a:xfrm>
            <a:off x="8915400" y="46634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DynamoDB・四張表</a:t>
            </a:r>
            <a:endParaRPr lang="en-US" sz="1600" dirty="0"/>
          </a:p>
        </p:txBody>
      </p:sp>
      <p:sp>
        <p:nvSpPr>
          <p:cNvPr id="59" name="Text"/>
          <p:cNvSpPr txBox="1"/>
          <p:nvPr/>
        </p:nvSpPr>
        <p:spPr>
          <a:xfrm>
            <a:off x="548640" y="576072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accent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長期層</a:t>
            </a:r>
            <a:endParaRPr lang="en-US" sz="1600" dirty="0"/>
          </a:p>
        </p:txBody>
      </p:sp>
      <p:sp>
        <p:nvSpPr>
          <p:cNvPr id="60" name="node"/>
          <p:cNvSpPr/>
          <p:nvPr/>
        </p:nvSpPr>
        <p:spPr>
          <a:xfrm>
            <a:off x="1325880" y="5760720"/>
            <a:ext cx="1737360" cy="411480"/>
          </a:xfrm>
          <a:prstGeom prst="roundRect">
            <a:avLst>
              <a:gd name="adj" fmla="val 22222"/>
            </a:avLst>
          </a:prstGeom>
          <a:solidFill>
            <a:schemeClr val="tx2"/>
          </a:solidFill>
          <a:ln/>
        </p:spPr>
      </p:sp>
      <p:sp>
        <p:nvSpPr>
          <p:cNvPr id="61" name="Text"/>
          <p:cNvSpPr txBox="1"/>
          <p:nvPr/>
        </p:nvSpPr>
        <p:spPr>
          <a:xfrm>
            <a:off x="1371600" y="57607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ECR 映像</a:t>
            </a:r>
            <a:endParaRPr lang="en-US" sz="1600" dirty="0"/>
          </a:p>
        </p:txBody>
      </p:sp>
      <p:sp>
        <p:nvSpPr>
          <p:cNvPr id="62" name="node"/>
          <p:cNvSpPr/>
          <p:nvPr/>
        </p:nvSpPr>
        <p:spPr>
          <a:xfrm>
            <a:off x="3108960" y="5760720"/>
            <a:ext cx="1828800" cy="411480"/>
          </a:xfrm>
          <a:prstGeom prst="roundRect">
            <a:avLst>
              <a:gd name="adj" fmla="val 22222"/>
            </a:avLst>
          </a:prstGeom>
          <a:solidFill>
            <a:schemeClr val="tx2"/>
          </a:solidFill>
          <a:ln/>
        </p:spPr>
      </p:sp>
      <p:sp>
        <p:nvSpPr>
          <p:cNvPr id="63" name="Text"/>
          <p:cNvSpPr txBox="1"/>
          <p:nvPr/>
        </p:nvSpPr>
        <p:spPr>
          <a:xfrm>
            <a:off x="3154680" y="576072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SSM 參數</a:t>
            </a:r>
            <a:endParaRPr lang="en-US" sz="1600" dirty="0"/>
          </a:p>
        </p:txBody>
      </p:sp>
      <p:sp>
        <p:nvSpPr>
          <p:cNvPr id="64" name="node"/>
          <p:cNvSpPr/>
          <p:nvPr/>
        </p:nvSpPr>
        <p:spPr>
          <a:xfrm>
            <a:off x="4983480" y="5760720"/>
            <a:ext cx="2880360" cy="411480"/>
          </a:xfrm>
          <a:prstGeom prst="roundRect">
            <a:avLst>
              <a:gd name="adj" fmla="val 22222"/>
            </a:avLst>
          </a:prstGeom>
          <a:solidFill>
            <a:schemeClr val="tx2"/>
          </a:solidFill>
          <a:ln/>
        </p:spPr>
      </p:sp>
      <p:sp>
        <p:nvSpPr>
          <p:cNvPr id="65" name="Text"/>
          <p:cNvSpPr txBox="1"/>
          <p:nvPr/>
        </p:nvSpPr>
        <p:spPr>
          <a:xfrm>
            <a:off x="5029200" y="5760720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CloudWatch・SNS 告警</a:t>
            </a:r>
            <a:endParaRPr lang="en-US" sz="1600" dirty="0"/>
          </a:p>
        </p:txBody>
      </p:sp>
      <p:sp>
        <p:nvSpPr>
          <p:cNvPr id="66" name="node"/>
          <p:cNvSpPr/>
          <p:nvPr/>
        </p:nvSpPr>
        <p:spPr>
          <a:xfrm>
            <a:off x="7909560" y="5760720"/>
            <a:ext cx="1920240" cy="411480"/>
          </a:xfrm>
          <a:prstGeom prst="roundRect">
            <a:avLst>
              <a:gd name="adj" fmla="val 22222"/>
            </a:avLst>
          </a:prstGeom>
          <a:solidFill>
            <a:schemeClr val="tx2"/>
          </a:solidFill>
          <a:ln/>
        </p:spPr>
      </p:sp>
      <p:sp>
        <p:nvSpPr>
          <p:cNvPr id="67" name="Text"/>
          <p:cNvSpPr txBox="1"/>
          <p:nvPr/>
        </p:nvSpPr>
        <p:spPr>
          <a:xfrm>
            <a:off x="7955280" y="57607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S3 帳本</a:t>
            </a:r>
            <a:endParaRPr lang="en-US" sz="1600" dirty="0"/>
          </a:p>
        </p:txBody>
      </p:sp>
      <p:sp>
        <p:nvSpPr>
          <p:cNvPr id="68" name="node"/>
          <p:cNvSpPr/>
          <p:nvPr/>
        </p:nvSpPr>
        <p:spPr>
          <a:xfrm>
            <a:off x="9875520" y="5760720"/>
            <a:ext cx="1737360" cy="411480"/>
          </a:xfrm>
          <a:prstGeom prst="roundRect">
            <a:avLst>
              <a:gd name="adj" fmla="val 22222"/>
            </a:avLst>
          </a:prstGeom>
          <a:solidFill>
            <a:schemeClr val="tx2"/>
          </a:solidFill>
          <a:ln/>
        </p:spPr>
      </p:sp>
      <p:sp>
        <p:nvSpPr>
          <p:cNvPr id="69" name="Text"/>
          <p:cNvSpPr txBox="1"/>
          <p:nvPr/>
        </p:nvSpPr>
        <p:spPr>
          <a:xfrm>
            <a:off x="9921240" y="57607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STS 身分證明</a:t>
            </a:r>
            <a:endParaRPr lang="en-US" sz="1600" dirty="0"/>
          </a:p>
        </p:txBody>
      </p:sp>
      <p:sp>
        <p:nvSpPr>
          <p:cNvPr id="70" name="line"/>
          <p:cNvSpPr/>
          <p:nvPr/>
        </p:nvSpPr>
        <p:spPr>
          <a:xfrm>
            <a:off x="2011680" y="2720340"/>
            <a:ext cx="548640" cy="0"/>
          </a:xfrm>
          <a:prstGeom prst="line">
            <a:avLst/>
          </a:prstGeom>
          <a:noFill/>
          <a:ln w="28575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71" name="line"/>
          <p:cNvSpPr/>
          <p:nvPr/>
        </p:nvSpPr>
        <p:spPr>
          <a:xfrm>
            <a:off x="6583680" y="2720340"/>
            <a:ext cx="274320" cy="0"/>
          </a:xfrm>
          <a:prstGeom prst="line">
            <a:avLst/>
          </a:prstGeom>
          <a:noFill/>
          <a:ln w="28575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72" name="line"/>
          <p:cNvSpPr/>
          <p:nvPr/>
        </p:nvSpPr>
        <p:spPr>
          <a:xfrm>
            <a:off x="8321040" y="2720340"/>
            <a:ext cx="548640" cy="0"/>
          </a:xfrm>
          <a:prstGeom prst="line">
            <a:avLst/>
          </a:prstGeom>
          <a:noFill/>
          <a:ln w="3175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73" name="line"/>
          <p:cNvSpPr/>
          <p:nvPr/>
        </p:nvSpPr>
        <p:spPr>
          <a:xfrm>
            <a:off x="3291840" y="2971800"/>
            <a:ext cx="0" cy="640080"/>
          </a:xfrm>
          <a:prstGeom prst="line">
            <a:avLst/>
          </a:prstGeom>
          <a:noFill/>
          <a:ln w="28575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74" name="line"/>
          <p:cNvSpPr/>
          <p:nvPr/>
        </p:nvSpPr>
        <p:spPr>
          <a:xfrm>
            <a:off x="4663440" y="3886200"/>
            <a:ext cx="777240" cy="0"/>
          </a:xfrm>
          <a:prstGeom prst="line">
            <a:avLst/>
          </a:prstGeom>
          <a:noFill/>
          <a:ln w="28575">
            <a:solidFill>
              <a:schemeClr val="accent6"/>
            </a:solidFill>
            <a:prstDash val="solid"/>
          </a:ln>
        </p:spPr>
      </p:sp>
      <p:sp>
        <p:nvSpPr>
          <p:cNvPr id="75" name="line"/>
          <p:cNvSpPr/>
          <p:nvPr/>
        </p:nvSpPr>
        <p:spPr>
          <a:xfrm flipV="1">
            <a:off x="5440680" y="2971800"/>
            <a:ext cx="0" cy="914400"/>
          </a:xfrm>
          <a:prstGeom prst="line">
            <a:avLst/>
          </a:prstGeom>
          <a:noFill/>
          <a:ln w="28575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76" name="line"/>
          <p:cNvSpPr/>
          <p:nvPr/>
        </p:nvSpPr>
        <p:spPr>
          <a:xfrm flipH="1">
            <a:off x="8321040" y="3886200"/>
            <a:ext cx="548640" cy="0"/>
          </a:xfrm>
          <a:prstGeom prst="line">
            <a:avLst/>
          </a:prstGeom>
          <a:noFill/>
          <a:ln w="28575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77" name="line"/>
          <p:cNvSpPr/>
          <p:nvPr/>
        </p:nvSpPr>
        <p:spPr>
          <a:xfrm>
            <a:off x="3611880" y="4160520"/>
            <a:ext cx="0" cy="502920"/>
          </a:xfrm>
          <a:prstGeom prst="line">
            <a:avLst/>
          </a:prstGeom>
          <a:noFill/>
          <a:ln w="28575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78" name="line"/>
          <p:cNvSpPr/>
          <p:nvPr/>
        </p:nvSpPr>
        <p:spPr>
          <a:xfrm>
            <a:off x="7269480" y="4160520"/>
            <a:ext cx="0" cy="502920"/>
          </a:xfrm>
          <a:prstGeom prst="line">
            <a:avLst/>
          </a:prstGeom>
          <a:noFill/>
          <a:ln w="28575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79" name="line"/>
          <p:cNvSpPr/>
          <p:nvPr/>
        </p:nvSpPr>
        <p:spPr>
          <a:xfrm>
            <a:off x="8321040" y="4892040"/>
            <a:ext cx="548640" cy="0"/>
          </a:xfrm>
          <a:prstGeom prst="line">
            <a:avLst/>
          </a:prstGeom>
          <a:noFill/>
          <a:ln w="28575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80" name="line"/>
          <p:cNvSpPr/>
          <p:nvPr/>
        </p:nvSpPr>
        <p:spPr>
          <a:xfrm>
            <a:off x="2011680" y="3886200"/>
            <a:ext cx="182880" cy="0"/>
          </a:xfrm>
          <a:prstGeom prst="line">
            <a:avLst/>
          </a:prstGeom>
          <a:noFill/>
          <a:ln w="28575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81" name="line"/>
          <p:cNvSpPr/>
          <p:nvPr/>
        </p:nvSpPr>
        <p:spPr>
          <a:xfrm>
            <a:off x="2011680" y="4892040"/>
            <a:ext cx="182880" cy="0"/>
          </a:xfrm>
          <a:prstGeom prst="line">
            <a:avLst/>
          </a:prstGeom>
          <a:noFill/>
          <a:ln w="28575">
            <a:solidFill>
              <a:schemeClr val="accent6"/>
            </a:solidFill>
            <a:prstDash val="dash"/>
            <a:tailEnd type="triangle"/>
          </a:ln>
        </p:spPr>
      </p:sp>
      <p:sp>
        <p:nvSpPr>
          <p:cNvPr id="82" name="line"/>
          <p:cNvSpPr/>
          <p:nvPr/>
        </p:nvSpPr>
        <p:spPr>
          <a:xfrm>
            <a:off x="2011680" y="5440680"/>
            <a:ext cx="182880" cy="0"/>
          </a:xfrm>
          <a:prstGeom prst="line">
            <a:avLst/>
          </a:prstGeom>
          <a:noFill/>
          <a:ln w="28575">
            <a:solidFill>
              <a:schemeClr val="accent6"/>
            </a:solidFill>
            <a:prstDash val="dash"/>
            <a:tailEnd type="triangle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261872" y="384048"/>
            <a:ext cx="7589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解法提綱｜一次呼叫發生什麼事</a:t>
            </a:r>
            <a:endParaRPr lang="en-US" sz="3000" dirty="0"/>
          </a:p>
        </p:txBody>
      </p:sp>
      <p:sp>
        <p:nvSpPr>
          <p:cNvPr id="4" name="agenda-number"/>
          <p:cNvSpPr/>
          <p:nvPr/>
        </p:nvSpPr>
        <p:spPr>
          <a:xfrm>
            <a:off x="548640" y="438912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4389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04</a:t>
            </a:r>
            <a:endParaRPr lang="en-US" sz="1600" dirty="0"/>
          </a:p>
        </p:txBody>
      </p:sp>
      <p:sp>
        <p:nvSpPr>
          <p:cNvPr id="6" name="progress-dot"/>
          <p:cNvSpPr/>
          <p:nvPr/>
        </p:nvSpPr>
        <p:spPr>
          <a:xfrm>
            <a:off x="10323576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progress-dot"/>
          <p:cNvSpPr/>
          <p:nvPr/>
        </p:nvSpPr>
        <p:spPr>
          <a:xfrm>
            <a:off x="10561320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progress-dot"/>
          <p:cNvSpPr/>
          <p:nvPr/>
        </p:nvSpPr>
        <p:spPr>
          <a:xfrm>
            <a:off x="10799064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progress-dot"/>
          <p:cNvSpPr/>
          <p:nvPr/>
        </p:nvSpPr>
        <p:spPr>
          <a:xfrm>
            <a:off x="11036808" y="274320"/>
            <a:ext cx="128016" cy="12801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0" name="progress-dot"/>
          <p:cNvSpPr/>
          <p:nvPr/>
        </p:nvSpPr>
        <p:spPr>
          <a:xfrm>
            <a:off x="11274552" y="274320"/>
            <a:ext cx="128016" cy="128016"/>
          </a:xfrm>
          <a:prstGeom prst="ellipse">
            <a:avLst/>
          </a:prstGeom>
          <a:solidFill>
            <a:schemeClr val="accent6">
              <a:alpha val="60000"/>
            </a:schemeClr>
          </a:solidFill>
          <a:ln/>
        </p:spPr>
      </p:sp>
      <p:sp>
        <p:nvSpPr>
          <p:cNvPr id="11" name="progress-dot"/>
          <p:cNvSpPr/>
          <p:nvPr/>
        </p:nvSpPr>
        <p:spPr>
          <a:xfrm>
            <a:off x="11512296" y="274320"/>
            <a:ext cx="128016" cy="128016"/>
          </a:xfrm>
          <a:prstGeom prst="ellipse">
            <a:avLst/>
          </a:prstGeom>
          <a:solidFill>
            <a:schemeClr val="accent6">
              <a:alpha val="60000"/>
            </a:schemeClr>
          </a:solidFill>
          <a:ln/>
        </p:spPr>
      </p:sp>
      <p:sp>
        <p:nvSpPr>
          <p:cNvPr id="12" name="step"/>
          <p:cNvSpPr/>
          <p:nvPr/>
        </p:nvSpPr>
        <p:spPr>
          <a:xfrm>
            <a:off x="548640" y="1691640"/>
            <a:ext cx="1554480" cy="1051560"/>
          </a:xfrm>
          <a:prstGeom prst="roundRect">
            <a:avLst>
              <a:gd name="adj" fmla="val 8696"/>
            </a:avLst>
          </a:prstGeom>
          <a:solidFill>
            <a:schemeClr val="tx2"/>
          </a:solidFill>
          <a:ln/>
        </p:spPr>
      </p:sp>
      <p:sp>
        <p:nvSpPr>
          <p:cNvPr id="13" name="Shape 11"/>
          <p:cNvSpPr/>
          <p:nvPr/>
        </p:nvSpPr>
        <p:spPr>
          <a:xfrm>
            <a:off x="1106424" y="1801368"/>
            <a:ext cx="438912" cy="43891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106424" y="18013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594360" y="2258568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ALB 收到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2139696" y="2217420"/>
            <a:ext cx="274320" cy="0"/>
          </a:xfrm>
          <a:prstGeom prst="line">
            <a:avLst/>
          </a:prstGeom>
          <a:noFill/>
          <a:ln w="4445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17" name="step"/>
          <p:cNvSpPr/>
          <p:nvPr/>
        </p:nvSpPr>
        <p:spPr>
          <a:xfrm>
            <a:off x="2450592" y="1691640"/>
            <a:ext cx="1554480" cy="1051560"/>
          </a:xfrm>
          <a:prstGeom prst="roundRect">
            <a:avLst>
              <a:gd name="adj" fmla="val 8696"/>
            </a:avLst>
          </a:prstGeom>
          <a:solidFill>
            <a:schemeClr val="tx2"/>
          </a:solidFill>
          <a:ln w="25400">
            <a:solidFill>
              <a:schemeClr val="accent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008376" y="1801368"/>
            <a:ext cx="438912" cy="43891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3008376" y="18013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2496312" y="2258568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驗證 Key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2770632" y="2834640"/>
            <a:ext cx="914400" cy="365760"/>
          </a:xfrm>
          <a:prstGeom prst="roundRect">
            <a:avLst>
              <a:gd name="adj" fmla="val 20000"/>
            </a:avLst>
          </a:prstGeom>
          <a:solidFill>
            <a:schemeClr val="accent3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401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4041648" y="2217420"/>
            <a:ext cx="274320" cy="0"/>
          </a:xfrm>
          <a:prstGeom prst="line">
            <a:avLst/>
          </a:prstGeom>
          <a:noFill/>
          <a:ln w="4445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23" name="step"/>
          <p:cNvSpPr/>
          <p:nvPr/>
        </p:nvSpPr>
        <p:spPr>
          <a:xfrm>
            <a:off x="4352544" y="1691640"/>
            <a:ext cx="1554480" cy="1051560"/>
          </a:xfrm>
          <a:prstGeom prst="roundRect">
            <a:avLst>
              <a:gd name="adj" fmla="val 8696"/>
            </a:avLst>
          </a:prstGeom>
          <a:solidFill>
            <a:schemeClr val="tx2"/>
          </a:solidFill>
          <a:ln w="25400">
            <a:solidFill>
              <a:schemeClr val="accent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910328" y="1801368"/>
            <a:ext cx="438912" cy="43891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4910328" y="18013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4398264" y="2258568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讀額度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4672584" y="2834640"/>
            <a:ext cx="914400" cy="365760"/>
          </a:xfrm>
          <a:prstGeom prst="roundRect">
            <a:avLst>
              <a:gd name="adj" fmla="val 20000"/>
            </a:avLst>
          </a:prstGeom>
          <a:solidFill>
            <a:schemeClr val="accent3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503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5943600" y="2217420"/>
            <a:ext cx="274320" cy="0"/>
          </a:xfrm>
          <a:prstGeom prst="line">
            <a:avLst/>
          </a:prstGeom>
          <a:noFill/>
          <a:ln w="4445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29" name="step"/>
          <p:cNvSpPr/>
          <p:nvPr/>
        </p:nvSpPr>
        <p:spPr>
          <a:xfrm>
            <a:off x="6254496" y="1691640"/>
            <a:ext cx="1554480" cy="1051560"/>
          </a:xfrm>
          <a:prstGeom prst="roundRect">
            <a:avLst>
              <a:gd name="adj" fmla="val 8696"/>
            </a:avLst>
          </a:prstGeom>
          <a:solidFill>
            <a:schemeClr val="accent5"/>
          </a:solidFill>
          <a:ln w="25400">
            <a:solidFill>
              <a:schemeClr val="accent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812280" y="1801368"/>
            <a:ext cx="438912" cy="438912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812280" y="18013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800" dirty="0"/>
          </a:p>
        </p:txBody>
      </p:sp>
      <p:sp>
        <p:nvSpPr>
          <p:cNvPr id="32" name="Text 30"/>
          <p:cNvSpPr txBox="1"/>
          <p:nvPr/>
        </p:nvSpPr>
        <p:spPr>
          <a:xfrm>
            <a:off x="6300216" y="2258568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遮罩個資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7845552" y="2217420"/>
            <a:ext cx="274320" cy="0"/>
          </a:xfrm>
          <a:prstGeom prst="line">
            <a:avLst/>
          </a:prstGeom>
          <a:noFill/>
          <a:ln w="4445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34" name="step"/>
          <p:cNvSpPr/>
          <p:nvPr/>
        </p:nvSpPr>
        <p:spPr>
          <a:xfrm>
            <a:off x="8156448" y="1691640"/>
            <a:ext cx="1554480" cy="1051560"/>
          </a:xfrm>
          <a:prstGeom prst="roundRect">
            <a:avLst>
              <a:gd name="adj" fmla="val 8696"/>
            </a:avLst>
          </a:prstGeom>
          <a:solidFill>
            <a:schemeClr val="tx2"/>
          </a:solidFill>
          <a:ln w="25400">
            <a:solidFill>
              <a:schemeClr val="accent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714232" y="1801368"/>
            <a:ext cx="438912" cy="43891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8714232" y="18013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endParaRPr lang="en-US" sz="1800" dirty="0"/>
          </a:p>
        </p:txBody>
      </p:sp>
      <p:sp>
        <p:nvSpPr>
          <p:cNvPr id="37" name="Text 35"/>
          <p:cNvSpPr txBox="1"/>
          <p:nvPr/>
        </p:nvSpPr>
        <p:spPr>
          <a:xfrm>
            <a:off x="8202168" y="2258568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判斷超額</a:t>
            </a:r>
            <a:endParaRPr lang="en-US" sz="1800" dirty="0"/>
          </a:p>
        </p:txBody>
      </p:sp>
      <p:sp>
        <p:nvSpPr>
          <p:cNvPr id="38" name="Text 36"/>
          <p:cNvSpPr txBox="1"/>
          <p:nvPr/>
        </p:nvSpPr>
        <p:spPr>
          <a:xfrm>
            <a:off x="8476488" y="2834640"/>
            <a:ext cx="914400" cy="365760"/>
          </a:xfrm>
          <a:prstGeom prst="roundRect">
            <a:avLst>
              <a:gd name="adj" fmla="val 20000"/>
            </a:avLst>
          </a:prstGeom>
          <a:solidFill>
            <a:schemeClr val="accent3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429</a:t>
            </a:r>
            <a:endParaRPr lang="en-US" sz="1800" dirty="0"/>
          </a:p>
        </p:txBody>
      </p:sp>
      <p:sp>
        <p:nvSpPr>
          <p:cNvPr id="39" name="Shape 37"/>
          <p:cNvSpPr/>
          <p:nvPr/>
        </p:nvSpPr>
        <p:spPr>
          <a:xfrm>
            <a:off x="9747504" y="2217420"/>
            <a:ext cx="274320" cy="0"/>
          </a:xfrm>
          <a:prstGeom prst="line">
            <a:avLst/>
          </a:prstGeom>
          <a:noFill/>
          <a:ln w="4445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40" name="step"/>
          <p:cNvSpPr/>
          <p:nvPr/>
        </p:nvSpPr>
        <p:spPr>
          <a:xfrm>
            <a:off x="10058400" y="1691640"/>
            <a:ext cx="1554480" cy="1051560"/>
          </a:xfrm>
          <a:prstGeom prst="roundRect">
            <a:avLst>
              <a:gd name="adj" fmla="val 8696"/>
            </a:avLst>
          </a:prstGeom>
          <a:solidFill>
            <a:schemeClr val="tx2"/>
          </a:solidFill>
          <a:ln w="25400">
            <a:solidFill>
              <a:schemeClr val="accent3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0616184" y="1801368"/>
            <a:ext cx="438912" cy="43891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10616184" y="18013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</a:t>
            </a:r>
            <a:endParaRPr lang="en-US" sz="1800" dirty="0"/>
          </a:p>
        </p:txBody>
      </p:sp>
      <p:sp>
        <p:nvSpPr>
          <p:cNvPr id="43" name="Text 41"/>
          <p:cNvSpPr txBox="1"/>
          <p:nvPr/>
        </p:nvSpPr>
        <p:spPr>
          <a:xfrm>
            <a:off x="10104120" y="2258568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加 0 試寫</a:t>
            </a:r>
            <a:endParaRPr lang="en-US" sz="1800" dirty="0"/>
          </a:p>
        </p:txBody>
      </p:sp>
      <p:sp>
        <p:nvSpPr>
          <p:cNvPr id="44" name="Text 42"/>
          <p:cNvSpPr txBox="1"/>
          <p:nvPr/>
        </p:nvSpPr>
        <p:spPr>
          <a:xfrm>
            <a:off x="10378440" y="2834640"/>
            <a:ext cx="914400" cy="365760"/>
          </a:xfrm>
          <a:prstGeom prst="roundRect">
            <a:avLst>
              <a:gd name="adj" fmla="val 20000"/>
            </a:avLst>
          </a:prstGeom>
          <a:solidFill>
            <a:schemeClr val="accent3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503</a:t>
            </a:r>
            <a:endParaRPr lang="en-US" sz="1800" dirty="0"/>
          </a:p>
        </p:txBody>
      </p:sp>
      <p:sp>
        <p:nvSpPr>
          <p:cNvPr id="45" name="Shape 43"/>
          <p:cNvSpPr/>
          <p:nvPr/>
        </p:nvSpPr>
        <p:spPr>
          <a:xfrm>
            <a:off x="10835640" y="3291840"/>
            <a:ext cx="0" cy="822960"/>
          </a:xfrm>
          <a:prstGeom prst="line">
            <a:avLst/>
          </a:prstGeom>
          <a:noFill/>
          <a:ln w="4445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46" name="step"/>
          <p:cNvSpPr/>
          <p:nvPr/>
        </p:nvSpPr>
        <p:spPr>
          <a:xfrm>
            <a:off x="10058400" y="4160520"/>
            <a:ext cx="1554480" cy="1051560"/>
          </a:xfrm>
          <a:prstGeom prst="roundRect">
            <a:avLst>
              <a:gd name="adj" fmla="val 8696"/>
            </a:avLst>
          </a:prstGeom>
          <a:solidFill>
            <a:schemeClr val="tx2"/>
          </a:solidFill>
          <a:ln/>
        </p:spPr>
      </p:sp>
      <p:sp>
        <p:nvSpPr>
          <p:cNvPr id="47" name="Shape 45"/>
          <p:cNvSpPr/>
          <p:nvPr/>
        </p:nvSpPr>
        <p:spPr>
          <a:xfrm>
            <a:off x="10616184" y="4270248"/>
            <a:ext cx="438912" cy="43891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48" name="Text 46"/>
          <p:cNvSpPr txBox="1"/>
          <p:nvPr/>
        </p:nvSpPr>
        <p:spPr>
          <a:xfrm>
            <a:off x="10616184" y="427024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</a:t>
            </a:r>
            <a:endParaRPr lang="en-US" sz="1800" dirty="0"/>
          </a:p>
        </p:txBody>
      </p:sp>
      <p:sp>
        <p:nvSpPr>
          <p:cNvPr id="49" name="Text 47"/>
          <p:cNvSpPr txBox="1"/>
          <p:nvPr/>
        </p:nvSpPr>
        <p:spPr>
          <a:xfrm>
            <a:off x="10104120" y="4727448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選模型</a:t>
            </a:r>
            <a:endParaRPr lang="en-US" sz="1800" dirty="0"/>
          </a:p>
        </p:txBody>
      </p:sp>
      <p:sp>
        <p:nvSpPr>
          <p:cNvPr id="50" name="Shape 48"/>
          <p:cNvSpPr/>
          <p:nvPr/>
        </p:nvSpPr>
        <p:spPr>
          <a:xfrm flipH="1">
            <a:off x="9747504" y="4686300"/>
            <a:ext cx="274320" cy="0"/>
          </a:xfrm>
          <a:prstGeom prst="line">
            <a:avLst/>
          </a:prstGeom>
          <a:noFill/>
          <a:ln w="4445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51" name="step"/>
          <p:cNvSpPr/>
          <p:nvPr/>
        </p:nvSpPr>
        <p:spPr>
          <a:xfrm>
            <a:off x="8156448" y="4160520"/>
            <a:ext cx="1554480" cy="1051560"/>
          </a:xfrm>
          <a:prstGeom prst="roundRect">
            <a:avLst>
              <a:gd name="adj" fmla="val 8696"/>
            </a:avLst>
          </a:prstGeom>
          <a:solidFill>
            <a:schemeClr val="tx2"/>
          </a:solidFill>
          <a:ln w="25400">
            <a:solidFill>
              <a:schemeClr val="accent3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8714232" y="4270248"/>
            <a:ext cx="438912" cy="43891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3" name="Text 51"/>
          <p:cNvSpPr txBox="1"/>
          <p:nvPr/>
        </p:nvSpPr>
        <p:spPr>
          <a:xfrm>
            <a:off x="8714232" y="427024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</a:t>
            </a:r>
            <a:endParaRPr lang="en-US" sz="1800" dirty="0"/>
          </a:p>
        </p:txBody>
      </p:sp>
      <p:sp>
        <p:nvSpPr>
          <p:cNvPr id="54" name="Text 52"/>
          <p:cNvSpPr txBox="1"/>
          <p:nvPr/>
        </p:nvSpPr>
        <p:spPr>
          <a:xfrm>
            <a:off x="8202168" y="4727448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查單價</a:t>
            </a:r>
            <a:endParaRPr lang="en-US" sz="1800" dirty="0"/>
          </a:p>
        </p:txBody>
      </p:sp>
      <p:sp>
        <p:nvSpPr>
          <p:cNvPr id="55" name="Text 53"/>
          <p:cNvSpPr txBox="1"/>
          <p:nvPr/>
        </p:nvSpPr>
        <p:spPr>
          <a:xfrm>
            <a:off x="8476488" y="5303520"/>
            <a:ext cx="914400" cy="365760"/>
          </a:xfrm>
          <a:prstGeom prst="roundRect">
            <a:avLst>
              <a:gd name="adj" fmla="val 20000"/>
            </a:avLst>
          </a:prstGeom>
          <a:solidFill>
            <a:schemeClr val="accent3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500</a:t>
            </a:r>
            <a:endParaRPr lang="en-US" sz="1800" dirty="0"/>
          </a:p>
        </p:txBody>
      </p:sp>
      <p:sp>
        <p:nvSpPr>
          <p:cNvPr id="56" name="Shape 54"/>
          <p:cNvSpPr/>
          <p:nvPr/>
        </p:nvSpPr>
        <p:spPr>
          <a:xfrm flipH="1">
            <a:off x="7845552" y="4686300"/>
            <a:ext cx="274320" cy="0"/>
          </a:xfrm>
          <a:prstGeom prst="line">
            <a:avLst/>
          </a:prstGeom>
          <a:noFill/>
          <a:ln w="4445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57" name="step"/>
          <p:cNvSpPr/>
          <p:nvPr/>
        </p:nvSpPr>
        <p:spPr>
          <a:xfrm>
            <a:off x="6254496" y="4160520"/>
            <a:ext cx="1554480" cy="1051560"/>
          </a:xfrm>
          <a:prstGeom prst="roundRect">
            <a:avLst>
              <a:gd name="adj" fmla="val 8696"/>
            </a:avLst>
          </a:prstGeom>
          <a:solidFill>
            <a:schemeClr val="tx2"/>
          </a:solidFill>
          <a:ln w="25400">
            <a:solidFill>
              <a:schemeClr val="accent3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6812280" y="4270248"/>
            <a:ext cx="438912" cy="43891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9" name="Text 57"/>
          <p:cNvSpPr txBox="1"/>
          <p:nvPr/>
        </p:nvSpPr>
        <p:spPr>
          <a:xfrm>
            <a:off x="6812280" y="427024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9</a:t>
            </a:r>
            <a:endParaRPr lang="en-US" sz="1800" dirty="0"/>
          </a:p>
        </p:txBody>
      </p:sp>
      <p:sp>
        <p:nvSpPr>
          <p:cNvPr id="60" name="Text 58"/>
          <p:cNvSpPr txBox="1"/>
          <p:nvPr/>
        </p:nvSpPr>
        <p:spPr>
          <a:xfrm>
            <a:off x="6300216" y="4727448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呼叫 OpenAI</a:t>
            </a:r>
            <a:endParaRPr lang="en-US" sz="1800" dirty="0"/>
          </a:p>
        </p:txBody>
      </p:sp>
      <p:sp>
        <p:nvSpPr>
          <p:cNvPr id="61" name="Text 59"/>
          <p:cNvSpPr txBox="1"/>
          <p:nvPr/>
        </p:nvSpPr>
        <p:spPr>
          <a:xfrm>
            <a:off x="6574536" y="5303520"/>
            <a:ext cx="914400" cy="365760"/>
          </a:xfrm>
          <a:prstGeom prst="roundRect">
            <a:avLst>
              <a:gd name="adj" fmla="val 20000"/>
            </a:avLst>
          </a:prstGeom>
          <a:solidFill>
            <a:schemeClr val="accent3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502</a:t>
            </a:r>
            <a:endParaRPr lang="en-US" sz="1800" dirty="0"/>
          </a:p>
        </p:txBody>
      </p:sp>
      <p:sp>
        <p:nvSpPr>
          <p:cNvPr id="62" name="Shape 60"/>
          <p:cNvSpPr/>
          <p:nvPr/>
        </p:nvSpPr>
        <p:spPr>
          <a:xfrm flipH="1">
            <a:off x="5943600" y="4686300"/>
            <a:ext cx="274320" cy="0"/>
          </a:xfrm>
          <a:prstGeom prst="line">
            <a:avLst/>
          </a:prstGeom>
          <a:noFill/>
          <a:ln w="4445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63" name="step"/>
          <p:cNvSpPr/>
          <p:nvPr/>
        </p:nvSpPr>
        <p:spPr>
          <a:xfrm>
            <a:off x="4352544" y="4160520"/>
            <a:ext cx="1554480" cy="1051560"/>
          </a:xfrm>
          <a:prstGeom prst="roundRect">
            <a:avLst>
              <a:gd name="adj" fmla="val 8696"/>
            </a:avLst>
          </a:prstGeom>
          <a:solidFill>
            <a:schemeClr val="tx2"/>
          </a:solidFill>
          <a:ln/>
        </p:spPr>
      </p:sp>
      <p:sp>
        <p:nvSpPr>
          <p:cNvPr id="64" name="Shape 62"/>
          <p:cNvSpPr/>
          <p:nvPr/>
        </p:nvSpPr>
        <p:spPr>
          <a:xfrm>
            <a:off x="4910328" y="4270248"/>
            <a:ext cx="438912" cy="43891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65" name="Text 63"/>
          <p:cNvSpPr txBox="1"/>
          <p:nvPr/>
        </p:nvSpPr>
        <p:spPr>
          <a:xfrm>
            <a:off x="4910328" y="427024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</a:t>
            </a:r>
            <a:endParaRPr lang="en-US" sz="1800" dirty="0"/>
          </a:p>
        </p:txBody>
      </p:sp>
      <p:sp>
        <p:nvSpPr>
          <p:cNvPr id="66" name="Text 64"/>
          <p:cNvSpPr txBox="1"/>
          <p:nvPr/>
        </p:nvSpPr>
        <p:spPr>
          <a:xfrm>
            <a:off x="4398264" y="4727448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送進 SQS</a:t>
            </a:r>
            <a:endParaRPr lang="en-US" sz="1800" dirty="0"/>
          </a:p>
        </p:txBody>
      </p:sp>
      <p:sp>
        <p:nvSpPr>
          <p:cNvPr id="67" name="Shape 65"/>
          <p:cNvSpPr/>
          <p:nvPr/>
        </p:nvSpPr>
        <p:spPr>
          <a:xfrm flipH="1">
            <a:off x="4041648" y="4686300"/>
            <a:ext cx="274320" cy="0"/>
          </a:xfrm>
          <a:prstGeom prst="line">
            <a:avLst/>
          </a:prstGeom>
          <a:noFill/>
          <a:ln w="4445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68" name="step"/>
          <p:cNvSpPr/>
          <p:nvPr/>
        </p:nvSpPr>
        <p:spPr>
          <a:xfrm>
            <a:off x="2450592" y="4160520"/>
            <a:ext cx="1554480" cy="1051560"/>
          </a:xfrm>
          <a:prstGeom prst="roundRect">
            <a:avLst>
              <a:gd name="adj" fmla="val 8696"/>
            </a:avLst>
          </a:prstGeom>
          <a:solidFill>
            <a:schemeClr val="tx2"/>
          </a:solidFill>
          <a:ln/>
        </p:spPr>
      </p:sp>
      <p:sp>
        <p:nvSpPr>
          <p:cNvPr id="69" name="Shape 67"/>
          <p:cNvSpPr/>
          <p:nvPr/>
        </p:nvSpPr>
        <p:spPr>
          <a:xfrm>
            <a:off x="3008376" y="4270248"/>
            <a:ext cx="438912" cy="43891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70" name="Text 68"/>
          <p:cNvSpPr txBox="1"/>
          <p:nvPr/>
        </p:nvSpPr>
        <p:spPr>
          <a:xfrm>
            <a:off x="3008376" y="427024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11</a:t>
            </a:r>
            <a:endParaRPr lang="en-US" sz="1800" dirty="0"/>
          </a:p>
        </p:txBody>
      </p:sp>
      <p:sp>
        <p:nvSpPr>
          <p:cNvPr id="71" name="Text 69"/>
          <p:cNvSpPr txBox="1"/>
          <p:nvPr/>
        </p:nvSpPr>
        <p:spPr>
          <a:xfrm>
            <a:off x="2496312" y="4727448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回傳</a:t>
            </a:r>
            <a:endParaRPr lang="en-US" sz="1800" dirty="0"/>
          </a:p>
        </p:txBody>
      </p:sp>
      <p:sp>
        <p:nvSpPr>
          <p:cNvPr id="72" name="Text 70"/>
          <p:cNvSpPr txBox="1"/>
          <p:nvPr/>
        </p:nvSpPr>
        <p:spPr>
          <a:xfrm>
            <a:off x="548640" y="59893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綠色的第 4 步之後，送去 OpenAI 的、寫進稽核的，都是遮罩後的內容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261872" y="384048"/>
            <a:ext cx="7589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解法提綱｜三件事、兩層、一鍵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17043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要用才開，用完就拆</a:t>
            </a:r>
            <a:endParaRPr lang="en-US" sz="2000" dirty="0"/>
          </a:p>
        </p:txBody>
      </p:sp>
      <p:sp>
        <p:nvSpPr>
          <p:cNvPr id="4" name="agenda-number"/>
          <p:cNvSpPr/>
          <p:nvPr/>
        </p:nvSpPr>
        <p:spPr>
          <a:xfrm>
            <a:off x="548640" y="438912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4389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04</a:t>
            </a:r>
            <a:endParaRPr lang="en-US" sz="1600" dirty="0"/>
          </a:p>
        </p:txBody>
      </p:sp>
      <p:sp>
        <p:nvSpPr>
          <p:cNvPr id="6" name="progress-dot"/>
          <p:cNvSpPr/>
          <p:nvPr/>
        </p:nvSpPr>
        <p:spPr>
          <a:xfrm>
            <a:off x="10323576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progress-dot"/>
          <p:cNvSpPr/>
          <p:nvPr/>
        </p:nvSpPr>
        <p:spPr>
          <a:xfrm>
            <a:off x="10561320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progress-dot"/>
          <p:cNvSpPr/>
          <p:nvPr/>
        </p:nvSpPr>
        <p:spPr>
          <a:xfrm>
            <a:off x="10799064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progress-dot"/>
          <p:cNvSpPr/>
          <p:nvPr/>
        </p:nvSpPr>
        <p:spPr>
          <a:xfrm>
            <a:off x="11036808" y="274320"/>
            <a:ext cx="128016" cy="12801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0" name="progress-dot"/>
          <p:cNvSpPr/>
          <p:nvPr/>
        </p:nvSpPr>
        <p:spPr>
          <a:xfrm>
            <a:off x="11274552" y="274320"/>
            <a:ext cx="128016" cy="128016"/>
          </a:xfrm>
          <a:prstGeom prst="ellipse">
            <a:avLst/>
          </a:prstGeom>
          <a:solidFill>
            <a:schemeClr val="accent6">
              <a:alpha val="60000"/>
            </a:schemeClr>
          </a:solidFill>
          <a:ln/>
        </p:spPr>
      </p:sp>
      <p:sp>
        <p:nvSpPr>
          <p:cNvPr id="11" name="progress-dot"/>
          <p:cNvSpPr/>
          <p:nvPr/>
        </p:nvSpPr>
        <p:spPr>
          <a:xfrm>
            <a:off x="11512296" y="274320"/>
            <a:ext cx="128016" cy="128016"/>
          </a:xfrm>
          <a:prstGeom prst="ellipse">
            <a:avLst/>
          </a:prstGeom>
          <a:solidFill>
            <a:schemeClr val="accent6">
              <a:alpha val="60000"/>
            </a:schemeClr>
          </a:solidFill>
          <a:ln/>
        </p:spPr>
      </p:sp>
      <p:sp>
        <p:nvSpPr>
          <p:cNvPr id="12" name="takeaway"/>
          <p:cNvSpPr/>
          <p:nvPr/>
        </p:nvSpPr>
        <p:spPr>
          <a:xfrm>
            <a:off x="548640" y="1828800"/>
            <a:ext cx="3474720" cy="960120"/>
          </a:xfrm>
          <a:prstGeom prst="roundRect">
            <a:avLst>
              <a:gd name="adj" fmla="val 9524"/>
            </a:avLst>
          </a:prstGeom>
          <a:solidFill>
            <a:schemeClr val="tx2"/>
          </a:solidFill>
          <a:ln/>
        </p:spPr>
      </p:sp>
      <p:sp>
        <p:nvSpPr>
          <p:cNvPr id="13" name="Shape 11"/>
          <p:cNvSpPr/>
          <p:nvPr/>
        </p:nvSpPr>
        <p:spPr>
          <a:xfrm>
            <a:off x="731520" y="1965960"/>
            <a:ext cx="685800" cy="68580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2970" y="2137410"/>
            <a:ext cx="342900" cy="342900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1554480" y="1828800"/>
            <a:ext cx="2423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外面連不進來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容器沒有公開 IP</a:t>
            </a:r>
            <a:endParaRPr lang="en-US" sz="1600" dirty="0"/>
          </a:p>
        </p:txBody>
      </p:sp>
      <p:sp>
        <p:nvSpPr>
          <p:cNvPr id="16" name="takeaway"/>
          <p:cNvSpPr/>
          <p:nvPr/>
        </p:nvSpPr>
        <p:spPr>
          <a:xfrm>
            <a:off x="4343400" y="1828800"/>
            <a:ext cx="3474720" cy="960120"/>
          </a:xfrm>
          <a:prstGeom prst="roundRect">
            <a:avLst>
              <a:gd name="adj" fmla="val 9524"/>
            </a:avLst>
          </a:prstGeom>
          <a:solidFill>
            <a:schemeClr val="tx2"/>
          </a:solidFill>
          <a:ln/>
        </p:spPr>
      </p:sp>
      <p:sp>
        <p:nvSpPr>
          <p:cNvPr id="17" name="Shape 14"/>
          <p:cNvSpPr/>
          <p:nvPr/>
        </p:nvSpPr>
        <p:spPr>
          <a:xfrm>
            <a:off x="4526280" y="1965960"/>
            <a:ext cx="685800" cy="68580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7730" y="2137410"/>
            <a:ext cx="342900" cy="342900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5349240" y="1828800"/>
            <a:ext cx="2423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只有一個出口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只放行名單上的網域</a:t>
            </a:r>
            <a:endParaRPr lang="en-US" sz="1600" dirty="0"/>
          </a:p>
        </p:txBody>
      </p:sp>
      <p:sp>
        <p:nvSpPr>
          <p:cNvPr id="20" name="takeaway"/>
          <p:cNvSpPr/>
          <p:nvPr/>
        </p:nvSpPr>
        <p:spPr>
          <a:xfrm>
            <a:off x="8138160" y="1828800"/>
            <a:ext cx="3474720" cy="960120"/>
          </a:xfrm>
          <a:prstGeom prst="roundRect">
            <a:avLst>
              <a:gd name="adj" fmla="val 9524"/>
            </a:avLst>
          </a:prstGeom>
          <a:solidFill>
            <a:schemeClr val="tx2"/>
          </a:solidFill>
          <a:ln/>
        </p:spPr>
      </p:sp>
      <p:sp>
        <p:nvSpPr>
          <p:cNvPr id="21" name="Shape 17"/>
          <p:cNvSpPr/>
          <p:nvPr/>
        </p:nvSpPr>
        <p:spPr>
          <a:xfrm>
            <a:off x="8321040" y="1965960"/>
            <a:ext cx="685800" cy="68580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2490" y="2137410"/>
            <a:ext cx="342900" cy="342900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9144000" y="1828800"/>
            <a:ext cx="2423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沒有長期金鑰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用身分聯盟換通行證</a:t>
            </a:r>
            <a:endParaRPr lang="en-US" sz="1600" dirty="0"/>
          </a:p>
        </p:txBody>
      </p:sp>
      <p:sp>
        <p:nvSpPr>
          <p:cNvPr id="24" name="layer"/>
          <p:cNvSpPr/>
          <p:nvPr/>
        </p:nvSpPr>
        <p:spPr>
          <a:xfrm>
            <a:off x="548640" y="3017520"/>
            <a:ext cx="5394960" cy="2011680"/>
          </a:xfrm>
          <a:prstGeom prst="roundRect">
            <a:avLst>
              <a:gd name="adj" fmla="val 4545"/>
            </a:avLst>
          </a:prstGeom>
          <a:solidFill>
            <a:schemeClr val="tx2"/>
          </a:solidFill>
          <a:ln w="25400">
            <a:solidFill>
              <a:schemeClr val="accent5"/>
            </a:solidFill>
            <a:prstDash val="solid"/>
          </a:ln>
        </p:spPr>
      </p:sp>
      <p:sp>
        <p:nvSpPr>
          <p:cNvPr id="25" name="Text 20"/>
          <p:cNvSpPr txBox="1"/>
          <p:nvPr/>
        </p:nvSpPr>
        <p:spPr>
          <a:xfrm>
            <a:off x="822960" y="310896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長期層　</a:t>
            </a:r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留著，閒置幾乎免費</a:t>
            </a:r>
            <a:endParaRPr lang="en-US" sz="1600" dirty="0"/>
          </a:p>
        </p:txBody>
      </p:sp>
      <p:sp>
        <p:nvSpPr>
          <p:cNvPr id="26" name="Text 21"/>
          <p:cNvSpPr txBox="1"/>
          <p:nvPr/>
        </p:nvSpPr>
        <p:spPr>
          <a:xfrm>
            <a:off x="822960" y="37033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・Terraform 帳本、容器倉庫、四張資料表</a:t>
            </a:r>
            <a:endParaRPr lang="en-US" sz="1800" dirty="0"/>
          </a:p>
        </p:txBody>
      </p:sp>
      <p:sp>
        <p:nvSpPr>
          <p:cNvPr id="27" name="Text 22"/>
          <p:cNvSpPr txBox="1"/>
          <p:nvPr/>
        </p:nvSpPr>
        <p:spPr>
          <a:xfrm>
            <a:off x="822960" y="408736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・GitHub OIDC、ECS、Worker 角色</a:t>
            </a:r>
            <a:endParaRPr lang="en-US" sz="1800" dirty="0"/>
          </a:p>
        </p:txBody>
      </p:sp>
      <p:sp>
        <p:nvSpPr>
          <p:cNvPr id="28" name="Text 23"/>
          <p:cNvSpPr txBox="1"/>
          <p:nvPr/>
        </p:nvSpPr>
        <p:spPr>
          <a:xfrm>
            <a:off x="822960" y="4471416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・SQS ＋ DLQ、日誌群組、告警</a:t>
            </a:r>
            <a:endParaRPr lang="en-US" sz="1800" dirty="0"/>
          </a:p>
        </p:txBody>
      </p:sp>
      <p:sp>
        <p:nvSpPr>
          <p:cNvPr id="29" name="layer"/>
          <p:cNvSpPr/>
          <p:nvPr/>
        </p:nvSpPr>
        <p:spPr>
          <a:xfrm>
            <a:off x="6217920" y="3017520"/>
            <a:ext cx="5394960" cy="2011680"/>
          </a:xfrm>
          <a:prstGeom prst="roundRect">
            <a:avLst>
              <a:gd name="adj" fmla="val 4545"/>
            </a:avLst>
          </a:prstGeom>
          <a:solidFill>
            <a:schemeClr val="tx2"/>
          </a:solidFill>
          <a:ln w="25400">
            <a:solidFill>
              <a:schemeClr val="accent2"/>
            </a:solidFill>
            <a:prstDash val="solid"/>
          </a:ln>
        </p:spPr>
      </p:sp>
      <p:sp>
        <p:nvSpPr>
          <p:cNvPr id="30" name="Text 25"/>
          <p:cNvSpPr txBox="1"/>
          <p:nvPr/>
        </p:nvSpPr>
        <p:spPr>
          <a:xfrm>
            <a:off x="6492240" y="310896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每日層　</a:t>
            </a:r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按小時計費，測完當天拆</a:t>
            </a:r>
            <a:endParaRPr lang="en-US" sz="1600" dirty="0"/>
          </a:p>
        </p:txBody>
      </p:sp>
      <p:sp>
        <p:nvSpPr>
          <p:cNvPr id="31" name="Text 26"/>
          <p:cNvSpPr txBox="1"/>
          <p:nvPr/>
        </p:nvSpPr>
        <p:spPr>
          <a:xfrm>
            <a:off x="6492240" y="37033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・VPC、子網、安全群組</a:t>
            </a:r>
            <a:endParaRPr lang="en-US" sz="1800" dirty="0"/>
          </a:p>
        </p:txBody>
      </p:sp>
      <p:sp>
        <p:nvSpPr>
          <p:cNvPr id="32" name="Text 27"/>
          <p:cNvSpPr txBox="1"/>
          <p:nvPr/>
        </p:nvSpPr>
        <p:spPr>
          <a:xfrm>
            <a:off x="6492240" y="408736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・NAT、DNS 防火牆、ALB</a:t>
            </a:r>
            <a:endParaRPr lang="en-US" sz="1800" dirty="0"/>
          </a:p>
        </p:txBody>
      </p:sp>
      <p:sp>
        <p:nvSpPr>
          <p:cNvPr id="33" name="Text 28"/>
          <p:cNvSpPr txBox="1"/>
          <p:nvPr/>
        </p:nvSpPr>
        <p:spPr>
          <a:xfrm>
            <a:off x="6492240" y="4471416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・Fargate 服務、Lambda Worker</a:t>
            </a:r>
            <a:endParaRPr lang="en-US" sz="1800" dirty="0"/>
          </a:p>
        </p:txBody>
      </p:sp>
      <p:sp>
        <p:nvSpPr>
          <p:cNvPr id="34" name="destroy-card"/>
          <p:cNvSpPr/>
          <p:nvPr/>
        </p:nvSpPr>
        <p:spPr>
          <a:xfrm>
            <a:off x="548640" y="5257800"/>
            <a:ext cx="11064240" cy="868680"/>
          </a:xfrm>
          <a:prstGeom prst="roundRect">
            <a:avLst>
              <a:gd name="adj" fmla="val 10526"/>
            </a:avLst>
          </a:prstGeom>
          <a:solidFill>
            <a:schemeClr val="accent2"/>
          </a:solidFill>
          <a:ln/>
        </p:spPr>
      </p:sp>
      <p:sp>
        <p:nvSpPr>
          <p:cNvPr id="35" name="Shape 30"/>
          <p:cNvSpPr/>
          <p:nvPr/>
        </p:nvSpPr>
        <p:spPr>
          <a:xfrm>
            <a:off x="777240" y="5349240"/>
            <a:ext cx="685800" cy="68580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3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8690" y="5520690"/>
            <a:ext cx="342900" cy="342900"/>
          </a:xfrm>
          <a:prstGeom prst="rect">
            <a:avLst/>
          </a:prstGeom>
        </p:spPr>
      </p:pic>
      <p:sp>
        <p:nvSpPr>
          <p:cNvPr id="37" name="Text 31"/>
          <p:cNvSpPr txBox="1"/>
          <p:nvPr/>
        </p:nvSpPr>
        <p:spPr>
          <a:xfrm>
            <a:off x="1691640" y="5257800"/>
            <a:ext cx="9784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一鍵拆除　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GitHub 借一小時的角色，只拆得了貼「每日」標籤的東西；40 個資源 4 分 11 秒拆光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261872" y="384048"/>
            <a:ext cx="7589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技術實踐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17043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接下來，直接看它跑起來</a:t>
            </a:r>
            <a:endParaRPr lang="en-US" sz="2000" dirty="0"/>
          </a:p>
        </p:txBody>
      </p:sp>
      <p:sp>
        <p:nvSpPr>
          <p:cNvPr id="4" name="agenda-number"/>
          <p:cNvSpPr/>
          <p:nvPr/>
        </p:nvSpPr>
        <p:spPr>
          <a:xfrm>
            <a:off x="548640" y="438912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4389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</a:t>
            </a:r>
            <a:endParaRPr lang="en-US" sz="1600" dirty="0"/>
          </a:p>
        </p:txBody>
      </p:sp>
      <p:sp>
        <p:nvSpPr>
          <p:cNvPr id="6" name="progress-dot"/>
          <p:cNvSpPr/>
          <p:nvPr/>
        </p:nvSpPr>
        <p:spPr>
          <a:xfrm>
            <a:off x="10323576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progress-dot"/>
          <p:cNvSpPr/>
          <p:nvPr/>
        </p:nvSpPr>
        <p:spPr>
          <a:xfrm>
            <a:off x="10561320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progress-dot"/>
          <p:cNvSpPr/>
          <p:nvPr/>
        </p:nvSpPr>
        <p:spPr>
          <a:xfrm>
            <a:off x="10799064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progress-dot"/>
          <p:cNvSpPr/>
          <p:nvPr/>
        </p:nvSpPr>
        <p:spPr>
          <a:xfrm>
            <a:off x="11036808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progress-dot"/>
          <p:cNvSpPr/>
          <p:nvPr/>
        </p:nvSpPr>
        <p:spPr>
          <a:xfrm>
            <a:off x="11274552" y="274320"/>
            <a:ext cx="128016" cy="12801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1" name="progress-dot"/>
          <p:cNvSpPr/>
          <p:nvPr/>
        </p:nvSpPr>
        <p:spPr>
          <a:xfrm>
            <a:off x="11512296" y="274320"/>
            <a:ext cx="128016" cy="128016"/>
          </a:xfrm>
          <a:prstGeom prst="ellipse">
            <a:avLst/>
          </a:prstGeom>
          <a:solidFill>
            <a:schemeClr val="accent6">
              <a:alpha val="60000"/>
            </a:schemeClr>
          </a:solidFill>
          <a:ln/>
        </p:spPr>
      </p:sp>
      <p:sp>
        <p:nvSpPr>
          <p:cNvPr id="12" name="console-window"/>
          <p:cNvSpPr/>
          <p:nvPr/>
        </p:nvSpPr>
        <p:spPr>
          <a:xfrm>
            <a:off x="548640" y="1920240"/>
            <a:ext cx="6995160" cy="4023360"/>
          </a:xfrm>
          <a:prstGeom prst="roundRect">
            <a:avLst>
              <a:gd name="adj" fmla="val 2273"/>
            </a:avLst>
          </a:prstGeom>
          <a:solidFill>
            <a:schemeClr val="bg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77240" y="20574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LLM Gateway Console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2560320"/>
            <a:ext cx="5120640" cy="54864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9525">
            <a:solidFill>
              <a:schemeClr val="accent6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chemeClr val="accent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輸入你的問題…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6035040" y="2560320"/>
            <a:ext cx="1280160" cy="548640"/>
          </a:xfrm>
          <a:prstGeom prst="roundRect">
            <a:avLst>
              <a:gd name="adj" fmla="val 13333"/>
            </a:avLst>
          </a:prstGeom>
          <a:solidFill>
            <a:schemeClr val="accent1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送出</a:t>
            </a:r>
            <a:endParaRPr lang="en-US" sz="1600" dirty="0"/>
          </a:p>
        </p:txBody>
      </p:sp>
      <p:sp>
        <p:nvSpPr>
          <p:cNvPr id="16" name="console-panel"/>
          <p:cNvSpPr/>
          <p:nvPr/>
        </p:nvSpPr>
        <p:spPr>
          <a:xfrm>
            <a:off x="777240" y="3291840"/>
            <a:ext cx="3200400" cy="1188720"/>
          </a:xfrm>
          <a:prstGeom prst="roundRect">
            <a:avLst>
              <a:gd name="adj" fmla="val 7692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41832" y="3438144"/>
            <a:ext cx="365760" cy="36576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41832" y="34381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417320" y="3419856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路由決策</a:t>
            </a:r>
            <a:endParaRPr lang="en-US" sz="1800" dirty="0"/>
          </a:p>
        </p:txBody>
      </p:sp>
      <p:sp>
        <p:nvSpPr>
          <p:cNvPr id="20" name="console-panel"/>
          <p:cNvSpPr/>
          <p:nvPr/>
        </p:nvSpPr>
        <p:spPr>
          <a:xfrm>
            <a:off x="4114800" y="3291840"/>
            <a:ext cx="3200400" cy="1188720"/>
          </a:xfrm>
          <a:prstGeom prst="roundRect">
            <a:avLst>
              <a:gd name="adj" fmla="val 7692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279392" y="3438144"/>
            <a:ext cx="365760" cy="36576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4279392" y="34381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4754880" y="3419856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回應</a:t>
            </a:r>
            <a:endParaRPr lang="en-US" sz="1800" dirty="0"/>
          </a:p>
        </p:txBody>
      </p:sp>
      <p:sp>
        <p:nvSpPr>
          <p:cNvPr id="24" name="console-panel"/>
          <p:cNvSpPr/>
          <p:nvPr/>
        </p:nvSpPr>
        <p:spPr>
          <a:xfrm>
            <a:off x="777240" y="4617720"/>
            <a:ext cx="3200400" cy="1188720"/>
          </a:xfrm>
          <a:prstGeom prst="roundRect">
            <a:avLst>
              <a:gd name="adj" fmla="val 7692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41832" y="4764024"/>
            <a:ext cx="365760" cy="36576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941832" y="47640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1417320" y="4745736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本次花費</a:t>
            </a:r>
            <a:endParaRPr lang="en-US" sz="1800" dirty="0"/>
          </a:p>
        </p:txBody>
      </p:sp>
      <p:sp>
        <p:nvSpPr>
          <p:cNvPr id="28" name="console-panel"/>
          <p:cNvSpPr/>
          <p:nvPr/>
        </p:nvSpPr>
        <p:spPr>
          <a:xfrm>
            <a:off x="4114800" y="4617720"/>
            <a:ext cx="3200400" cy="1188720"/>
          </a:xfrm>
          <a:prstGeom prst="roundRect">
            <a:avLst>
              <a:gd name="adj" fmla="val 7692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279392" y="4764024"/>
            <a:ext cx="365760" cy="36576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4279392" y="47640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4754880" y="4745736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剩餘額度</a:t>
            </a:r>
            <a:endParaRPr lang="en-US" sz="1800" dirty="0"/>
          </a:p>
        </p:txBody>
      </p:sp>
      <p:sp>
        <p:nvSpPr>
          <p:cNvPr id="32" name="chapter-card"/>
          <p:cNvSpPr/>
          <p:nvPr/>
        </p:nvSpPr>
        <p:spPr>
          <a:xfrm>
            <a:off x="7955280" y="1920240"/>
            <a:ext cx="3657600" cy="1188720"/>
          </a:xfrm>
          <a:prstGeom prst="roundRect">
            <a:avLst>
              <a:gd name="adj" fmla="val 7692"/>
            </a:avLst>
          </a:prstGeom>
          <a:solidFill>
            <a:schemeClr val="tx2"/>
          </a:solidFill>
          <a:ln/>
        </p:spPr>
      </p:sp>
      <p:sp>
        <p:nvSpPr>
          <p:cNvPr id="33" name="Shape 31"/>
          <p:cNvSpPr/>
          <p:nvPr/>
        </p:nvSpPr>
        <p:spPr>
          <a:xfrm>
            <a:off x="8183880" y="2167128"/>
            <a:ext cx="694944" cy="694944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3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57616" y="2340864"/>
            <a:ext cx="347472" cy="347472"/>
          </a:xfrm>
          <a:prstGeom prst="rect">
            <a:avLst/>
          </a:prstGeom>
        </p:spPr>
      </p:pic>
      <p:sp>
        <p:nvSpPr>
          <p:cNvPr id="35" name="Text 32"/>
          <p:cNvSpPr txBox="1"/>
          <p:nvPr/>
        </p:nvSpPr>
        <p:spPr>
          <a:xfrm>
            <a:off x="9098280" y="1920240"/>
            <a:ext cx="2423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1｜節費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自動選模型・省多少</a:t>
            </a:r>
            <a:endParaRPr lang="en-US" sz="1600" dirty="0"/>
          </a:p>
        </p:txBody>
      </p:sp>
      <p:sp>
        <p:nvSpPr>
          <p:cNvPr id="36" name="chapter-card"/>
          <p:cNvSpPr/>
          <p:nvPr/>
        </p:nvSpPr>
        <p:spPr>
          <a:xfrm>
            <a:off x="7955280" y="3337560"/>
            <a:ext cx="3657600" cy="1188720"/>
          </a:xfrm>
          <a:prstGeom prst="roundRect">
            <a:avLst>
              <a:gd name="adj" fmla="val 7692"/>
            </a:avLst>
          </a:prstGeom>
          <a:solidFill>
            <a:schemeClr val="tx2"/>
          </a:solidFill>
          <a:ln/>
        </p:spPr>
      </p:sp>
      <p:sp>
        <p:nvSpPr>
          <p:cNvPr id="37" name="Shape 34"/>
          <p:cNvSpPr/>
          <p:nvPr/>
        </p:nvSpPr>
        <p:spPr>
          <a:xfrm>
            <a:off x="8183880" y="3584448"/>
            <a:ext cx="694944" cy="694944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3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57616" y="3758184"/>
            <a:ext cx="347472" cy="347472"/>
          </a:xfrm>
          <a:prstGeom prst="rect">
            <a:avLst/>
          </a:prstGeom>
        </p:spPr>
      </p:pic>
      <p:sp>
        <p:nvSpPr>
          <p:cNvPr id="39" name="Text 35"/>
          <p:cNvSpPr txBox="1"/>
          <p:nvPr/>
        </p:nvSpPr>
        <p:spPr>
          <a:xfrm>
            <a:off x="9098280" y="3337560"/>
            <a:ext cx="2423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2｜個資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送出前就遮掉</a:t>
            </a:r>
            <a:endParaRPr lang="en-US" sz="1600" dirty="0"/>
          </a:p>
        </p:txBody>
      </p:sp>
      <p:sp>
        <p:nvSpPr>
          <p:cNvPr id="40" name="chapter-card"/>
          <p:cNvSpPr/>
          <p:nvPr/>
        </p:nvSpPr>
        <p:spPr>
          <a:xfrm>
            <a:off x="7955280" y="4754880"/>
            <a:ext cx="3657600" cy="1188720"/>
          </a:xfrm>
          <a:prstGeom prst="roundRect">
            <a:avLst>
              <a:gd name="adj" fmla="val 7692"/>
            </a:avLst>
          </a:prstGeom>
          <a:solidFill>
            <a:schemeClr val="tx2"/>
          </a:solidFill>
          <a:ln/>
        </p:spPr>
      </p:sp>
      <p:sp>
        <p:nvSpPr>
          <p:cNvPr id="41" name="Shape 37"/>
          <p:cNvSpPr/>
          <p:nvPr/>
        </p:nvSpPr>
        <p:spPr>
          <a:xfrm>
            <a:off x="8183880" y="5001768"/>
            <a:ext cx="694944" cy="694944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4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7616" y="5175504"/>
            <a:ext cx="347472" cy="347472"/>
          </a:xfrm>
          <a:prstGeom prst="rect">
            <a:avLst/>
          </a:prstGeom>
        </p:spPr>
      </p:pic>
      <p:sp>
        <p:nvSpPr>
          <p:cNvPr id="43" name="Text 38"/>
          <p:cNvSpPr txBox="1"/>
          <p:nvPr/>
        </p:nvSpPr>
        <p:spPr>
          <a:xfrm>
            <a:off x="9098280" y="4754880"/>
            <a:ext cx="2423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3｜額度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用完就擋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261872" y="384048"/>
            <a:ext cx="7589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買瓶飲料，不用叫整台貨車幫你送來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17043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簡單的問題，交給便宜的模型</a:t>
            </a:r>
            <a:endParaRPr lang="en-US" sz="2000" dirty="0"/>
          </a:p>
        </p:txBody>
      </p:sp>
      <p:sp>
        <p:nvSpPr>
          <p:cNvPr id="4" name="agenda-number"/>
          <p:cNvSpPr/>
          <p:nvPr/>
        </p:nvSpPr>
        <p:spPr>
          <a:xfrm>
            <a:off x="548640" y="438912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4389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</a:t>
            </a:r>
            <a:endParaRPr lang="en-US" sz="1600" dirty="0"/>
          </a:p>
        </p:txBody>
      </p:sp>
      <p:sp>
        <p:nvSpPr>
          <p:cNvPr id="6" name="progress-dot"/>
          <p:cNvSpPr/>
          <p:nvPr/>
        </p:nvSpPr>
        <p:spPr>
          <a:xfrm>
            <a:off x="10323576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progress-dot"/>
          <p:cNvSpPr/>
          <p:nvPr/>
        </p:nvSpPr>
        <p:spPr>
          <a:xfrm>
            <a:off x="10561320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progress-dot"/>
          <p:cNvSpPr/>
          <p:nvPr/>
        </p:nvSpPr>
        <p:spPr>
          <a:xfrm>
            <a:off x="10799064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progress-dot"/>
          <p:cNvSpPr/>
          <p:nvPr/>
        </p:nvSpPr>
        <p:spPr>
          <a:xfrm>
            <a:off x="11036808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progress-dot"/>
          <p:cNvSpPr/>
          <p:nvPr/>
        </p:nvSpPr>
        <p:spPr>
          <a:xfrm>
            <a:off x="11274552" y="274320"/>
            <a:ext cx="128016" cy="12801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1" name="progress-dot"/>
          <p:cNvSpPr/>
          <p:nvPr/>
        </p:nvSpPr>
        <p:spPr>
          <a:xfrm>
            <a:off x="11512296" y="274320"/>
            <a:ext cx="128016" cy="128016"/>
          </a:xfrm>
          <a:prstGeom prst="ellipse">
            <a:avLst/>
          </a:prstGeom>
          <a:solidFill>
            <a:schemeClr val="accent6">
              <a:alpha val="60000"/>
            </a:schemeClr>
          </a:solidFill>
          <a:ln/>
        </p:spPr>
      </p:sp>
      <p:sp>
        <p:nvSpPr>
          <p:cNvPr id="12" name="route-card"/>
          <p:cNvSpPr/>
          <p:nvPr/>
        </p:nvSpPr>
        <p:spPr>
          <a:xfrm>
            <a:off x="548640" y="1920240"/>
            <a:ext cx="7040880" cy="1874520"/>
          </a:xfrm>
          <a:prstGeom prst="roundRect">
            <a:avLst>
              <a:gd name="adj" fmla="val 4878"/>
            </a:avLst>
          </a:prstGeom>
          <a:solidFill>
            <a:schemeClr val="tx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31520" y="2103120"/>
            <a:ext cx="2743200" cy="54864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把這句翻成英文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731520" y="2834640"/>
            <a:ext cx="1005840" cy="502920"/>
          </a:xfrm>
          <a:prstGeom prst="roundRect">
            <a:avLst>
              <a:gd name="adj" fmla="val 14545"/>
            </a:avLst>
          </a:prstGeom>
          <a:solidFill>
            <a:schemeClr val="bg2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簡單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810512" y="3081528"/>
            <a:ext cx="274320" cy="0"/>
          </a:xfrm>
          <a:prstGeom prst="line">
            <a:avLst/>
          </a:prstGeom>
          <a:noFill/>
          <a:ln w="317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16" name="Text 14"/>
          <p:cNvSpPr txBox="1"/>
          <p:nvPr/>
        </p:nvSpPr>
        <p:spPr>
          <a:xfrm>
            <a:off x="2148840" y="2834640"/>
            <a:ext cx="1325880" cy="502920"/>
          </a:xfrm>
          <a:prstGeom prst="roundRect">
            <a:avLst>
              <a:gd name="adj" fmla="val 14545"/>
            </a:avLst>
          </a:prstGeom>
          <a:solidFill>
            <a:schemeClr val="accent1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gpt-6-luna</a:t>
            </a:r>
            <a:endParaRPr lang="en-US" sz="1600" dirty="0"/>
          </a:p>
        </p:txBody>
      </p:sp>
      <p:pic>
        <p:nvPicPr>
          <p:cNvPr id="17" name="Image 0" descr="/tmp/claude-0/-home-claude/96d60298-d9d1-5ce2-b774-39e8aefb4386/scratchpad/assets/s05-eas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0" y="2084832"/>
            <a:ext cx="3749040" cy="1545336"/>
          </a:xfrm>
          <a:prstGeom prst="rect">
            <a:avLst/>
          </a:prstGeom>
        </p:spPr>
      </p:pic>
      <p:sp>
        <p:nvSpPr>
          <p:cNvPr id="18" name="route-card"/>
          <p:cNvSpPr/>
          <p:nvPr/>
        </p:nvSpPr>
        <p:spPr>
          <a:xfrm>
            <a:off x="548640" y="4023360"/>
            <a:ext cx="7040880" cy="1874520"/>
          </a:xfrm>
          <a:prstGeom prst="roundRect">
            <a:avLst>
              <a:gd name="adj" fmla="val 4878"/>
            </a:avLst>
          </a:prstGeom>
          <a:solidFill>
            <a:schemeClr val="tx2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731520" y="4206240"/>
            <a:ext cx="2743200" cy="54864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設計多人共用的 AI 服務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731520" y="4937760"/>
            <a:ext cx="1005840" cy="502920"/>
          </a:xfrm>
          <a:prstGeom prst="roundRect">
            <a:avLst>
              <a:gd name="adj" fmla="val 14545"/>
            </a:avLst>
          </a:prstGeom>
          <a:solidFill>
            <a:schemeClr val="bg2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複雜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1810512" y="5184648"/>
            <a:ext cx="274320" cy="0"/>
          </a:xfrm>
          <a:prstGeom prst="line">
            <a:avLst/>
          </a:prstGeom>
          <a:noFill/>
          <a:ln w="317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22" name="Text 19"/>
          <p:cNvSpPr txBox="1"/>
          <p:nvPr/>
        </p:nvSpPr>
        <p:spPr>
          <a:xfrm>
            <a:off x="2148840" y="4937760"/>
            <a:ext cx="1325880" cy="502920"/>
          </a:xfrm>
          <a:prstGeom prst="roundRect">
            <a:avLst>
              <a:gd name="adj" fmla="val 14545"/>
            </a:avLst>
          </a:prstGeom>
          <a:solidFill>
            <a:schemeClr val="accent2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gpt-6-sol</a:t>
            </a:r>
            <a:endParaRPr lang="en-US" sz="1600" dirty="0"/>
          </a:p>
        </p:txBody>
      </p:sp>
      <p:pic>
        <p:nvPicPr>
          <p:cNvPr id="23" name="Image 1" descr="/tmp/claude-0/-home-claude/96d60298-d9d1-5ce2-b774-39e8aefb4386/scratchpad/assets/s05-har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0" y="4187952"/>
            <a:ext cx="3749040" cy="1545336"/>
          </a:xfrm>
          <a:prstGeom prst="rect">
            <a:avLst/>
          </a:prstGeom>
        </p:spPr>
      </p:pic>
      <p:sp>
        <p:nvSpPr>
          <p:cNvPr id="24" name="Text 20"/>
          <p:cNvSpPr txBox="1"/>
          <p:nvPr/>
        </p:nvSpPr>
        <p:spPr>
          <a:xfrm>
            <a:off x="7909560" y="1965960"/>
            <a:ext cx="3703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 倍</a:t>
            </a:r>
            <a:endParaRPr lang="en-US" sz="7200" dirty="0"/>
          </a:p>
        </p:txBody>
      </p:sp>
      <p:sp>
        <p:nvSpPr>
          <p:cNvPr id="25" name="Text 21"/>
          <p:cNvSpPr txBox="1"/>
          <p:nvPr/>
        </p:nvSpPr>
        <p:spPr>
          <a:xfrm>
            <a:off x="7909560" y="3200400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兩顆模型的單價差</a:t>
            </a:r>
            <a:endParaRPr lang="en-US" sz="1800" dirty="0"/>
          </a:p>
        </p:txBody>
      </p:sp>
      <p:sp>
        <p:nvSpPr>
          <p:cNvPr id="26" name="Shape 22"/>
          <p:cNvSpPr/>
          <p:nvPr/>
        </p:nvSpPr>
        <p:spPr>
          <a:xfrm>
            <a:off x="7909560" y="4343400"/>
            <a:ext cx="713232" cy="713232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87868" y="4521708"/>
            <a:ext cx="356616" cy="356616"/>
          </a:xfrm>
          <a:prstGeom prst="rect">
            <a:avLst/>
          </a:prstGeom>
        </p:spPr>
      </p:pic>
      <p:sp>
        <p:nvSpPr>
          <p:cNvPr id="28" name="Text 23"/>
          <p:cNvSpPr txBox="1"/>
          <p:nvPr/>
        </p:nvSpPr>
        <p:spPr>
          <a:xfrm>
            <a:off x="8778240" y="4114800"/>
            <a:ext cx="2834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規則由公司定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使用者不能自己選模型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261872" y="384048"/>
            <a:ext cx="7589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節費 ①｜驗收畫面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17043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兩題真的送出去：AI 的回答，和稽核記下的理由</a:t>
            </a:r>
            <a:endParaRPr lang="en-US" sz="2000" dirty="0"/>
          </a:p>
        </p:txBody>
      </p:sp>
      <p:sp>
        <p:nvSpPr>
          <p:cNvPr id="4" name="agenda-number"/>
          <p:cNvSpPr/>
          <p:nvPr/>
        </p:nvSpPr>
        <p:spPr>
          <a:xfrm>
            <a:off x="548640" y="438912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4389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</a:t>
            </a:r>
            <a:endParaRPr lang="en-US" sz="1600" dirty="0"/>
          </a:p>
        </p:txBody>
      </p:sp>
      <p:sp>
        <p:nvSpPr>
          <p:cNvPr id="6" name="progress-dot"/>
          <p:cNvSpPr/>
          <p:nvPr/>
        </p:nvSpPr>
        <p:spPr>
          <a:xfrm>
            <a:off x="10323576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progress-dot"/>
          <p:cNvSpPr/>
          <p:nvPr/>
        </p:nvSpPr>
        <p:spPr>
          <a:xfrm>
            <a:off x="10561320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progress-dot"/>
          <p:cNvSpPr/>
          <p:nvPr/>
        </p:nvSpPr>
        <p:spPr>
          <a:xfrm>
            <a:off x="10799064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progress-dot"/>
          <p:cNvSpPr/>
          <p:nvPr/>
        </p:nvSpPr>
        <p:spPr>
          <a:xfrm>
            <a:off x="11036808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progress-dot"/>
          <p:cNvSpPr/>
          <p:nvPr/>
        </p:nvSpPr>
        <p:spPr>
          <a:xfrm>
            <a:off x="11274552" y="274320"/>
            <a:ext cx="128016" cy="12801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1" name="progress-dot"/>
          <p:cNvSpPr/>
          <p:nvPr/>
        </p:nvSpPr>
        <p:spPr>
          <a:xfrm>
            <a:off x="11512296" y="274320"/>
            <a:ext cx="128016" cy="128016"/>
          </a:xfrm>
          <a:prstGeom prst="ellipse">
            <a:avLst/>
          </a:prstGeom>
          <a:solidFill>
            <a:schemeClr val="accent6">
              <a:alpha val="60000"/>
            </a:schemeClr>
          </a:solidFill>
          <a:ln/>
        </p:spPr>
      </p:sp>
      <p:pic>
        <p:nvPicPr>
          <p:cNvPr id="12" name="Image 0" descr="/tmp/claude-0/-home-claude/96d60298-d9d1-5ce2-b774-39e8aefb4386/scratchpad/assets/s05-t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74520"/>
            <a:ext cx="5394960" cy="2551176"/>
          </a:xfrm>
          <a:prstGeom prst="rect">
            <a:avLst/>
          </a:prstGeom>
        </p:spPr>
      </p:pic>
      <p:sp>
        <p:nvSpPr>
          <p:cNvPr id="13" name="ring"/>
          <p:cNvSpPr/>
          <p:nvPr/>
        </p:nvSpPr>
        <p:spPr>
          <a:xfrm>
            <a:off x="578654" y="2039595"/>
            <a:ext cx="4528315" cy="315144"/>
          </a:xfrm>
          <a:prstGeom prst="roundRect">
            <a:avLst>
              <a:gd name="adj" fmla="val 11606"/>
            </a:avLst>
          </a:prstGeom>
          <a:noFill/>
          <a:ln w="22225">
            <a:solidFill>
              <a:schemeClr val="accent1"/>
            </a:solidFill>
            <a:prstDash val="solid"/>
          </a:ln>
        </p:spPr>
      </p:sp>
      <p:sp>
        <p:nvSpPr>
          <p:cNvPr id="14" name="ring"/>
          <p:cNvSpPr/>
          <p:nvPr/>
        </p:nvSpPr>
        <p:spPr>
          <a:xfrm>
            <a:off x="578654" y="3007537"/>
            <a:ext cx="2408598" cy="150068"/>
          </a:xfrm>
          <a:prstGeom prst="roundRect">
            <a:avLst>
              <a:gd name="adj" fmla="val 24373"/>
            </a:avLst>
          </a:prstGeom>
          <a:noFill/>
          <a:ln w="22225">
            <a:solidFill>
              <a:schemeClr val="accent2"/>
            </a:solidFill>
            <a:prstDash val="solid"/>
          </a:ln>
        </p:spPr>
      </p:sp>
      <p:sp>
        <p:nvSpPr>
          <p:cNvPr id="15" name="ring"/>
          <p:cNvSpPr/>
          <p:nvPr/>
        </p:nvSpPr>
        <p:spPr>
          <a:xfrm>
            <a:off x="578654" y="4133050"/>
            <a:ext cx="1695773" cy="157572"/>
          </a:xfrm>
          <a:prstGeom prst="roundRect">
            <a:avLst>
              <a:gd name="adj" fmla="val 23212"/>
            </a:avLst>
          </a:prstGeom>
          <a:noFill/>
          <a:ln w="22225">
            <a:solidFill>
              <a:schemeClr val="accent2"/>
            </a:solidFill>
            <a:prstDash val="solid"/>
          </a:ln>
        </p:spPr>
      </p:sp>
      <p:pic>
        <p:nvPicPr>
          <p:cNvPr id="16" name="Image 1" descr="/tmp/claude-0/-home-claude/96d60298-d9d1-5ce2-b774-39e8aefb4386/scratchpad/assets/s05-bo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874520"/>
            <a:ext cx="5394960" cy="3227832"/>
          </a:xfrm>
          <a:prstGeom prst="rect">
            <a:avLst/>
          </a:prstGeom>
        </p:spPr>
      </p:pic>
      <p:sp>
        <p:nvSpPr>
          <p:cNvPr id="17" name="ring"/>
          <p:cNvSpPr/>
          <p:nvPr/>
        </p:nvSpPr>
        <p:spPr>
          <a:xfrm>
            <a:off x="6247934" y="2887482"/>
            <a:ext cx="1714532" cy="150068"/>
          </a:xfrm>
          <a:prstGeom prst="roundRect">
            <a:avLst>
              <a:gd name="adj" fmla="val 24373"/>
            </a:avLst>
          </a:prstGeom>
          <a:noFill/>
          <a:ln w="22225">
            <a:solidFill>
              <a:schemeClr val="accent1"/>
            </a:solidFill>
            <a:prstDash val="solid"/>
          </a:ln>
        </p:spPr>
      </p:sp>
      <p:sp>
        <p:nvSpPr>
          <p:cNvPr id="18" name="ring"/>
          <p:cNvSpPr/>
          <p:nvPr/>
        </p:nvSpPr>
        <p:spPr>
          <a:xfrm>
            <a:off x="6247934" y="3712858"/>
            <a:ext cx="2408598" cy="150068"/>
          </a:xfrm>
          <a:prstGeom prst="roundRect">
            <a:avLst>
              <a:gd name="adj" fmla="val 24373"/>
            </a:avLst>
          </a:prstGeom>
          <a:noFill/>
          <a:ln w="22225">
            <a:solidFill>
              <a:schemeClr val="accent2"/>
            </a:solidFill>
            <a:prstDash val="solid"/>
          </a:ln>
        </p:spPr>
      </p:sp>
      <p:sp>
        <p:nvSpPr>
          <p:cNvPr id="19" name="ring"/>
          <p:cNvSpPr/>
          <p:nvPr/>
        </p:nvSpPr>
        <p:spPr>
          <a:xfrm>
            <a:off x="6247934" y="4838371"/>
            <a:ext cx="1920876" cy="157572"/>
          </a:xfrm>
          <a:prstGeom prst="roundRect">
            <a:avLst>
              <a:gd name="adj" fmla="val 23212"/>
            </a:avLst>
          </a:prstGeom>
          <a:noFill/>
          <a:ln w="22225">
            <a:solidFill>
              <a:schemeClr val="accent2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548640" y="457200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簡單題 → gpt-6-luna，7 micro-USD</a:t>
            </a:r>
            <a:endParaRPr lang="en-US" sz="2000" dirty="0"/>
          </a:p>
        </p:txBody>
      </p:sp>
      <p:sp>
        <p:nvSpPr>
          <p:cNvPr id="21" name="Text 17"/>
          <p:cNvSpPr txBox="1"/>
          <p:nvPr/>
        </p:nvSpPr>
        <p:spPr>
          <a:xfrm>
            <a:off x="6217920" y="521208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複雜題 → gpt-6-sol，1,438 micro-USD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261872" y="384048"/>
            <a:ext cx="7589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省更多很簡單，答對比較難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17043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門檻放更寬可以省 54%，但難題 AI 回應會比較不準確</a:t>
            </a:r>
            <a:endParaRPr lang="en-US" sz="2000" dirty="0"/>
          </a:p>
        </p:txBody>
      </p:sp>
      <p:sp>
        <p:nvSpPr>
          <p:cNvPr id="4" name="agenda-number"/>
          <p:cNvSpPr/>
          <p:nvPr/>
        </p:nvSpPr>
        <p:spPr>
          <a:xfrm>
            <a:off x="548640" y="438912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4389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</a:t>
            </a:r>
            <a:endParaRPr lang="en-US" sz="1600" dirty="0"/>
          </a:p>
        </p:txBody>
      </p:sp>
      <p:sp>
        <p:nvSpPr>
          <p:cNvPr id="6" name="progress-dot"/>
          <p:cNvSpPr/>
          <p:nvPr/>
        </p:nvSpPr>
        <p:spPr>
          <a:xfrm>
            <a:off x="10323576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progress-dot"/>
          <p:cNvSpPr/>
          <p:nvPr/>
        </p:nvSpPr>
        <p:spPr>
          <a:xfrm>
            <a:off x="10561320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progress-dot"/>
          <p:cNvSpPr/>
          <p:nvPr/>
        </p:nvSpPr>
        <p:spPr>
          <a:xfrm>
            <a:off x="10799064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progress-dot"/>
          <p:cNvSpPr/>
          <p:nvPr/>
        </p:nvSpPr>
        <p:spPr>
          <a:xfrm>
            <a:off x="11036808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progress-dot"/>
          <p:cNvSpPr/>
          <p:nvPr/>
        </p:nvSpPr>
        <p:spPr>
          <a:xfrm>
            <a:off x="11274552" y="274320"/>
            <a:ext cx="128016" cy="12801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1" name="progress-dot"/>
          <p:cNvSpPr/>
          <p:nvPr/>
        </p:nvSpPr>
        <p:spPr>
          <a:xfrm>
            <a:off x="11512296" y="274320"/>
            <a:ext cx="128016" cy="128016"/>
          </a:xfrm>
          <a:prstGeom prst="ellipse">
            <a:avLst/>
          </a:prstGeom>
          <a:solidFill>
            <a:schemeClr val="accent6">
              <a:alpha val="60000"/>
            </a:schemeClr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1828800"/>
            <a:ext cx="5669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25.3%</a:t>
            </a:r>
            <a:endParaRPr lang="en-US" sz="110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3611880"/>
            <a:ext cx="585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 題，每題兩顆模型都真的跑過｜簡單題佔 65%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4343400"/>
            <a:ext cx="2514600" cy="1097280"/>
          </a:xfrm>
          <a:prstGeom prst="roundRect">
            <a:avLst>
              <a:gd name="adj" fmla="val 6667"/>
            </a:avLst>
          </a:prstGeom>
          <a:solidFill>
            <a:schemeClr val="tx2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全部用強模型</a:t>
            </a:r>
            <a:endParaRPr lang="en-US" sz="1600" dirty="0"/>
          </a:p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US$ 0.0557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154680" y="4892040"/>
            <a:ext cx="411480" cy="0"/>
          </a:xfrm>
          <a:prstGeom prst="line">
            <a:avLst/>
          </a:prstGeom>
          <a:noFill/>
          <a:ln w="3175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16" name="Text 14"/>
          <p:cNvSpPr txBox="1"/>
          <p:nvPr/>
        </p:nvSpPr>
        <p:spPr>
          <a:xfrm>
            <a:off x="3611880" y="4343400"/>
            <a:ext cx="2514600" cy="1097280"/>
          </a:xfrm>
          <a:prstGeom prst="roundRect">
            <a:avLst>
              <a:gd name="adj" fmla="val 6667"/>
            </a:avLst>
          </a:prstGeom>
          <a:solidFill>
            <a:schemeClr val="tx2"/>
          </a:solidFill>
          <a:ln w="25400">
            <a:solidFill>
              <a:schemeClr val="accent2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智慧路由</a:t>
            </a:r>
            <a:endParaRPr lang="en-US" sz="1600" dirty="0"/>
          </a:p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US$ 0.0416</a:t>
            </a:r>
            <a:endParaRPr lang="en-US" sz="1600" dirty="0"/>
          </a:p>
        </p:txBody>
      </p:sp>
      <p:sp>
        <p:nvSpPr>
          <p:cNvPr id="17" name="dashboard-card"/>
          <p:cNvSpPr/>
          <p:nvPr/>
        </p:nvSpPr>
        <p:spPr>
          <a:xfrm>
            <a:off x="6355080" y="1920240"/>
            <a:ext cx="5257800" cy="4023360"/>
          </a:xfrm>
          <a:prstGeom prst="roundRect">
            <a:avLst>
              <a:gd name="adj" fmla="val 2273"/>
            </a:avLst>
          </a:prstGeom>
          <a:solidFill>
            <a:schemeClr val="tx2"/>
          </a:solidFill>
          <a:ln/>
        </p:spPr>
      </p:sp>
      <p:sp>
        <p:nvSpPr>
          <p:cNvPr id="18" name="Shape 16"/>
          <p:cNvSpPr/>
          <p:nvPr/>
        </p:nvSpPr>
        <p:spPr>
          <a:xfrm>
            <a:off x="6629400" y="2194560"/>
            <a:ext cx="713232" cy="713232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07708" y="2372868"/>
            <a:ext cx="356616" cy="356616"/>
          </a:xfrm>
          <a:prstGeom prst="rect">
            <a:avLst/>
          </a:prstGeom>
        </p:spPr>
      </p:pic>
      <p:sp>
        <p:nvSpPr>
          <p:cNvPr id="20" name="Text 17"/>
          <p:cNvSpPr txBox="1"/>
          <p:nvPr/>
        </p:nvSpPr>
        <p:spPr>
          <a:xfrm>
            <a:off x="7498080" y="2121408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每個人花多少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一眼看得到，不用等月底帳單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6629400" y="3246120"/>
            <a:ext cx="4709160" cy="2468880"/>
          </a:xfrm>
          <a:prstGeom prst="roundRect">
            <a:avLst>
              <a:gd name="adj" fmla="val 3704"/>
            </a:avLst>
          </a:prstGeom>
          <a:solidFill>
            <a:schemeClr val="tx1"/>
          </a:solidFill>
          <a:ln w="12700">
            <a:solidFill>
              <a:schemeClr val="accent6"/>
            </a:solidFill>
            <a:prstDash val="dash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261872" y="384048"/>
            <a:ext cx="7589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節費 ②｜數字怎麼算出來的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17043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手算對得上；四種規則一次跑，只重算、不再呼叫</a:t>
            </a:r>
            <a:endParaRPr lang="en-US" sz="2000" dirty="0"/>
          </a:p>
        </p:txBody>
      </p:sp>
      <p:sp>
        <p:nvSpPr>
          <p:cNvPr id="4" name="agenda-number"/>
          <p:cNvSpPr/>
          <p:nvPr/>
        </p:nvSpPr>
        <p:spPr>
          <a:xfrm>
            <a:off x="548640" y="438912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4389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</a:t>
            </a:r>
            <a:endParaRPr lang="en-US" sz="1600" dirty="0"/>
          </a:p>
        </p:txBody>
      </p:sp>
      <p:sp>
        <p:nvSpPr>
          <p:cNvPr id="6" name="progress-dot"/>
          <p:cNvSpPr/>
          <p:nvPr/>
        </p:nvSpPr>
        <p:spPr>
          <a:xfrm>
            <a:off x="10323576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progress-dot"/>
          <p:cNvSpPr/>
          <p:nvPr/>
        </p:nvSpPr>
        <p:spPr>
          <a:xfrm>
            <a:off x="10561320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progress-dot"/>
          <p:cNvSpPr/>
          <p:nvPr/>
        </p:nvSpPr>
        <p:spPr>
          <a:xfrm>
            <a:off x="10799064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progress-dot"/>
          <p:cNvSpPr/>
          <p:nvPr/>
        </p:nvSpPr>
        <p:spPr>
          <a:xfrm>
            <a:off x="11036808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progress-dot"/>
          <p:cNvSpPr/>
          <p:nvPr/>
        </p:nvSpPr>
        <p:spPr>
          <a:xfrm>
            <a:off x="11274552" y="274320"/>
            <a:ext cx="128016" cy="12801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1" name="progress-dot"/>
          <p:cNvSpPr/>
          <p:nvPr/>
        </p:nvSpPr>
        <p:spPr>
          <a:xfrm>
            <a:off x="11512296" y="274320"/>
            <a:ext cx="128016" cy="128016"/>
          </a:xfrm>
          <a:prstGeom prst="ellipse">
            <a:avLst/>
          </a:prstGeom>
          <a:solidFill>
            <a:schemeClr val="accent6">
              <a:alpha val="60000"/>
            </a:schemeClr>
          </a:solidFill>
          <a:ln/>
        </p:spPr>
      </p:sp>
      <p:pic>
        <p:nvPicPr>
          <p:cNvPr id="12" name="Image 0" descr="/tmp/claude-0/-home-claude/96d60298-d9d1-5ce2-b774-39e8aefb4386/scratchpad/assets/s06-calc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74520"/>
            <a:ext cx="3200400" cy="3520440"/>
          </a:xfrm>
          <a:prstGeom prst="rect">
            <a:avLst/>
          </a:prstGeom>
        </p:spPr>
      </p:pic>
      <p:sp>
        <p:nvSpPr>
          <p:cNvPr id="13" name="ring"/>
          <p:cNvSpPr/>
          <p:nvPr/>
        </p:nvSpPr>
        <p:spPr>
          <a:xfrm>
            <a:off x="566928" y="4146804"/>
            <a:ext cx="2500884" cy="237744"/>
          </a:xfrm>
          <a:prstGeom prst="roundRect">
            <a:avLst>
              <a:gd name="adj" fmla="val 19231"/>
            </a:avLst>
          </a:prstGeom>
          <a:noFill/>
          <a:ln w="31750">
            <a:solidFill>
              <a:schemeClr val="accent2"/>
            </a:solidFill>
            <a:prstDash val="solid"/>
          </a:ln>
        </p:spPr>
      </p:sp>
      <p:sp>
        <p:nvSpPr>
          <p:cNvPr id="14" name="ring"/>
          <p:cNvSpPr/>
          <p:nvPr/>
        </p:nvSpPr>
        <p:spPr>
          <a:xfrm>
            <a:off x="566928" y="4988052"/>
            <a:ext cx="1929384" cy="411480"/>
          </a:xfrm>
          <a:prstGeom prst="roundRect">
            <a:avLst>
              <a:gd name="adj" fmla="val 11111"/>
            </a:avLst>
          </a:prstGeom>
          <a:noFill/>
          <a:ln w="31750">
            <a:solidFill>
              <a:schemeClr val="accent2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48640" y="553212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稽核記 1,438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手算 34×2＋137×10＝1,438</a:t>
            </a:r>
            <a:endParaRPr lang="en-US" sz="1600" dirty="0"/>
          </a:p>
        </p:txBody>
      </p:sp>
      <p:pic>
        <p:nvPicPr>
          <p:cNvPr id="16" name="Image 1" descr="/tmp/claude-0/-home-claude/96d60298-d9d1-5ce2-b774-39e8aefb4386/scratchpad/assets/s06-table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360" y="1874520"/>
            <a:ext cx="7589520" cy="4206240"/>
          </a:xfrm>
          <a:prstGeom prst="rect">
            <a:avLst/>
          </a:prstGeom>
        </p:spPr>
      </p:pic>
      <p:sp>
        <p:nvSpPr>
          <p:cNvPr id="17" name="ring"/>
          <p:cNvSpPr/>
          <p:nvPr/>
        </p:nvSpPr>
        <p:spPr>
          <a:xfrm>
            <a:off x="4096689" y="2400042"/>
            <a:ext cx="3470892" cy="244429"/>
          </a:xfrm>
          <a:prstGeom prst="roundRect">
            <a:avLst>
              <a:gd name="adj" fmla="val 14964"/>
            </a:avLst>
          </a:prstGeom>
          <a:noFill/>
          <a:ln w="22225">
            <a:solidFill>
              <a:schemeClr val="accent1"/>
            </a:solidFill>
            <a:prstDash val="solid"/>
          </a:ln>
        </p:spPr>
      </p:sp>
      <p:sp>
        <p:nvSpPr>
          <p:cNvPr id="18" name="ring"/>
          <p:cNvSpPr/>
          <p:nvPr/>
        </p:nvSpPr>
        <p:spPr>
          <a:xfrm>
            <a:off x="4096689" y="4441024"/>
            <a:ext cx="5640199" cy="684401"/>
          </a:xfrm>
          <a:prstGeom prst="roundRect">
            <a:avLst>
              <a:gd name="adj" fmla="val 5344"/>
            </a:avLst>
          </a:prstGeom>
          <a:noFill/>
          <a:ln w="22225">
            <a:solidFill>
              <a:schemeClr val="accent2"/>
            </a:solidFill>
            <a:prstDash val="solid"/>
          </a:ln>
        </p:spPr>
      </p:sp>
      <p:sp>
        <p:nvSpPr>
          <p:cNvPr id="19" name="ring"/>
          <p:cNvSpPr/>
          <p:nvPr/>
        </p:nvSpPr>
        <p:spPr>
          <a:xfrm>
            <a:off x="4096689" y="5125426"/>
            <a:ext cx="5640199" cy="684401"/>
          </a:xfrm>
          <a:prstGeom prst="roundRect">
            <a:avLst>
              <a:gd name="adj" fmla="val 5344"/>
            </a:avLst>
          </a:prstGeom>
          <a:noFill/>
          <a:ln w="22225">
            <a:solidFill>
              <a:schemeClr val="accent3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4023360" y="635508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綠：全部用強模型　</a:t>
            </a:r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橘：採用的規則　</a:t>
            </a:r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紅：對照組（門檻 500）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261872" y="384048"/>
            <a:ext cx="7589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節費 ②｜為什麼不選省 54% 的規則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17043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省最多的規則，不是最好的規則</a:t>
            </a:r>
            <a:endParaRPr lang="en-US" sz="2000" dirty="0"/>
          </a:p>
        </p:txBody>
      </p:sp>
      <p:sp>
        <p:nvSpPr>
          <p:cNvPr id="4" name="agenda-number"/>
          <p:cNvSpPr/>
          <p:nvPr/>
        </p:nvSpPr>
        <p:spPr>
          <a:xfrm>
            <a:off x="548640" y="438912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4389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</a:t>
            </a:r>
            <a:endParaRPr lang="en-US" sz="1600" dirty="0"/>
          </a:p>
        </p:txBody>
      </p:sp>
      <p:sp>
        <p:nvSpPr>
          <p:cNvPr id="6" name="progress-dot"/>
          <p:cNvSpPr/>
          <p:nvPr/>
        </p:nvSpPr>
        <p:spPr>
          <a:xfrm>
            <a:off x="10323576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progress-dot"/>
          <p:cNvSpPr/>
          <p:nvPr/>
        </p:nvSpPr>
        <p:spPr>
          <a:xfrm>
            <a:off x="10561320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progress-dot"/>
          <p:cNvSpPr/>
          <p:nvPr/>
        </p:nvSpPr>
        <p:spPr>
          <a:xfrm>
            <a:off x="10799064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progress-dot"/>
          <p:cNvSpPr/>
          <p:nvPr/>
        </p:nvSpPr>
        <p:spPr>
          <a:xfrm>
            <a:off x="11036808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progress-dot"/>
          <p:cNvSpPr/>
          <p:nvPr/>
        </p:nvSpPr>
        <p:spPr>
          <a:xfrm>
            <a:off x="11274552" y="274320"/>
            <a:ext cx="128016" cy="12801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1" name="progress-dot"/>
          <p:cNvSpPr/>
          <p:nvPr/>
        </p:nvSpPr>
        <p:spPr>
          <a:xfrm>
            <a:off x="11512296" y="274320"/>
            <a:ext cx="128016" cy="128016"/>
          </a:xfrm>
          <a:prstGeom prst="ellipse">
            <a:avLst/>
          </a:prstGeom>
          <a:solidFill>
            <a:schemeClr val="accent6">
              <a:alpha val="60000"/>
            </a:schemeClr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1874520"/>
            <a:ext cx="2743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全部用強模型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291840" y="1965960"/>
            <a:ext cx="4389120" cy="420624"/>
          </a:xfrm>
          <a:prstGeom prst="roundRect">
            <a:avLst>
              <a:gd name="adj" fmla="val 10870"/>
            </a:avLst>
          </a:prstGeom>
          <a:solidFill>
            <a:schemeClr val="tx2"/>
          </a:solidFill>
          <a:ln/>
        </p:spPr>
      </p:sp>
      <p:sp>
        <p:nvSpPr>
          <p:cNvPr id="14" name="Shape 12"/>
          <p:cNvSpPr/>
          <p:nvPr/>
        </p:nvSpPr>
        <p:spPr>
          <a:xfrm>
            <a:off x="3291840" y="1965960"/>
            <a:ext cx="4389120" cy="420624"/>
          </a:xfrm>
          <a:prstGeom prst="roundRect">
            <a:avLst>
              <a:gd name="adj" fmla="val 10870"/>
            </a:avLst>
          </a:prstGeom>
          <a:solidFill>
            <a:schemeClr val="accent6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3401568" y="1965960"/>
            <a:ext cx="4389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55,724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7863840" y="1874520"/>
            <a:ext cx="3749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—</a:t>
            </a:r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2587752"/>
            <a:ext cx="2743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完全照判斷分流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3291840" y="2679192"/>
            <a:ext cx="4389120" cy="420624"/>
          </a:xfrm>
          <a:prstGeom prst="roundRect">
            <a:avLst>
              <a:gd name="adj" fmla="val 10870"/>
            </a:avLst>
          </a:prstGeom>
          <a:solidFill>
            <a:schemeClr val="tx2"/>
          </a:solidFill>
          <a:ln/>
        </p:spPr>
      </p:sp>
      <p:sp>
        <p:nvSpPr>
          <p:cNvPr id="19" name="Shape 17"/>
          <p:cNvSpPr/>
          <p:nvPr/>
        </p:nvSpPr>
        <p:spPr>
          <a:xfrm>
            <a:off x="3291840" y="2679192"/>
            <a:ext cx="3399906" cy="420624"/>
          </a:xfrm>
          <a:prstGeom prst="roundRect">
            <a:avLst>
              <a:gd name="adj" fmla="val 10870"/>
            </a:avLst>
          </a:prstGeom>
          <a:solidFill>
            <a:schemeClr val="accent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3401568" y="2679192"/>
            <a:ext cx="4389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43,165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7863840" y="2587752"/>
            <a:ext cx="3749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22.5%</a:t>
            </a:r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理論上限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3300984"/>
            <a:ext cx="2743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10/12 以前的規則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3291840" y="3392424"/>
            <a:ext cx="4389120" cy="420624"/>
          </a:xfrm>
          <a:prstGeom prst="roundRect">
            <a:avLst>
              <a:gd name="adj" fmla="val 10870"/>
            </a:avLst>
          </a:prstGeom>
          <a:solidFill>
            <a:schemeClr val="tx2"/>
          </a:solidFill>
          <a:ln/>
        </p:spPr>
      </p:sp>
      <p:sp>
        <p:nvSpPr>
          <p:cNvPr id="24" name="Shape 22"/>
          <p:cNvSpPr/>
          <p:nvPr/>
        </p:nvSpPr>
        <p:spPr>
          <a:xfrm>
            <a:off x="3291840" y="3392424"/>
            <a:ext cx="3011908" cy="420624"/>
          </a:xfrm>
          <a:prstGeom prst="roundRect">
            <a:avLst>
              <a:gd name="adj" fmla="val 10870"/>
            </a:avLst>
          </a:prstGeom>
          <a:solidFill>
            <a:schemeClr val="accent1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3401568" y="3392424"/>
            <a:ext cx="4389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38,239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7863840" y="3300984"/>
            <a:ext cx="3749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31.4%</a:t>
            </a:r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送對 15 題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4014216"/>
            <a:ext cx="2743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採用的規則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3291840" y="4105656"/>
            <a:ext cx="4389120" cy="420624"/>
          </a:xfrm>
          <a:prstGeom prst="roundRect">
            <a:avLst>
              <a:gd name="adj" fmla="val 10870"/>
            </a:avLst>
          </a:prstGeom>
          <a:solidFill>
            <a:schemeClr val="tx2"/>
          </a:solidFill>
          <a:ln/>
        </p:spPr>
      </p:sp>
      <p:sp>
        <p:nvSpPr>
          <p:cNvPr id="29" name="Shape 27"/>
          <p:cNvSpPr/>
          <p:nvPr/>
        </p:nvSpPr>
        <p:spPr>
          <a:xfrm>
            <a:off x="3291840" y="4105656"/>
            <a:ext cx="3277583" cy="420624"/>
          </a:xfrm>
          <a:prstGeom prst="roundRect">
            <a:avLst>
              <a:gd name="adj" fmla="val 10870"/>
            </a:avLst>
          </a:prstGeom>
          <a:solidFill>
            <a:schemeClr val="accent2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3401568" y="4105656"/>
            <a:ext cx="4389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41,612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7863840" y="4014216"/>
            <a:ext cx="3749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25.3%</a:t>
            </a:r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送對 18 題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548640" y="4727448"/>
            <a:ext cx="2743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字數門檻放寬到 500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3291840" y="4818888"/>
            <a:ext cx="4389120" cy="420624"/>
          </a:xfrm>
          <a:prstGeom prst="roundRect">
            <a:avLst>
              <a:gd name="adj" fmla="val 10870"/>
            </a:avLst>
          </a:prstGeom>
          <a:solidFill>
            <a:schemeClr val="tx2"/>
          </a:solidFill>
          <a:ln/>
        </p:spPr>
      </p:sp>
      <p:sp>
        <p:nvSpPr>
          <p:cNvPr id="34" name="Shape 32"/>
          <p:cNvSpPr/>
          <p:nvPr/>
        </p:nvSpPr>
        <p:spPr>
          <a:xfrm>
            <a:off x="3291840" y="4818888"/>
            <a:ext cx="1995362" cy="420624"/>
          </a:xfrm>
          <a:prstGeom prst="roundRect">
            <a:avLst>
              <a:gd name="adj" fmla="val 10870"/>
            </a:avLst>
          </a:prstGeom>
          <a:solidFill>
            <a:schemeClr val="accent3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3401568" y="4818888"/>
            <a:ext cx="4389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25,333</a:t>
            </a:r>
            <a:endParaRPr lang="en-US" sz="1600" dirty="0"/>
          </a:p>
        </p:txBody>
      </p:sp>
      <p:sp>
        <p:nvSpPr>
          <p:cNvPr id="36" name="Text 34"/>
          <p:cNvSpPr txBox="1"/>
          <p:nvPr/>
        </p:nvSpPr>
        <p:spPr>
          <a:xfrm>
            <a:off x="7863840" y="4727448"/>
            <a:ext cx="3749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54.5%</a:t>
            </a:r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最難的一題回答被截斷</a:t>
            </a:r>
            <a:endParaRPr lang="en-US" sz="1600" dirty="0"/>
          </a:p>
        </p:txBody>
      </p:sp>
      <p:sp>
        <p:nvSpPr>
          <p:cNvPr id="37" name="why-card"/>
          <p:cNvSpPr/>
          <p:nvPr/>
        </p:nvSpPr>
        <p:spPr>
          <a:xfrm>
            <a:off x="548640" y="5486400"/>
            <a:ext cx="11064240" cy="91440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777240" y="548640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多省的 29%，幾乎都來自同一題：把最難的題目送去便宜模型，回答被截斷。</a:t>
            </a:r>
            <a:endParaRPr lang="en-US" sz="1600" dirty="0"/>
          </a:p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我站在使用者這邊：在意的是回答是不是他要的，不是數字好看。所以選省 25.3% 的那一組。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261872" y="384048"/>
            <a:ext cx="7589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節費 ②｜簡單題越多，省越多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17043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25.3% 是簡單題只佔 65% 的情況；日常問題的比例通常更高</a:t>
            </a:r>
            <a:endParaRPr lang="en-US" sz="2000" dirty="0"/>
          </a:p>
        </p:txBody>
      </p:sp>
      <p:sp>
        <p:nvSpPr>
          <p:cNvPr id="4" name="agenda-number"/>
          <p:cNvSpPr/>
          <p:nvPr/>
        </p:nvSpPr>
        <p:spPr>
          <a:xfrm>
            <a:off x="548640" y="438912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4389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</a:t>
            </a:r>
            <a:endParaRPr lang="en-US" sz="1600" dirty="0"/>
          </a:p>
        </p:txBody>
      </p:sp>
      <p:sp>
        <p:nvSpPr>
          <p:cNvPr id="6" name="progress-dot"/>
          <p:cNvSpPr/>
          <p:nvPr/>
        </p:nvSpPr>
        <p:spPr>
          <a:xfrm>
            <a:off x="10323576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progress-dot"/>
          <p:cNvSpPr/>
          <p:nvPr/>
        </p:nvSpPr>
        <p:spPr>
          <a:xfrm>
            <a:off x="10561320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progress-dot"/>
          <p:cNvSpPr/>
          <p:nvPr/>
        </p:nvSpPr>
        <p:spPr>
          <a:xfrm>
            <a:off x="10799064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progress-dot"/>
          <p:cNvSpPr/>
          <p:nvPr/>
        </p:nvSpPr>
        <p:spPr>
          <a:xfrm>
            <a:off x="11036808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progress-dot"/>
          <p:cNvSpPr/>
          <p:nvPr/>
        </p:nvSpPr>
        <p:spPr>
          <a:xfrm>
            <a:off x="11274552" y="274320"/>
            <a:ext cx="128016" cy="12801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1" name="progress-dot"/>
          <p:cNvSpPr/>
          <p:nvPr/>
        </p:nvSpPr>
        <p:spPr>
          <a:xfrm>
            <a:off x="11512296" y="274320"/>
            <a:ext cx="128016" cy="128016"/>
          </a:xfrm>
          <a:prstGeom prst="ellipse">
            <a:avLst/>
          </a:prstGeom>
          <a:solidFill>
            <a:schemeClr val="accent6">
              <a:alpha val="60000"/>
            </a:schemeClr>
          </a:solidFill>
          <a:ln/>
        </p:spPr>
      </p:sp>
      <p:sp>
        <p:nvSpPr>
          <p:cNvPr id="12" name="share-card"/>
          <p:cNvSpPr/>
          <p:nvPr/>
        </p:nvSpPr>
        <p:spPr>
          <a:xfrm>
            <a:off x="548640" y="1920240"/>
            <a:ext cx="3474720" cy="3291840"/>
          </a:xfrm>
          <a:prstGeom prst="roundRect">
            <a:avLst>
              <a:gd name="adj" fmla="val 2778"/>
            </a:avLst>
          </a:prstGeom>
          <a:solidFill>
            <a:schemeClr val="tx2"/>
          </a:solidFill>
          <a:ln w="31750">
            <a:solidFill>
              <a:schemeClr val="accent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" y="21031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簡單題佔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242316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65%</a:t>
            </a:r>
            <a:endParaRPr lang="en-US" sz="40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32918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省下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361188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25.3%</a:t>
            </a:r>
            <a:endParaRPr lang="en-US" sz="48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" y="4572000"/>
            <a:ext cx="2377440" cy="411480"/>
          </a:xfrm>
          <a:prstGeom prst="roundRect">
            <a:avLst>
              <a:gd name="adj" fmla="val 17778"/>
            </a:avLst>
          </a:prstGeom>
          <a:solidFill>
            <a:schemeClr val="accent2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實測（20 題）</a:t>
            </a:r>
            <a:endParaRPr lang="en-US" sz="1600" dirty="0"/>
          </a:p>
        </p:txBody>
      </p:sp>
      <p:sp>
        <p:nvSpPr>
          <p:cNvPr id="18" name="share-card"/>
          <p:cNvSpPr/>
          <p:nvPr/>
        </p:nvSpPr>
        <p:spPr>
          <a:xfrm>
            <a:off x="4343400" y="1920240"/>
            <a:ext cx="3474720" cy="3291840"/>
          </a:xfrm>
          <a:prstGeom prst="roundRect">
            <a:avLst>
              <a:gd name="adj" fmla="val 2778"/>
            </a:avLst>
          </a:prstGeom>
          <a:solidFill>
            <a:schemeClr val="tx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4617720" y="21031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簡單題佔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4617720" y="242316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80%</a:t>
            </a:r>
            <a:endParaRPr lang="en-US" sz="4000" dirty="0"/>
          </a:p>
        </p:txBody>
      </p:sp>
      <p:sp>
        <p:nvSpPr>
          <p:cNvPr id="21" name="Text 19"/>
          <p:cNvSpPr txBox="1"/>
          <p:nvPr/>
        </p:nvSpPr>
        <p:spPr>
          <a:xfrm>
            <a:off x="4617720" y="32918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省下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4617720" y="361188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約 38%</a:t>
            </a:r>
            <a:endParaRPr lang="en-US" sz="4800" dirty="0"/>
          </a:p>
        </p:txBody>
      </p:sp>
      <p:sp>
        <p:nvSpPr>
          <p:cNvPr id="23" name="Text 21"/>
          <p:cNvSpPr txBox="1"/>
          <p:nvPr/>
        </p:nvSpPr>
        <p:spPr>
          <a:xfrm>
            <a:off x="4617720" y="4572000"/>
            <a:ext cx="2377440" cy="411480"/>
          </a:xfrm>
          <a:prstGeom prst="roundRect">
            <a:avLst>
              <a:gd name="adj" fmla="val 17778"/>
            </a:avLst>
          </a:prstGeom>
          <a:solidFill>
            <a:schemeClr val="accent6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推算・完全分流</a:t>
            </a:r>
            <a:endParaRPr lang="en-US" sz="1600" dirty="0"/>
          </a:p>
        </p:txBody>
      </p:sp>
      <p:sp>
        <p:nvSpPr>
          <p:cNvPr id="24" name="share-card"/>
          <p:cNvSpPr/>
          <p:nvPr/>
        </p:nvSpPr>
        <p:spPr>
          <a:xfrm>
            <a:off x="8138160" y="1920240"/>
            <a:ext cx="3474720" cy="3291840"/>
          </a:xfrm>
          <a:prstGeom prst="roundRect">
            <a:avLst>
              <a:gd name="adj" fmla="val 2778"/>
            </a:avLst>
          </a:prstGeom>
          <a:solidFill>
            <a:schemeClr val="tx2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412480" y="21031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簡單題佔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8412480" y="242316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90%</a:t>
            </a:r>
            <a:endParaRPr lang="en-US" sz="4000" dirty="0"/>
          </a:p>
        </p:txBody>
      </p:sp>
      <p:sp>
        <p:nvSpPr>
          <p:cNvPr id="27" name="Text 25"/>
          <p:cNvSpPr txBox="1"/>
          <p:nvPr/>
        </p:nvSpPr>
        <p:spPr>
          <a:xfrm>
            <a:off x="8412480" y="32918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省下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8412480" y="361188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約 57%</a:t>
            </a:r>
            <a:endParaRPr lang="en-US" sz="4800" dirty="0"/>
          </a:p>
        </p:txBody>
      </p:sp>
      <p:sp>
        <p:nvSpPr>
          <p:cNvPr id="29" name="Text 27"/>
          <p:cNvSpPr txBox="1"/>
          <p:nvPr/>
        </p:nvSpPr>
        <p:spPr>
          <a:xfrm>
            <a:off x="8412480" y="4572000"/>
            <a:ext cx="2377440" cy="411480"/>
          </a:xfrm>
          <a:prstGeom prst="roundRect">
            <a:avLst>
              <a:gd name="adj" fmla="val 17778"/>
            </a:avLst>
          </a:prstGeom>
          <a:solidFill>
            <a:schemeClr val="accent6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推算・完全分流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548640" y="54864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兩顆模型單價差 20 倍：每多一題簡單問題交給便宜模型，就多省一次 20 倍的價差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261872" y="384048"/>
            <a:ext cx="7589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節費 ②｜20 題長什麼樣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17043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超過 300 字，或含「分析、請比較、設計、除錯、design、debug…」→ 強模型</a:t>
            </a:r>
            <a:endParaRPr lang="en-US" sz="2000" dirty="0"/>
          </a:p>
        </p:txBody>
      </p:sp>
      <p:sp>
        <p:nvSpPr>
          <p:cNvPr id="4" name="agenda-number"/>
          <p:cNvSpPr/>
          <p:nvPr/>
        </p:nvSpPr>
        <p:spPr>
          <a:xfrm>
            <a:off x="548640" y="438912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4389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</a:t>
            </a:r>
            <a:endParaRPr lang="en-US" sz="1600" dirty="0"/>
          </a:p>
        </p:txBody>
      </p:sp>
      <p:sp>
        <p:nvSpPr>
          <p:cNvPr id="6" name="progress-dot"/>
          <p:cNvSpPr/>
          <p:nvPr/>
        </p:nvSpPr>
        <p:spPr>
          <a:xfrm>
            <a:off x="10323576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progress-dot"/>
          <p:cNvSpPr/>
          <p:nvPr/>
        </p:nvSpPr>
        <p:spPr>
          <a:xfrm>
            <a:off x="10561320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progress-dot"/>
          <p:cNvSpPr/>
          <p:nvPr/>
        </p:nvSpPr>
        <p:spPr>
          <a:xfrm>
            <a:off x="10799064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progress-dot"/>
          <p:cNvSpPr/>
          <p:nvPr/>
        </p:nvSpPr>
        <p:spPr>
          <a:xfrm>
            <a:off x="11036808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progress-dot"/>
          <p:cNvSpPr/>
          <p:nvPr/>
        </p:nvSpPr>
        <p:spPr>
          <a:xfrm>
            <a:off x="11274552" y="274320"/>
            <a:ext cx="128016" cy="12801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1" name="progress-dot"/>
          <p:cNvSpPr/>
          <p:nvPr/>
        </p:nvSpPr>
        <p:spPr>
          <a:xfrm>
            <a:off x="11512296" y="274320"/>
            <a:ext cx="128016" cy="128016"/>
          </a:xfrm>
          <a:prstGeom prst="ellipse">
            <a:avLst/>
          </a:prstGeom>
          <a:solidFill>
            <a:schemeClr val="accent6">
              <a:alpha val="60000"/>
            </a:schemeClr>
          </a:solidFill>
          <a:ln/>
        </p:spPr>
      </p:sp>
      <p:sp>
        <p:nvSpPr>
          <p:cNvPr id="12" name="q-card"/>
          <p:cNvSpPr/>
          <p:nvPr/>
        </p:nvSpPr>
        <p:spPr>
          <a:xfrm>
            <a:off x="548640" y="1783080"/>
            <a:ext cx="5394960" cy="4434840"/>
          </a:xfrm>
          <a:prstGeom prst="roundRect">
            <a:avLst>
              <a:gd name="adj" fmla="val 2062"/>
            </a:avLst>
          </a:prstGeom>
          <a:solidFill>
            <a:schemeClr val="tx1"/>
          </a:solidFill>
          <a:ln w="254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1520" y="187452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簡單題 13 題 → gpt-6-luna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731520" y="233172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・把「會議延到下週三」翻成英文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731520" y="2624328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・把這句話改得比較有禮貌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731520" y="2916936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・Excel 怎麼合併兩欄文字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731520" y="3209544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・寫一則提醒交週報的訊息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731520" y="3502152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・affect 和 effect 的差別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731520" y="379476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・五個部門聚餐的主題建議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731520" y="4087368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・HTTP 404 和 500 各代表什麼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731520" y="4379976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・寫一封改會議時間的短信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731520" y="4672584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・用三點整理一段公告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731520" y="4965192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・用白話說明什麼是雲端運算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731520" y="525780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・把一段很長的公告改寫得更簡潔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731520" y="5550408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・把一段 base64 decode 成文字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731520" y="5843016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・「帳號」和「賬號」哪個比較常用</a:t>
            </a:r>
            <a:endParaRPr lang="en-US" sz="1600" dirty="0"/>
          </a:p>
        </p:txBody>
      </p:sp>
      <p:sp>
        <p:nvSpPr>
          <p:cNvPr id="27" name="q-card"/>
          <p:cNvSpPr/>
          <p:nvPr/>
        </p:nvSpPr>
        <p:spPr>
          <a:xfrm>
            <a:off x="6309360" y="1783080"/>
            <a:ext cx="5303520" cy="4434840"/>
          </a:xfrm>
          <a:prstGeom prst="roundRect">
            <a:avLst>
              <a:gd name="adj" fmla="val 2062"/>
            </a:avLst>
          </a:prstGeom>
          <a:solidFill>
            <a:schemeClr val="tx1"/>
          </a:solidFill>
          <a:ln w="25400">
            <a:solidFill>
              <a:schemeClr val="accent2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492240" y="187452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複雜題 7 題 → gpt-6-sol</a:t>
            </a:r>
            <a:endParaRPr lang="en-US" sz="2000" dirty="0"/>
          </a:p>
        </p:txBody>
      </p:sp>
      <p:sp>
        <p:nvSpPr>
          <p:cNvPr id="29" name="Text 27"/>
          <p:cNvSpPr txBox="1"/>
          <p:nvPr/>
        </p:nvSpPr>
        <p:spPr>
          <a:xfrm>
            <a:off x="6492240" y="2331720"/>
            <a:ext cx="49377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・分析客服改成 AI 的風險與準備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6492240" y="2761488"/>
            <a:ext cx="49377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・比較 PostgreSQL 和 DynamoDB 存訂單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6492240" y="3191256"/>
            <a:ext cx="49377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・設計員工請假系統的資料表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6492240" y="3621024"/>
            <a:ext cx="49377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・這段 Python 為什麼跑不停，請除錯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6492240" y="4050792"/>
            <a:ext cx="49377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・Design a rate limiter（英文）</a:t>
            </a:r>
            <a:endParaRPr lang="en-US" sz="1600" dirty="0"/>
          </a:p>
        </p:txBody>
      </p:sp>
      <p:sp>
        <p:nvSpPr>
          <p:cNvPr id="34" name="Text 32"/>
          <p:cNvSpPr txBox="1"/>
          <p:nvPr/>
        </p:nvSpPr>
        <p:spPr>
          <a:xfrm>
            <a:off x="6492240" y="4480560"/>
            <a:ext cx="49377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・訂單服務晚上尖峰逾時，從哪查起</a:t>
            </a:r>
            <a:endParaRPr lang="en-US" sz="1600" dirty="0"/>
          </a:p>
        </p:txBody>
      </p:sp>
      <p:sp>
        <p:nvSpPr>
          <p:cNvPr id="35" name="Text 33"/>
          <p:cNvSpPr txBox="1"/>
          <p:nvPr/>
        </p:nvSpPr>
        <p:spPr>
          <a:xfrm>
            <a:off x="6492240" y="4910328"/>
            <a:ext cx="49377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・五十人電商公司怎麼搬上雲端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261872" y="384048"/>
            <a:ext cx="7589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技術實踐｜節費 ③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17043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強模型塞車，自動改派便宜模型；限流是模擬的（畫面標 SIMULATION），其餘都是真的</a:t>
            </a:r>
            <a:endParaRPr lang="en-US" sz="2000" dirty="0"/>
          </a:p>
        </p:txBody>
      </p:sp>
      <p:sp>
        <p:nvSpPr>
          <p:cNvPr id="4" name="agenda-number"/>
          <p:cNvSpPr/>
          <p:nvPr/>
        </p:nvSpPr>
        <p:spPr>
          <a:xfrm>
            <a:off x="548640" y="438912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4389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</a:t>
            </a:r>
            <a:endParaRPr lang="en-US" sz="1600" dirty="0"/>
          </a:p>
        </p:txBody>
      </p:sp>
      <p:sp>
        <p:nvSpPr>
          <p:cNvPr id="6" name="progress-dot"/>
          <p:cNvSpPr/>
          <p:nvPr/>
        </p:nvSpPr>
        <p:spPr>
          <a:xfrm>
            <a:off x="10323576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progress-dot"/>
          <p:cNvSpPr/>
          <p:nvPr/>
        </p:nvSpPr>
        <p:spPr>
          <a:xfrm>
            <a:off x="10561320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progress-dot"/>
          <p:cNvSpPr/>
          <p:nvPr/>
        </p:nvSpPr>
        <p:spPr>
          <a:xfrm>
            <a:off x="10799064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progress-dot"/>
          <p:cNvSpPr/>
          <p:nvPr/>
        </p:nvSpPr>
        <p:spPr>
          <a:xfrm>
            <a:off x="11036808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progress-dot"/>
          <p:cNvSpPr/>
          <p:nvPr/>
        </p:nvSpPr>
        <p:spPr>
          <a:xfrm>
            <a:off x="11274552" y="274320"/>
            <a:ext cx="128016" cy="12801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1" name="progress-dot"/>
          <p:cNvSpPr/>
          <p:nvPr/>
        </p:nvSpPr>
        <p:spPr>
          <a:xfrm>
            <a:off x="11512296" y="274320"/>
            <a:ext cx="128016" cy="128016"/>
          </a:xfrm>
          <a:prstGeom prst="ellipse">
            <a:avLst/>
          </a:prstGeom>
          <a:solidFill>
            <a:schemeClr val="accent6">
              <a:alpha val="60000"/>
            </a:schemeClr>
          </a:solidFill>
          <a:ln/>
        </p:spPr>
      </p:sp>
      <p:pic>
        <p:nvPicPr>
          <p:cNvPr id="12" name="Image 0" descr="/tmp/claude-0/-home-claude/96d60298-d9d1-5ce2-b774-39e8aefb4386/scratchpad/assets/s07-cr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83080"/>
            <a:ext cx="11064240" cy="3922776"/>
          </a:xfrm>
          <a:prstGeom prst="rect">
            <a:avLst/>
          </a:prstGeom>
        </p:spPr>
      </p:pic>
      <p:sp>
        <p:nvSpPr>
          <p:cNvPr id="13" name="ring"/>
          <p:cNvSpPr/>
          <p:nvPr/>
        </p:nvSpPr>
        <p:spPr>
          <a:xfrm>
            <a:off x="571739" y="2029465"/>
            <a:ext cx="5174091" cy="331080"/>
          </a:xfrm>
          <a:prstGeom prst="roundRect">
            <a:avLst>
              <a:gd name="adj" fmla="val 11047"/>
            </a:avLst>
          </a:prstGeom>
          <a:noFill/>
          <a:ln w="22225">
            <a:solidFill>
              <a:schemeClr val="accent1"/>
            </a:solidFill>
            <a:prstDash val="solid"/>
          </a:ln>
        </p:spPr>
      </p:sp>
      <p:sp>
        <p:nvSpPr>
          <p:cNvPr id="14" name="ring"/>
          <p:cNvSpPr/>
          <p:nvPr/>
        </p:nvSpPr>
        <p:spPr>
          <a:xfrm>
            <a:off x="6107708" y="4193036"/>
            <a:ext cx="3179910" cy="916245"/>
          </a:xfrm>
          <a:prstGeom prst="roundRect">
            <a:avLst>
              <a:gd name="adj" fmla="val 3992"/>
            </a:avLst>
          </a:prstGeom>
          <a:noFill/>
          <a:ln w="22225">
            <a:solidFill>
              <a:schemeClr val="accent2"/>
            </a:solidFill>
            <a:prstDash val="solid"/>
          </a:ln>
        </p:spPr>
      </p:sp>
      <p:sp>
        <p:nvSpPr>
          <p:cNvPr id="15" name="ring"/>
          <p:cNvSpPr/>
          <p:nvPr/>
        </p:nvSpPr>
        <p:spPr>
          <a:xfrm>
            <a:off x="6107708" y="5532756"/>
            <a:ext cx="2063477" cy="153991"/>
          </a:xfrm>
          <a:prstGeom prst="roundRect">
            <a:avLst>
              <a:gd name="adj" fmla="val 23752"/>
            </a:avLst>
          </a:prstGeom>
          <a:noFill/>
          <a:ln w="22225">
            <a:solidFill>
              <a:schemeClr val="accent2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48640" y="580644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同一句複雜題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原本該派給 gpt-6-sol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4343400" y="580644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429 → 改派 gpt-6-luna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稽核記 fallback: True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8138160" y="580644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65 micro-USD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回答照給，成本照便宜模型算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261872" y="384048"/>
            <a:ext cx="7589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技術實踐｜個資 ①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17043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號碼在離開公司之前，就被換掉</a:t>
            </a:r>
            <a:endParaRPr lang="en-US" sz="2000" dirty="0"/>
          </a:p>
        </p:txBody>
      </p:sp>
      <p:sp>
        <p:nvSpPr>
          <p:cNvPr id="4" name="agenda-number"/>
          <p:cNvSpPr/>
          <p:nvPr/>
        </p:nvSpPr>
        <p:spPr>
          <a:xfrm>
            <a:off x="548640" y="438912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4389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</a:t>
            </a:r>
            <a:endParaRPr lang="en-US" sz="1600" dirty="0"/>
          </a:p>
        </p:txBody>
      </p:sp>
      <p:sp>
        <p:nvSpPr>
          <p:cNvPr id="6" name="progress-dot"/>
          <p:cNvSpPr/>
          <p:nvPr/>
        </p:nvSpPr>
        <p:spPr>
          <a:xfrm>
            <a:off x="10323576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progress-dot"/>
          <p:cNvSpPr/>
          <p:nvPr/>
        </p:nvSpPr>
        <p:spPr>
          <a:xfrm>
            <a:off x="10561320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progress-dot"/>
          <p:cNvSpPr/>
          <p:nvPr/>
        </p:nvSpPr>
        <p:spPr>
          <a:xfrm>
            <a:off x="10799064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progress-dot"/>
          <p:cNvSpPr/>
          <p:nvPr/>
        </p:nvSpPr>
        <p:spPr>
          <a:xfrm>
            <a:off x="11036808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progress-dot"/>
          <p:cNvSpPr/>
          <p:nvPr/>
        </p:nvSpPr>
        <p:spPr>
          <a:xfrm>
            <a:off x="11274552" y="274320"/>
            <a:ext cx="128016" cy="12801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1" name="progress-dot"/>
          <p:cNvSpPr/>
          <p:nvPr/>
        </p:nvSpPr>
        <p:spPr>
          <a:xfrm>
            <a:off x="11512296" y="274320"/>
            <a:ext cx="128016" cy="128016"/>
          </a:xfrm>
          <a:prstGeom prst="ellipse">
            <a:avLst/>
          </a:prstGeom>
          <a:solidFill>
            <a:schemeClr val="accent6">
              <a:alpha val="60000"/>
            </a:schemeClr>
          </a:solidFill>
          <a:ln/>
        </p:spPr>
      </p:sp>
      <p:sp>
        <p:nvSpPr>
          <p:cNvPr id="12" name="demo-frame"/>
          <p:cNvSpPr/>
          <p:nvPr/>
        </p:nvSpPr>
        <p:spPr>
          <a:xfrm>
            <a:off x="548640" y="1920240"/>
            <a:ext cx="6949440" cy="4023360"/>
          </a:xfrm>
          <a:prstGeom prst="roundRect">
            <a:avLst>
              <a:gd name="adj" fmla="val 2273"/>
            </a:avLst>
          </a:prstGeom>
          <a:solidFill>
            <a:schemeClr val="accent1">
              <a:alpha val="18000"/>
            </a:schemeClr>
          </a:solidFill>
          <a:ln/>
        </p:spPr>
      </p:sp>
      <p:sp>
        <p:nvSpPr>
          <p:cNvPr id="13" name="Shape 11"/>
          <p:cNvSpPr/>
          <p:nvPr/>
        </p:nvSpPr>
        <p:spPr>
          <a:xfrm>
            <a:off x="749808" y="2103120"/>
            <a:ext cx="365760" cy="36576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2194560"/>
            <a:ext cx="182880" cy="182880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1207008" y="2103120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Demo 錄影：請 AI 原樣重複這句話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868680" y="256032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請 AI 把這句話原樣重複一次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868680" y="2971800"/>
            <a:ext cx="4754880" cy="658368"/>
          </a:xfrm>
          <a:prstGeom prst="roundRect">
            <a:avLst>
              <a:gd name="adj" fmla="val 11111"/>
            </a:avLst>
          </a:prstGeom>
          <a:solidFill>
            <a:schemeClr val="bg1"/>
          </a:solidFill>
          <a:ln/>
        </p:spPr>
        <p:txBody>
          <a:bodyPr wrap="square" lIns="177800" tIns="177800" rIns="177800" bIns="17780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 ID is </a:t>
            </a:r>
            <a:pPr algn="l" indent="0" marL="0">
              <a:buNone/>
            </a:pPr>
            <a:r>
              <a:rPr lang="en-US" sz="2200" b="1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A123456780</a:t>
            </a:r>
            <a:endParaRPr lang="en-US" sz="2200" dirty="0"/>
          </a:p>
        </p:txBody>
      </p:sp>
      <p:sp>
        <p:nvSpPr>
          <p:cNvPr id="18" name="Text 15"/>
          <p:cNvSpPr txBox="1"/>
          <p:nvPr/>
        </p:nvSpPr>
        <p:spPr>
          <a:xfrm>
            <a:off x="2194560" y="3794760"/>
            <a:ext cx="3474720" cy="457200"/>
          </a:xfrm>
          <a:prstGeom prst="roundRect">
            <a:avLst>
              <a:gd name="adj" fmla="val 16000"/>
            </a:avLst>
          </a:prstGeom>
          <a:solidFill>
            <a:schemeClr val="accent2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閘道先把號碼換成標籤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2423160" y="43891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回覆的是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2423160" y="4800600"/>
            <a:ext cx="4754880" cy="658368"/>
          </a:xfrm>
          <a:prstGeom prst="roundRect">
            <a:avLst>
              <a:gd name="adj" fmla="val 11111"/>
            </a:avLst>
          </a:prstGeom>
          <a:solidFill>
            <a:schemeClr val="tx1"/>
          </a:solidFill>
          <a:ln w="25400">
            <a:solidFill>
              <a:schemeClr val="accent1"/>
            </a:solidFill>
          </a:ln>
        </p:spPr>
        <p:txBody>
          <a:bodyPr wrap="square" lIns="177800" tIns="177800" rIns="177800" bIns="17780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 ID is </a:t>
            </a:r>
            <a:pPr algn="l" indent="0" marL="0">
              <a:buNone/>
            </a:pPr>
            <a:r>
              <a:rPr lang="en-US" sz="22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[TW_ID]</a:t>
            </a:r>
            <a:endParaRPr lang="en-US" sz="2200" dirty="0"/>
          </a:p>
        </p:txBody>
      </p:sp>
      <p:sp>
        <p:nvSpPr>
          <p:cNvPr id="21" name="Text 18"/>
          <p:cNvSpPr txBox="1"/>
          <p:nvPr/>
        </p:nvSpPr>
        <p:spPr>
          <a:xfrm>
            <a:off x="7909560" y="1920240"/>
            <a:ext cx="3703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 類</a:t>
            </a:r>
            <a:endParaRPr lang="en-US" sz="6000" dirty="0"/>
          </a:p>
        </p:txBody>
      </p:sp>
      <p:sp>
        <p:nvSpPr>
          <p:cNvPr id="22" name="Text 19"/>
          <p:cNvSpPr txBox="1"/>
          <p:nvPr/>
        </p:nvSpPr>
        <p:spPr>
          <a:xfrm>
            <a:off x="7909560" y="2971800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送出前就遮罩的個資</a:t>
            </a:r>
            <a:endParaRPr lang="en-US" sz="1600" dirty="0"/>
          </a:p>
        </p:txBody>
      </p:sp>
      <p:sp>
        <p:nvSpPr>
          <p:cNvPr id="23" name="pii-kind"/>
          <p:cNvSpPr/>
          <p:nvPr/>
        </p:nvSpPr>
        <p:spPr>
          <a:xfrm>
            <a:off x="7909560" y="3474720"/>
            <a:ext cx="1783080" cy="457200"/>
          </a:xfrm>
          <a:prstGeom prst="roundRect">
            <a:avLst>
              <a:gd name="adj" fmla="val 20000"/>
            </a:avLst>
          </a:prstGeom>
          <a:solidFill>
            <a:schemeClr val="tx2"/>
          </a:solidFill>
          <a:ln/>
        </p:spPr>
      </p:sp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37576" y="3566160"/>
            <a:ext cx="274320" cy="274320"/>
          </a:xfrm>
          <a:prstGeom prst="rect">
            <a:avLst/>
          </a:prstGeom>
        </p:spPr>
      </p:pic>
      <p:sp>
        <p:nvSpPr>
          <p:cNvPr id="25" name="Text 21"/>
          <p:cNvSpPr txBox="1"/>
          <p:nvPr/>
        </p:nvSpPr>
        <p:spPr>
          <a:xfrm>
            <a:off x="8412480" y="347472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身分證</a:t>
            </a:r>
            <a:endParaRPr lang="en-US" sz="1600" dirty="0"/>
          </a:p>
        </p:txBody>
      </p:sp>
      <p:sp>
        <p:nvSpPr>
          <p:cNvPr id="26" name="pii-kind"/>
          <p:cNvSpPr/>
          <p:nvPr/>
        </p:nvSpPr>
        <p:spPr>
          <a:xfrm>
            <a:off x="9784080" y="3474720"/>
            <a:ext cx="1783080" cy="457200"/>
          </a:xfrm>
          <a:prstGeom prst="roundRect">
            <a:avLst>
              <a:gd name="adj" fmla="val 20000"/>
            </a:avLst>
          </a:prstGeom>
          <a:solidFill>
            <a:schemeClr val="tx2"/>
          </a:solidFill>
          <a:ln/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12096" y="3566160"/>
            <a:ext cx="274320" cy="274320"/>
          </a:xfrm>
          <a:prstGeom prst="rect">
            <a:avLst/>
          </a:prstGeom>
        </p:spPr>
      </p:pic>
      <p:sp>
        <p:nvSpPr>
          <p:cNvPr id="28" name="Text 23"/>
          <p:cNvSpPr txBox="1"/>
          <p:nvPr/>
        </p:nvSpPr>
        <p:spPr>
          <a:xfrm>
            <a:off x="10287000" y="347472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手機</a:t>
            </a:r>
            <a:endParaRPr lang="en-US" sz="1600" dirty="0"/>
          </a:p>
        </p:txBody>
      </p:sp>
      <p:sp>
        <p:nvSpPr>
          <p:cNvPr id="29" name="pii-kind"/>
          <p:cNvSpPr/>
          <p:nvPr/>
        </p:nvSpPr>
        <p:spPr>
          <a:xfrm>
            <a:off x="7909560" y="4023360"/>
            <a:ext cx="1783080" cy="457200"/>
          </a:xfrm>
          <a:prstGeom prst="roundRect">
            <a:avLst>
              <a:gd name="adj" fmla="val 20000"/>
            </a:avLst>
          </a:prstGeom>
          <a:solidFill>
            <a:schemeClr val="tx2"/>
          </a:solidFill>
          <a:ln/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37576" y="4114800"/>
            <a:ext cx="274320" cy="274320"/>
          </a:xfrm>
          <a:prstGeom prst="rect">
            <a:avLst/>
          </a:prstGeom>
        </p:spPr>
      </p:pic>
      <p:sp>
        <p:nvSpPr>
          <p:cNvPr id="31" name="Text 25"/>
          <p:cNvSpPr txBox="1"/>
          <p:nvPr/>
        </p:nvSpPr>
        <p:spPr>
          <a:xfrm>
            <a:off x="8412480" y="402336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Email</a:t>
            </a:r>
            <a:endParaRPr lang="en-US" sz="1600" dirty="0"/>
          </a:p>
        </p:txBody>
      </p:sp>
      <p:sp>
        <p:nvSpPr>
          <p:cNvPr id="32" name="pii-kind"/>
          <p:cNvSpPr/>
          <p:nvPr/>
        </p:nvSpPr>
        <p:spPr>
          <a:xfrm>
            <a:off x="9784080" y="4023360"/>
            <a:ext cx="1783080" cy="457200"/>
          </a:xfrm>
          <a:prstGeom prst="roundRect">
            <a:avLst>
              <a:gd name="adj" fmla="val 20000"/>
            </a:avLst>
          </a:prstGeom>
          <a:solidFill>
            <a:schemeClr val="tx2"/>
          </a:solidFill>
          <a:ln/>
        </p:spPr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12096" y="4114800"/>
            <a:ext cx="274320" cy="274320"/>
          </a:xfrm>
          <a:prstGeom prst="rect">
            <a:avLst/>
          </a:prstGeom>
        </p:spPr>
      </p:pic>
      <p:sp>
        <p:nvSpPr>
          <p:cNvPr id="34" name="Text 27"/>
          <p:cNvSpPr txBox="1"/>
          <p:nvPr/>
        </p:nvSpPr>
        <p:spPr>
          <a:xfrm>
            <a:off x="10287000" y="402336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信用卡</a:t>
            </a:r>
            <a:endParaRPr lang="en-US" sz="1600" dirty="0"/>
          </a:p>
        </p:txBody>
      </p:sp>
      <p:sp>
        <p:nvSpPr>
          <p:cNvPr id="35" name="Shape 28"/>
          <p:cNvSpPr/>
          <p:nvPr/>
        </p:nvSpPr>
        <p:spPr>
          <a:xfrm>
            <a:off x="7909560" y="4846320"/>
            <a:ext cx="685800" cy="68580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3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81010" y="5017770"/>
            <a:ext cx="342900" cy="342900"/>
          </a:xfrm>
          <a:prstGeom prst="rect">
            <a:avLst/>
          </a:prstGeom>
        </p:spPr>
      </p:pic>
      <p:sp>
        <p:nvSpPr>
          <p:cNvPr id="37" name="Text 29"/>
          <p:cNvSpPr txBox="1"/>
          <p:nvPr/>
        </p:nvSpPr>
        <p:spPr>
          <a:xfrm>
            <a:off x="8732520" y="4754880"/>
            <a:ext cx="2880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模型根本沒看過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真的號碼留在公司這一側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261872" y="384048"/>
            <a:ext cx="7589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技術實踐｜個資 ②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17043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紀錄裡，也查不到原文</a:t>
            </a:r>
            <a:endParaRPr lang="en-US" sz="2000" dirty="0"/>
          </a:p>
        </p:txBody>
      </p:sp>
      <p:sp>
        <p:nvSpPr>
          <p:cNvPr id="4" name="agenda-number"/>
          <p:cNvSpPr/>
          <p:nvPr/>
        </p:nvSpPr>
        <p:spPr>
          <a:xfrm>
            <a:off x="548640" y="438912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4389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</a:t>
            </a:r>
            <a:endParaRPr lang="en-US" sz="1600" dirty="0"/>
          </a:p>
        </p:txBody>
      </p:sp>
      <p:sp>
        <p:nvSpPr>
          <p:cNvPr id="6" name="progress-dot"/>
          <p:cNvSpPr/>
          <p:nvPr/>
        </p:nvSpPr>
        <p:spPr>
          <a:xfrm>
            <a:off x="10323576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progress-dot"/>
          <p:cNvSpPr/>
          <p:nvPr/>
        </p:nvSpPr>
        <p:spPr>
          <a:xfrm>
            <a:off x="10561320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progress-dot"/>
          <p:cNvSpPr/>
          <p:nvPr/>
        </p:nvSpPr>
        <p:spPr>
          <a:xfrm>
            <a:off x="10799064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progress-dot"/>
          <p:cNvSpPr/>
          <p:nvPr/>
        </p:nvSpPr>
        <p:spPr>
          <a:xfrm>
            <a:off x="11036808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progress-dot"/>
          <p:cNvSpPr/>
          <p:nvPr/>
        </p:nvSpPr>
        <p:spPr>
          <a:xfrm>
            <a:off x="11274552" y="274320"/>
            <a:ext cx="128016" cy="12801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1" name="progress-dot"/>
          <p:cNvSpPr/>
          <p:nvPr/>
        </p:nvSpPr>
        <p:spPr>
          <a:xfrm>
            <a:off x="11512296" y="274320"/>
            <a:ext cx="128016" cy="128016"/>
          </a:xfrm>
          <a:prstGeom prst="ellipse">
            <a:avLst/>
          </a:prstGeom>
          <a:solidFill>
            <a:schemeClr val="accent6">
              <a:alpha val="60000"/>
            </a:schemeClr>
          </a:solidFill>
          <a:ln/>
        </p:spPr>
      </p:sp>
      <p:pic>
        <p:nvPicPr>
          <p:cNvPr id="12" name="Image 0" descr="/tmp/claude-0/-home-claude/96d60298-d9d1-5ce2-b774-39e8aefb4386/scratchpad/assets/s04-t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28800"/>
            <a:ext cx="5486400" cy="1207008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6309360" y="1828800"/>
            <a:ext cx="530352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上：送出含假身分證字號的句子，HTTP 200</a:t>
            </a:r>
            <a:endParaRPr lang="en-US" sz="1600" dirty="0"/>
          </a:p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下：回答、稽核紀錄、搜尋原號碼</a:t>
            </a:r>
            <a:endParaRPr lang="en-US" sz="1600" dirty="0"/>
          </a:p>
        </p:txBody>
      </p:sp>
      <p:pic>
        <p:nvPicPr>
          <p:cNvPr id="14" name="Image 1" descr="/tmp/claude-0/-home-claude/96d60298-d9d1-5ce2-b774-39e8aefb4386/scratchpad/assets/s04-bo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200400"/>
            <a:ext cx="11064240" cy="3154680"/>
          </a:xfrm>
          <a:prstGeom prst="rect">
            <a:avLst/>
          </a:prstGeom>
        </p:spPr>
      </p:pic>
      <p:sp>
        <p:nvSpPr>
          <p:cNvPr id="15" name="ring"/>
          <p:cNvSpPr/>
          <p:nvPr/>
        </p:nvSpPr>
        <p:spPr>
          <a:xfrm>
            <a:off x="6855257" y="3366364"/>
            <a:ext cx="3872484" cy="221285"/>
          </a:xfrm>
          <a:prstGeom prst="roundRect">
            <a:avLst>
              <a:gd name="adj" fmla="val 16529"/>
            </a:avLst>
          </a:prstGeom>
          <a:noFill/>
          <a:ln w="22225">
            <a:solidFill>
              <a:schemeClr val="accent2"/>
            </a:solidFill>
            <a:prstDash val="solid"/>
          </a:ln>
        </p:spPr>
      </p:sp>
      <p:sp>
        <p:nvSpPr>
          <p:cNvPr id="16" name="ring"/>
          <p:cNvSpPr/>
          <p:nvPr/>
        </p:nvSpPr>
        <p:spPr>
          <a:xfrm>
            <a:off x="576301" y="4815779"/>
            <a:ext cx="4232072" cy="232349"/>
          </a:xfrm>
          <a:prstGeom prst="roundRect">
            <a:avLst>
              <a:gd name="adj" fmla="val 15742"/>
            </a:avLst>
          </a:prstGeom>
          <a:noFill/>
          <a:ln w="22225">
            <a:solidFill>
              <a:schemeClr val="accent2"/>
            </a:solidFill>
            <a:prstDash val="solid"/>
          </a:ln>
        </p:spPr>
      </p:sp>
      <p:sp>
        <p:nvSpPr>
          <p:cNvPr id="17" name="ring"/>
          <p:cNvSpPr/>
          <p:nvPr/>
        </p:nvSpPr>
        <p:spPr>
          <a:xfrm>
            <a:off x="576301" y="5756239"/>
            <a:ext cx="5891708" cy="320863"/>
          </a:xfrm>
          <a:prstGeom prst="roundRect">
            <a:avLst>
              <a:gd name="adj" fmla="val 11399"/>
            </a:avLst>
          </a:prstGeom>
          <a:noFill/>
          <a:ln w="22225">
            <a:solidFill>
              <a:schemeClr val="accent5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548640" y="640080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橘框：AI 的回答和稽核紀錄裡，都只有 [TW_ID]，沒有號碼　　</a:t>
            </a:r>
            <a:pPr indent="0" marL="0">
              <a:buNone/>
            </a:pPr>
            <a:r>
              <a:rPr lang="en-US" sz="1600" b="1" dirty="0">
                <a:solidFill>
                  <a:schemeClr val="accent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綠框：拿原本的號碼去搜，0 筆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261872" y="384048"/>
            <a:ext cx="7589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技術實踐｜額度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17043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用完就擋，最多只燒掉自己那一份</a:t>
            </a:r>
            <a:endParaRPr lang="en-US" sz="2000" dirty="0"/>
          </a:p>
        </p:txBody>
      </p:sp>
      <p:sp>
        <p:nvSpPr>
          <p:cNvPr id="4" name="agenda-number"/>
          <p:cNvSpPr/>
          <p:nvPr/>
        </p:nvSpPr>
        <p:spPr>
          <a:xfrm>
            <a:off x="548640" y="438912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4389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</a:t>
            </a:r>
            <a:endParaRPr lang="en-US" sz="1600" dirty="0"/>
          </a:p>
        </p:txBody>
      </p:sp>
      <p:sp>
        <p:nvSpPr>
          <p:cNvPr id="6" name="progress-dot"/>
          <p:cNvSpPr/>
          <p:nvPr/>
        </p:nvSpPr>
        <p:spPr>
          <a:xfrm>
            <a:off x="10323576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progress-dot"/>
          <p:cNvSpPr/>
          <p:nvPr/>
        </p:nvSpPr>
        <p:spPr>
          <a:xfrm>
            <a:off x="10561320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progress-dot"/>
          <p:cNvSpPr/>
          <p:nvPr/>
        </p:nvSpPr>
        <p:spPr>
          <a:xfrm>
            <a:off x="10799064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progress-dot"/>
          <p:cNvSpPr/>
          <p:nvPr/>
        </p:nvSpPr>
        <p:spPr>
          <a:xfrm>
            <a:off x="11036808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progress-dot"/>
          <p:cNvSpPr/>
          <p:nvPr/>
        </p:nvSpPr>
        <p:spPr>
          <a:xfrm>
            <a:off x="11274552" y="274320"/>
            <a:ext cx="128016" cy="12801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1" name="progress-dot"/>
          <p:cNvSpPr/>
          <p:nvPr/>
        </p:nvSpPr>
        <p:spPr>
          <a:xfrm>
            <a:off x="11512296" y="274320"/>
            <a:ext cx="128016" cy="128016"/>
          </a:xfrm>
          <a:prstGeom prst="ellipse">
            <a:avLst/>
          </a:prstGeom>
          <a:solidFill>
            <a:schemeClr val="accent6">
              <a:alpha val="60000"/>
            </a:schemeClr>
          </a:solidFill>
          <a:ln/>
        </p:spPr>
      </p:sp>
      <p:sp>
        <p:nvSpPr>
          <p:cNvPr id="12" name="demo-frame"/>
          <p:cNvSpPr/>
          <p:nvPr/>
        </p:nvSpPr>
        <p:spPr>
          <a:xfrm>
            <a:off x="548640" y="1920240"/>
            <a:ext cx="6949440" cy="4023360"/>
          </a:xfrm>
          <a:prstGeom prst="roundRect">
            <a:avLst>
              <a:gd name="adj" fmla="val 2273"/>
            </a:avLst>
          </a:prstGeom>
          <a:solidFill>
            <a:schemeClr val="accent1">
              <a:alpha val="18000"/>
            </a:schemeClr>
          </a:solidFill>
          <a:ln/>
        </p:spPr>
      </p:sp>
      <p:sp>
        <p:nvSpPr>
          <p:cNvPr id="13" name="Shape 11"/>
          <p:cNvSpPr/>
          <p:nvPr/>
        </p:nvSpPr>
        <p:spPr>
          <a:xfrm>
            <a:off x="749808" y="2103120"/>
            <a:ext cx="365760" cy="36576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2194560"/>
            <a:ext cx="182880" cy="182880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1207008" y="2103120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Demo 錄影：額度用完被擋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868680" y="2514600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alice 的月額度 1,000（故意設很小）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868680" y="301752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609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1920240" y="3081528"/>
            <a:ext cx="4572000" cy="256032"/>
          </a:xfrm>
          <a:prstGeom prst="roundRect">
            <a:avLst>
              <a:gd name="adj" fmla="val 17857"/>
            </a:avLst>
          </a:prstGeom>
          <a:solidFill>
            <a:schemeClr val="tx1"/>
          </a:solidFill>
          <a:ln/>
        </p:spPr>
      </p:sp>
      <p:sp>
        <p:nvSpPr>
          <p:cNvPr id="19" name="Shape 16"/>
          <p:cNvSpPr/>
          <p:nvPr/>
        </p:nvSpPr>
        <p:spPr>
          <a:xfrm>
            <a:off x="1920240" y="3081528"/>
            <a:ext cx="2531225" cy="256032"/>
          </a:xfrm>
          <a:prstGeom prst="roundRect">
            <a:avLst>
              <a:gd name="adj" fmla="val 17857"/>
            </a:avLst>
          </a:prstGeom>
          <a:solidFill>
            <a:schemeClr val="accent1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868680" y="356616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818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1920240" y="3630168"/>
            <a:ext cx="4572000" cy="256032"/>
          </a:xfrm>
          <a:prstGeom prst="roundRect">
            <a:avLst>
              <a:gd name="adj" fmla="val 17857"/>
            </a:avLst>
          </a:prstGeom>
          <a:solidFill>
            <a:schemeClr val="tx1"/>
          </a:solidFill>
          <a:ln/>
        </p:spPr>
      </p:sp>
      <p:sp>
        <p:nvSpPr>
          <p:cNvPr id="22" name="Shape 19"/>
          <p:cNvSpPr/>
          <p:nvPr/>
        </p:nvSpPr>
        <p:spPr>
          <a:xfrm>
            <a:off x="1920240" y="3630168"/>
            <a:ext cx="3399905" cy="256032"/>
          </a:xfrm>
          <a:prstGeom prst="roundRect">
            <a:avLst>
              <a:gd name="adj" fmla="val 17857"/>
            </a:avLst>
          </a:prstGeom>
          <a:solidFill>
            <a:schemeClr val="accent2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868680" y="411480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1,039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1920240" y="4178808"/>
            <a:ext cx="4572000" cy="256032"/>
          </a:xfrm>
          <a:prstGeom prst="roundRect">
            <a:avLst>
              <a:gd name="adj" fmla="val 17857"/>
            </a:avLst>
          </a:prstGeom>
          <a:solidFill>
            <a:schemeClr val="tx1"/>
          </a:solidFill>
          <a:ln/>
        </p:spPr>
      </p:sp>
      <p:sp>
        <p:nvSpPr>
          <p:cNvPr id="25" name="Shape 22"/>
          <p:cNvSpPr/>
          <p:nvPr/>
        </p:nvSpPr>
        <p:spPr>
          <a:xfrm>
            <a:off x="1920240" y="4178808"/>
            <a:ext cx="4318462" cy="256032"/>
          </a:xfrm>
          <a:prstGeom prst="roundRect">
            <a:avLst>
              <a:gd name="adj" fmla="val 17857"/>
            </a:avLst>
          </a:prstGeom>
          <a:solidFill>
            <a:schemeClr val="accent3"/>
          </a:solidFill>
          <a:ln/>
        </p:spPr>
      </p:sp>
      <p:sp>
        <p:nvSpPr>
          <p:cNvPr id="26" name="Shape 23"/>
          <p:cNvSpPr/>
          <p:nvPr/>
        </p:nvSpPr>
        <p:spPr>
          <a:xfrm>
            <a:off x="6076604" y="2926080"/>
            <a:ext cx="0" cy="1691640"/>
          </a:xfrm>
          <a:prstGeom prst="line">
            <a:avLst/>
          </a:prstGeom>
          <a:noFill/>
          <a:ln w="19050">
            <a:solidFill>
              <a:schemeClr val="bg1"/>
            </a:solidFill>
            <a:prstDash val="dash"/>
          </a:ln>
        </p:spPr>
      </p:sp>
      <p:sp>
        <p:nvSpPr>
          <p:cNvPr id="27" name="Text 24"/>
          <p:cNvSpPr txBox="1"/>
          <p:nvPr/>
        </p:nvSpPr>
        <p:spPr>
          <a:xfrm>
            <a:off x="5619404" y="461772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上限</a:t>
            </a:r>
            <a:endParaRPr lang="en-US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868680" y="5074920"/>
            <a:ext cx="2286000" cy="548640"/>
          </a:xfrm>
          <a:prstGeom prst="roundRect">
            <a:avLst>
              <a:gd name="adj" fmla="val 13333"/>
            </a:avLst>
          </a:prstGeom>
          <a:solidFill>
            <a:schemeClr val="accent3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429 額度用完</a:t>
            </a:r>
            <a:endParaRPr lang="en-US" sz="1800" dirty="0"/>
          </a:p>
        </p:txBody>
      </p:sp>
      <p:sp>
        <p:nvSpPr>
          <p:cNvPr id="29" name="Text 26"/>
          <p:cNvSpPr txBox="1"/>
          <p:nvPr/>
        </p:nvSpPr>
        <p:spPr>
          <a:xfrm>
            <a:off x="3291840" y="507492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並告訴他何時恢復</a:t>
            </a:r>
            <a:endParaRPr lang="en-US" sz="1600" dirty="0"/>
          </a:p>
        </p:txBody>
      </p:sp>
      <p:sp>
        <p:nvSpPr>
          <p:cNvPr id="30" name="Shape 27"/>
          <p:cNvSpPr/>
          <p:nvPr/>
        </p:nvSpPr>
        <p:spPr>
          <a:xfrm>
            <a:off x="7909560" y="2514600"/>
            <a:ext cx="713232" cy="713232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3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87868" y="2692908"/>
            <a:ext cx="356616" cy="356616"/>
          </a:xfrm>
          <a:prstGeom prst="rect">
            <a:avLst/>
          </a:prstGeom>
        </p:spPr>
      </p:pic>
      <p:sp>
        <p:nvSpPr>
          <p:cNvPr id="32" name="Text 28"/>
          <p:cNvSpPr txBox="1"/>
          <p:nvPr/>
        </p:nvSpPr>
        <p:spPr>
          <a:xfrm>
            <a:off x="8778240" y="242316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超用就擋下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寫錯的迴圈也燒不到別人</a:t>
            </a:r>
            <a:endParaRPr lang="en-US" sz="1600" dirty="0"/>
          </a:p>
        </p:txBody>
      </p:sp>
      <p:sp>
        <p:nvSpPr>
          <p:cNvPr id="33" name="Shape 29"/>
          <p:cNvSpPr/>
          <p:nvPr/>
        </p:nvSpPr>
        <p:spPr>
          <a:xfrm>
            <a:off x="7909560" y="3977640"/>
            <a:ext cx="713232" cy="713232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3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87868" y="4155948"/>
            <a:ext cx="356616" cy="356616"/>
          </a:xfrm>
          <a:prstGeom prst="rect">
            <a:avLst/>
          </a:prstGeom>
        </p:spPr>
      </p:pic>
      <p:sp>
        <p:nvSpPr>
          <p:cNvPr id="35" name="Text 30"/>
          <p:cNvSpPr txBox="1"/>
          <p:nvPr/>
        </p:nvSpPr>
        <p:spPr>
          <a:xfrm>
            <a:off x="8778240" y="388620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讀不到就拒絕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寧可擋錯，也不放錯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261872" y="384048"/>
            <a:ext cx="7589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額度｜驗收畫面 ①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17043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alice 用到 1,039，下一次就被擋：429</a:t>
            </a:r>
            <a:endParaRPr lang="en-US" sz="2000" dirty="0"/>
          </a:p>
        </p:txBody>
      </p:sp>
      <p:sp>
        <p:nvSpPr>
          <p:cNvPr id="4" name="agenda-number"/>
          <p:cNvSpPr/>
          <p:nvPr/>
        </p:nvSpPr>
        <p:spPr>
          <a:xfrm>
            <a:off x="548640" y="438912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4389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</a:t>
            </a:r>
            <a:endParaRPr lang="en-US" sz="1600" dirty="0"/>
          </a:p>
        </p:txBody>
      </p:sp>
      <p:sp>
        <p:nvSpPr>
          <p:cNvPr id="6" name="progress-dot"/>
          <p:cNvSpPr/>
          <p:nvPr/>
        </p:nvSpPr>
        <p:spPr>
          <a:xfrm>
            <a:off x="10323576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progress-dot"/>
          <p:cNvSpPr/>
          <p:nvPr/>
        </p:nvSpPr>
        <p:spPr>
          <a:xfrm>
            <a:off x="10561320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progress-dot"/>
          <p:cNvSpPr/>
          <p:nvPr/>
        </p:nvSpPr>
        <p:spPr>
          <a:xfrm>
            <a:off x="10799064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progress-dot"/>
          <p:cNvSpPr/>
          <p:nvPr/>
        </p:nvSpPr>
        <p:spPr>
          <a:xfrm>
            <a:off x="11036808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progress-dot"/>
          <p:cNvSpPr/>
          <p:nvPr/>
        </p:nvSpPr>
        <p:spPr>
          <a:xfrm>
            <a:off x="11274552" y="274320"/>
            <a:ext cx="128016" cy="12801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1" name="progress-dot"/>
          <p:cNvSpPr/>
          <p:nvPr/>
        </p:nvSpPr>
        <p:spPr>
          <a:xfrm>
            <a:off x="11512296" y="274320"/>
            <a:ext cx="128016" cy="128016"/>
          </a:xfrm>
          <a:prstGeom prst="ellipse">
            <a:avLst/>
          </a:prstGeom>
          <a:solidFill>
            <a:schemeClr val="accent6">
              <a:alpha val="60000"/>
            </a:schemeClr>
          </a:solidFill>
          <a:ln/>
        </p:spPr>
      </p:sp>
      <p:pic>
        <p:nvPicPr>
          <p:cNvPr id="12" name="Image 0" descr="/tmp/claude-0/-home-claude/96d60298-d9d1-5ce2-b774-39e8aefb4386/scratchpad/assets/s02-crop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83080"/>
            <a:ext cx="4389120" cy="4709160"/>
          </a:xfrm>
          <a:prstGeom prst="rect">
            <a:avLst/>
          </a:prstGeom>
        </p:spPr>
      </p:pic>
      <p:sp>
        <p:nvSpPr>
          <p:cNvPr id="13" name="ring"/>
          <p:cNvSpPr/>
          <p:nvPr/>
        </p:nvSpPr>
        <p:spPr>
          <a:xfrm>
            <a:off x="591461" y="2018594"/>
            <a:ext cx="535259" cy="214103"/>
          </a:xfrm>
          <a:prstGeom prst="roundRect">
            <a:avLst>
              <a:gd name="adj" fmla="val 17083"/>
            </a:avLst>
          </a:prstGeom>
          <a:noFill/>
          <a:ln w="22225">
            <a:solidFill>
              <a:schemeClr val="accent1"/>
            </a:solidFill>
            <a:prstDash val="solid"/>
          </a:ln>
        </p:spPr>
      </p:sp>
      <p:sp>
        <p:nvSpPr>
          <p:cNvPr id="14" name="ring"/>
          <p:cNvSpPr/>
          <p:nvPr/>
        </p:nvSpPr>
        <p:spPr>
          <a:xfrm>
            <a:off x="591461" y="2939238"/>
            <a:ext cx="535259" cy="214103"/>
          </a:xfrm>
          <a:prstGeom prst="roundRect">
            <a:avLst>
              <a:gd name="adj" fmla="val 17083"/>
            </a:avLst>
          </a:prstGeom>
          <a:noFill/>
          <a:ln w="22225">
            <a:solidFill>
              <a:schemeClr val="accent1"/>
            </a:solidFill>
            <a:prstDash val="solid"/>
          </a:ln>
        </p:spPr>
      </p:sp>
      <p:sp>
        <p:nvSpPr>
          <p:cNvPr id="15" name="ring"/>
          <p:cNvSpPr/>
          <p:nvPr/>
        </p:nvSpPr>
        <p:spPr>
          <a:xfrm>
            <a:off x="591461" y="3859883"/>
            <a:ext cx="556669" cy="214103"/>
          </a:xfrm>
          <a:prstGeom prst="roundRect">
            <a:avLst>
              <a:gd name="adj" fmla="val 17083"/>
            </a:avLst>
          </a:prstGeom>
          <a:noFill/>
          <a:ln w="22225">
            <a:solidFill>
              <a:schemeClr val="accent1"/>
            </a:solidFill>
            <a:prstDash val="solid"/>
          </a:ln>
        </p:spPr>
      </p:sp>
      <p:sp>
        <p:nvSpPr>
          <p:cNvPr id="16" name="ring"/>
          <p:cNvSpPr/>
          <p:nvPr/>
        </p:nvSpPr>
        <p:spPr>
          <a:xfrm>
            <a:off x="591461" y="4320205"/>
            <a:ext cx="3623700" cy="214103"/>
          </a:xfrm>
          <a:prstGeom prst="roundRect">
            <a:avLst>
              <a:gd name="adj" fmla="val 17083"/>
            </a:avLst>
          </a:prstGeom>
          <a:noFill/>
          <a:ln w="22225">
            <a:solidFill>
              <a:schemeClr val="accent3"/>
            </a:solidFill>
            <a:prstDash val="solid"/>
          </a:ln>
        </p:spPr>
      </p:sp>
      <p:sp>
        <p:nvSpPr>
          <p:cNvPr id="17" name="ring"/>
          <p:cNvSpPr/>
          <p:nvPr/>
        </p:nvSpPr>
        <p:spPr>
          <a:xfrm>
            <a:off x="591461" y="5016042"/>
            <a:ext cx="2430074" cy="214103"/>
          </a:xfrm>
          <a:prstGeom prst="roundRect">
            <a:avLst>
              <a:gd name="adj" fmla="val 17083"/>
            </a:avLst>
          </a:prstGeom>
          <a:noFill/>
          <a:ln w="22225">
            <a:solidFill>
              <a:schemeClr val="accent2"/>
            </a:solidFill>
            <a:prstDash val="solid"/>
          </a:ln>
        </p:spPr>
      </p:sp>
      <p:sp>
        <p:nvSpPr>
          <p:cNvPr id="18" name="ring"/>
          <p:cNvSpPr/>
          <p:nvPr/>
        </p:nvSpPr>
        <p:spPr>
          <a:xfrm>
            <a:off x="591461" y="5925981"/>
            <a:ext cx="4212485" cy="214103"/>
          </a:xfrm>
          <a:prstGeom prst="roundRect">
            <a:avLst>
              <a:gd name="adj" fmla="val 17083"/>
            </a:avLst>
          </a:prstGeom>
          <a:noFill/>
          <a:ln w="22225">
            <a:solidFill>
              <a:schemeClr val="accent3"/>
            </a:solidFill>
            <a:prstDash val="solid"/>
          </a:ln>
        </p:spPr>
      </p:sp>
      <p:sp>
        <p:nvSpPr>
          <p:cNvPr id="19" name="pt-card"/>
          <p:cNvSpPr/>
          <p:nvPr/>
        </p:nvSpPr>
        <p:spPr>
          <a:xfrm>
            <a:off x="5303520" y="2011680"/>
            <a:ext cx="6309360" cy="1234440"/>
          </a:xfrm>
          <a:prstGeom prst="roundRect">
            <a:avLst>
              <a:gd name="adj" fmla="val 7407"/>
            </a:avLst>
          </a:prstGeom>
          <a:solidFill>
            <a:schemeClr val="tx2"/>
          </a:solidFill>
          <a:ln w="25400">
            <a:solidFill>
              <a:schemeClr val="accent1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5577840" y="2011680"/>
            <a:ext cx="5852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609 → 818 → 1,039</a:t>
            </a:r>
            <a:endParaRPr lang="en-US" sz="1600" dirty="0"/>
          </a:p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每叫一次，已用量往上加</a:t>
            </a:r>
            <a:endParaRPr lang="en-US" sz="1600" dirty="0"/>
          </a:p>
        </p:txBody>
      </p:sp>
      <p:sp>
        <p:nvSpPr>
          <p:cNvPr id="21" name="pt-card"/>
          <p:cNvSpPr/>
          <p:nvPr/>
        </p:nvSpPr>
        <p:spPr>
          <a:xfrm>
            <a:off x="5303520" y="3520440"/>
            <a:ext cx="6309360" cy="1234440"/>
          </a:xfrm>
          <a:prstGeom prst="roundRect">
            <a:avLst>
              <a:gd name="adj" fmla="val 7407"/>
            </a:avLst>
          </a:prstGeom>
          <a:solidFill>
            <a:schemeClr val="tx2"/>
          </a:solidFill>
          <a:ln w="25400">
            <a:solidFill>
              <a:schemeClr val="accent3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5577840" y="3520440"/>
            <a:ext cx="5852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429 Monthly quota exceeded</a:t>
            </a:r>
            <a:endParaRPr lang="en-US" sz="1600" dirty="0"/>
          </a:p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超過 1,000 就擋，請求碰不到模型</a:t>
            </a:r>
            <a:endParaRPr lang="en-US" sz="1600" dirty="0"/>
          </a:p>
        </p:txBody>
      </p:sp>
      <p:sp>
        <p:nvSpPr>
          <p:cNvPr id="23" name="pt-card"/>
          <p:cNvSpPr/>
          <p:nvPr/>
        </p:nvSpPr>
        <p:spPr>
          <a:xfrm>
            <a:off x="5303520" y="5029200"/>
            <a:ext cx="6309360" cy="1234440"/>
          </a:xfrm>
          <a:prstGeom prst="roundRect">
            <a:avLst>
              <a:gd name="adj" fmla="val 7407"/>
            </a:avLst>
          </a:prstGeom>
          <a:solidFill>
            <a:schemeClr val="tx2"/>
          </a:solidFill>
          <a:ln w="25400">
            <a:solidFill>
              <a:schemeClr val="accent2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5577840" y="5029200"/>
            <a:ext cx="5852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retry-after 1,921,598 秒</a:t>
            </a:r>
            <a:endParaRPr lang="en-US" sz="1600" dirty="0"/>
          </a:p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告訴他下個月 1 號 00:00 才恢復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261872" y="384048"/>
            <a:ext cx="7589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額度｜驗收畫面 ②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17043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資料庫停掉，回 503，不放行</a:t>
            </a:r>
            <a:endParaRPr lang="en-US" sz="2000" dirty="0"/>
          </a:p>
        </p:txBody>
      </p:sp>
      <p:sp>
        <p:nvSpPr>
          <p:cNvPr id="4" name="agenda-number"/>
          <p:cNvSpPr/>
          <p:nvPr/>
        </p:nvSpPr>
        <p:spPr>
          <a:xfrm>
            <a:off x="548640" y="438912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4389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</a:t>
            </a:r>
            <a:endParaRPr lang="en-US" sz="1600" dirty="0"/>
          </a:p>
        </p:txBody>
      </p:sp>
      <p:sp>
        <p:nvSpPr>
          <p:cNvPr id="6" name="progress-dot"/>
          <p:cNvSpPr/>
          <p:nvPr/>
        </p:nvSpPr>
        <p:spPr>
          <a:xfrm>
            <a:off x="10323576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progress-dot"/>
          <p:cNvSpPr/>
          <p:nvPr/>
        </p:nvSpPr>
        <p:spPr>
          <a:xfrm>
            <a:off x="10561320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progress-dot"/>
          <p:cNvSpPr/>
          <p:nvPr/>
        </p:nvSpPr>
        <p:spPr>
          <a:xfrm>
            <a:off x="10799064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progress-dot"/>
          <p:cNvSpPr/>
          <p:nvPr/>
        </p:nvSpPr>
        <p:spPr>
          <a:xfrm>
            <a:off x="11036808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progress-dot"/>
          <p:cNvSpPr/>
          <p:nvPr/>
        </p:nvSpPr>
        <p:spPr>
          <a:xfrm>
            <a:off x="11274552" y="274320"/>
            <a:ext cx="128016" cy="12801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1" name="progress-dot"/>
          <p:cNvSpPr/>
          <p:nvPr/>
        </p:nvSpPr>
        <p:spPr>
          <a:xfrm>
            <a:off x="11512296" y="274320"/>
            <a:ext cx="128016" cy="128016"/>
          </a:xfrm>
          <a:prstGeom prst="ellipse">
            <a:avLst/>
          </a:prstGeom>
          <a:solidFill>
            <a:schemeClr val="accent6">
              <a:alpha val="60000"/>
            </a:schemeClr>
          </a:solidFill>
          <a:ln/>
        </p:spPr>
      </p:sp>
      <p:pic>
        <p:nvPicPr>
          <p:cNvPr id="12" name="Image 0" descr="/tmp/claude-0/-home-claude/96d60298-d9d1-5ce2-b774-39e8aefb4386/scratchpad/assets/s03-cr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74520"/>
            <a:ext cx="7680960" cy="3529584"/>
          </a:xfrm>
          <a:prstGeom prst="rect">
            <a:avLst/>
          </a:prstGeom>
        </p:spPr>
      </p:pic>
      <p:sp>
        <p:nvSpPr>
          <p:cNvPr id="13" name="ring"/>
          <p:cNvSpPr/>
          <p:nvPr/>
        </p:nvSpPr>
        <p:spPr>
          <a:xfrm>
            <a:off x="571683" y="2051182"/>
            <a:ext cx="1378732" cy="153619"/>
          </a:xfrm>
          <a:prstGeom prst="roundRect">
            <a:avLst>
              <a:gd name="adj" fmla="val 23810"/>
            </a:avLst>
          </a:prstGeom>
          <a:noFill/>
          <a:ln w="22225">
            <a:solidFill>
              <a:schemeClr val="accent1"/>
            </a:solidFill>
            <a:prstDash val="solid"/>
          </a:ln>
        </p:spPr>
      </p:sp>
      <p:sp>
        <p:nvSpPr>
          <p:cNvPr id="14" name="ring"/>
          <p:cNvSpPr/>
          <p:nvPr/>
        </p:nvSpPr>
        <p:spPr>
          <a:xfrm>
            <a:off x="571683" y="3541288"/>
            <a:ext cx="3740628" cy="483900"/>
          </a:xfrm>
          <a:prstGeom prst="roundRect">
            <a:avLst>
              <a:gd name="adj" fmla="val 7559"/>
            </a:avLst>
          </a:prstGeom>
          <a:noFill/>
          <a:ln w="22225">
            <a:solidFill>
              <a:schemeClr val="accent2"/>
            </a:solidFill>
            <a:prstDash val="solid"/>
          </a:ln>
        </p:spPr>
      </p:sp>
      <p:sp>
        <p:nvSpPr>
          <p:cNvPr id="15" name="ring"/>
          <p:cNvSpPr/>
          <p:nvPr/>
        </p:nvSpPr>
        <p:spPr>
          <a:xfrm>
            <a:off x="571683" y="4524451"/>
            <a:ext cx="2780508" cy="153619"/>
          </a:xfrm>
          <a:prstGeom prst="roundRect">
            <a:avLst>
              <a:gd name="adj" fmla="val 23810"/>
            </a:avLst>
          </a:prstGeom>
          <a:noFill/>
          <a:ln w="22225">
            <a:solidFill>
              <a:schemeClr val="accent3"/>
            </a:solidFill>
            <a:prstDash val="solid"/>
          </a:ln>
        </p:spPr>
      </p:sp>
      <p:sp>
        <p:nvSpPr>
          <p:cNvPr id="16" name="pt-card"/>
          <p:cNvSpPr/>
          <p:nvPr/>
        </p:nvSpPr>
        <p:spPr>
          <a:xfrm>
            <a:off x="8503920" y="1920240"/>
            <a:ext cx="3108960" cy="1051560"/>
          </a:xfrm>
          <a:prstGeom prst="roundRect">
            <a:avLst>
              <a:gd name="adj" fmla="val 8696"/>
            </a:avLst>
          </a:prstGeom>
          <a:solidFill>
            <a:schemeClr val="tx2"/>
          </a:solidFill>
          <a:ln w="25400">
            <a:solidFill>
              <a:schemeClr val="accent1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686800" y="1920240"/>
            <a:ext cx="2743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先問一次：200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bob 有額度，正常回答</a:t>
            </a:r>
            <a:endParaRPr lang="en-US" sz="1600" dirty="0"/>
          </a:p>
        </p:txBody>
      </p:sp>
      <p:sp>
        <p:nvSpPr>
          <p:cNvPr id="18" name="pt-card"/>
          <p:cNvSpPr/>
          <p:nvPr/>
        </p:nvSpPr>
        <p:spPr>
          <a:xfrm>
            <a:off x="8503920" y="3108960"/>
            <a:ext cx="3108960" cy="1051560"/>
          </a:xfrm>
          <a:prstGeom prst="roundRect">
            <a:avLst>
              <a:gd name="adj" fmla="val 8696"/>
            </a:avLst>
          </a:prstGeom>
          <a:solidFill>
            <a:schemeClr val="tx2"/>
          </a:solidFill>
          <a:ln w="25400">
            <a:solidFill>
              <a:schemeClr val="accent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686800" y="3108960"/>
            <a:ext cx="2743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停掉資料庫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docker compose stop</a:t>
            </a:r>
            <a:endParaRPr lang="en-US" sz="1600" dirty="0"/>
          </a:p>
        </p:txBody>
      </p:sp>
      <p:sp>
        <p:nvSpPr>
          <p:cNvPr id="20" name="pt-card"/>
          <p:cNvSpPr/>
          <p:nvPr/>
        </p:nvSpPr>
        <p:spPr>
          <a:xfrm>
            <a:off x="8503920" y="4297680"/>
            <a:ext cx="3108960" cy="1051560"/>
          </a:xfrm>
          <a:prstGeom prst="roundRect">
            <a:avLst>
              <a:gd name="adj" fmla="val 8696"/>
            </a:avLst>
          </a:prstGeom>
          <a:solidFill>
            <a:schemeClr val="tx2"/>
          </a:solidFill>
          <a:ln w="25400">
            <a:solidFill>
              <a:schemeClr val="accent3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686800" y="4297680"/>
            <a:ext cx="2743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再問一次：503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讀不到額度就拒絕，不會變成無上限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261872" y="384048"/>
            <a:ext cx="7589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技術實踐｜看不到的地方 ①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17043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先拆現成的 LiteLLM，再修自己的設計</a:t>
            </a:r>
            <a:endParaRPr lang="en-US" sz="2000" dirty="0"/>
          </a:p>
        </p:txBody>
      </p:sp>
      <p:sp>
        <p:nvSpPr>
          <p:cNvPr id="4" name="agenda-number"/>
          <p:cNvSpPr/>
          <p:nvPr/>
        </p:nvSpPr>
        <p:spPr>
          <a:xfrm>
            <a:off x="548640" y="438912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4389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</a:t>
            </a:r>
            <a:endParaRPr lang="en-US" sz="1600" dirty="0"/>
          </a:p>
        </p:txBody>
      </p:sp>
      <p:sp>
        <p:nvSpPr>
          <p:cNvPr id="6" name="progress-dot"/>
          <p:cNvSpPr/>
          <p:nvPr/>
        </p:nvSpPr>
        <p:spPr>
          <a:xfrm>
            <a:off x="10323576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progress-dot"/>
          <p:cNvSpPr/>
          <p:nvPr/>
        </p:nvSpPr>
        <p:spPr>
          <a:xfrm>
            <a:off x="10561320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progress-dot"/>
          <p:cNvSpPr/>
          <p:nvPr/>
        </p:nvSpPr>
        <p:spPr>
          <a:xfrm>
            <a:off x="10799064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progress-dot"/>
          <p:cNvSpPr/>
          <p:nvPr/>
        </p:nvSpPr>
        <p:spPr>
          <a:xfrm>
            <a:off x="11036808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progress-dot"/>
          <p:cNvSpPr/>
          <p:nvPr/>
        </p:nvSpPr>
        <p:spPr>
          <a:xfrm>
            <a:off x="11274552" y="274320"/>
            <a:ext cx="128016" cy="12801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1" name="progress-dot"/>
          <p:cNvSpPr/>
          <p:nvPr/>
        </p:nvSpPr>
        <p:spPr>
          <a:xfrm>
            <a:off x="11512296" y="274320"/>
            <a:ext cx="128016" cy="128016"/>
          </a:xfrm>
          <a:prstGeom prst="ellipse">
            <a:avLst/>
          </a:prstGeom>
          <a:solidFill>
            <a:schemeClr val="accent6">
              <a:alpha val="60000"/>
            </a:schemeClr>
          </a:solidFill>
          <a:ln/>
        </p:spPr>
      </p:sp>
      <p:sp>
        <p:nvSpPr>
          <p:cNvPr id="12" name="finding-card"/>
          <p:cNvSpPr/>
          <p:nvPr/>
        </p:nvSpPr>
        <p:spPr>
          <a:xfrm>
            <a:off x="548640" y="2011680"/>
            <a:ext cx="6035040" cy="1691640"/>
          </a:xfrm>
          <a:prstGeom prst="roundRect">
            <a:avLst>
              <a:gd name="adj" fmla="val 5405"/>
            </a:avLst>
          </a:prstGeom>
          <a:solidFill>
            <a:schemeClr val="tx2"/>
          </a:solidFill>
          <a:ln/>
        </p:spPr>
      </p:sp>
      <p:sp>
        <p:nvSpPr>
          <p:cNvPr id="13" name="Shape 11"/>
          <p:cNvSpPr/>
          <p:nvPr/>
        </p:nvSpPr>
        <p:spPr>
          <a:xfrm>
            <a:off x="822960" y="2468880"/>
            <a:ext cx="777240" cy="77724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7270" y="2663190"/>
            <a:ext cx="388620" cy="388620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1828800" y="2011680"/>
            <a:ext cx="45720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發現一</a:t>
            </a:r>
            <a:endParaRPr lang="en-US" sz="1600" dirty="0"/>
          </a:p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價格表沒有的模型，花費記為 0</a:t>
            </a:r>
            <a:endParaRPr lang="en-US" sz="1600" dirty="0"/>
          </a:p>
        </p:txBody>
      </p:sp>
      <p:sp>
        <p:nvSpPr>
          <p:cNvPr id="16" name="finding-card"/>
          <p:cNvSpPr/>
          <p:nvPr/>
        </p:nvSpPr>
        <p:spPr>
          <a:xfrm>
            <a:off x="548640" y="4023360"/>
            <a:ext cx="6035040" cy="1691640"/>
          </a:xfrm>
          <a:prstGeom prst="roundRect">
            <a:avLst>
              <a:gd name="adj" fmla="val 5405"/>
            </a:avLst>
          </a:prstGeom>
          <a:solidFill>
            <a:schemeClr val="tx2"/>
          </a:solidFill>
          <a:ln/>
        </p:spPr>
      </p:sp>
      <p:sp>
        <p:nvSpPr>
          <p:cNvPr id="17" name="Shape 14"/>
          <p:cNvSpPr/>
          <p:nvPr/>
        </p:nvSpPr>
        <p:spPr>
          <a:xfrm>
            <a:off x="822960" y="4480560"/>
            <a:ext cx="777240" cy="77724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270" y="4674870"/>
            <a:ext cx="388620" cy="388620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1828800" y="4023360"/>
            <a:ext cx="45720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發現二</a:t>
            </a:r>
            <a:endParaRPr lang="en-US" sz="1600" dirty="0"/>
          </a:p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寫帳前當機，那筆帳永久遺失</a:t>
            </a:r>
            <a:endParaRPr lang="en-US" sz="1600" dirty="0"/>
          </a:p>
        </p:txBody>
      </p:sp>
      <p:sp>
        <p:nvSpPr>
          <p:cNvPr id="20" name="Shape 16"/>
          <p:cNvSpPr/>
          <p:nvPr/>
        </p:nvSpPr>
        <p:spPr>
          <a:xfrm>
            <a:off x="6675120" y="2834640"/>
            <a:ext cx="502920" cy="822960"/>
          </a:xfrm>
          <a:prstGeom prst="line">
            <a:avLst/>
          </a:prstGeom>
          <a:noFill/>
          <a:ln w="3175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21" name="Shape 17"/>
          <p:cNvSpPr/>
          <p:nvPr/>
        </p:nvSpPr>
        <p:spPr>
          <a:xfrm flipV="1">
            <a:off x="6675120" y="4206240"/>
            <a:ext cx="502920" cy="822960"/>
          </a:xfrm>
          <a:prstGeom prst="line">
            <a:avLst/>
          </a:prstGeom>
          <a:noFill/>
          <a:ln w="3175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22" name="fix-card"/>
          <p:cNvSpPr/>
          <p:nvPr/>
        </p:nvSpPr>
        <p:spPr>
          <a:xfrm>
            <a:off x="7269480" y="2011680"/>
            <a:ext cx="4343400" cy="3703320"/>
          </a:xfrm>
          <a:prstGeom prst="roundRect">
            <a:avLst>
              <a:gd name="adj" fmla="val 2469"/>
            </a:avLst>
          </a:prstGeom>
          <a:solidFill>
            <a:schemeClr val="accent2"/>
          </a:solidFill>
          <a:ln/>
        </p:spPr>
      </p:sp>
      <p:sp>
        <p:nvSpPr>
          <p:cNvPr id="23" name="Shape 19"/>
          <p:cNvSpPr/>
          <p:nvPr/>
        </p:nvSpPr>
        <p:spPr>
          <a:xfrm>
            <a:off x="7589520" y="2331720"/>
            <a:ext cx="777240" cy="77724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83830" y="2526030"/>
            <a:ext cx="388620" cy="388620"/>
          </a:xfrm>
          <a:prstGeom prst="rect">
            <a:avLst/>
          </a:prstGeom>
        </p:spPr>
      </p:pic>
      <p:sp>
        <p:nvSpPr>
          <p:cNvPr id="25" name="Text 20"/>
          <p:cNvSpPr txBox="1"/>
          <p:nvPr/>
        </p:nvSpPr>
        <p:spPr>
          <a:xfrm>
            <a:off x="8549640" y="233172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我的修正</a:t>
            </a:r>
            <a:endParaRPr lang="en-US" sz="1800" dirty="0"/>
          </a:p>
        </p:txBody>
      </p:sp>
      <p:sp>
        <p:nvSpPr>
          <p:cNvPr id="26" name="Text 21"/>
          <p:cNvSpPr txBox="1"/>
          <p:nvPr/>
        </p:nvSpPr>
        <p:spPr>
          <a:xfrm>
            <a:off x="7589520" y="3429000"/>
            <a:ext cx="3794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沒有單價，就拒絕</a:t>
            </a:r>
            <a:endParaRPr lang="en-US" sz="2600" dirty="0"/>
          </a:p>
          <a:p>
            <a:pPr indent="0" marL="0">
              <a:buNone/>
            </a:pPr>
            <a:r>
              <a:rPr lang="en-US" sz="10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先寫帳，再回答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261872" y="384048"/>
            <a:ext cx="7589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看不到的地方 ①｜拆解畫面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17043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先驗簽章再跑；預算 0 的金鑰真的被擋；記憶體量過</a:t>
            </a:r>
            <a:endParaRPr lang="en-US" sz="2000" dirty="0"/>
          </a:p>
        </p:txBody>
      </p:sp>
      <p:sp>
        <p:nvSpPr>
          <p:cNvPr id="4" name="agenda-number"/>
          <p:cNvSpPr/>
          <p:nvPr/>
        </p:nvSpPr>
        <p:spPr>
          <a:xfrm>
            <a:off x="548640" y="438912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4389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</a:t>
            </a:r>
            <a:endParaRPr lang="en-US" sz="1600" dirty="0"/>
          </a:p>
        </p:txBody>
      </p:sp>
      <p:sp>
        <p:nvSpPr>
          <p:cNvPr id="6" name="progress-dot"/>
          <p:cNvSpPr/>
          <p:nvPr/>
        </p:nvSpPr>
        <p:spPr>
          <a:xfrm>
            <a:off x="10323576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progress-dot"/>
          <p:cNvSpPr/>
          <p:nvPr/>
        </p:nvSpPr>
        <p:spPr>
          <a:xfrm>
            <a:off x="10561320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progress-dot"/>
          <p:cNvSpPr/>
          <p:nvPr/>
        </p:nvSpPr>
        <p:spPr>
          <a:xfrm>
            <a:off x="10799064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progress-dot"/>
          <p:cNvSpPr/>
          <p:nvPr/>
        </p:nvSpPr>
        <p:spPr>
          <a:xfrm>
            <a:off x="11036808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progress-dot"/>
          <p:cNvSpPr/>
          <p:nvPr/>
        </p:nvSpPr>
        <p:spPr>
          <a:xfrm>
            <a:off x="11274552" y="274320"/>
            <a:ext cx="128016" cy="12801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1" name="progress-dot"/>
          <p:cNvSpPr/>
          <p:nvPr/>
        </p:nvSpPr>
        <p:spPr>
          <a:xfrm>
            <a:off x="11512296" y="274320"/>
            <a:ext cx="128016" cy="128016"/>
          </a:xfrm>
          <a:prstGeom prst="ellipse">
            <a:avLst/>
          </a:prstGeom>
          <a:solidFill>
            <a:schemeClr val="accent6">
              <a:alpha val="60000"/>
            </a:schemeClr>
          </a:solidFill>
          <a:ln/>
        </p:spPr>
      </p:sp>
      <p:pic>
        <p:nvPicPr>
          <p:cNvPr id="12" name="Image 0" descr="/tmp/claude-0/-home-claude/96d60298-d9d1-5ce2-b774-39e8aefb4386/scratchpad/assets/s19-cosig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28800"/>
            <a:ext cx="6035040" cy="2368296"/>
          </a:xfrm>
          <a:prstGeom prst="rect">
            <a:avLst/>
          </a:prstGeom>
        </p:spPr>
      </p:pic>
      <p:sp>
        <p:nvSpPr>
          <p:cNvPr id="13" name="ring"/>
          <p:cNvSpPr/>
          <p:nvPr/>
        </p:nvSpPr>
        <p:spPr>
          <a:xfrm>
            <a:off x="590902" y="2792378"/>
            <a:ext cx="5853313" cy="608575"/>
          </a:xfrm>
          <a:prstGeom prst="roundRect">
            <a:avLst>
              <a:gd name="adj" fmla="val 6010"/>
            </a:avLst>
          </a:prstGeom>
          <a:noFill/>
          <a:ln w="22225">
            <a:solidFill>
              <a:schemeClr val="accent5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858000" y="1828800"/>
            <a:ext cx="4754880" cy="2368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映像簽章驗證通過，才開始拆</a:t>
            </a:r>
            <a:endParaRPr lang="en-US" sz="2000" dirty="0"/>
          </a:p>
        </p:txBody>
      </p:sp>
      <p:pic>
        <p:nvPicPr>
          <p:cNvPr id="15" name="Image 1" descr="/tmp/claude-0/-home-claude/96d60298-d9d1-5ce2-b774-39e8aefb4386/scratchpad/assets/s19-budge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343400"/>
            <a:ext cx="6035040" cy="1252728"/>
          </a:xfrm>
          <a:prstGeom prst="rect">
            <a:avLst/>
          </a:prstGeom>
        </p:spPr>
      </p:pic>
      <p:sp>
        <p:nvSpPr>
          <p:cNvPr id="16" name="ring"/>
          <p:cNvSpPr/>
          <p:nvPr/>
        </p:nvSpPr>
        <p:spPr>
          <a:xfrm>
            <a:off x="586644" y="4769045"/>
            <a:ext cx="5966633" cy="418044"/>
          </a:xfrm>
          <a:prstGeom prst="roundRect">
            <a:avLst>
              <a:gd name="adj" fmla="val 8749"/>
            </a:avLst>
          </a:prstGeom>
          <a:noFill/>
          <a:ln w="22225">
            <a:solidFill>
              <a:schemeClr val="accent3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6858000" y="4343400"/>
            <a:ext cx="4754880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預算 0 的金鑰：Budget has been exceeded</a:t>
            </a:r>
            <a:endParaRPr lang="en-US" sz="2000" dirty="0"/>
          </a:p>
        </p:txBody>
      </p:sp>
      <p:pic>
        <p:nvPicPr>
          <p:cNvPr id="18" name="Image 2" descr="/tmp/claude-0/-home-claude/96d60298-d9d1-5ce2-b774-39e8aefb4386/scratchpad/assets/s20-memo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5742432"/>
            <a:ext cx="6035040" cy="932688"/>
          </a:xfrm>
          <a:prstGeom prst="rect">
            <a:avLst/>
          </a:prstGeom>
        </p:spPr>
      </p:pic>
      <p:sp>
        <p:nvSpPr>
          <p:cNvPr id="19" name="ring"/>
          <p:cNvSpPr/>
          <p:nvPr/>
        </p:nvSpPr>
        <p:spPr>
          <a:xfrm>
            <a:off x="4083015" y="6168077"/>
            <a:ext cx="513054" cy="144415"/>
          </a:xfrm>
          <a:prstGeom prst="roundRect">
            <a:avLst>
              <a:gd name="adj" fmla="val 25327"/>
            </a:avLst>
          </a:prstGeom>
          <a:noFill/>
          <a:ln w="22225">
            <a:solidFill>
              <a:schemeClr val="accent2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6858000" y="5742432"/>
            <a:ext cx="47548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LiteLLM 待機 584 MiB；我的 Gateway 62 MiB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261872" y="384048"/>
            <a:ext cx="7589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看不到的地方 ①｜兩個安靜出錯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17043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實驗紀錄節錄：沒有任何錯誤訊息，帳就不對了</a:t>
            </a:r>
            <a:endParaRPr lang="en-US" sz="2000" dirty="0"/>
          </a:p>
        </p:txBody>
      </p:sp>
      <p:sp>
        <p:nvSpPr>
          <p:cNvPr id="4" name="agenda-number"/>
          <p:cNvSpPr/>
          <p:nvPr/>
        </p:nvSpPr>
        <p:spPr>
          <a:xfrm>
            <a:off x="548640" y="438912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4389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</a:t>
            </a:r>
            <a:endParaRPr lang="en-US" sz="1600" dirty="0"/>
          </a:p>
        </p:txBody>
      </p:sp>
      <p:sp>
        <p:nvSpPr>
          <p:cNvPr id="6" name="progress-dot"/>
          <p:cNvSpPr/>
          <p:nvPr/>
        </p:nvSpPr>
        <p:spPr>
          <a:xfrm>
            <a:off x="10323576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progress-dot"/>
          <p:cNvSpPr/>
          <p:nvPr/>
        </p:nvSpPr>
        <p:spPr>
          <a:xfrm>
            <a:off x="10561320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progress-dot"/>
          <p:cNvSpPr/>
          <p:nvPr/>
        </p:nvSpPr>
        <p:spPr>
          <a:xfrm>
            <a:off x="10799064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progress-dot"/>
          <p:cNvSpPr/>
          <p:nvPr/>
        </p:nvSpPr>
        <p:spPr>
          <a:xfrm>
            <a:off x="11036808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progress-dot"/>
          <p:cNvSpPr/>
          <p:nvPr/>
        </p:nvSpPr>
        <p:spPr>
          <a:xfrm>
            <a:off x="11274552" y="274320"/>
            <a:ext cx="128016" cy="12801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1" name="progress-dot"/>
          <p:cNvSpPr/>
          <p:nvPr/>
        </p:nvSpPr>
        <p:spPr>
          <a:xfrm>
            <a:off x="11512296" y="274320"/>
            <a:ext cx="128016" cy="128016"/>
          </a:xfrm>
          <a:prstGeom prst="ellipse">
            <a:avLst/>
          </a:prstGeom>
          <a:solidFill>
            <a:schemeClr val="accent6">
              <a:alpha val="60000"/>
            </a:schemeClr>
          </a:solidFill>
          <a:ln/>
        </p:spPr>
      </p:sp>
      <p:pic>
        <p:nvPicPr>
          <p:cNvPr id="12" name="Image 0" descr="/tmp/claude-0/-home-claude/96d60298-d9d1-5ce2-b774-39e8aefb4386/scratchpad/assets/m05-unpric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74520"/>
            <a:ext cx="5394960" cy="2148840"/>
          </a:xfrm>
          <a:prstGeom prst="rect">
            <a:avLst/>
          </a:prstGeom>
        </p:spPr>
      </p:pic>
      <p:sp>
        <p:nvSpPr>
          <p:cNvPr id="13" name="ring"/>
          <p:cNvSpPr/>
          <p:nvPr/>
        </p:nvSpPr>
        <p:spPr>
          <a:xfrm>
            <a:off x="612110" y="3791318"/>
            <a:ext cx="3681267" cy="126940"/>
          </a:xfrm>
          <a:prstGeom prst="roundRect">
            <a:avLst>
              <a:gd name="adj" fmla="val 28814"/>
            </a:avLst>
          </a:prstGeom>
          <a:noFill/>
          <a:ln w="22225">
            <a:solidFill>
              <a:schemeClr val="accent3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48640" y="4160520"/>
            <a:ext cx="5394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發現一｜價格表沒有的模型，花費記為 0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token 記了 23，spend 是 0；預算 0.01 的金鑰永遠不會被擋</a:t>
            </a:r>
            <a:endParaRPr lang="en-US" sz="1600" dirty="0"/>
          </a:p>
        </p:txBody>
      </p:sp>
      <p:pic>
        <p:nvPicPr>
          <p:cNvPr id="15" name="Image 1" descr="/tmp/claude-0/-home-claude/96d60298-d9d1-5ce2-b774-39e8aefb4386/scratchpad/assets/m05-cras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874520"/>
            <a:ext cx="5394960" cy="2331720"/>
          </a:xfrm>
          <a:prstGeom prst="rect">
            <a:avLst/>
          </a:prstGeom>
        </p:spPr>
      </p:pic>
      <p:sp>
        <p:nvSpPr>
          <p:cNvPr id="16" name="ring"/>
          <p:cNvSpPr/>
          <p:nvPr/>
        </p:nvSpPr>
        <p:spPr>
          <a:xfrm>
            <a:off x="6281390" y="2318811"/>
            <a:ext cx="2538805" cy="126940"/>
          </a:xfrm>
          <a:prstGeom prst="roundRect">
            <a:avLst>
              <a:gd name="adj" fmla="val 28814"/>
            </a:avLst>
          </a:prstGeom>
          <a:noFill/>
          <a:ln w="22225">
            <a:solidFill>
              <a:schemeClr val="accent2"/>
            </a:solidFill>
            <a:prstDash val="solid"/>
          </a:ln>
        </p:spPr>
      </p:sp>
      <p:sp>
        <p:nvSpPr>
          <p:cNvPr id="17" name="ring"/>
          <p:cNvSpPr/>
          <p:nvPr/>
        </p:nvSpPr>
        <p:spPr>
          <a:xfrm>
            <a:off x="6281390" y="3239128"/>
            <a:ext cx="1523283" cy="126940"/>
          </a:xfrm>
          <a:prstGeom prst="roundRect">
            <a:avLst>
              <a:gd name="adj" fmla="val 28814"/>
            </a:avLst>
          </a:prstGeom>
          <a:noFill/>
          <a:ln w="22225">
            <a:solidFill>
              <a:schemeClr val="accent3"/>
            </a:solidFill>
            <a:prstDash val="solid"/>
          </a:ln>
        </p:spPr>
      </p:sp>
      <p:sp>
        <p:nvSpPr>
          <p:cNvPr id="18" name="ring"/>
          <p:cNvSpPr/>
          <p:nvPr/>
        </p:nvSpPr>
        <p:spPr>
          <a:xfrm>
            <a:off x="6281390" y="3975381"/>
            <a:ext cx="1523283" cy="126940"/>
          </a:xfrm>
          <a:prstGeom prst="roundRect">
            <a:avLst>
              <a:gd name="adj" fmla="val 28814"/>
            </a:avLst>
          </a:prstGeom>
          <a:noFill/>
          <a:ln w="22225">
            <a:solidFill>
              <a:schemeClr val="accent3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6217920" y="4297680"/>
            <a:ext cx="5394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發現二｜寫帳前當機，那筆帳永久遺失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回答已送出、0.8 秒後強制終止；重啟 30 秒後帳還是 10 筆</a:t>
            </a:r>
            <a:endParaRPr lang="en-US" sz="1600" dirty="0"/>
          </a:p>
        </p:txBody>
      </p:sp>
      <p:sp>
        <p:nvSpPr>
          <p:cNvPr id="20" name="fix-line"/>
          <p:cNvSpPr/>
          <p:nvPr/>
        </p:nvSpPr>
        <p:spPr>
          <a:xfrm>
            <a:off x="548640" y="5257800"/>
            <a:ext cx="11064240" cy="822960"/>
          </a:xfrm>
          <a:prstGeom prst="roundRect">
            <a:avLst>
              <a:gd name="adj" fmla="val 11111"/>
            </a:avLst>
          </a:prstGeom>
          <a:solidFill>
            <a:schemeClr val="accent2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777240" y="525780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我的修正：</a:t>
            </a:r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沒有單價的模型一律拒絕呼叫；先寫帳、再回答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261872" y="384048"/>
            <a:ext cx="7589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大樓僅有一個門，門口有警衛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17043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名單只有一家：OpenAI</a:t>
            </a:r>
            <a:endParaRPr lang="en-US" sz="2000" dirty="0"/>
          </a:p>
        </p:txBody>
      </p:sp>
      <p:sp>
        <p:nvSpPr>
          <p:cNvPr id="4" name="agenda-number"/>
          <p:cNvSpPr/>
          <p:nvPr/>
        </p:nvSpPr>
        <p:spPr>
          <a:xfrm>
            <a:off x="548640" y="438912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4389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</a:t>
            </a:r>
            <a:endParaRPr lang="en-US" sz="1600" dirty="0"/>
          </a:p>
        </p:txBody>
      </p:sp>
      <p:sp>
        <p:nvSpPr>
          <p:cNvPr id="6" name="progress-dot"/>
          <p:cNvSpPr/>
          <p:nvPr/>
        </p:nvSpPr>
        <p:spPr>
          <a:xfrm>
            <a:off x="10323576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progress-dot"/>
          <p:cNvSpPr/>
          <p:nvPr/>
        </p:nvSpPr>
        <p:spPr>
          <a:xfrm>
            <a:off x="10561320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progress-dot"/>
          <p:cNvSpPr/>
          <p:nvPr/>
        </p:nvSpPr>
        <p:spPr>
          <a:xfrm>
            <a:off x="10799064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progress-dot"/>
          <p:cNvSpPr/>
          <p:nvPr/>
        </p:nvSpPr>
        <p:spPr>
          <a:xfrm>
            <a:off x="11036808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progress-dot"/>
          <p:cNvSpPr/>
          <p:nvPr/>
        </p:nvSpPr>
        <p:spPr>
          <a:xfrm>
            <a:off x="11274552" y="274320"/>
            <a:ext cx="128016" cy="12801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1" name="progress-dot"/>
          <p:cNvSpPr/>
          <p:nvPr/>
        </p:nvSpPr>
        <p:spPr>
          <a:xfrm>
            <a:off x="11512296" y="274320"/>
            <a:ext cx="128016" cy="128016"/>
          </a:xfrm>
          <a:prstGeom prst="ellipse">
            <a:avLst/>
          </a:prstGeom>
          <a:solidFill>
            <a:schemeClr val="accent6">
              <a:alpha val="60000"/>
            </a:schemeClr>
          </a:solidFill>
          <a:ln/>
        </p:spPr>
      </p:sp>
      <p:sp>
        <p:nvSpPr>
          <p:cNvPr id="12" name="Shape 10"/>
          <p:cNvSpPr/>
          <p:nvPr/>
        </p:nvSpPr>
        <p:spPr>
          <a:xfrm>
            <a:off x="548640" y="3017520"/>
            <a:ext cx="3017520" cy="1371600"/>
          </a:xfrm>
          <a:prstGeom prst="roundRect">
            <a:avLst>
              <a:gd name="adj" fmla="val 6667"/>
            </a:avLst>
          </a:prstGeom>
          <a:solidFill>
            <a:schemeClr val="tx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22960" y="3017520"/>
            <a:ext cx="2606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私有子網</a:t>
            </a:r>
            <a:endParaRPr lang="en-US" sz="1600" dirty="0"/>
          </a:p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Fargate 容器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611880" y="3703320"/>
            <a:ext cx="457200" cy="0"/>
          </a:xfrm>
          <a:prstGeom prst="line">
            <a:avLst/>
          </a:prstGeom>
          <a:noFill/>
          <a:ln w="3175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4114800" y="3017520"/>
            <a:ext cx="3246120" cy="1371600"/>
          </a:xfrm>
          <a:prstGeom prst="roundRect">
            <a:avLst>
              <a:gd name="adj" fmla="val 6667"/>
            </a:avLst>
          </a:prstGeom>
          <a:solidFill>
            <a:schemeClr val="tx2"/>
          </a:solidFill>
          <a:ln w="31750">
            <a:solidFill>
              <a:schemeClr val="accent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389120" y="3017520"/>
            <a:ext cx="2834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唯一出口</a:t>
            </a:r>
            <a:endParaRPr lang="en-US" sz="1600" dirty="0"/>
          </a:p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NAT＋DNS 防火牆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 flipV="1">
            <a:off x="7406640" y="2926080"/>
            <a:ext cx="566928" cy="777240"/>
          </a:xfrm>
          <a:prstGeom prst="line">
            <a:avLst/>
          </a:prstGeom>
          <a:noFill/>
          <a:ln w="317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7406640" y="3703320"/>
            <a:ext cx="566928" cy="868680"/>
          </a:xfrm>
          <a:prstGeom prst="line">
            <a:avLst/>
          </a:prstGeom>
          <a:noFill/>
          <a:ln w="3175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8046720" y="2331720"/>
            <a:ext cx="3566160" cy="1188720"/>
          </a:xfrm>
          <a:prstGeom prst="roundRect">
            <a:avLst>
              <a:gd name="adj" fmla="val 7692"/>
            </a:avLst>
          </a:prstGeom>
          <a:solidFill>
            <a:schemeClr val="accent5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006840" y="2331720"/>
            <a:ext cx="2468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名單上的網域</a:t>
            </a:r>
            <a:endParaRPr lang="en-US" sz="1600" dirty="0"/>
          </a:p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api.openai.com</a:t>
            </a:r>
            <a:endParaRPr lang="en-US" sz="1600" dirty="0"/>
          </a:p>
        </p:txBody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02752" y="2660904"/>
            <a:ext cx="530352" cy="530352"/>
          </a:xfrm>
          <a:prstGeom prst="rect">
            <a:avLst/>
          </a:prstGeom>
        </p:spPr>
      </p:pic>
      <p:sp>
        <p:nvSpPr>
          <p:cNvPr id="22" name="Shape 19"/>
          <p:cNvSpPr/>
          <p:nvPr/>
        </p:nvSpPr>
        <p:spPr>
          <a:xfrm>
            <a:off x="8046720" y="4023360"/>
            <a:ext cx="3566160" cy="1188720"/>
          </a:xfrm>
          <a:prstGeom prst="roundRect">
            <a:avLst>
              <a:gd name="adj" fmla="val 7692"/>
            </a:avLst>
          </a:prstGeom>
          <a:solidFill>
            <a:schemeClr val="accent3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9006840" y="4023360"/>
            <a:ext cx="2468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名單外的網域</a:t>
            </a:r>
            <a:endParaRPr lang="en-US" sz="1600" dirty="0"/>
          </a:p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不解析・留紀錄</a:t>
            </a:r>
            <a:endParaRPr lang="en-US" sz="1600" dirty="0"/>
          </a:p>
        </p:txBody>
      </p:sp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02752" y="4352544"/>
            <a:ext cx="530352" cy="53035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261872" y="384048"/>
            <a:ext cx="7589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看不到的地方 ②｜雲端實測 ①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17043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私有子網沒有通往網際網路的路，只有兩條專用走廊</a:t>
            </a:r>
            <a:endParaRPr lang="en-US" sz="2000" dirty="0"/>
          </a:p>
        </p:txBody>
      </p:sp>
      <p:sp>
        <p:nvSpPr>
          <p:cNvPr id="4" name="agenda-number"/>
          <p:cNvSpPr/>
          <p:nvPr/>
        </p:nvSpPr>
        <p:spPr>
          <a:xfrm>
            <a:off x="548640" y="438912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4389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</a:t>
            </a:r>
            <a:endParaRPr lang="en-US" sz="1600" dirty="0"/>
          </a:p>
        </p:txBody>
      </p:sp>
      <p:sp>
        <p:nvSpPr>
          <p:cNvPr id="6" name="progress-dot"/>
          <p:cNvSpPr/>
          <p:nvPr/>
        </p:nvSpPr>
        <p:spPr>
          <a:xfrm>
            <a:off x="10323576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progress-dot"/>
          <p:cNvSpPr/>
          <p:nvPr/>
        </p:nvSpPr>
        <p:spPr>
          <a:xfrm>
            <a:off x="10561320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progress-dot"/>
          <p:cNvSpPr/>
          <p:nvPr/>
        </p:nvSpPr>
        <p:spPr>
          <a:xfrm>
            <a:off x="10799064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progress-dot"/>
          <p:cNvSpPr/>
          <p:nvPr/>
        </p:nvSpPr>
        <p:spPr>
          <a:xfrm>
            <a:off x="11036808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progress-dot"/>
          <p:cNvSpPr/>
          <p:nvPr/>
        </p:nvSpPr>
        <p:spPr>
          <a:xfrm>
            <a:off x="11274552" y="274320"/>
            <a:ext cx="128016" cy="12801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1" name="progress-dot"/>
          <p:cNvSpPr/>
          <p:nvPr/>
        </p:nvSpPr>
        <p:spPr>
          <a:xfrm>
            <a:off x="11512296" y="274320"/>
            <a:ext cx="128016" cy="128016"/>
          </a:xfrm>
          <a:prstGeom prst="ellipse">
            <a:avLst/>
          </a:prstGeom>
          <a:solidFill>
            <a:schemeClr val="accent6">
              <a:alpha val="60000"/>
            </a:schemeClr>
          </a:solidFill>
          <a:ln/>
        </p:spPr>
      </p:sp>
      <p:pic>
        <p:nvPicPr>
          <p:cNvPr id="12" name="Image 0" descr="/tmp/claude-0/-home-claude/96d60298-d9d1-5ce2-b774-39e8aefb4386/scratchpad/assets/m4-daily-resource-map-priva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920240"/>
            <a:ext cx="11064240" cy="3026664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548640" y="51206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綠框：私有子網只接到 S3、DynamoDB 兩條 Endpoint</a:t>
            </a:r>
            <a:endParaRPr lang="en-US" sz="1600" dirty="0"/>
          </a:p>
          <a:p>
            <a:pPr indent="0" marL="0">
              <a:buNone/>
            </a:pPr>
            <a:r>
              <a:rPr lang="en-US" sz="1800" b="1" dirty="0">
                <a:solidFill>
                  <a:schemeClr val="accent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紅框：0 個私有子網路由至網際網路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  <p:sp>
        <p:nvSpPr>
          <p:cNvPr id="26" name="ring"/>
          <p:cNvSpPr/>
          <p:nvPr/>
        </p:nvSpPr>
        <p:spPr>
          <a:xfrm>
            <a:off x="9097955" y="3253697"/>
            <a:ext cx="1189984" cy="126594"/>
          </a:xfrm>
          <a:prstGeom prst="roundRect">
            <a:avLst>
              <a:gd name="adj" fmla="val 30000"/>
            </a:avLst>
          </a:prstGeom>
          <a:noFill/>
          <a:ln w="15875">
            <a:solidFill>
              <a:schemeClr val="accent3"/>
            </a:solidFill>
            <a:prstDash val="solid"/>
          </a:ln>
        </p:spPr>
      </p:sp>
      <p:sp>
        <p:nvSpPr>
          <p:cNvPr id="27" name="ring"/>
          <p:cNvSpPr/>
          <p:nvPr/>
        </p:nvSpPr>
        <p:spPr>
          <a:xfrm>
            <a:off x="9009339" y="3405610"/>
            <a:ext cx="2257593" cy="772223"/>
          </a:xfrm>
          <a:prstGeom prst="roundRect">
            <a:avLst>
              <a:gd name="adj" fmla="val 8000"/>
            </a:avLst>
          </a:prstGeom>
          <a:noFill/>
          <a:ln w="15875">
            <a:solidFill>
              <a:schemeClr val="accent5"/>
            </a:solidFill>
            <a:prstDash val="solid"/>
          </a:ln>
        </p:spPr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261872" y="384048"/>
            <a:ext cx="7589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看不到的地方 ②｜雲端實測 ②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17043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公有子網才接大門；只有 ALB 和 NAT 住在這裡</a:t>
            </a:r>
            <a:endParaRPr lang="en-US" sz="2000" dirty="0"/>
          </a:p>
        </p:txBody>
      </p:sp>
      <p:sp>
        <p:nvSpPr>
          <p:cNvPr id="4" name="agenda-number"/>
          <p:cNvSpPr/>
          <p:nvPr/>
        </p:nvSpPr>
        <p:spPr>
          <a:xfrm>
            <a:off x="548640" y="438912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4389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</a:t>
            </a:r>
            <a:endParaRPr lang="en-US" sz="1600" dirty="0"/>
          </a:p>
        </p:txBody>
      </p:sp>
      <p:sp>
        <p:nvSpPr>
          <p:cNvPr id="6" name="progress-dot"/>
          <p:cNvSpPr/>
          <p:nvPr/>
        </p:nvSpPr>
        <p:spPr>
          <a:xfrm>
            <a:off x="10323576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progress-dot"/>
          <p:cNvSpPr/>
          <p:nvPr/>
        </p:nvSpPr>
        <p:spPr>
          <a:xfrm>
            <a:off x="10561320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progress-dot"/>
          <p:cNvSpPr/>
          <p:nvPr/>
        </p:nvSpPr>
        <p:spPr>
          <a:xfrm>
            <a:off x="10799064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progress-dot"/>
          <p:cNvSpPr/>
          <p:nvPr/>
        </p:nvSpPr>
        <p:spPr>
          <a:xfrm>
            <a:off x="11036808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progress-dot"/>
          <p:cNvSpPr/>
          <p:nvPr/>
        </p:nvSpPr>
        <p:spPr>
          <a:xfrm>
            <a:off x="11274552" y="274320"/>
            <a:ext cx="128016" cy="12801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1" name="progress-dot"/>
          <p:cNvSpPr/>
          <p:nvPr/>
        </p:nvSpPr>
        <p:spPr>
          <a:xfrm>
            <a:off x="11512296" y="274320"/>
            <a:ext cx="128016" cy="128016"/>
          </a:xfrm>
          <a:prstGeom prst="ellipse">
            <a:avLst/>
          </a:prstGeom>
          <a:solidFill>
            <a:schemeClr val="accent6">
              <a:alpha val="60000"/>
            </a:schemeClr>
          </a:solidFill>
          <a:ln/>
        </p:spPr>
      </p:sp>
      <p:pic>
        <p:nvPicPr>
          <p:cNvPr id="12" name="Image 0" descr="/tmp/claude-0/-home-claude/96d60298-d9d1-5ce2-b774-39e8aefb4386/scratchpad/assets/m4-daily-resource-map-publi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920240"/>
            <a:ext cx="11064240" cy="3054096"/>
          </a:xfrm>
          <a:prstGeom prst="rect">
            <a:avLst/>
          </a:prstGeom>
        </p:spPr>
      </p:pic>
      <p:sp>
        <p:nvSpPr>
          <p:cNvPr id="13" name="ring"/>
          <p:cNvSpPr/>
          <p:nvPr/>
        </p:nvSpPr>
        <p:spPr>
          <a:xfrm>
            <a:off x="8943291" y="2866602"/>
            <a:ext cx="2400766" cy="591685"/>
          </a:xfrm>
          <a:prstGeom prst="roundRect">
            <a:avLst>
              <a:gd name="adj" fmla="val 9273"/>
            </a:avLst>
          </a:prstGeom>
          <a:noFill/>
          <a:ln w="38100">
            <a:solidFill>
              <a:schemeClr val="accent2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48640" y="51206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橘框：網際網路只路由到 2 個公有子網；私有子網不在這條路上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261872" y="384048"/>
            <a:ext cx="7589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看不到的地方 ②｜一鍵拆除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17043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測完當天拆光</a:t>
            </a:r>
            <a:endParaRPr lang="en-US" sz="2000" dirty="0"/>
          </a:p>
        </p:txBody>
      </p:sp>
      <p:sp>
        <p:nvSpPr>
          <p:cNvPr id="4" name="agenda-number"/>
          <p:cNvSpPr/>
          <p:nvPr/>
        </p:nvSpPr>
        <p:spPr>
          <a:xfrm>
            <a:off x="548640" y="438912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4389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</a:t>
            </a:r>
            <a:endParaRPr lang="en-US" sz="1600" dirty="0"/>
          </a:p>
        </p:txBody>
      </p:sp>
      <p:sp>
        <p:nvSpPr>
          <p:cNvPr id="6" name="progress-dot"/>
          <p:cNvSpPr/>
          <p:nvPr/>
        </p:nvSpPr>
        <p:spPr>
          <a:xfrm>
            <a:off x="10323576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progress-dot"/>
          <p:cNvSpPr/>
          <p:nvPr/>
        </p:nvSpPr>
        <p:spPr>
          <a:xfrm>
            <a:off x="10561320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progress-dot"/>
          <p:cNvSpPr/>
          <p:nvPr/>
        </p:nvSpPr>
        <p:spPr>
          <a:xfrm>
            <a:off x="10799064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progress-dot"/>
          <p:cNvSpPr/>
          <p:nvPr/>
        </p:nvSpPr>
        <p:spPr>
          <a:xfrm>
            <a:off x="11036808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progress-dot"/>
          <p:cNvSpPr/>
          <p:nvPr/>
        </p:nvSpPr>
        <p:spPr>
          <a:xfrm>
            <a:off x="11274552" y="274320"/>
            <a:ext cx="128016" cy="12801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1" name="progress-dot"/>
          <p:cNvSpPr/>
          <p:nvPr/>
        </p:nvSpPr>
        <p:spPr>
          <a:xfrm>
            <a:off x="11512296" y="274320"/>
            <a:ext cx="128016" cy="128016"/>
          </a:xfrm>
          <a:prstGeom prst="ellipse">
            <a:avLst/>
          </a:prstGeom>
          <a:solidFill>
            <a:schemeClr val="accent6">
              <a:alpha val="60000"/>
            </a:schemeClr>
          </a:solidFill>
          <a:ln/>
        </p:spPr>
      </p:sp>
      <p:pic>
        <p:nvPicPr>
          <p:cNvPr id="12" name="Image 0" descr="/tmp/claude-0/-home-claude/96d60298-d9d1-5ce2-b774-39e8aefb4386/scratchpad/assets/m4-destroy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74520"/>
            <a:ext cx="6400800" cy="4498848"/>
          </a:xfrm>
          <a:prstGeom prst="rect">
            <a:avLst/>
          </a:prstGeom>
        </p:spPr>
      </p:pic>
      <p:sp>
        <p:nvSpPr>
          <p:cNvPr id="13" name="ring"/>
          <p:cNvSpPr/>
          <p:nvPr/>
        </p:nvSpPr>
        <p:spPr>
          <a:xfrm>
            <a:off x="565227" y="1935976"/>
            <a:ext cx="1229124" cy="365335"/>
          </a:xfrm>
          <a:prstGeom prst="roundRect">
            <a:avLst>
              <a:gd name="adj" fmla="val 15017"/>
            </a:avLst>
          </a:prstGeom>
          <a:noFill/>
          <a:ln w="38100">
            <a:solidFill>
              <a:schemeClr val="accent2"/>
            </a:solidFill>
            <a:prstDash val="solid"/>
          </a:ln>
        </p:spPr>
      </p:sp>
      <p:sp>
        <p:nvSpPr>
          <p:cNvPr id="14" name="ring"/>
          <p:cNvSpPr/>
          <p:nvPr/>
        </p:nvSpPr>
        <p:spPr>
          <a:xfrm>
            <a:off x="898664" y="5234621"/>
            <a:ext cx="1878135" cy="353426"/>
          </a:xfrm>
          <a:prstGeom prst="roundRect">
            <a:avLst>
              <a:gd name="adj" fmla="val 15523"/>
            </a:avLst>
          </a:prstGeom>
          <a:noFill/>
          <a:ln w="38100">
            <a:solidFill>
              <a:schemeClr val="accent5"/>
            </a:solidFill>
            <a:prstDash val="solid"/>
          </a:ln>
        </p:spPr>
      </p:sp>
      <p:sp>
        <p:nvSpPr>
          <p:cNvPr id="26" name="Text"/>
          <p:cNvSpPr txBox="1"/>
          <p:nvPr/>
        </p:nvSpPr>
        <p:spPr>
          <a:xfrm>
            <a:off x="7223760" y="1874520"/>
            <a:ext cx="438912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51 秒</a:t>
            </a:r>
            <a:endParaRPr lang="en-US" sz="1600" dirty="0"/>
          </a:p>
          <a:p>
            <a:pPr algn="l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Resources: 19 destroyed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第一次：每日層骨架</a:t>
            </a:r>
            <a:endParaRPr lang="en-US" sz="1600" dirty="0"/>
          </a:p>
          <a:p>
            <a:pPr algn="l" indent="0" marL="0">
              <a:spcBef>
                <a:spcPts val="1200"/>
              </a:spcBef>
              <a:buNone/>
            </a:pPr>
            <a:r>
              <a:rPr lang="en-US" sz="3600" b="1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 分 11 秒</a:t>
            </a:r>
            <a:endParaRPr lang="en-US" sz="1600" dirty="0"/>
          </a:p>
          <a:p>
            <a:pPr algn="l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Resources: 40 destroyed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第三次：加了 Lambda，等網卡收回</a:t>
            </a:r>
            <a:endParaRPr lang="en-US" sz="1600" dirty="0"/>
          </a:p>
          <a:p>
            <a:pPr algn="l" indent="0" marL="0">
              <a:spcBef>
                <a:spcPts val="1200"/>
              </a:spcBef>
              <a:buNone/>
            </a:pPr>
            <a:r>
              <a:rPr lang="en-US" sz="1600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只拆得了貼「每日」標籤的東西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261872" y="384048"/>
            <a:ext cx="7589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技術實踐｜看不到的地方 ③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17043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每一次推送都先過三關，沒過就進不了 main</a:t>
            </a:r>
            <a:endParaRPr lang="en-US" sz="2000" dirty="0"/>
          </a:p>
        </p:txBody>
      </p:sp>
      <p:sp>
        <p:nvSpPr>
          <p:cNvPr id="4" name="agenda-number"/>
          <p:cNvSpPr/>
          <p:nvPr/>
        </p:nvSpPr>
        <p:spPr>
          <a:xfrm>
            <a:off x="548640" y="438912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4389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</a:t>
            </a:r>
            <a:endParaRPr lang="en-US" sz="1600" dirty="0"/>
          </a:p>
        </p:txBody>
      </p:sp>
      <p:sp>
        <p:nvSpPr>
          <p:cNvPr id="6" name="progress-dot"/>
          <p:cNvSpPr/>
          <p:nvPr/>
        </p:nvSpPr>
        <p:spPr>
          <a:xfrm>
            <a:off x="10323576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progress-dot"/>
          <p:cNvSpPr/>
          <p:nvPr/>
        </p:nvSpPr>
        <p:spPr>
          <a:xfrm>
            <a:off x="10561320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progress-dot"/>
          <p:cNvSpPr/>
          <p:nvPr/>
        </p:nvSpPr>
        <p:spPr>
          <a:xfrm>
            <a:off x="10799064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progress-dot"/>
          <p:cNvSpPr/>
          <p:nvPr/>
        </p:nvSpPr>
        <p:spPr>
          <a:xfrm>
            <a:off x="11036808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progress-dot"/>
          <p:cNvSpPr/>
          <p:nvPr/>
        </p:nvSpPr>
        <p:spPr>
          <a:xfrm>
            <a:off x="11274552" y="274320"/>
            <a:ext cx="128016" cy="12801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1" name="progress-dot"/>
          <p:cNvSpPr/>
          <p:nvPr/>
        </p:nvSpPr>
        <p:spPr>
          <a:xfrm>
            <a:off x="11512296" y="274320"/>
            <a:ext cx="128016" cy="128016"/>
          </a:xfrm>
          <a:prstGeom prst="ellipse">
            <a:avLst/>
          </a:prstGeom>
          <a:solidFill>
            <a:schemeClr val="accent6">
              <a:alpha val="60000"/>
            </a:schemeClr>
          </a:solidFill>
          <a:ln/>
        </p:spPr>
      </p:sp>
      <p:sp>
        <p:nvSpPr>
          <p:cNvPr id="12" name="gate-card"/>
          <p:cNvSpPr/>
          <p:nvPr/>
        </p:nvSpPr>
        <p:spPr>
          <a:xfrm>
            <a:off x="548640" y="1874520"/>
            <a:ext cx="3474720" cy="2743200"/>
          </a:xfrm>
          <a:prstGeom prst="roundRect">
            <a:avLst>
              <a:gd name="adj" fmla="val 3333"/>
            </a:avLst>
          </a:prstGeom>
          <a:solidFill>
            <a:schemeClr val="tx2"/>
          </a:solidFill>
          <a:ln/>
        </p:spPr>
      </p:sp>
      <p:sp>
        <p:nvSpPr>
          <p:cNvPr id="13" name="Shape 11"/>
          <p:cNvSpPr/>
          <p:nvPr/>
        </p:nvSpPr>
        <p:spPr>
          <a:xfrm>
            <a:off x="1737360" y="2103120"/>
            <a:ext cx="1097280" cy="109728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1680" y="2377440"/>
            <a:ext cx="548640" cy="548640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731520" y="3291840"/>
            <a:ext cx="3108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Tests</a:t>
            </a:r>
            <a:endParaRPr lang="en-US" sz="1600" dirty="0"/>
          </a:p>
          <a:p>
            <a:pPr algn="ctr" indent="0" marL="0">
              <a:buNone/>
            </a:pPr>
            <a:r>
              <a:rPr lang="en-US" sz="1800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380 個自動測試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含真的資料庫</a:t>
            </a:r>
            <a:endParaRPr lang="en-US" sz="1600" dirty="0"/>
          </a:p>
        </p:txBody>
      </p:sp>
      <p:sp>
        <p:nvSpPr>
          <p:cNvPr id="16" name="gate-card"/>
          <p:cNvSpPr/>
          <p:nvPr/>
        </p:nvSpPr>
        <p:spPr>
          <a:xfrm>
            <a:off x="4343400" y="1874520"/>
            <a:ext cx="3474720" cy="2743200"/>
          </a:xfrm>
          <a:prstGeom prst="roundRect">
            <a:avLst>
              <a:gd name="adj" fmla="val 3333"/>
            </a:avLst>
          </a:prstGeom>
          <a:solidFill>
            <a:schemeClr val="tx2"/>
          </a:solidFill>
          <a:ln/>
        </p:spPr>
      </p:sp>
      <p:sp>
        <p:nvSpPr>
          <p:cNvPr id="17" name="Shape 14"/>
          <p:cNvSpPr/>
          <p:nvPr/>
        </p:nvSpPr>
        <p:spPr>
          <a:xfrm>
            <a:off x="5532120" y="2103120"/>
            <a:ext cx="1097280" cy="109728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0" y="2377440"/>
            <a:ext cx="548640" cy="548640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4526280" y="3291840"/>
            <a:ext cx="3108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Image scan</a:t>
            </a:r>
            <a:endParaRPr lang="en-US" sz="1600" dirty="0"/>
          </a:p>
          <a:p>
            <a:pPr algn="ctr" indent="0" marL="0">
              <a:buNone/>
            </a:pPr>
            <a:r>
              <a:rPr lang="en-US" sz="1800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Trivy 掃容器映像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第一次就抓到一個弱點</a:t>
            </a:r>
            <a:endParaRPr lang="en-US" sz="1600" dirty="0"/>
          </a:p>
        </p:txBody>
      </p:sp>
      <p:sp>
        <p:nvSpPr>
          <p:cNvPr id="20" name="gate-card"/>
          <p:cNvSpPr/>
          <p:nvPr/>
        </p:nvSpPr>
        <p:spPr>
          <a:xfrm>
            <a:off x="8138160" y="1874520"/>
            <a:ext cx="3474720" cy="2743200"/>
          </a:xfrm>
          <a:prstGeom prst="roundRect">
            <a:avLst>
              <a:gd name="adj" fmla="val 3333"/>
            </a:avLst>
          </a:prstGeom>
          <a:solidFill>
            <a:schemeClr val="tx2"/>
          </a:solidFill>
          <a:ln/>
        </p:spPr>
      </p:sp>
      <p:sp>
        <p:nvSpPr>
          <p:cNvPr id="21" name="Shape 17"/>
          <p:cNvSpPr/>
          <p:nvPr/>
        </p:nvSpPr>
        <p:spPr>
          <a:xfrm>
            <a:off x="9326880" y="2103120"/>
            <a:ext cx="1097280" cy="109728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0" y="2377440"/>
            <a:ext cx="548640" cy="548640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8321040" y="3291840"/>
            <a:ext cx="3108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Config scan</a:t>
            </a:r>
            <a:endParaRPr lang="en-US" sz="1600" dirty="0"/>
          </a:p>
          <a:p>
            <a:pPr algn="ctr" indent="0" marL="0">
              <a:buNone/>
            </a:pPr>
            <a:r>
              <a:rPr lang="en-US" sz="1800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Trivy 掃 Terraform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另有 CodeQL 掃程式碼</a:t>
            </a:r>
            <a:endParaRPr lang="en-US" sz="1600" dirty="0"/>
          </a:p>
        </p:txBody>
      </p:sp>
      <p:sp>
        <p:nvSpPr>
          <p:cNvPr id="24" name="Text 19"/>
          <p:cNvSpPr txBox="1"/>
          <p:nvPr/>
        </p:nvSpPr>
        <p:spPr>
          <a:xfrm>
            <a:off x="548640" y="480060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要合併一定要經過 PR；所有工具鎖定版本與指紋，過 3 天冷卻期才用</a:t>
            </a:r>
            <a:endParaRPr lang="en-US" sz="1800" dirty="0"/>
          </a:p>
        </p:txBody>
      </p:sp>
      <p:sp>
        <p:nvSpPr>
          <p:cNvPr id="25" name="todo"/>
          <p:cNvSpPr/>
          <p:nvPr/>
        </p:nvSpPr>
        <p:spPr>
          <a:xfrm>
            <a:off x="548640" y="5394960"/>
            <a:ext cx="11064240" cy="731520"/>
          </a:xfrm>
          <a:prstGeom prst="roundRect">
            <a:avLst>
              <a:gd name="adj" fmla="val 12500"/>
            </a:avLst>
          </a:prstGeom>
          <a:solidFill>
            <a:schemeClr val="tx1"/>
          </a:solidFill>
          <a:ln w="15875">
            <a:solidFill>
              <a:schemeClr val="accent6"/>
            </a:solidFill>
            <a:prstDash val="dash"/>
          </a:ln>
        </p:spPr>
      </p:sp>
      <p:sp>
        <p:nvSpPr>
          <p:cNvPr id="26" name="Text 21"/>
          <p:cNvSpPr txBox="1"/>
          <p:nvPr/>
        </p:nvSpPr>
        <p:spPr>
          <a:xfrm>
            <a:off x="731520" y="553212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CD（M6，設計）：GitHub 借角色 → 推映像 → terraform apply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261872" y="384048"/>
            <a:ext cx="7589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看不到的地方 ③｜沒有長期金鑰 ①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17043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GitHub 用身分證明換一小時的 AWS 角色；repo 裡沒有任何金鑰</a:t>
            </a:r>
            <a:endParaRPr lang="en-US" sz="2000" dirty="0"/>
          </a:p>
        </p:txBody>
      </p:sp>
      <p:sp>
        <p:nvSpPr>
          <p:cNvPr id="4" name="agenda-number"/>
          <p:cNvSpPr/>
          <p:nvPr/>
        </p:nvSpPr>
        <p:spPr>
          <a:xfrm>
            <a:off x="548640" y="438912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4389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</a:t>
            </a:r>
            <a:endParaRPr lang="en-US" sz="1600" dirty="0"/>
          </a:p>
        </p:txBody>
      </p:sp>
      <p:sp>
        <p:nvSpPr>
          <p:cNvPr id="6" name="progress-dot"/>
          <p:cNvSpPr/>
          <p:nvPr/>
        </p:nvSpPr>
        <p:spPr>
          <a:xfrm>
            <a:off x="10323576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progress-dot"/>
          <p:cNvSpPr/>
          <p:nvPr/>
        </p:nvSpPr>
        <p:spPr>
          <a:xfrm>
            <a:off x="10561320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progress-dot"/>
          <p:cNvSpPr/>
          <p:nvPr/>
        </p:nvSpPr>
        <p:spPr>
          <a:xfrm>
            <a:off x="10799064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progress-dot"/>
          <p:cNvSpPr/>
          <p:nvPr/>
        </p:nvSpPr>
        <p:spPr>
          <a:xfrm>
            <a:off x="11036808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progress-dot"/>
          <p:cNvSpPr/>
          <p:nvPr/>
        </p:nvSpPr>
        <p:spPr>
          <a:xfrm>
            <a:off x="11274552" y="274320"/>
            <a:ext cx="128016" cy="12801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1" name="progress-dot"/>
          <p:cNvSpPr/>
          <p:nvPr/>
        </p:nvSpPr>
        <p:spPr>
          <a:xfrm>
            <a:off x="11512296" y="274320"/>
            <a:ext cx="128016" cy="128016"/>
          </a:xfrm>
          <a:prstGeom prst="ellipse">
            <a:avLst/>
          </a:prstGeom>
          <a:solidFill>
            <a:schemeClr val="accent6">
              <a:alpha val="60000"/>
            </a:schemeClr>
          </a:solidFill>
          <a:ln/>
        </p:spPr>
      </p:sp>
      <p:pic>
        <p:nvPicPr>
          <p:cNvPr id="12" name="Image 0" descr="/tmp/claude-0/-home-claude/96d60298-d9d1-5ce2-b774-39e8aefb4386/scratchpad/assets/m4-assumed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74520"/>
            <a:ext cx="11064240" cy="3520440"/>
          </a:xfrm>
          <a:prstGeom prst="rect">
            <a:avLst/>
          </a:prstGeom>
        </p:spPr>
      </p:pic>
      <p:sp>
        <p:nvSpPr>
          <p:cNvPr id="13" name="ring"/>
          <p:cNvSpPr/>
          <p:nvPr/>
        </p:nvSpPr>
        <p:spPr>
          <a:xfrm>
            <a:off x="3822508" y="4447148"/>
            <a:ext cx="4352415" cy="246216"/>
          </a:xfrm>
          <a:prstGeom prst="roundRect">
            <a:avLst>
              <a:gd name="adj" fmla="val 18569"/>
            </a:avLst>
          </a:prstGeom>
          <a:noFill/>
          <a:ln w="31750">
            <a:solidFill>
              <a:schemeClr val="accent5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48640" y="55321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 main 觸發：借到角色 assumed-role/llm-gateway-destroy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雲端呼叫 OpenAI 也一樣：用 AWS 身分換通行證，沒有金鑰可以外流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261872" y="384048"/>
            <a:ext cx="7589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看不到的地方 ③｜沒有長期金鑰 ②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17043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從別的分支觸發：連身分證明都拿不到，在 GitHub 這層就擋下</a:t>
            </a:r>
            <a:endParaRPr lang="en-US" sz="2000" dirty="0"/>
          </a:p>
        </p:txBody>
      </p:sp>
      <p:sp>
        <p:nvSpPr>
          <p:cNvPr id="4" name="agenda-number"/>
          <p:cNvSpPr/>
          <p:nvPr/>
        </p:nvSpPr>
        <p:spPr>
          <a:xfrm>
            <a:off x="548640" y="438912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4389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</a:t>
            </a:r>
            <a:endParaRPr lang="en-US" sz="1600" dirty="0"/>
          </a:p>
        </p:txBody>
      </p:sp>
      <p:sp>
        <p:nvSpPr>
          <p:cNvPr id="6" name="progress-dot"/>
          <p:cNvSpPr/>
          <p:nvPr/>
        </p:nvSpPr>
        <p:spPr>
          <a:xfrm>
            <a:off x="10323576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progress-dot"/>
          <p:cNvSpPr/>
          <p:nvPr/>
        </p:nvSpPr>
        <p:spPr>
          <a:xfrm>
            <a:off x="10561320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progress-dot"/>
          <p:cNvSpPr/>
          <p:nvPr/>
        </p:nvSpPr>
        <p:spPr>
          <a:xfrm>
            <a:off x="10799064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progress-dot"/>
          <p:cNvSpPr/>
          <p:nvPr/>
        </p:nvSpPr>
        <p:spPr>
          <a:xfrm>
            <a:off x="11036808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progress-dot"/>
          <p:cNvSpPr/>
          <p:nvPr/>
        </p:nvSpPr>
        <p:spPr>
          <a:xfrm>
            <a:off x="11274552" y="274320"/>
            <a:ext cx="128016" cy="12801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1" name="progress-dot"/>
          <p:cNvSpPr/>
          <p:nvPr/>
        </p:nvSpPr>
        <p:spPr>
          <a:xfrm>
            <a:off x="11512296" y="274320"/>
            <a:ext cx="128016" cy="128016"/>
          </a:xfrm>
          <a:prstGeom prst="ellipse">
            <a:avLst/>
          </a:prstGeom>
          <a:solidFill>
            <a:schemeClr val="accent6">
              <a:alpha val="60000"/>
            </a:schemeClr>
          </a:solidFill>
          <a:ln/>
        </p:spPr>
      </p:sp>
      <p:pic>
        <p:nvPicPr>
          <p:cNvPr id="12" name="Image 0" descr="/tmp/claude-0/-home-claude/96d60298-d9d1-5ce2-b774-39e8aefb4386/scratchpad/assets/m4-oidc-check-branch-block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74520"/>
            <a:ext cx="7040880" cy="3557016"/>
          </a:xfrm>
          <a:prstGeom prst="rect">
            <a:avLst/>
          </a:prstGeom>
        </p:spPr>
      </p:pic>
      <p:sp>
        <p:nvSpPr>
          <p:cNvPr id="13" name="ring"/>
          <p:cNvSpPr/>
          <p:nvPr/>
        </p:nvSpPr>
        <p:spPr>
          <a:xfrm>
            <a:off x="3095932" y="2608464"/>
            <a:ext cx="859465" cy="200731"/>
          </a:xfrm>
          <a:prstGeom prst="roundRect">
            <a:avLst>
              <a:gd name="adj" fmla="val 22777"/>
            </a:avLst>
          </a:prstGeom>
          <a:noFill/>
          <a:ln w="31750">
            <a:solidFill>
              <a:schemeClr val="accent2"/>
            </a:solidFill>
            <a:prstDash val="solid"/>
          </a:ln>
        </p:spPr>
      </p:sp>
      <p:sp>
        <p:nvSpPr>
          <p:cNvPr id="14" name="ring"/>
          <p:cNvSpPr/>
          <p:nvPr/>
        </p:nvSpPr>
        <p:spPr>
          <a:xfrm>
            <a:off x="2514143" y="5113869"/>
            <a:ext cx="3496082" cy="260147"/>
          </a:xfrm>
          <a:prstGeom prst="roundRect">
            <a:avLst>
              <a:gd name="adj" fmla="val 17575"/>
            </a:avLst>
          </a:prstGeom>
          <a:noFill/>
          <a:ln w="31750">
            <a:solidFill>
              <a:schemeClr val="accent3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863840" y="1920240"/>
            <a:ext cx="3749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橘框：分支 test/oidc-from-branch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不是 main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7863840" y="3108960"/>
            <a:ext cx="3749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紅框：environment protection rules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GitHub 不發身分證明，AWS 連請求都沒收到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7863840" y="4297680"/>
            <a:ext cx="3749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只准 main、只准 destroy 這個 environment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只有能在 main 觸發的人拆得了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261872" y="384048"/>
            <a:ext cx="7589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看不到的地方 ④｜帳不會掉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17043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先把單據夾進出單夾，再把餐端給客人</a:t>
            </a:r>
            <a:endParaRPr lang="en-US" sz="2000" dirty="0"/>
          </a:p>
        </p:txBody>
      </p:sp>
      <p:sp>
        <p:nvSpPr>
          <p:cNvPr id="4" name="agenda-number"/>
          <p:cNvSpPr/>
          <p:nvPr/>
        </p:nvSpPr>
        <p:spPr>
          <a:xfrm>
            <a:off x="548640" y="438912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4389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</a:t>
            </a:r>
            <a:endParaRPr lang="en-US" sz="1600" dirty="0"/>
          </a:p>
        </p:txBody>
      </p:sp>
      <p:sp>
        <p:nvSpPr>
          <p:cNvPr id="6" name="progress-dot"/>
          <p:cNvSpPr/>
          <p:nvPr/>
        </p:nvSpPr>
        <p:spPr>
          <a:xfrm>
            <a:off x="10323576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progress-dot"/>
          <p:cNvSpPr/>
          <p:nvPr/>
        </p:nvSpPr>
        <p:spPr>
          <a:xfrm>
            <a:off x="10561320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progress-dot"/>
          <p:cNvSpPr/>
          <p:nvPr/>
        </p:nvSpPr>
        <p:spPr>
          <a:xfrm>
            <a:off x="10799064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progress-dot"/>
          <p:cNvSpPr/>
          <p:nvPr/>
        </p:nvSpPr>
        <p:spPr>
          <a:xfrm>
            <a:off x="11036808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progress-dot"/>
          <p:cNvSpPr/>
          <p:nvPr/>
        </p:nvSpPr>
        <p:spPr>
          <a:xfrm>
            <a:off x="11274552" y="274320"/>
            <a:ext cx="128016" cy="12801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1" name="progress-dot"/>
          <p:cNvSpPr/>
          <p:nvPr/>
        </p:nvSpPr>
        <p:spPr>
          <a:xfrm>
            <a:off x="11512296" y="274320"/>
            <a:ext cx="128016" cy="128016"/>
          </a:xfrm>
          <a:prstGeom prst="ellipse">
            <a:avLst/>
          </a:prstGeom>
          <a:solidFill>
            <a:schemeClr val="accent6">
              <a:alpha val="60000"/>
            </a:schemeClr>
          </a:solidFill>
          <a:ln/>
        </p:spPr>
      </p:sp>
      <p:sp>
        <p:nvSpPr>
          <p:cNvPr id="12" name="Shape 10"/>
          <p:cNvSpPr/>
          <p:nvPr/>
        </p:nvSpPr>
        <p:spPr>
          <a:xfrm>
            <a:off x="548640" y="2194560"/>
            <a:ext cx="2194560" cy="1005840"/>
          </a:xfrm>
          <a:prstGeom prst="roundRect">
            <a:avLst>
              <a:gd name="adj" fmla="val 9091"/>
            </a:avLst>
          </a:prstGeom>
          <a:solidFill>
            <a:schemeClr val="tx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94360" y="219456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LLM Gateway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算好 HMAC 與摘要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2788920" y="2697480"/>
            <a:ext cx="548640" cy="0"/>
          </a:xfrm>
          <a:prstGeom prst="line">
            <a:avLst/>
          </a:prstGeom>
          <a:noFill/>
          <a:ln w="3175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3383280" y="2194560"/>
            <a:ext cx="2194560" cy="1005840"/>
          </a:xfrm>
          <a:prstGeom prst="roundRect">
            <a:avLst>
              <a:gd name="adj" fmla="val 9091"/>
            </a:avLst>
          </a:prstGeom>
          <a:solidFill>
            <a:schemeClr val="tx2"/>
          </a:solidFill>
          <a:ln w="25400">
            <a:solidFill>
              <a:schemeClr val="accent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429000" y="219456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SQS 出單夾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確認收到才回答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623560" y="2697480"/>
            <a:ext cx="548640" cy="0"/>
          </a:xfrm>
          <a:prstGeom prst="line">
            <a:avLst/>
          </a:prstGeom>
          <a:noFill/>
          <a:ln w="3175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6217920" y="2194560"/>
            <a:ext cx="2194560" cy="1005840"/>
          </a:xfrm>
          <a:prstGeom prst="roundRect">
            <a:avLst>
              <a:gd name="adj" fmla="val 9091"/>
            </a:avLst>
          </a:prstGeom>
          <a:solidFill>
            <a:schemeClr val="tx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263640" y="219456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Lambda 後台會計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算成本・寫帳・扣額度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458200" y="2697480"/>
            <a:ext cx="548640" cy="0"/>
          </a:xfrm>
          <a:prstGeom prst="line">
            <a:avLst/>
          </a:prstGeom>
          <a:noFill/>
          <a:ln w="3175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9052560" y="2194560"/>
            <a:ext cx="2560320" cy="1005840"/>
          </a:xfrm>
          <a:prstGeom prst="roundRect">
            <a:avLst>
              <a:gd name="adj" fmla="val 9091"/>
            </a:avLst>
          </a:prstGeom>
          <a:solidFill>
            <a:schemeClr val="tx2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098280" y="219456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DynamoDB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用量表・稽核表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480560" y="3246120"/>
            <a:ext cx="0" cy="457200"/>
          </a:xfrm>
          <a:prstGeom prst="line">
            <a:avLst/>
          </a:prstGeom>
          <a:noFill/>
          <a:ln w="3175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3383280" y="3749040"/>
            <a:ext cx="2194560" cy="731520"/>
          </a:xfrm>
          <a:prstGeom prst="roundRect">
            <a:avLst>
              <a:gd name="adj" fmla="val 12500"/>
            </a:avLst>
          </a:prstGeom>
          <a:solidFill>
            <a:schemeClr val="accent3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3429000" y="374904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DLQ 死信佇列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失敗 5 次放這裡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6217920" y="3383280"/>
            <a:ext cx="5394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為什麼先進佇列：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LiteLLM 先回答、再寫帳，中間當機帳就掉了；我反過來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47548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驗收 1｜Worker 停工，4 題照答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5120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驗收 2｜壞訊息 5 次，進 DLQ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548640" y="54864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驗收 3｜Gateway 停掉，帳還在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34</a:t>
            </a:fld>
            <a:endParaRPr lang="en-US"/>
          </a:p>
        </p:txBody>
      </p:sp>
      <p:sp>
        <p:nvSpPr>
          <p:cNvPr id="30" name="pt-card"/>
          <p:cNvSpPr/>
          <p:nvPr/>
        </p:nvSpPr>
        <p:spPr>
          <a:xfrm>
            <a:off x="6217920" y="4754880"/>
            <a:ext cx="5394960" cy="1280160"/>
          </a:xfrm>
          <a:prstGeom prst="roundRect">
            <a:avLst>
              <a:gd name="adj" fmla="val 7142"/>
            </a:avLst>
          </a:prstGeom>
          <a:solidFill>
            <a:schemeClr val="tx2"/>
          </a:solidFill>
          <a:ln/>
        </p:spPr>
      </p:sp>
      <p:sp>
        <p:nvSpPr>
          <p:cNvPr id="31" name="Text"/>
          <p:cNvSpPr txBox="1"/>
          <p:nvPr/>
        </p:nvSpPr>
        <p:spPr>
          <a:xfrm>
            <a:off x="6400800" y="4754880"/>
            <a:ext cx="5029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出單夾壞了，也照常營業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SQS 送不進去：回答照給，Gateway 自己記帳</a:t>
            </a:r>
            <a:endParaRPr lang="en-US" sz="16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261872" y="384048"/>
            <a:ext cx="7589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看不到的地方 ⑤｜小型 agent（M7）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17043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管家花的是你的錢，所以要有預算、門禁、帳本</a:t>
            </a:r>
            <a:endParaRPr lang="en-US" sz="2000" dirty="0"/>
          </a:p>
        </p:txBody>
      </p:sp>
      <p:sp>
        <p:nvSpPr>
          <p:cNvPr id="4" name="agenda-number"/>
          <p:cNvSpPr/>
          <p:nvPr/>
        </p:nvSpPr>
        <p:spPr>
          <a:xfrm>
            <a:off x="548640" y="438912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4389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</a:t>
            </a:r>
            <a:endParaRPr lang="en-US" sz="1600" dirty="0"/>
          </a:p>
        </p:txBody>
      </p:sp>
      <p:sp>
        <p:nvSpPr>
          <p:cNvPr id="6" name="progress-dot"/>
          <p:cNvSpPr/>
          <p:nvPr/>
        </p:nvSpPr>
        <p:spPr>
          <a:xfrm>
            <a:off x="10323576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progress-dot"/>
          <p:cNvSpPr/>
          <p:nvPr/>
        </p:nvSpPr>
        <p:spPr>
          <a:xfrm>
            <a:off x="10561320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progress-dot"/>
          <p:cNvSpPr/>
          <p:nvPr/>
        </p:nvSpPr>
        <p:spPr>
          <a:xfrm>
            <a:off x="10799064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progress-dot"/>
          <p:cNvSpPr/>
          <p:nvPr/>
        </p:nvSpPr>
        <p:spPr>
          <a:xfrm>
            <a:off x="11036808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progress-dot"/>
          <p:cNvSpPr/>
          <p:nvPr/>
        </p:nvSpPr>
        <p:spPr>
          <a:xfrm>
            <a:off x="11274552" y="274320"/>
            <a:ext cx="128016" cy="12801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1" name="progress-dot"/>
          <p:cNvSpPr/>
          <p:nvPr/>
        </p:nvSpPr>
        <p:spPr>
          <a:xfrm>
            <a:off x="11512296" y="274320"/>
            <a:ext cx="128016" cy="128016"/>
          </a:xfrm>
          <a:prstGeom prst="ellipse">
            <a:avLst/>
          </a:prstGeom>
          <a:solidFill>
            <a:schemeClr val="accent6">
              <a:alpha val="60000"/>
            </a:schemeClr>
          </a:solidFill>
          <a:ln/>
        </p:spPr>
      </p:sp>
      <p:sp>
        <p:nvSpPr>
          <p:cNvPr id="12" name="Shape 10"/>
          <p:cNvSpPr/>
          <p:nvPr/>
        </p:nvSpPr>
        <p:spPr>
          <a:xfrm>
            <a:off x="548640" y="2194560"/>
            <a:ext cx="2103120" cy="91440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94360" y="219456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想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模型決定下一步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2697480" y="2651760"/>
            <a:ext cx="502920" cy="0"/>
          </a:xfrm>
          <a:prstGeom prst="line">
            <a:avLst/>
          </a:prstGeom>
          <a:noFill/>
          <a:ln w="3175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3246120" y="2194560"/>
            <a:ext cx="2103120" cy="91440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3291840" y="219456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CALL 工具(參數)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腳本執行本機小工具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394960" y="2651760"/>
            <a:ext cx="502920" cy="0"/>
          </a:xfrm>
          <a:prstGeom prst="line">
            <a:avLst/>
          </a:prstGeom>
          <a:noFill/>
          <a:ln w="3175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5943600" y="2194560"/>
            <a:ext cx="2103120" cy="91440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989320" y="219456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看結果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放進下一輪的 message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092440" y="2651760"/>
            <a:ext cx="502920" cy="0"/>
          </a:xfrm>
          <a:prstGeom prst="line">
            <a:avLst/>
          </a:prstGeom>
          <a:noFill/>
          <a:ln w="3175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8641080" y="2194560"/>
            <a:ext cx="2103120" cy="91440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 w="25400">
            <a:solidFill>
              <a:schemeClr val="accent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686800" y="219456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FINAL 回答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結束；有最大步數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 flipV="1">
            <a:off x="6995160" y="3154680"/>
            <a:ext cx="0" cy="457200"/>
          </a:xfrm>
          <a:prstGeom prst="line">
            <a:avLst/>
          </a:prstGeom>
          <a:noFill/>
          <a:ln w="317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1600200" y="3611880"/>
            <a:ext cx="5394960" cy="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 flipV="1">
            <a:off x="1600200" y="3154680"/>
            <a:ext cx="0" cy="457200"/>
          </a:xfrm>
          <a:prstGeom prst="line">
            <a:avLst/>
          </a:prstGeom>
          <a:noFill/>
          <a:ln w="317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26" name="gateway-bar"/>
          <p:cNvSpPr/>
          <p:nvPr/>
        </p:nvSpPr>
        <p:spPr>
          <a:xfrm>
            <a:off x="548640" y="3977640"/>
            <a:ext cx="10195560" cy="640080"/>
          </a:xfrm>
          <a:prstGeom prst="roundRect">
            <a:avLst>
              <a:gd name="adj" fmla="val 14286"/>
            </a:avLst>
          </a:prstGeom>
          <a:solidFill>
            <a:schemeClr val="accent2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777240" y="3977640"/>
            <a:ext cx="9784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每一輪呼叫都經過 Gateway：身分、額度、遮罩、稽核；Gateway 的程式一行都不改（文字約定）</a:t>
            </a:r>
            <a:endParaRPr lang="en-US" sz="180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4846320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驗收 1｜兩三步的任務正常完成，稽核看得到每一步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548640" y="5230368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驗收 2｜拿掉步數上限、改用 alice：迴圈被 429 擋下</a:t>
            </a:r>
            <a:endParaRPr lang="en-US" sz="1600" dirty="0"/>
          </a:p>
        </p:txBody>
      </p:sp>
      <p:sp>
        <p:nvSpPr>
          <p:cNvPr id="30" name="todo"/>
          <p:cNvSpPr/>
          <p:nvPr/>
        </p:nvSpPr>
        <p:spPr>
          <a:xfrm>
            <a:off x="6217920" y="4846320"/>
            <a:ext cx="5394960" cy="1188720"/>
          </a:xfrm>
          <a:prstGeom prst="roundRect">
            <a:avLst>
              <a:gd name="adj" fmla="val 7692"/>
            </a:avLst>
          </a:prstGeom>
          <a:solidFill>
            <a:schemeClr val="tx1"/>
          </a:solidFill>
          <a:ln w="15875">
            <a:solidFill>
              <a:schemeClr val="accent6"/>
            </a:solidFill>
            <a:prstDash val="dash"/>
          </a:ln>
        </p:spPr>
      </p:sp>
      <p:sp>
        <p:nvSpPr>
          <p:cNvPr id="31" name="Text 29"/>
          <p:cNvSpPr txBox="1"/>
          <p:nvPr/>
        </p:nvSpPr>
        <p:spPr>
          <a:xfrm>
            <a:off x="6400800" y="52120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驗收畫面（M7 完成後補）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261872" y="384048"/>
            <a:ext cx="7589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結語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17043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員工照常用 AI，老闆看得懂帳單，資安查得到紀錄</a:t>
            </a:r>
            <a:endParaRPr lang="en-US" sz="2000" dirty="0"/>
          </a:p>
        </p:txBody>
      </p:sp>
      <p:sp>
        <p:nvSpPr>
          <p:cNvPr id="4" name="agenda-number"/>
          <p:cNvSpPr/>
          <p:nvPr/>
        </p:nvSpPr>
        <p:spPr>
          <a:xfrm>
            <a:off x="548640" y="438912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4389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06</a:t>
            </a:r>
            <a:endParaRPr lang="en-US" sz="1600" dirty="0"/>
          </a:p>
        </p:txBody>
      </p:sp>
      <p:sp>
        <p:nvSpPr>
          <p:cNvPr id="6" name="progress-dot"/>
          <p:cNvSpPr/>
          <p:nvPr/>
        </p:nvSpPr>
        <p:spPr>
          <a:xfrm>
            <a:off x="10323576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progress-dot"/>
          <p:cNvSpPr/>
          <p:nvPr/>
        </p:nvSpPr>
        <p:spPr>
          <a:xfrm>
            <a:off x="10561320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progress-dot"/>
          <p:cNvSpPr/>
          <p:nvPr/>
        </p:nvSpPr>
        <p:spPr>
          <a:xfrm>
            <a:off x="10799064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progress-dot"/>
          <p:cNvSpPr/>
          <p:nvPr/>
        </p:nvSpPr>
        <p:spPr>
          <a:xfrm>
            <a:off x="11036808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progress-dot"/>
          <p:cNvSpPr/>
          <p:nvPr/>
        </p:nvSpPr>
        <p:spPr>
          <a:xfrm>
            <a:off x="11274552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1" name="progress-dot"/>
          <p:cNvSpPr/>
          <p:nvPr/>
        </p:nvSpPr>
        <p:spPr>
          <a:xfrm>
            <a:off x="11512296" y="274320"/>
            <a:ext cx="128016" cy="12801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2" name="stat-card"/>
          <p:cNvSpPr/>
          <p:nvPr/>
        </p:nvSpPr>
        <p:spPr>
          <a:xfrm>
            <a:off x="548640" y="1965960"/>
            <a:ext cx="3474720" cy="2103120"/>
          </a:xfrm>
          <a:prstGeom prst="roundRect">
            <a:avLst>
              <a:gd name="adj" fmla="val 4348"/>
            </a:avLst>
          </a:prstGeom>
          <a:solidFill>
            <a:schemeClr val="tx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22960" y="2057400"/>
            <a:ext cx="2926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25.3%</a:t>
            </a:r>
            <a:endParaRPr lang="en-US" sz="54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30632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省下的模型成本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347472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 題・簡單題佔 65%</a:t>
            </a:r>
            <a:endParaRPr lang="en-US" sz="1600" dirty="0"/>
          </a:p>
        </p:txBody>
      </p:sp>
      <p:sp>
        <p:nvSpPr>
          <p:cNvPr id="16" name="stat-card"/>
          <p:cNvSpPr/>
          <p:nvPr/>
        </p:nvSpPr>
        <p:spPr>
          <a:xfrm>
            <a:off x="4343400" y="1965960"/>
            <a:ext cx="3474720" cy="2103120"/>
          </a:xfrm>
          <a:prstGeom prst="roundRect">
            <a:avLst>
              <a:gd name="adj" fmla="val 4348"/>
            </a:avLst>
          </a:prstGeom>
          <a:solidFill>
            <a:schemeClr val="tx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617720" y="2057400"/>
            <a:ext cx="2926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 類</a:t>
            </a:r>
            <a:endParaRPr lang="en-US" sz="5400" dirty="0"/>
          </a:p>
        </p:txBody>
      </p:sp>
      <p:sp>
        <p:nvSpPr>
          <p:cNvPr id="18" name="Text 16"/>
          <p:cNvSpPr txBox="1"/>
          <p:nvPr/>
        </p:nvSpPr>
        <p:spPr>
          <a:xfrm>
            <a:off x="4617720" y="30632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個資在送出前遮罩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4617720" y="347472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身分證・手機・Email・信用卡</a:t>
            </a:r>
            <a:endParaRPr lang="en-US" sz="1600" dirty="0"/>
          </a:p>
        </p:txBody>
      </p:sp>
      <p:sp>
        <p:nvSpPr>
          <p:cNvPr id="20" name="stat-card"/>
          <p:cNvSpPr/>
          <p:nvPr/>
        </p:nvSpPr>
        <p:spPr>
          <a:xfrm>
            <a:off x="8138160" y="1965960"/>
            <a:ext cx="3474720" cy="2103120"/>
          </a:xfrm>
          <a:prstGeom prst="roundRect">
            <a:avLst>
              <a:gd name="adj" fmla="val 4348"/>
            </a:avLst>
          </a:prstGeom>
          <a:solidFill>
            <a:schemeClr val="tx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412480" y="2057400"/>
            <a:ext cx="2926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US$11</a:t>
            </a:r>
            <a:endParaRPr lang="en-US" sz="5400" dirty="0"/>
          </a:p>
        </p:txBody>
      </p:sp>
      <p:sp>
        <p:nvSpPr>
          <p:cNvPr id="22" name="Text 20"/>
          <p:cNvSpPr txBox="1"/>
          <p:nvPr/>
        </p:nvSpPr>
        <p:spPr>
          <a:xfrm>
            <a:off x="8412480" y="30632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專題全期花費（預估）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8412480" y="347472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雲端用完就拆，一鍵 4 分 11 秒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43891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評估後不做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2103120" y="4389120"/>
            <a:ext cx="1645920" cy="457200"/>
          </a:xfrm>
          <a:prstGeom prst="roundRect">
            <a:avLst>
              <a:gd name="adj" fmla="val 16000"/>
            </a:avLst>
          </a:prstGeom>
          <a:solidFill>
            <a:schemeClr val="accent6">
              <a:alpha val="45000"/>
            </a:schemeClr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AWS WAF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3858768" y="4389120"/>
            <a:ext cx="1508760" cy="457200"/>
          </a:xfrm>
          <a:prstGeom prst="roundRect">
            <a:avLst>
              <a:gd name="adj" fmla="val 16000"/>
            </a:avLst>
          </a:prstGeom>
          <a:solidFill>
            <a:schemeClr val="accent6">
              <a:alpha val="45000"/>
            </a:schemeClr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多可用區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5477256" y="4389120"/>
            <a:ext cx="2377440" cy="457200"/>
          </a:xfrm>
          <a:prstGeom prst="roundRect">
            <a:avLst>
              <a:gd name="adj" fmla="val 16000"/>
            </a:avLst>
          </a:prstGeom>
          <a:solidFill>
            <a:schemeClr val="accent6">
              <a:alpha val="45000"/>
            </a:schemeClr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知識檢索（RAG）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8001000" y="43891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理由與正式環境的做法，寫在文件</a:t>
            </a:r>
            <a:endParaRPr lang="en-US" sz="1600" dirty="0"/>
          </a:p>
        </p:txBody>
      </p:sp>
      <p:sp>
        <p:nvSpPr>
          <p:cNvPr id="29" name="positioning"/>
          <p:cNvSpPr/>
          <p:nvPr/>
        </p:nvSpPr>
        <p:spPr>
          <a:xfrm>
            <a:off x="548640" y="5074920"/>
            <a:ext cx="11064240" cy="91440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/>
        </p:spPr>
      </p:sp>
      <p:sp>
        <p:nvSpPr>
          <p:cNvPr id="30" name="Shape 28"/>
          <p:cNvSpPr/>
          <p:nvPr/>
        </p:nvSpPr>
        <p:spPr>
          <a:xfrm>
            <a:off x="777240" y="5193792"/>
            <a:ext cx="685800" cy="68580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3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8690" y="5365242"/>
            <a:ext cx="342900" cy="342900"/>
          </a:xfrm>
          <a:prstGeom prst="rect">
            <a:avLst/>
          </a:prstGeom>
        </p:spPr>
      </p:pic>
      <p:sp>
        <p:nvSpPr>
          <p:cNvPr id="32" name="Text 29"/>
          <p:cNvSpPr txBox="1"/>
          <p:nvPr/>
        </p:nvSpPr>
        <p:spPr>
          <a:xfrm>
            <a:off x="1691640" y="5074920"/>
            <a:ext cx="9692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我能把 AI 服務 </a:t>
            </a:r>
            <a:pPr indent="0" marL="0">
              <a:buNone/>
            </a:pPr>
            <a:r>
              <a:rPr lang="en-US" sz="2400" b="1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安全地、算得清楚地</a:t>
            </a:r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放上雲端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737360"/>
            <a:ext cx="6766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謝謝聆聽</a:t>
            </a:r>
            <a:endParaRPr lang="en-US" sz="5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78892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歡迎提問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61188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雲端工程師｜負責 LLM 上線之後的治理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512064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杜柏豫</a:t>
            </a:r>
            <a:endParaRPr lang="en-US" sz="1800" dirty="0"/>
          </a:p>
        </p:txBody>
      </p:sp>
      <p:sp>
        <p:nvSpPr>
          <p:cNvPr id="6" name="qr-card"/>
          <p:cNvSpPr/>
          <p:nvPr/>
        </p:nvSpPr>
        <p:spPr>
          <a:xfrm>
            <a:off x="8549640" y="1600200"/>
            <a:ext cx="2743200" cy="2743200"/>
          </a:xfrm>
          <a:prstGeom prst="roundRect">
            <a:avLst>
              <a:gd name="adj" fmla="val 4000"/>
            </a:avLst>
          </a:prstGeom>
          <a:solidFill>
            <a:schemeClr val="bg1"/>
          </a:solidFill>
          <a:ln/>
        </p:spPr>
      </p:sp>
      <p:pic>
        <p:nvPicPr>
          <p:cNvPr id="7" name="Image 0" descr="/tmp/claude-0/-home-claude/96d60298-d9d1-5ce2-b774-39e8aefb4386/scratchpad/assets/qr-githu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0" y="1737360"/>
            <a:ext cx="2468880" cy="2468880"/>
          </a:xfrm>
          <a:prstGeom prst="rect">
            <a:avLst/>
          </a:prstGeom>
        </p:spPr>
      </p:pic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4608576"/>
            <a:ext cx="310896" cy="310896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8412480" y="4553712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github.com/Poyu-Tu/llm-gateway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8412480" y="496519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程式、證據紀錄與截圖</a:t>
            </a:r>
            <a:endParaRPr lang="en-US" sz="16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261872" y="384048"/>
            <a:ext cx="7589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技術實踐｜個資 ③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17043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上雲之後，稽核進了資料表：還是只有指紋與摘要</a:t>
            </a:r>
            <a:endParaRPr lang="en-US" sz="2000" dirty="0"/>
          </a:p>
        </p:txBody>
      </p:sp>
      <p:sp>
        <p:nvSpPr>
          <p:cNvPr id="4" name="agenda-number"/>
          <p:cNvSpPr/>
          <p:nvPr/>
        </p:nvSpPr>
        <p:spPr>
          <a:xfrm>
            <a:off x="548640" y="438912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4389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</a:t>
            </a:r>
            <a:endParaRPr lang="en-US" sz="1600" dirty="0"/>
          </a:p>
        </p:txBody>
      </p:sp>
      <p:sp>
        <p:nvSpPr>
          <p:cNvPr id="6" name="progress-dot"/>
          <p:cNvSpPr/>
          <p:nvPr/>
        </p:nvSpPr>
        <p:spPr>
          <a:xfrm>
            <a:off x="10323576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progress-dot"/>
          <p:cNvSpPr/>
          <p:nvPr/>
        </p:nvSpPr>
        <p:spPr>
          <a:xfrm>
            <a:off x="10561320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progress-dot"/>
          <p:cNvSpPr/>
          <p:nvPr/>
        </p:nvSpPr>
        <p:spPr>
          <a:xfrm>
            <a:off x="10799064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progress-dot"/>
          <p:cNvSpPr/>
          <p:nvPr/>
        </p:nvSpPr>
        <p:spPr>
          <a:xfrm>
            <a:off x="11036808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progress-dot"/>
          <p:cNvSpPr/>
          <p:nvPr/>
        </p:nvSpPr>
        <p:spPr>
          <a:xfrm>
            <a:off x="11274552" y="274320"/>
            <a:ext cx="128016" cy="12801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1" name="progress-dot"/>
          <p:cNvSpPr/>
          <p:nvPr/>
        </p:nvSpPr>
        <p:spPr>
          <a:xfrm>
            <a:off x="11512296" y="274320"/>
            <a:ext cx="128016" cy="128016"/>
          </a:xfrm>
          <a:prstGeom prst="ellipse">
            <a:avLst/>
          </a:prstGeom>
          <a:solidFill>
            <a:schemeClr val="accent6">
              <a:alpha val="60000"/>
            </a:schemeClr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  <p:pic>
        <p:nvPicPr>
          <p:cNvPr id="26" name="S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1783080"/>
            <a:ext cx="7315200" cy="3955806"/>
          </a:xfrm>
          <a:prstGeom prst="rect">
            <a:avLst/>
          </a:prstGeom>
        </p:spPr>
      </p:pic>
      <p:sp>
        <p:nvSpPr>
          <p:cNvPr id="27" name="ring"/>
          <p:cNvSpPr/>
          <p:nvPr/>
        </p:nvSpPr>
        <p:spPr>
          <a:xfrm>
            <a:off x="597326" y="3645352"/>
            <a:ext cx="7193482" cy="219090"/>
          </a:xfrm>
          <a:prstGeom prst="roundRect">
            <a:avLst>
              <a:gd name="adj" fmla="val 17083"/>
            </a:avLst>
          </a:prstGeom>
          <a:noFill/>
          <a:ln w="22225">
            <a:solidFill>
              <a:schemeClr val="accent2"/>
            </a:solidFill>
            <a:prstDash val="solid"/>
          </a:ln>
        </p:spPr>
      </p:sp>
      <p:sp>
        <p:nvSpPr>
          <p:cNvPr id="28" name="ring"/>
          <p:cNvSpPr/>
          <p:nvPr/>
        </p:nvSpPr>
        <p:spPr>
          <a:xfrm>
            <a:off x="597326" y="5093786"/>
            <a:ext cx="3359393" cy="219090"/>
          </a:xfrm>
          <a:prstGeom prst="roundRect">
            <a:avLst>
              <a:gd name="adj" fmla="val 17083"/>
            </a:avLst>
          </a:prstGeom>
          <a:noFill/>
          <a:ln w="22225">
            <a:solidFill>
              <a:schemeClr val="accent5"/>
            </a:solidFill>
            <a:prstDash val="solid"/>
          </a:ln>
        </p:spPr>
      </p:sp>
      <p:sp>
        <p:nvSpPr>
          <p:cNvPr id="29" name="ring"/>
          <p:cNvSpPr/>
          <p:nvPr/>
        </p:nvSpPr>
        <p:spPr>
          <a:xfrm>
            <a:off x="597326" y="1989999"/>
            <a:ext cx="1411918" cy="219090"/>
          </a:xfrm>
          <a:prstGeom prst="roundRect">
            <a:avLst>
              <a:gd name="adj" fmla="val 17083"/>
            </a:avLst>
          </a:prstGeom>
          <a:noFill/>
          <a:ln w="22225">
            <a:solidFill>
              <a:schemeClr val="bg1"/>
            </a:solidFill>
            <a:prstDash val="solid"/>
          </a:ln>
        </p:spPr>
      </p:sp>
      <p:sp>
        <p:nvSpPr>
          <p:cNvPr id="30" name="pt-card"/>
          <p:cNvSpPr/>
          <p:nvPr/>
        </p:nvSpPr>
        <p:spPr>
          <a:xfrm>
            <a:off x="8138160" y="1783080"/>
            <a:ext cx="3474720" cy="1234440"/>
          </a:xfrm>
          <a:prstGeom prst="roundRect">
            <a:avLst>
              <a:gd name="adj" fmla="val 7407"/>
            </a:avLst>
          </a:prstGeom>
          <a:solidFill>
            <a:schemeClr val="tx2"/>
          </a:solidFill>
          <a:ln/>
        </p:spPr>
      </p:sp>
      <p:sp>
        <p:nvSpPr>
          <p:cNvPr id="31" name="Text"/>
          <p:cNvSpPr txBox="1"/>
          <p:nvPr/>
        </p:nvSpPr>
        <p:spPr>
          <a:xfrm>
            <a:off x="8412480" y="1783080"/>
            <a:ext cx="29260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白框 → charged: True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這一筆由 Lambda 寫進雲端的 audit 表</a:t>
            </a:r>
            <a:endParaRPr lang="en-US" sz="1600" dirty="0"/>
          </a:p>
        </p:txBody>
      </p:sp>
      <p:sp>
        <p:nvSpPr>
          <p:cNvPr id="32" name="pt-card"/>
          <p:cNvSpPr/>
          <p:nvPr/>
        </p:nvSpPr>
        <p:spPr>
          <a:xfrm>
            <a:off x="8138160" y="3200400"/>
            <a:ext cx="3474720" cy="1234440"/>
          </a:xfrm>
          <a:prstGeom prst="roundRect">
            <a:avLst>
              <a:gd name="adj" fmla="val 7407"/>
            </a:avLst>
          </a:prstGeom>
          <a:solidFill>
            <a:schemeClr val="tx2"/>
          </a:solidFill>
          <a:ln/>
        </p:spPr>
      </p:sp>
      <p:sp>
        <p:nvSpPr>
          <p:cNvPr id="33" name="Text"/>
          <p:cNvSpPr txBox="1"/>
          <p:nvPr/>
        </p:nvSpPr>
        <p:spPr>
          <a:xfrm>
            <a:off x="8412480" y="3200400"/>
            <a:ext cx="29260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橘框 → 64 字的指紋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原文不存，只留 HMAC；拿原文來搜，搜不到</a:t>
            </a:r>
            <a:endParaRPr lang="en-US" sz="1600" dirty="0"/>
          </a:p>
        </p:txBody>
      </p:sp>
      <p:sp>
        <p:nvSpPr>
          <p:cNvPr id="34" name="pt-card"/>
          <p:cNvSpPr/>
          <p:nvPr/>
        </p:nvSpPr>
        <p:spPr>
          <a:xfrm>
            <a:off x="8138160" y="4617720"/>
            <a:ext cx="3474720" cy="1234440"/>
          </a:xfrm>
          <a:prstGeom prst="roundRect">
            <a:avLst>
              <a:gd name="adj" fmla="val 7407"/>
            </a:avLst>
          </a:prstGeom>
          <a:solidFill>
            <a:schemeClr val="tx2"/>
          </a:solidFill>
          <a:ln/>
        </p:spPr>
      </p:sp>
      <p:sp>
        <p:nvSpPr>
          <p:cNvPr id="35" name="Text"/>
          <p:cNvSpPr txBox="1"/>
          <p:nvPr/>
        </p:nvSpPr>
        <p:spPr>
          <a:xfrm>
            <a:off x="8412480" y="4617720"/>
            <a:ext cx="29260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accent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綠框 → 遮罩後的摘要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個資先換成標籤，才留摘要</a:t>
            </a:r>
            <a:endParaRPr lang="en-US" sz="1600" dirty="0"/>
          </a:p>
        </p:txBody>
      </p:sp>
      <p:sp>
        <p:nvSpPr>
          <p:cNvPr id="36" name="Text"/>
          <p:cNvSpPr txBox="1"/>
          <p:nvPr/>
        </p:nvSpPr>
        <p:spPr>
          <a:xfrm>
            <a:off x="548640" y="5876046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雲端 DynamoDB 的 audit 表：M5 上雲演練第 0 步（10/23）</a:t>
            </a:r>
            <a:endParaRPr lang="en-US" sz="16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261872" y="384048"/>
            <a:ext cx="7589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帳不會掉｜驗收畫面 ①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17043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會計停工：客人照樣拿到回答，帳單在出單夾裡等</a:t>
            </a:r>
            <a:endParaRPr lang="en-US" sz="2000" dirty="0"/>
          </a:p>
        </p:txBody>
      </p:sp>
      <p:sp>
        <p:nvSpPr>
          <p:cNvPr id="4" name="agenda-number"/>
          <p:cNvSpPr/>
          <p:nvPr/>
        </p:nvSpPr>
        <p:spPr>
          <a:xfrm>
            <a:off x="548640" y="438912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4389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</a:t>
            </a:r>
            <a:endParaRPr lang="en-US" sz="1600" dirty="0"/>
          </a:p>
        </p:txBody>
      </p:sp>
      <p:sp>
        <p:nvSpPr>
          <p:cNvPr id="6" name="progress-dot"/>
          <p:cNvSpPr/>
          <p:nvPr/>
        </p:nvSpPr>
        <p:spPr>
          <a:xfrm>
            <a:off x="10323576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progress-dot"/>
          <p:cNvSpPr/>
          <p:nvPr/>
        </p:nvSpPr>
        <p:spPr>
          <a:xfrm>
            <a:off x="10561320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progress-dot"/>
          <p:cNvSpPr/>
          <p:nvPr/>
        </p:nvSpPr>
        <p:spPr>
          <a:xfrm>
            <a:off x="10799064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progress-dot"/>
          <p:cNvSpPr/>
          <p:nvPr/>
        </p:nvSpPr>
        <p:spPr>
          <a:xfrm>
            <a:off x="11036808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progress-dot"/>
          <p:cNvSpPr/>
          <p:nvPr/>
        </p:nvSpPr>
        <p:spPr>
          <a:xfrm>
            <a:off x="11274552" y="274320"/>
            <a:ext cx="128016" cy="12801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1" name="progress-dot"/>
          <p:cNvSpPr/>
          <p:nvPr/>
        </p:nvSpPr>
        <p:spPr>
          <a:xfrm>
            <a:off x="11512296" y="274320"/>
            <a:ext cx="128016" cy="128016"/>
          </a:xfrm>
          <a:prstGeom prst="ellipse">
            <a:avLst/>
          </a:prstGeom>
          <a:solidFill>
            <a:schemeClr val="accent6">
              <a:alpha val="60000"/>
            </a:schemeClr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34</a:t>
            </a:fld>
            <a:endParaRPr lang="en-US"/>
          </a:p>
        </p:txBody>
      </p:sp>
      <p:pic>
        <p:nvPicPr>
          <p:cNvPr id="26" name="S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83080"/>
            <a:ext cx="5849297" cy="4343400"/>
          </a:xfrm>
          <a:prstGeom prst="rect">
            <a:avLst/>
          </a:prstGeom>
        </p:spPr>
      </p:pic>
      <p:sp>
        <p:nvSpPr>
          <p:cNvPr id="27" name="ring"/>
          <p:cNvSpPr/>
          <p:nvPr/>
        </p:nvSpPr>
        <p:spPr>
          <a:xfrm>
            <a:off x="576526" y="2605746"/>
            <a:ext cx="885412" cy="181265"/>
          </a:xfrm>
          <a:prstGeom prst="roundRect">
            <a:avLst>
              <a:gd name="adj" fmla="val 17083"/>
            </a:avLst>
          </a:prstGeom>
          <a:noFill/>
          <a:ln w="22225">
            <a:solidFill>
              <a:schemeClr val="accent2"/>
            </a:solidFill>
            <a:prstDash val="solid"/>
          </a:ln>
        </p:spPr>
      </p:sp>
      <p:sp>
        <p:nvSpPr>
          <p:cNvPr id="28" name="ring"/>
          <p:cNvSpPr/>
          <p:nvPr/>
        </p:nvSpPr>
        <p:spPr>
          <a:xfrm>
            <a:off x="576526" y="4174389"/>
            <a:ext cx="794779" cy="299785"/>
          </a:xfrm>
          <a:prstGeom prst="roundRect">
            <a:avLst>
              <a:gd name="adj" fmla="val 17083"/>
            </a:avLst>
          </a:prstGeom>
          <a:noFill/>
          <a:ln w="22225">
            <a:solidFill>
              <a:schemeClr val="accent2"/>
            </a:solidFill>
            <a:prstDash val="solid"/>
          </a:ln>
        </p:spPr>
      </p:sp>
      <p:sp>
        <p:nvSpPr>
          <p:cNvPr id="29" name="ring"/>
          <p:cNvSpPr/>
          <p:nvPr/>
        </p:nvSpPr>
        <p:spPr>
          <a:xfrm>
            <a:off x="3546491" y="3177429"/>
            <a:ext cx="2614405" cy="669287"/>
          </a:xfrm>
          <a:prstGeom prst="roundRect">
            <a:avLst>
              <a:gd name="adj" fmla="val 17083"/>
            </a:avLst>
          </a:prstGeom>
          <a:noFill/>
          <a:ln w="22225">
            <a:solidFill>
              <a:schemeClr val="bg1"/>
            </a:solidFill>
            <a:prstDash val="solid"/>
          </a:ln>
        </p:spPr>
      </p:sp>
      <p:sp>
        <p:nvSpPr>
          <p:cNvPr id="30" name="ring"/>
          <p:cNvSpPr/>
          <p:nvPr/>
        </p:nvSpPr>
        <p:spPr>
          <a:xfrm>
            <a:off x="2249746" y="5261982"/>
            <a:ext cx="460135" cy="202180"/>
          </a:xfrm>
          <a:prstGeom prst="roundRect">
            <a:avLst>
              <a:gd name="adj" fmla="val 17083"/>
            </a:avLst>
          </a:prstGeom>
          <a:noFill/>
          <a:ln w="22225">
            <a:solidFill>
              <a:schemeClr val="accent5"/>
            </a:solidFill>
            <a:prstDash val="solid"/>
          </a:ln>
        </p:spPr>
      </p:sp>
      <p:sp>
        <p:nvSpPr>
          <p:cNvPr id="31" name="pt-card"/>
          <p:cNvSpPr/>
          <p:nvPr/>
        </p:nvSpPr>
        <p:spPr>
          <a:xfrm>
            <a:off x="7223760" y="1783080"/>
            <a:ext cx="4389120" cy="11430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/>
        </p:spPr>
      </p:sp>
      <p:sp>
        <p:nvSpPr>
          <p:cNvPr id="32" name="Text"/>
          <p:cNvSpPr txBox="1"/>
          <p:nvPr/>
        </p:nvSpPr>
        <p:spPr>
          <a:xfrm>
            <a:off x="7498080" y="1783080"/>
            <a:ext cx="3840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Disabled → 4 題全答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停掉 Worker 的觸發，alice 連問 4 題都有回答</a:t>
            </a:r>
            <a:endParaRPr lang="en-US" sz="1600" dirty="0"/>
          </a:p>
        </p:txBody>
      </p:sp>
      <p:sp>
        <p:nvSpPr>
          <p:cNvPr id="33" name="pt-card"/>
          <p:cNvSpPr/>
          <p:nvPr/>
        </p:nvSpPr>
        <p:spPr>
          <a:xfrm>
            <a:off x="7223760" y="3063240"/>
            <a:ext cx="4389120" cy="11430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/>
        </p:spPr>
      </p:sp>
      <p:sp>
        <p:nvSpPr>
          <p:cNvPr id="34" name="Text"/>
          <p:cNvSpPr txBox="1"/>
          <p:nvPr/>
        </p:nvSpPr>
        <p:spPr>
          <a:xfrm>
            <a:off x="7498080" y="3063240"/>
            <a:ext cx="3840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佇列 4 則・額度已用 0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帳單在出單夾裡等，額度一毛沒動</a:t>
            </a:r>
            <a:endParaRPr lang="en-US" sz="16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261872" y="384048"/>
            <a:ext cx="7589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帳不會掉｜驗收畫面 ②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17043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看不懂的帳單，試 5 次就放進問題抽屜；別人的帳照記</a:t>
            </a:r>
            <a:endParaRPr lang="en-US" sz="2000" dirty="0"/>
          </a:p>
        </p:txBody>
      </p:sp>
      <p:sp>
        <p:nvSpPr>
          <p:cNvPr id="4" name="agenda-number"/>
          <p:cNvSpPr/>
          <p:nvPr/>
        </p:nvSpPr>
        <p:spPr>
          <a:xfrm>
            <a:off x="548640" y="438912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4389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</a:t>
            </a:r>
            <a:endParaRPr lang="en-US" sz="1600" dirty="0"/>
          </a:p>
        </p:txBody>
      </p:sp>
      <p:sp>
        <p:nvSpPr>
          <p:cNvPr id="6" name="progress-dot"/>
          <p:cNvSpPr/>
          <p:nvPr/>
        </p:nvSpPr>
        <p:spPr>
          <a:xfrm>
            <a:off x="10323576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progress-dot"/>
          <p:cNvSpPr/>
          <p:nvPr/>
        </p:nvSpPr>
        <p:spPr>
          <a:xfrm>
            <a:off x="10561320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progress-dot"/>
          <p:cNvSpPr/>
          <p:nvPr/>
        </p:nvSpPr>
        <p:spPr>
          <a:xfrm>
            <a:off x="10799064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progress-dot"/>
          <p:cNvSpPr/>
          <p:nvPr/>
        </p:nvSpPr>
        <p:spPr>
          <a:xfrm>
            <a:off x="11036808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progress-dot"/>
          <p:cNvSpPr/>
          <p:nvPr/>
        </p:nvSpPr>
        <p:spPr>
          <a:xfrm>
            <a:off x="11274552" y="274320"/>
            <a:ext cx="128016" cy="12801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1" name="progress-dot"/>
          <p:cNvSpPr/>
          <p:nvPr/>
        </p:nvSpPr>
        <p:spPr>
          <a:xfrm>
            <a:off x="11512296" y="274320"/>
            <a:ext cx="128016" cy="128016"/>
          </a:xfrm>
          <a:prstGeom prst="ellipse">
            <a:avLst/>
          </a:prstGeom>
          <a:solidFill>
            <a:schemeClr val="accent6">
              <a:alpha val="60000"/>
            </a:schemeClr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34</a:t>
            </a:fld>
            <a:endParaRPr lang="en-US"/>
          </a:p>
        </p:txBody>
      </p:sp>
      <p:pic>
        <p:nvPicPr>
          <p:cNvPr id="26" name="S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83080"/>
            <a:ext cx="6227669" cy="4343400"/>
          </a:xfrm>
          <a:prstGeom prst="rect">
            <a:avLst/>
          </a:prstGeom>
        </p:spPr>
      </p:pic>
      <p:sp>
        <p:nvSpPr>
          <p:cNvPr id="27" name="ring"/>
          <p:cNvSpPr/>
          <p:nvPr/>
        </p:nvSpPr>
        <p:spPr>
          <a:xfrm>
            <a:off x="580576" y="1815016"/>
            <a:ext cx="750513" cy="359288"/>
          </a:xfrm>
          <a:prstGeom prst="roundRect">
            <a:avLst>
              <a:gd name="adj" fmla="val 17083"/>
            </a:avLst>
          </a:prstGeom>
          <a:noFill/>
          <a:ln w="22225">
            <a:solidFill>
              <a:schemeClr val="accent2"/>
            </a:solidFill>
            <a:prstDash val="solid"/>
          </a:ln>
        </p:spPr>
      </p:sp>
      <p:sp>
        <p:nvSpPr>
          <p:cNvPr id="28" name="ring"/>
          <p:cNvSpPr/>
          <p:nvPr/>
        </p:nvSpPr>
        <p:spPr>
          <a:xfrm>
            <a:off x="580576" y="3850985"/>
            <a:ext cx="6147827" cy="998023"/>
          </a:xfrm>
          <a:prstGeom prst="roundRect">
            <a:avLst>
              <a:gd name="adj" fmla="val 17083"/>
            </a:avLst>
          </a:prstGeom>
          <a:noFill/>
          <a:ln w="22225">
            <a:solidFill>
              <a:schemeClr val="accent3"/>
            </a:solidFill>
            <a:prstDash val="solid"/>
          </a:ln>
        </p:spPr>
      </p:sp>
      <p:sp>
        <p:nvSpPr>
          <p:cNvPr id="29" name="ring"/>
          <p:cNvSpPr/>
          <p:nvPr/>
        </p:nvSpPr>
        <p:spPr>
          <a:xfrm>
            <a:off x="2832118" y="5583554"/>
            <a:ext cx="399209" cy="223557"/>
          </a:xfrm>
          <a:prstGeom prst="roundRect">
            <a:avLst>
              <a:gd name="adj" fmla="val 17083"/>
            </a:avLst>
          </a:prstGeom>
          <a:noFill/>
          <a:ln w="22225">
            <a:solidFill>
              <a:schemeClr val="accent5"/>
            </a:solidFill>
            <a:prstDash val="solid"/>
          </a:ln>
        </p:spPr>
      </p:sp>
      <p:sp>
        <p:nvSpPr>
          <p:cNvPr id="30" name="pt-card"/>
          <p:cNvSpPr/>
          <p:nvPr/>
        </p:nvSpPr>
        <p:spPr>
          <a:xfrm>
            <a:off x="7223760" y="1783080"/>
            <a:ext cx="4389120" cy="11430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/>
        </p:spPr>
      </p:sp>
      <p:sp>
        <p:nvSpPr>
          <p:cNvPr id="31" name="Text"/>
          <p:cNvSpPr txBox="1"/>
          <p:nvPr/>
        </p:nvSpPr>
        <p:spPr>
          <a:xfrm>
            <a:off x="7498080" y="1783080"/>
            <a:ext cx="3840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DLQ 1・主佇列 0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壞訊息進死信佇列，不卡住後面的單</a:t>
            </a:r>
            <a:endParaRPr lang="en-US" sz="1600" dirty="0"/>
          </a:p>
        </p:txBody>
      </p:sp>
      <p:sp>
        <p:nvSpPr>
          <p:cNvPr id="32" name="pt-card"/>
          <p:cNvSpPr/>
          <p:nvPr/>
        </p:nvSpPr>
        <p:spPr>
          <a:xfrm>
            <a:off x="7223760" y="3063240"/>
            <a:ext cx="4389120" cy="11430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/>
        </p:spPr>
      </p:sp>
      <p:sp>
        <p:nvSpPr>
          <p:cNvPr id="33" name="Text"/>
          <p:cNvSpPr txBox="1"/>
          <p:nvPr/>
        </p:nvSpPr>
        <p:spPr>
          <a:xfrm>
            <a:off x="7498080" y="3063240"/>
            <a:ext cx="3840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accent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"not json" → 失敗 5 次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 120 秒試一次，約 10 分鐘</a:t>
            </a:r>
            <a:endParaRPr lang="en-US" sz="1600" dirty="0"/>
          </a:p>
        </p:txBody>
      </p:sp>
      <p:sp>
        <p:nvSpPr>
          <p:cNvPr id="34" name="pt-card"/>
          <p:cNvSpPr/>
          <p:nvPr/>
        </p:nvSpPr>
        <p:spPr>
          <a:xfrm>
            <a:off x="7223760" y="4343400"/>
            <a:ext cx="4389120" cy="11430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/>
        </p:spPr>
      </p:sp>
      <p:sp>
        <p:nvSpPr>
          <p:cNvPr id="35" name="Text"/>
          <p:cNvSpPr txBox="1"/>
          <p:nvPr/>
        </p:nvSpPr>
        <p:spPr>
          <a:xfrm>
            <a:off x="7498080" y="4343400"/>
            <a:ext cx="3840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accent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bob 照常記帳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壞單卡著的時候，正常的帳照寫</a:t>
            </a:r>
            <a:endParaRPr lang="en-US" sz="16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261872" y="384048"/>
            <a:ext cx="7589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帳不會掉｜驗收畫面 ③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17043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出單夾被拿走：回答照給，同一秒改由閘道自己記帳</a:t>
            </a:r>
            <a:endParaRPr lang="en-US" sz="2000" dirty="0"/>
          </a:p>
        </p:txBody>
      </p:sp>
      <p:sp>
        <p:nvSpPr>
          <p:cNvPr id="4" name="agenda-number"/>
          <p:cNvSpPr/>
          <p:nvPr/>
        </p:nvSpPr>
        <p:spPr>
          <a:xfrm>
            <a:off x="548640" y="438912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4389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</a:t>
            </a:r>
            <a:endParaRPr lang="en-US" sz="1600" dirty="0"/>
          </a:p>
        </p:txBody>
      </p:sp>
      <p:sp>
        <p:nvSpPr>
          <p:cNvPr id="6" name="progress-dot"/>
          <p:cNvSpPr/>
          <p:nvPr/>
        </p:nvSpPr>
        <p:spPr>
          <a:xfrm>
            <a:off x="10323576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progress-dot"/>
          <p:cNvSpPr/>
          <p:nvPr/>
        </p:nvSpPr>
        <p:spPr>
          <a:xfrm>
            <a:off x="10561320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progress-dot"/>
          <p:cNvSpPr/>
          <p:nvPr/>
        </p:nvSpPr>
        <p:spPr>
          <a:xfrm>
            <a:off x="10799064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progress-dot"/>
          <p:cNvSpPr/>
          <p:nvPr/>
        </p:nvSpPr>
        <p:spPr>
          <a:xfrm>
            <a:off x="11036808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progress-dot"/>
          <p:cNvSpPr/>
          <p:nvPr/>
        </p:nvSpPr>
        <p:spPr>
          <a:xfrm>
            <a:off x="11274552" y="274320"/>
            <a:ext cx="128016" cy="12801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1" name="progress-dot"/>
          <p:cNvSpPr/>
          <p:nvPr/>
        </p:nvSpPr>
        <p:spPr>
          <a:xfrm>
            <a:off x="11512296" y="274320"/>
            <a:ext cx="128016" cy="128016"/>
          </a:xfrm>
          <a:prstGeom prst="ellipse">
            <a:avLst/>
          </a:prstGeom>
          <a:solidFill>
            <a:schemeClr val="accent6">
              <a:alpha val="60000"/>
            </a:schemeClr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34</a:t>
            </a:fld>
            <a:endParaRPr lang="en-US"/>
          </a:p>
        </p:txBody>
      </p:sp>
      <p:pic>
        <p:nvPicPr>
          <p:cNvPr id="26" name="S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83080"/>
            <a:ext cx="11064240" cy="4007964"/>
          </a:xfrm>
          <a:prstGeom prst="rect">
            <a:avLst/>
          </a:prstGeom>
        </p:spPr>
      </p:pic>
      <p:sp>
        <p:nvSpPr>
          <p:cNvPr id="27" name="ring"/>
          <p:cNvSpPr/>
          <p:nvPr/>
        </p:nvSpPr>
        <p:spPr>
          <a:xfrm>
            <a:off x="9933486" y="2658058"/>
            <a:ext cx="747965" cy="1778181"/>
          </a:xfrm>
          <a:prstGeom prst="roundRect">
            <a:avLst>
              <a:gd name="adj" fmla="val 17083"/>
            </a:avLst>
          </a:prstGeom>
          <a:noFill/>
          <a:ln w="22225">
            <a:solidFill>
              <a:schemeClr val="accent3"/>
            </a:solidFill>
            <a:prstDash val="solid"/>
          </a:ln>
        </p:spPr>
      </p:sp>
      <p:sp>
        <p:nvSpPr>
          <p:cNvPr id="28" name="ring"/>
          <p:cNvSpPr/>
          <p:nvPr/>
        </p:nvSpPr>
        <p:spPr>
          <a:xfrm>
            <a:off x="605090" y="5282992"/>
            <a:ext cx="10866664" cy="465714"/>
          </a:xfrm>
          <a:prstGeom prst="roundRect">
            <a:avLst>
              <a:gd name="adj" fmla="val 17083"/>
            </a:avLst>
          </a:prstGeom>
          <a:noFill/>
          <a:ln w="22225">
            <a:solidFill>
              <a:schemeClr val="accent2"/>
            </a:solidFill>
            <a:prstDash val="solid"/>
          </a:ln>
        </p:spPr>
      </p:sp>
      <p:sp>
        <p:nvSpPr>
          <p:cNvPr id="29" name="Text"/>
          <p:cNvSpPr txBox="1"/>
          <p:nvPr/>
        </p:nvSpPr>
        <p:spPr>
          <a:xfrm>
            <a:off x="548640" y="5928204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accent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紅框：拿掉 SQS 的放行，DNS 擋下（14:43:24）</a:t>
            </a:r>
            <a:endParaRPr lang="en-US" sz="1600" dirty="0"/>
          </a:p>
          <a:p>
            <a:pPr algn="l" indent="0" marL="0">
              <a:buNone/>
            </a:pPr>
            <a:r>
              <a:rPr lang="en-US" sz="1600" b="1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橘框：同一秒 Gateway 自己記帳，回答照給；bob 35 → 40，Worker 沒有紀錄</a:t>
            </a:r>
            <a:endParaRPr lang="en-US" sz="16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261872" y="384048"/>
            <a:ext cx="7589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四道檢查都過，上雲還是失敗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17043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證背面寫的規定，門禁測試機和校對員都不看</a:t>
            </a:r>
            <a:endParaRPr lang="en-US" sz="2000" dirty="0"/>
          </a:p>
        </p:txBody>
      </p:sp>
      <p:sp>
        <p:nvSpPr>
          <p:cNvPr id="4" name="agenda-number"/>
          <p:cNvSpPr/>
          <p:nvPr/>
        </p:nvSpPr>
        <p:spPr>
          <a:xfrm>
            <a:off x="548640" y="438912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4389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</a:t>
            </a:r>
            <a:endParaRPr lang="en-US" sz="1600" dirty="0"/>
          </a:p>
        </p:txBody>
      </p:sp>
      <p:sp>
        <p:nvSpPr>
          <p:cNvPr id="6" name="progress-dot"/>
          <p:cNvSpPr/>
          <p:nvPr/>
        </p:nvSpPr>
        <p:spPr>
          <a:xfrm>
            <a:off x="10323576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progress-dot"/>
          <p:cNvSpPr/>
          <p:nvPr/>
        </p:nvSpPr>
        <p:spPr>
          <a:xfrm>
            <a:off x="10561320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progress-dot"/>
          <p:cNvSpPr/>
          <p:nvPr/>
        </p:nvSpPr>
        <p:spPr>
          <a:xfrm>
            <a:off x="10799064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progress-dot"/>
          <p:cNvSpPr/>
          <p:nvPr/>
        </p:nvSpPr>
        <p:spPr>
          <a:xfrm>
            <a:off x="11036808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progress-dot"/>
          <p:cNvSpPr/>
          <p:nvPr/>
        </p:nvSpPr>
        <p:spPr>
          <a:xfrm>
            <a:off x="11274552" y="274320"/>
            <a:ext cx="128016" cy="12801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1" name="progress-dot"/>
          <p:cNvSpPr/>
          <p:nvPr/>
        </p:nvSpPr>
        <p:spPr>
          <a:xfrm>
            <a:off x="11512296" y="274320"/>
            <a:ext cx="128016" cy="128016"/>
          </a:xfrm>
          <a:prstGeom prst="ellipse">
            <a:avLst/>
          </a:prstGeom>
          <a:solidFill>
            <a:schemeClr val="accent6">
              <a:alpha val="60000"/>
            </a:schemeClr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34</a:t>
            </a:fld>
            <a:endParaRPr lang="en-US"/>
          </a:p>
        </p:txBody>
      </p:sp>
      <p:sp>
        <p:nvSpPr>
          <p:cNvPr id="26" name="Text"/>
          <p:cNvSpPr txBox="1"/>
          <p:nvPr/>
        </p:nvSpPr>
        <p:spPr>
          <a:xfrm>
            <a:off x="731520" y="17830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accent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檢查</a:t>
            </a:r>
            <a:endParaRPr lang="en-US" sz="1600" dirty="0"/>
          </a:p>
        </p:txBody>
      </p:sp>
      <p:sp>
        <p:nvSpPr>
          <p:cNvPr id="27" name="Text"/>
          <p:cNvSpPr txBox="1"/>
          <p:nvPr/>
        </p:nvSpPr>
        <p:spPr>
          <a:xfrm>
            <a:off x="3566160" y="17830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accent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驗不到</a:t>
            </a:r>
            <a:endParaRPr lang="en-US" sz="1600" dirty="0"/>
          </a:p>
        </p:txBody>
      </p:sp>
      <p:sp>
        <p:nvSpPr>
          <p:cNvPr id="28" name="row"/>
          <p:cNvSpPr/>
          <p:nvPr/>
        </p:nvSpPr>
        <p:spPr>
          <a:xfrm>
            <a:off x="548640" y="2148840"/>
            <a:ext cx="6400800" cy="822960"/>
          </a:xfrm>
          <a:prstGeom prst="roundRect">
            <a:avLst>
              <a:gd name="adj" fmla="val 11111"/>
            </a:avLst>
          </a:prstGeom>
          <a:solidFill>
            <a:schemeClr val="tx2"/>
          </a:solidFill>
          <a:ln/>
        </p:spPr>
      </p:sp>
      <p:sp>
        <p:nvSpPr>
          <p:cNvPr id="29" name="Text"/>
          <p:cNvSpPr txBox="1"/>
          <p:nvPr/>
        </p:nvSpPr>
        <p:spPr>
          <a:xfrm>
            <a:off x="731520" y="214884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本機 380 個測試</a:t>
            </a:r>
            <a:endParaRPr lang="en-US" sz="1600" dirty="0"/>
          </a:p>
        </p:txBody>
      </p:sp>
      <p:sp>
        <p:nvSpPr>
          <p:cNvPr id="30" name="Text"/>
          <p:cNvSpPr txBox="1"/>
          <p:nvPr/>
        </p:nvSpPr>
        <p:spPr>
          <a:xfrm>
            <a:off x="3566160" y="214884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IAM、真的雲</a:t>
            </a:r>
            <a:endParaRPr lang="en-US" sz="1600" dirty="0"/>
          </a:p>
        </p:txBody>
      </p:sp>
      <p:sp>
        <p:nvSpPr>
          <p:cNvPr id="31" name="row"/>
          <p:cNvSpPr/>
          <p:nvPr/>
        </p:nvSpPr>
        <p:spPr>
          <a:xfrm>
            <a:off x="548640" y="3108960"/>
            <a:ext cx="6400800" cy="822960"/>
          </a:xfrm>
          <a:prstGeom prst="roundRect">
            <a:avLst>
              <a:gd name="adj" fmla="val 11111"/>
            </a:avLst>
          </a:prstGeom>
          <a:solidFill>
            <a:schemeClr val="tx2"/>
          </a:solidFill>
          <a:ln/>
        </p:spPr>
      </p:sp>
      <p:sp>
        <p:nvSpPr>
          <p:cNvPr id="32" name="Text"/>
          <p:cNvSpPr txBox="1"/>
          <p:nvPr/>
        </p:nvSpPr>
        <p:spPr>
          <a:xfrm>
            <a:off x="731520" y="310896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terraform validate</a:t>
            </a:r>
            <a:endParaRPr lang="en-US" sz="1600" dirty="0"/>
          </a:p>
        </p:txBody>
      </p:sp>
      <p:sp>
        <p:nvSpPr>
          <p:cNvPr id="33" name="Text"/>
          <p:cNvSpPr txBox="1"/>
          <p:nvPr/>
        </p:nvSpPr>
        <p:spPr>
          <a:xfrm>
            <a:off x="3566160" y="310896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值對不對</a:t>
            </a:r>
            <a:endParaRPr lang="en-US" sz="1600" dirty="0"/>
          </a:p>
        </p:txBody>
      </p:sp>
      <p:sp>
        <p:nvSpPr>
          <p:cNvPr id="34" name="row"/>
          <p:cNvSpPr/>
          <p:nvPr/>
        </p:nvSpPr>
        <p:spPr>
          <a:xfrm>
            <a:off x="548640" y="4069080"/>
            <a:ext cx="6400800" cy="822960"/>
          </a:xfrm>
          <a:prstGeom prst="roundRect">
            <a:avLst>
              <a:gd name="adj" fmla="val 11111"/>
            </a:avLst>
          </a:prstGeom>
          <a:solidFill>
            <a:schemeClr val="tx2"/>
          </a:solidFill>
          <a:ln/>
        </p:spPr>
      </p:sp>
      <p:sp>
        <p:nvSpPr>
          <p:cNvPr id="35" name="Text"/>
          <p:cNvSpPr txBox="1"/>
          <p:nvPr/>
        </p:nvSpPr>
        <p:spPr>
          <a:xfrm>
            <a:off x="731520" y="406908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權限模擬器</a:t>
            </a:r>
            <a:endParaRPr lang="en-US" sz="1600" dirty="0"/>
          </a:p>
        </p:txBody>
      </p:sp>
      <p:sp>
        <p:nvSpPr>
          <p:cNvPr id="36" name="Text"/>
          <p:cNvSpPr txBox="1"/>
          <p:nvPr/>
        </p:nvSpPr>
        <p:spPr>
          <a:xfrm>
            <a:off x="3566160" y="406908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誰能借這張證</a:t>
            </a:r>
            <a:endParaRPr lang="en-US" sz="1600" dirty="0"/>
          </a:p>
        </p:txBody>
      </p:sp>
      <p:sp>
        <p:nvSpPr>
          <p:cNvPr id="37" name="row"/>
          <p:cNvSpPr/>
          <p:nvPr/>
        </p:nvSpPr>
        <p:spPr>
          <a:xfrm>
            <a:off x="548640" y="5029200"/>
            <a:ext cx="6400800" cy="822960"/>
          </a:xfrm>
          <a:prstGeom prst="roundRect">
            <a:avLst>
              <a:gd name="adj" fmla="val 11111"/>
            </a:avLst>
          </a:prstGeom>
          <a:solidFill>
            <a:schemeClr val="tx2"/>
          </a:solidFill>
          <a:ln/>
        </p:spPr>
      </p:sp>
      <p:sp>
        <p:nvSpPr>
          <p:cNvPr id="38" name="Text"/>
          <p:cNvSpPr txBox="1"/>
          <p:nvPr/>
        </p:nvSpPr>
        <p:spPr>
          <a:xfrm>
            <a:off x="731520" y="502920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validate-policy</a:t>
            </a:r>
            <a:endParaRPr lang="en-US" sz="1600" dirty="0"/>
          </a:p>
        </p:txBody>
      </p:sp>
      <p:sp>
        <p:nvSpPr>
          <p:cNvPr id="39" name="Text"/>
          <p:cNvSpPr txBox="1"/>
          <p:nvPr/>
        </p:nvSpPr>
        <p:spPr>
          <a:xfrm>
            <a:off x="3566160" y="502920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誰能借這張證</a:t>
            </a:r>
            <a:endParaRPr lang="en-US" sz="1600" dirty="0"/>
          </a:p>
        </p:txBody>
      </p:sp>
      <p:sp>
        <p:nvSpPr>
          <p:cNvPr id="40" name="pt-card"/>
          <p:cNvSpPr/>
          <p:nvPr/>
        </p:nvSpPr>
        <p:spPr>
          <a:xfrm>
            <a:off x="7223760" y="1783080"/>
            <a:ext cx="4389120" cy="4069080"/>
          </a:xfrm>
          <a:prstGeom prst="roundRect">
            <a:avLst>
              <a:gd name="adj" fmla="val 2247"/>
            </a:avLst>
          </a:prstGeom>
          <a:solidFill>
            <a:schemeClr val="tx2"/>
          </a:solidFill>
          <a:ln/>
        </p:spPr>
      </p:sp>
      <p:sp>
        <p:nvSpPr>
          <p:cNvPr id="41" name="Text"/>
          <p:cNvSpPr txBox="1"/>
          <p:nvPr/>
        </p:nvSpPr>
        <p:spPr>
          <a:xfrm>
            <a:off x="7498080" y="1783080"/>
            <a:ext cx="3840480" cy="4069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accent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信任政策：只限這個函式</a:t>
            </a:r>
            <a:endParaRPr lang="en-US" sz="1600" dirty="0"/>
          </a:p>
          <a:p>
            <a:pPr algn="l" indent="0" marL="0">
              <a:spcBef>
                <a:spcPts val="900"/>
              </a:spcBef>
              <a:buNone/>
            </a:pPr>
            <a:r>
              <a:rPr lang="en-US" sz="1800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Lambda 建網卡時不帶函式名字</a:t>
            </a:r>
            <a:endParaRPr lang="en-US" sz="1600" dirty="0"/>
          </a:p>
          <a:p>
            <a:pPr algn="l" indent="0" marL="0">
              <a:spcBef>
                <a:spcPts val="900"/>
              </a:spcBef>
              <a:buNone/>
            </a:pPr>
            <a:r>
              <a:rPr lang="en-US" sz="1800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 第一次 apply 失敗</a:t>
            </a:r>
            <a:endParaRPr lang="en-US" sz="1600" dirty="0"/>
          </a:p>
          <a:p>
            <a:pPr algn="l" indent="0" marL="0">
              <a:spcBef>
                <a:spcPts val="900"/>
              </a:spcBef>
              <a:buNone/>
            </a:pPr>
            <a:r>
              <a:rPr lang="en-US" sz="1800" b="1" dirty="0">
                <a:solidFill>
                  <a:schemeClr val="accent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拿掉條件（PR #26）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LM Gateway">
  <a:themeElements>
    <a:clrScheme name="LLM Gateway">
      <a:dk1>
        <a:srgbClr val="14262B"/>
      </a:dk1>
      <a:lt1>
        <a:srgbClr val="FFFFFF"/>
      </a:lt1>
      <a:dk2>
        <a:srgbClr val="0B5D5E"/>
      </a:dk2>
      <a:lt2>
        <a:srgbClr val="EEF4F3"/>
      </a:lt2>
      <a:accent1>
        <a:srgbClr val="0E7C7B"/>
      </a:accent1>
      <a:accent2>
        <a:srgbClr val="F2A541"/>
      </a:accent2>
      <a:accent3>
        <a:srgbClr val="C8553D"/>
      </a:accent3>
      <a:accent4>
        <a:srgbClr val="5B7C8D"/>
      </a:accent4>
      <a:accent5>
        <a:srgbClr val="2E9E6B"/>
      </a:accent5>
      <a:accent6>
        <a:srgbClr val="7D858C"/>
      </a:accent6>
      <a:hlink>
        <a:srgbClr val="0E7C7B"/>
      </a:hlink>
      <a:folHlink>
        <a:srgbClr val="5B7C8D"/>
      </a:folHlink>
    </a:clrScheme>
    <a:fontScheme name="LLM Gateway">
      <a:majorFont>
        <a:latin typeface="Microsoft JhengHei"/>
        <a:ea typeface="Microsoft JhengHei"/>
        <a:cs typeface=""/>
        <a:font script="Jpan" typeface="游ゴシック Light"/>
        <a:font script="Hang" typeface="맑은 고딕"/>
        <a:font script="Hans" typeface="等线 Light"/>
        <a:font script="Hant" typeface="Microsoft Jheng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JhengHei"/>
        <a:ea typeface="Microsoft JhengHei"/>
        <a:cs typeface=""/>
        <a:font script="Jpan" typeface="游ゴシック"/>
        <a:font script="Hang" typeface="맑은 고딕"/>
        <a:font script="Hans" typeface="等线"/>
        <a:font script="Hant" typeface="Microsoft Jheng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37</Slides>
  <Notes>37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LLM Gateway 簡報 v3</dc:title>
  <dc:subject>PptxGenJS Presentation</dc:subject>
  <dc:creator>杜柏豫</dc:creator>
  <cp:lastModifiedBy>杜柏豫</cp:lastModifiedBy>
  <cp:revision>1</cp:revision>
  <dcterms:created xsi:type="dcterms:W3CDTF">2026-10-19T11:32:40Z</dcterms:created>
  <dcterms:modified xsi:type="dcterms:W3CDTF">2026-10-19T11:32:40Z</dcterms:modified>
</cp:coreProperties>
</file>