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0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5" r:id="rId40"/>
    <p:sldId id="297" r:id="rId41"/>
    <p:sldId id="298" r:id="rId42"/>
    <p:sldId id="299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附錄" id="{99C6C19C-65CF-80A7-C07A-FDC133EC2B8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Default-1" id="{903F8E3D-8652-777C-DA0B-A6152230B278}">
          <p14:sldIdLst>
            <p14:sldId id="290"/>
            <p14:sldId id="291"/>
            <p14:sldId id="292"/>
            <p14:sldId id="293"/>
            <p14:sldId id="295"/>
            <p14:sldId id="297"/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34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194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2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/Relationships>
</file>

<file path=ppt/slides/_rels/slide31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Relationship Id="rId5" Type="http://schemas.openxmlformats.org/officeDocument/2006/relationships/image" Target="../media/image59.png"/></Relationships>
</file>

<file path=ppt/slides/_rels/slide32.xml.rels><?xml version='1.0' encoding='UTF-8' standalone='yes'?>
<Relationships xmlns="http://schemas.openxmlformats.org/package/2006/relationships"><Relationship Id="rId1" Type="http://schemas.microsoft.com/office/2007/relationships/media" Target="../media/media2.mp4"/><Relationship Id="rId2" Type="http://schemas.openxmlformats.org/officeDocument/2006/relationships/video" Target="../media/media2.mp4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Relationship Id="rId5" Type="http://schemas.openxmlformats.org/officeDocument/2006/relationships/image" Target="../media/image6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0515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企業級大語言模型調度與成本治理平台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2880360"/>
            <a:ext cx="3840480" cy="502920"/>
          </a:xfrm>
          <a:prstGeom prst="roundRect">
            <a:avLst>
              <a:gd name="adj" fmla="val 21818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85800" y="2880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上線之後的治理層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566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 AI 呼叫，都知道是誰、花多少、送出什麼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296912" y="1362456"/>
            <a:ext cx="1005840" cy="100584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0" descr="/home/claude/slides/v6/media/s01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3226" y="1588770"/>
            <a:ext cx="553212" cy="55321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48472" y="1865376"/>
            <a:ext cx="320040" cy="0"/>
          </a:xfrm>
          <a:prstGeom prst="line">
            <a:avLst/>
          </a:prstGeom>
          <a:noFill/>
          <a:ln w="25400">
            <a:solidFill>
              <a:srgbClr val="7D858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8714232" y="1069848"/>
            <a:ext cx="1600200" cy="1600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1" name="Image 1" descr="/home/claude/slides/v6/media/s01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4277" y="1429893"/>
            <a:ext cx="880110" cy="88011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360152" y="1865376"/>
            <a:ext cx="320040" cy="0"/>
          </a:xfrm>
          <a:prstGeom prst="line">
            <a:avLst/>
          </a:prstGeom>
          <a:noFill/>
          <a:ln w="25400">
            <a:solidFill>
              <a:srgbClr val="7D858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10725912" y="1362456"/>
            <a:ext cx="1005840" cy="100584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2" descr="/home/claude/slides/v6/media/s01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2226" y="1588770"/>
            <a:ext cx="553212" cy="5532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976872" y="2441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348472" y="27614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0405872" y="2441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模型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4297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3600" dirty="0"/>
          </a:p>
        </p:txBody>
      </p:sp>
      <p:sp>
        <p:nvSpPr>
          <p:cNvPr id="19" name="Text 14"/>
          <p:cNvSpPr txBox="1"/>
          <p:nvPr/>
        </p:nvSpPr>
        <p:spPr>
          <a:xfrm>
            <a:off x="685800" y="5029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模型成本降幅（20 題實測）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3429000" y="4297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類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3429000" y="5029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個資送出前遮罩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172200" y="4297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US$0.97</a:t>
            </a:r>
            <a:endParaRPr lang="en-US" sz="3600" dirty="0"/>
          </a:p>
        </p:txBody>
      </p:sp>
      <p:sp>
        <p:nvSpPr>
          <p:cNvPr id="23" name="Text 18"/>
          <p:cNvSpPr txBox="1"/>
          <p:nvPr/>
        </p:nvSpPr>
        <p:spPr>
          <a:xfrm>
            <a:off x="6172200" y="5029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</a:t>
            </a:r>
            <a:r>
              <a:rPr lang="en-US" sz="1600" dirty="0" err="1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次上雲的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AWS </a:t>
            </a:r>
            <a:r>
              <a:rPr lang="en-US" sz="1600" dirty="0" err="1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累計費用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685800" y="5806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杜柏豫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9144000" y="5852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 11 月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300" autoRev="1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6" presetClass="emph" presetSubtype="0" fill="hold" nodeType="withEffect">
                                  <p:stCondLst>
                                    <p:cond delay="2150"/>
                                  </p:stCondLst>
                                  <p:childTnLst>
                                    <p:animScale>
                                      <p:cBhvr>
                                        <p:cTn id="61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62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6" presetClass="emph" presetSubtype="0" fill="hold" nodeType="withEffect">
                                  <p:stCondLst>
                                    <p:cond delay="2150"/>
                                  </p:stCondLst>
                                  <p:childTnLs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65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9" dur="350" fill="hold"/>
                                        <p:tgtEl>
                                          <p:spTgt spid="18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70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3" presetClass="entr" presetSubtype="16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4" dur="350" fill="hold"/>
                                        <p:tgtEl>
                                          <p:spTgt spid="19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75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6" presetID="23" presetClass="entr" presetSubtype="16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77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9" dur="350" fill="hold"/>
                                        <p:tgtEl>
                                          <p:spTgt spid="20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80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1" presetID="23" presetClass="entr" presetSubtype="16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82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4" dur="350" fill="hold"/>
                                        <p:tgtEl>
                                          <p:spTgt spid="21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85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6" presetID="23" presetClass="entr" presetSubtype="16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9" dur="350" fill="hold"/>
                                        <p:tgtEl>
                                          <p:spTgt spid="22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90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23" presetClass="entr" presetSubtype="16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92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4" dur="350" fill="hold"/>
                                        <p:tgtEl>
                                          <p:spTgt spid="23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95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97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100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51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技術實踐與 Demo 約 5 分鐘（含影片）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10048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685800" cy="68580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89280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先講結論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377440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一句話說清楚這個閘道管什麼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200400"/>
            <a:ext cx="5410048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77240" y="3520440"/>
            <a:ext cx="685800" cy="68580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777240" y="3520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40156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想解決的問題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886200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開放之後，管不住的三件事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09160"/>
            <a:ext cx="5410048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77240" y="5029200"/>
            <a:ext cx="685800" cy="68580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777240" y="5029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91032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解決前後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5394960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以前月底才知道，現在送出前就知道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78728" y="1691640"/>
            <a:ext cx="5410048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553048" y="2011680"/>
            <a:ext cx="685800" cy="68580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553048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67448" y="189280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467448" y="2377440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三道關卡・雲端架構・一次呼叫的流程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78728" y="3200400"/>
            <a:ext cx="5410048" cy="1325880"/>
          </a:xfrm>
          <a:prstGeom prst="roundRect">
            <a:avLst>
              <a:gd name="adj" fmla="val 6897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553048" y="3520440"/>
            <a:ext cx="685800" cy="68580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553048" y="3520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467448" y="340156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技術實踐與 Demo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467448" y="3886200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節費・個資・額度・看不到的地方・Demo 影片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78728" y="4709160"/>
            <a:ext cx="5410048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6553048" y="5029200"/>
            <a:ext cx="685800" cy="68580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553048" y="5029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467448" y="491032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結語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7467448" y="5394960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三個數字、評估後不做的、下一步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8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0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8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9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00" dur="1" fill="hold"/>
                                        <p:tgtEl>
                                          <p:spTgt spid="2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2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400" fill="hold"/>
                                        <p:tgtEl>
                                          <p:spTgt spid="2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04" dur="1" fill="hold"/>
                                        <p:tgtEl>
                                          <p:spTgt spid="2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2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400" fill="hold"/>
                                        <p:tgtEl>
                                          <p:spTgt spid="2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2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2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400" fill="hold"/>
                                        <p:tgtEl>
                                          <p:spTgt spid="2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12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1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24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28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6" presetClass="emph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132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133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34" presetID="26" presetClass="emph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Scale>
                                      <p:cBhvr>
                                        <p:cTn id="135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136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21" grpId="0" animBg="1"/>
      <p:bldP spid="22" grpId="0" animBg="1"/>
      <p:bldP spid="23" grpId="0" animBg="1"/>
      <p:bldP spid="26" grpId="0"/>
      <p:bldP spid="27" grpId="0"/>
      <p:bldP spid="28" grpId="0"/>
      <p:bldP spid="31" grpId="0" animBg="1"/>
      <p:bldP spid="32" grpId="0" animBg="1"/>
      <p:bldP spid="3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先講結論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在員工和 AI 模型之間，加一道閘道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 AI 呼叫，都知道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2331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是誰・花多少・送出什麼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02920" y="3429000"/>
            <a:ext cx="3500018" cy="2286000"/>
          </a:xfrm>
          <a:prstGeom prst="roundRect">
            <a:avLst>
              <a:gd name="adj" fmla="val 4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77240" y="3749040"/>
            <a:ext cx="685800" cy="68580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0" descr="/home/claude/slides/v6/media/s03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3920490"/>
            <a:ext cx="342900" cy="3429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600200" y="3794760"/>
            <a:ext cx="2219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是誰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617720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每人一把 Key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錯的一律拒絕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231538" y="3429000"/>
            <a:ext cx="3500018" cy="2286000"/>
          </a:xfrm>
          <a:prstGeom prst="roundRect">
            <a:avLst>
              <a:gd name="adj" fmla="val 4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4505858" y="3749040"/>
            <a:ext cx="685800" cy="68580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Image 1" descr="/home/claude/slides/v6/media/s03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308" y="3920490"/>
            <a:ext cx="342900" cy="3429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328818" y="3794760"/>
            <a:ext cx="2219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花多少</a:t>
            </a:r>
            <a:endParaRPr lang="en-US" sz="2600" dirty="0"/>
          </a:p>
        </p:txBody>
      </p:sp>
      <p:sp>
        <p:nvSpPr>
          <p:cNvPr id="24" name="Text 20"/>
          <p:cNvSpPr txBox="1"/>
          <p:nvPr/>
        </p:nvSpPr>
        <p:spPr>
          <a:xfrm>
            <a:off x="4505858" y="4617720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每人每月有額度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自動選便宜的模型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7960157" y="3429000"/>
            <a:ext cx="3500018" cy="2286000"/>
          </a:xfrm>
          <a:prstGeom prst="roundRect">
            <a:avLst>
              <a:gd name="adj" fmla="val 4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2"/>
          <p:cNvSpPr/>
          <p:nvPr/>
        </p:nvSpPr>
        <p:spPr>
          <a:xfrm>
            <a:off x="8234477" y="3749040"/>
            <a:ext cx="685800" cy="68580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7" name="Image 2" descr="/home/claude/slides/v6/media/s03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5927" y="3920490"/>
            <a:ext cx="342900" cy="34290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57437" y="3794760"/>
            <a:ext cx="2219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送出什麼</a:t>
            </a:r>
            <a:endParaRPr lang="en-US" sz="2600" dirty="0"/>
          </a:p>
        </p:txBody>
      </p:sp>
      <p:sp>
        <p:nvSpPr>
          <p:cNvPr id="29" name="Text 24"/>
          <p:cNvSpPr txBox="1"/>
          <p:nvPr/>
        </p:nvSpPr>
        <p:spPr>
          <a:xfrm>
            <a:off x="8234477" y="4617720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個資先遮罩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紀錄不存原文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68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3" grpId="0" animBg="1"/>
      <p:bldP spid="14" grpId="0" animBg="1"/>
      <p:bldP spid="18" grpId="0" animBg="1"/>
      <p:bldP spid="19" grpId="0" animBg="1"/>
      <p:bldP spid="23" grpId="0" animBg="1"/>
      <p:bldP spid="24" grpId="0" animBg="1"/>
      <p:bldP spid="28" grpId="0" animBg="1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想解決的問題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開放了，卻管不住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600200"/>
            <a:ext cx="5669280" cy="457200"/>
          </a:xfrm>
          <a:prstGeom prst="roundRect">
            <a:avLst>
              <a:gd name="adj" fmla="val 16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0" descr="/home/claude/slides/v6/media/s04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69164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051560" y="1600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情境｜200 位員工，開放 AI 三個月後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2920" y="2331720"/>
            <a:ext cx="3500018" cy="3383280"/>
          </a:xfrm>
          <a:prstGeom prst="roundRect">
            <a:avLst>
              <a:gd name="adj" fmla="val 2703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1704289" y="2743200"/>
            <a:ext cx="1097280" cy="109728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1" descr="/home/claude/slides/v6/media/s04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609" y="3017520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02920" y="4023360"/>
            <a:ext cx="3500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成本歸屬</a:t>
            </a:r>
            <a:endParaRPr lang="en-US" sz="26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4572000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帳單只有總額，</a:t>
            </a:r>
            <a:endParaRPr lang="en-US" sz="1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不知道</a:t>
            </a:r>
            <a:endParaRPr lang="en-US" sz="1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花的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231538" y="2331720"/>
            <a:ext cx="3500018" cy="3383280"/>
          </a:xfrm>
          <a:prstGeom prst="roundRect">
            <a:avLst>
              <a:gd name="adj" fmla="val 2703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8"/>
          <p:cNvSpPr/>
          <p:nvPr/>
        </p:nvSpPr>
        <p:spPr>
          <a:xfrm>
            <a:off x="5432908" y="2743200"/>
            <a:ext cx="1097280" cy="109728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2" descr="/home/claude/slides/v6/media/s04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7228" y="3017520"/>
            <a:ext cx="548640" cy="5486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231538" y="4023360"/>
            <a:ext cx="3500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用量管控</a:t>
            </a:r>
            <a:endParaRPr lang="en-US" sz="2600" dirty="0"/>
          </a:p>
        </p:txBody>
      </p:sp>
      <p:sp>
        <p:nvSpPr>
          <p:cNvPr id="25" name="Text 20"/>
          <p:cNvSpPr txBox="1"/>
          <p:nvPr/>
        </p:nvSpPr>
        <p:spPr>
          <a:xfrm>
            <a:off x="4505858" y="4572000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寫錯一個迴圈，
</a:t>
            </a: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一晚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燒光預算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7960157" y="2331720"/>
            <a:ext cx="3500018" cy="3383280"/>
          </a:xfrm>
          <a:prstGeom prst="roundRect">
            <a:avLst>
              <a:gd name="adj" fmla="val 2703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2"/>
          <p:cNvSpPr/>
          <p:nvPr/>
        </p:nvSpPr>
        <p:spPr>
          <a:xfrm>
            <a:off x="9161526" y="2743200"/>
            <a:ext cx="1097280" cy="109728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8" name="Image 3" descr="/home/claude/slides/v6/media/s04-Image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5846" y="3017520"/>
            <a:ext cx="548640" cy="5486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960157" y="4023360"/>
            <a:ext cx="3500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</a:t>
            </a:r>
            <a:endParaRPr lang="en-US" sz="2600" dirty="0"/>
          </a:p>
        </p:txBody>
      </p:sp>
      <p:sp>
        <p:nvSpPr>
          <p:cNvPr id="30" name="Text 24"/>
          <p:cNvSpPr txBox="1"/>
          <p:nvPr/>
        </p:nvSpPr>
        <p:spPr>
          <a:xfrm>
            <a:off x="8234477" y="4572000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客戶資料貼進去，</a:t>
            </a:r>
            <a:endParaRPr lang="en-US" sz="1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事後</a:t>
            </a:r>
            <a:endParaRPr lang="en-US" sz="1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查不到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5" grpId="0" animBg="1"/>
      <p:bldP spid="19" grpId="0" animBg="1"/>
      <p:bldP spid="20" grpId="0" animBg="1"/>
      <p:bldP spid="24" grpId="0" animBg="1"/>
      <p:bldP spid="25" grpId="0" animBg="1"/>
      <p:bldP spid="29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解決前後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以前月底才知道，現在送出前就知道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  之前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之後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2286000"/>
            <a:ext cx="731520" cy="73152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0" descr="/home/claude/slides/v6/media/s05-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68880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417320" y="22860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2926080" y="228600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 txBox="1"/>
          <p:nvPr/>
        </p:nvSpPr>
        <p:spPr>
          <a:xfrm>
            <a:off x="3154680" y="2286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員工自己選，常選最貴的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720840" y="2651760"/>
            <a:ext cx="54864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7406640" y="228600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14262B">
              <a:alpha val="0"/>
            </a:srgbClr>
          </a:solidFill>
          <a:ln w="19050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>
            <a:off x="7406640" y="228600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 txBox="1"/>
          <p:nvPr/>
        </p:nvSpPr>
        <p:spPr>
          <a:xfrm>
            <a:off x="7635240" y="22860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自動選，簡單的便宜 </a:t>
            </a: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倍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02920" y="3566160"/>
            <a:ext cx="731520" cy="73152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5" name="Image 1" descr="/home/claude/slides/v6/media/s05-Imag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49040"/>
            <a:ext cx="365760" cy="36576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417320" y="3566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</a:t>
            </a:r>
            <a:endParaRPr lang="en-US" sz="2600" dirty="0"/>
          </a:p>
        </p:txBody>
      </p:sp>
      <p:sp>
        <p:nvSpPr>
          <p:cNvPr id="27" name="Shape 23"/>
          <p:cNvSpPr/>
          <p:nvPr/>
        </p:nvSpPr>
        <p:spPr>
          <a:xfrm>
            <a:off x="2926080" y="356616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4"/>
          <p:cNvSpPr txBox="1"/>
          <p:nvPr/>
        </p:nvSpPr>
        <p:spPr>
          <a:xfrm>
            <a:off x="3154680" y="3566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原文直接送到供應商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6720840" y="3931920"/>
            <a:ext cx="54864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Shape 26"/>
          <p:cNvSpPr/>
          <p:nvPr/>
        </p:nvSpPr>
        <p:spPr>
          <a:xfrm>
            <a:off x="7406640" y="356616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14262B">
              <a:alpha val="0"/>
            </a:srgbClr>
          </a:solidFill>
          <a:ln w="19050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7"/>
          <p:cNvSpPr/>
          <p:nvPr/>
        </p:nvSpPr>
        <p:spPr>
          <a:xfrm>
            <a:off x="7406640" y="356616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/>
          <p:cNvSpPr txBox="1"/>
          <p:nvPr/>
        </p:nvSpPr>
        <p:spPr>
          <a:xfrm>
            <a:off x="7635240" y="35661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送出前，換成 </a:t>
            </a: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502920" y="4846320"/>
            <a:ext cx="731520" cy="73152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4" name="Image 2" descr="/home/claude/slides/v6/media/s05-Imag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029200"/>
            <a:ext cx="365760" cy="36576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1417320" y="4846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</a:t>
            </a:r>
            <a:endParaRPr lang="en-US" sz="2600" dirty="0"/>
          </a:p>
        </p:txBody>
      </p:sp>
      <p:sp>
        <p:nvSpPr>
          <p:cNvPr id="36" name="Shape 31"/>
          <p:cNvSpPr/>
          <p:nvPr/>
        </p:nvSpPr>
        <p:spPr>
          <a:xfrm>
            <a:off x="2926080" y="484632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2"/>
          <p:cNvSpPr txBox="1"/>
          <p:nvPr/>
        </p:nvSpPr>
        <p:spPr>
          <a:xfrm>
            <a:off x="3154680" y="48463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月底收到帳單才知道</a:t>
            </a:r>
            <a:endParaRPr lang="en-US" sz="1600" dirty="0"/>
          </a:p>
        </p:txBody>
      </p:sp>
      <p:sp>
        <p:nvSpPr>
          <p:cNvPr id="38" name="Shape 33"/>
          <p:cNvSpPr/>
          <p:nvPr/>
        </p:nvSpPr>
        <p:spPr>
          <a:xfrm>
            <a:off x="6720840" y="5212080"/>
            <a:ext cx="54864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9" name="Shape 34"/>
          <p:cNvSpPr/>
          <p:nvPr/>
        </p:nvSpPr>
        <p:spPr>
          <a:xfrm>
            <a:off x="7406640" y="484632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14262B">
              <a:alpha val="0"/>
            </a:srgbClr>
          </a:solidFill>
          <a:ln w="19050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5"/>
          <p:cNvSpPr/>
          <p:nvPr/>
        </p:nvSpPr>
        <p:spPr>
          <a:xfrm>
            <a:off x="7406640" y="484632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6"/>
          <p:cNvSpPr txBox="1"/>
          <p:nvPr/>
        </p:nvSpPr>
        <p:spPr>
          <a:xfrm>
            <a:off x="7635240" y="48463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每人每月額度，</a:t>
            </a: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用完就擋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4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5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0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88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92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100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104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nodeType="withEffect">
                                  <p:stCondLst>
                                    <p:cond delay="215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115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2350"/>
                                  </p:stCondLst>
                                  <p:childTnLst>
                                    <p:set>
                                      <p:cBhvr>
                                        <p:cTn id="119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3" grpId="0" animBg="1"/>
      <p:bldP spid="14" grpId="0" animBg="1"/>
      <p:bldP spid="17" grpId="0" animBg="1"/>
      <p:bldP spid="19" grpId="0" animBg="1"/>
      <p:bldP spid="23" grpId="0" animBg="1"/>
      <p:bldP spid="26" grpId="0" animBg="1"/>
      <p:bldP spid="28" grpId="0" animBg="1"/>
      <p:bldP spid="32" grpId="0" animBg="1"/>
      <p:bldP spid="35" grpId="0" animBg="1"/>
      <p:bldP spid="37" grpId="0" animBg="1"/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解法提綱｜三道關卡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替每一戶裝上水表和限流閥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1828800"/>
            <a:ext cx="914400" cy="91440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4" name="Image 0" descr="/home/claude/slides/v6/media/s06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034540"/>
            <a:ext cx="502920" cy="5029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320040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554480" y="2286000"/>
            <a:ext cx="640080" cy="0"/>
          </a:xfrm>
          <a:prstGeom prst="line">
            <a:avLst/>
          </a:prstGeom>
          <a:noFill/>
          <a:ln w="19050">
            <a:solidFill>
              <a:srgbClr val="7D858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2286000" y="1737360"/>
            <a:ext cx="7589520" cy="1097280"/>
          </a:xfrm>
          <a:prstGeom prst="roundRect">
            <a:avLst>
              <a:gd name="adj" fmla="val 8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1" descr="/home/claude/slides/v6/media/s06-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1965960"/>
            <a:ext cx="640080" cy="64008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474720" y="1828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2600" dirty="0"/>
          </a:p>
        </p:txBody>
      </p:sp>
      <p:sp>
        <p:nvSpPr>
          <p:cNvPr id="20" name="Text 16"/>
          <p:cNvSpPr txBox="1"/>
          <p:nvPr/>
        </p:nvSpPr>
        <p:spPr>
          <a:xfrm>
            <a:off x="347472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每一次呼叫，都先經過這裡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9966960" y="2286000"/>
            <a:ext cx="640080" cy="0"/>
          </a:xfrm>
          <a:prstGeom prst="line">
            <a:avLst/>
          </a:prstGeom>
          <a:noFill/>
          <a:ln w="19050">
            <a:solidFill>
              <a:srgbClr val="7D858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18"/>
          <p:cNvSpPr/>
          <p:nvPr/>
        </p:nvSpPr>
        <p:spPr>
          <a:xfrm>
            <a:off x="10698480" y="1828800"/>
            <a:ext cx="914400" cy="91440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2" descr="/home/claude/slides/v6/media/s06-Image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4220" y="2034540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0424160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模型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2252929" y="2834640"/>
            <a:ext cx="0" cy="64008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1"/>
          <p:cNvSpPr/>
          <p:nvPr/>
        </p:nvSpPr>
        <p:spPr>
          <a:xfrm>
            <a:off x="502920" y="3520440"/>
            <a:ext cx="3500018" cy="2194560"/>
          </a:xfrm>
          <a:prstGeom prst="roundRect">
            <a:avLst>
              <a:gd name="adj" fmla="val 4167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2"/>
          <p:cNvSpPr/>
          <p:nvPr/>
        </p:nvSpPr>
        <p:spPr>
          <a:xfrm>
            <a:off x="822960" y="3886200"/>
            <a:ext cx="685800" cy="68580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8" name="Image 3" descr="/home/claude/slides/v6/media/s06-Image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410" y="4057650"/>
            <a:ext cx="342900" cy="3429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691640" y="3886200"/>
            <a:ext cx="2128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管人</a:t>
            </a:r>
            <a:endParaRPr lang="en-US" sz="3000" dirty="0"/>
          </a:p>
        </p:txBody>
      </p:sp>
      <p:sp>
        <p:nvSpPr>
          <p:cNvPr id="30" name="Text 24"/>
          <p:cNvSpPr txBox="1"/>
          <p:nvPr/>
        </p:nvSpPr>
        <p:spPr>
          <a:xfrm>
            <a:off x="822960" y="4846320"/>
            <a:ext cx="2859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確認身分・錯的一律拒絕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5981548" y="2834640"/>
            <a:ext cx="0" cy="64008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6"/>
          <p:cNvSpPr/>
          <p:nvPr/>
        </p:nvSpPr>
        <p:spPr>
          <a:xfrm>
            <a:off x="4231538" y="3520440"/>
            <a:ext cx="3500018" cy="2194560"/>
          </a:xfrm>
          <a:prstGeom prst="roundRect">
            <a:avLst>
              <a:gd name="adj" fmla="val 4167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27"/>
          <p:cNvSpPr/>
          <p:nvPr/>
        </p:nvSpPr>
        <p:spPr>
          <a:xfrm>
            <a:off x="4551578" y="3886200"/>
            <a:ext cx="685800" cy="68580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4" name="Image 4" descr="/home/claude/slides/v6/media/s06-Image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3028" y="4057650"/>
            <a:ext cx="342900" cy="3429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420258" y="3886200"/>
            <a:ext cx="2128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管錢</a:t>
            </a:r>
            <a:endParaRPr lang="en-US" sz="3000" dirty="0"/>
          </a:p>
        </p:txBody>
      </p:sp>
      <p:sp>
        <p:nvSpPr>
          <p:cNvPr id="36" name="Text 29"/>
          <p:cNvSpPr txBox="1"/>
          <p:nvPr/>
        </p:nvSpPr>
        <p:spPr>
          <a:xfrm>
            <a:off x="4551578" y="4846320"/>
            <a:ext cx="2859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自動選模型・檢查額度・記帳</a:t>
            </a:r>
            <a:endParaRPr lang="en-US" sz="1600" dirty="0"/>
          </a:p>
        </p:txBody>
      </p:sp>
      <p:sp>
        <p:nvSpPr>
          <p:cNvPr id="37" name="Shape 30"/>
          <p:cNvSpPr/>
          <p:nvPr/>
        </p:nvSpPr>
        <p:spPr>
          <a:xfrm>
            <a:off x="9710166" y="2834640"/>
            <a:ext cx="0" cy="64008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1"/>
          <p:cNvSpPr/>
          <p:nvPr/>
        </p:nvSpPr>
        <p:spPr>
          <a:xfrm>
            <a:off x="7960157" y="3520440"/>
            <a:ext cx="3500018" cy="2194560"/>
          </a:xfrm>
          <a:prstGeom prst="roundRect">
            <a:avLst>
              <a:gd name="adj" fmla="val 4167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2"/>
          <p:cNvSpPr/>
          <p:nvPr/>
        </p:nvSpPr>
        <p:spPr>
          <a:xfrm>
            <a:off x="8280197" y="3886200"/>
            <a:ext cx="685800" cy="68580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0" name="Image 5" descr="/home/claude/slides/v6/media/s06-Image_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1647" y="4057650"/>
            <a:ext cx="342900" cy="34290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9148877" y="3886200"/>
            <a:ext cx="2128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管資料</a:t>
            </a:r>
            <a:endParaRPr lang="en-US" sz="3000" dirty="0"/>
          </a:p>
        </p:txBody>
      </p:sp>
      <p:sp>
        <p:nvSpPr>
          <p:cNvPr id="42" name="Text 34"/>
          <p:cNvSpPr txBox="1"/>
          <p:nvPr/>
        </p:nvSpPr>
        <p:spPr>
          <a:xfrm>
            <a:off x="8280197" y="4846320"/>
            <a:ext cx="2859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遮掉個資・留稽核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2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0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3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5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4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5" grpId="0" animBg="1"/>
      <p:bldP spid="19" grpId="0" animBg="1"/>
      <p:bldP spid="20" grpId="0" animBg="1"/>
      <p:bldP spid="24" grpId="0" animBg="1"/>
      <p:bldP spid="29" grpId="0" animBg="1"/>
      <p:bldP spid="30" grpId="0" animBg="1"/>
      <p:bldP spid="35" grpId="0" animBg="1"/>
      <p:bldP spid="36" grpId="0" animBg="1"/>
      <p:bldP spid="41" grpId="0" animBg="1"/>
      <p:bldP spid="4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解法提綱｜雲端架構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外面連不進來，出口只放行名單上的網域；每日層用完就拆，長期層平常不拆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52561" y="1572768"/>
            <a:ext cx="2545080" cy="4892040"/>
          </a:xfrm>
          <a:prstGeom prst="roundRect">
            <a:avLst>
              <a:gd name="adj" fmla="val 3469"/>
            </a:avLst>
          </a:prstGeom>
          <a:solidFill>
            <a:srgbClr val="1C2F38"/>
          </a:solidFill>
          <a:ln w="25400">
            <a:solidFill>
              <a:srgbClr val="1C2F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57200" y="5769864"/>
            <a:ext cx="11140441" cy="694944"/>
          </a:xfrm>
          <a:prstGeom prst="roundRect">
            <a:avLst>
              <a:gd name="adj" fmla="val 13158"/>
            </a:avLst>
          </a:prstGeom>
          <a:solidFill>
            <a:srgbClr val="1C2F38"/>
          </a:solidFill>
          <a:ln w="12700">
            <a:solidFill>
              <a:srgbClr val="1C2F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9189720" y="1618488"/>
            <a:ext cx="2499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7C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長期層・平常不拆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148840" y="1572768"/>
            <a:ext cx="6720840" cy="3867912"/>
          </a:xfrm>
          <a:prstGeom prst="roundRect">
            <a:avLst>
              <a:gd name="adj" fmla="val 2273"/>
            </a:avLst>
          </a:prstGeom>
          <a:solidFill>
            <a:srgbClr val="0F2F36"/>
          </a:solidFill>
          <a:ln w="12700">
            <a:solidFill>
              <a:srgbClr val="0F2F3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2148840" y="1572768"/>
            <a:ext cx="6720840" cy="3886200"/>
          </a:xfrm>
          <a:prstGeom prst="roundRect">
            <a:avLst>
              <a:gd name="adj" fmla="val 2273"/>
            </a:avLst>
          </a:prstGeom>
          <a:solidFill>
            <a:srgbClr val="14262B">
              <a:alpha val="0"/>
            </a:srgbClr>
          </a:solidFill>
          <a:ln w="22225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2286000" y="1609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VPC・每日層（用完就拆）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286000" y="1938528"/>
            <a:ext cx="6446520" cy="1143000"/>
          </a:xfrm>
          <a:prstGeom prst="roundRect">
            <a:avLst>
              <a:gd name="adj" fmla="val 6400"/>
            </a:avLst>
          </a:prstGeom>
          <a:solidFill>
            <a:srgbClr val="16393E"/>
          </a:solidFill>
          <a:ln w="25400">
            <a:solidFill>
              <a:srgbClr val="16393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237744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Public Subnet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468880" y="2304288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2523744" y="2304288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 入口 :80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用 HTTP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80560" y="2304288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4535424" y="2304288"/>
            <a:ext cx="2039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NAT ＋ DNS Firewall</a:t>
            </a:r>
            <a:endParaRPr lang="en-US" sz="1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出口 :443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995160" y="2304288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7050024" y="230428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Internet Gateway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286000" y="3264408"/>
            <a:ext cx="6446520" cy="2176272"/>
          </a:xfrm>
          <a:prstGeom prst="roundRect">
            <a:avLst>
              <a:gd name="adj" fmla="val 3333"/>
            </a:avLst>
          </a:prstGeom>
          <a:solidFill>
            <a:srgbClr val="102D33"/>
          </a:solidFill>
          <a:ln w="25400">
            <a:solidFill>
              <a:srgbClr val="102D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2377440" y="3205215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Private Subnet・沒有 Public IP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468880" y="3675888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0B5D5E"/>
          </a:solidFill>
          <a:ln w="15875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2523744" y="3675888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Fargate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92240" y="3675888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0B5D5E"/>
          </a:solidFill>
          <a:ln w="15875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6547104" y="3675888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Lambda Worker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寫三本帳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468880" y="4800600"/>
            <a:ext cx="6080760" cy="530352"/>
          </a:xfrm>
          <a:prstGeom prst="roundRect">
            <a:avLst>
              <a:gd name="adj" fmla="val 13793"/>
            </a:avLst>
          </a:prstGeom>
          <a:solidFill>
            <a:srgbClr val="0B5D5E"/>
          </a:solidFill>
          <a:ln w="15875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2523744" y="4800600"/>
            <a:ext cx="5971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Gateway Endpoint ×2 → DynamoDB・S3（不走網際網路）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02920" y="20574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243238"/>
          </a:solidFill>
          <a:ln w="15875">
            <a:solidFill>
              <a:srgbClr val="7D85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557784" y="205740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29671" y="3017520"/>
            <a:ext cx="1544849" cy="548640"/>
          </a:xfrm>
          <a:prstGeom prst="roundRect">
            <a:avLst>
              <a:gd name="adj" fmla="val 13333"/>
            </a:avLst>
          </a:prstGeom>
          <a:solidFill>
            <a:srgbClr val="243238"/>
          </a:solidFill>
          <a:ln w="15875">
            <a:solidFill>
              <a:srgbClr val="7D85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374905" y="3017520"/>
            <a:ext cx="14447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agent（本機）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02920" y="37490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243238"/>
          </a:solidFill>
          <a:ln w="15875">
            <a:solidFill>
              <a:srgbClr val="7D85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 txBox="1"/>
          <p:nvPr/>
        </p:nvSpPr>
        <p:spPr>
          <a:xfrm>
            <a:off x="557784" y="374904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Grafana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2920" y="457200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243238"/>
          </a:solidFill>
          <a:ln w="15875">
            <a:solidFill>
              <a:srgbClr val="7D858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557784" y="457200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Actions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 測試掃描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CD 部署・拆除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189720" y="2304288"/>
            <a:ext cx="2361895" cy="658368"/>
          </a:xfrm>
          <a:prstGeom prst="roundRect">
            <a:avLst>
              <a:gd name="adj" fmla="val 11111"/>
            </a:avLst>
          </a:prstGeom>
          <a:solidFill>
            <a:srgbClr val="14262B"/>
          </a:solidFill>
          <a:ln w="1587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9244585" y="2304288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OpenAI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189721" y="3675888"/>
            <a:ext cx="2361894" cy="777240"/>
          </a:xfrm>
          <a:prstGeom prst="roundRect">
            <a:avLst>
              <a:gd name="adj" fmla="val 9412"/>
            </a:avLst>
          </a:prstGeom>
          <a:solidFill>
            <a:srgbClr val="2F4652"/>
          </a:solidFill>
          <a:ln w="15875">
            <a:solidFill>
              <a:srgbClr val="5B7C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9244585" y="3675888"/>
            <a:ext cx="23070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SQS ＋ DLQ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出單夾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189721" y="4663440"/>
            <a:ext cx="2361894" cy="777240"/>
          </a:xfrm>
          <a:prstGeom prst="roundRect">
            <a:avLst>
              <a:gd name="adj" fmla="val 9412"/>
            </a:avLst>
          </a:prstGeom>
          <a:solidFill>
            <a:srgbClr val="2F4652"/>
          </a:solidFill>
          <a:ln w="15875">
            <a:solidFill>
              <a:srgbClr val="5B7C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244584" y="4663440"/>
            <a:ext cx="23070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DynamoDB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四張表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94360" y="589788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F4652"/>
          </a:solidFill>
          <a:ln w="15875">
            <a:solidFill>
              <a:srgbClr val="5B7C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 txBox="1"/>
          <p:nvPr/>
        </p:nvSpPr>
        <p:spPr>
          <a:xfrm>
            <a:off x="649224" y="589788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IAM 角色・OIDC 信任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2788920" y="589788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2F4652"/>
          </a:solidFill>
          <a:ln w="15875">
            <a:solidFill>
              <a:srgbClr val="5B7C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 txBox="1"/>
          <p:nvPr/>
        </p:nvSpPr>
        <p:spPr>
          <a:xfrm>
            <a:off x="2843784" y="589788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ECR image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343400" y="589788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2F4652"/>
          </a:solidFill>
          <a:ln w="15875">
            <a:solidFill>
              <a:srgbClr val="5B7C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 txBox="1"/>
          <p:nvPr/>
        </p:nvSpPr>
        <p:spPr>
          <a:xfrm>
            <a:off x="4398264" y="58978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SSM 參數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760720" y="589788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2F4652"/>
          </a:solidFill>
          <a:ln w="15875">
            <a:solidFill>
              <a:srgbClr val="5B7C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5815584" y="589788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CloudWatch・SNS 告警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8366760" y="589788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2F4652"/>
          </a:solidFill>
          <a:ln w="15875">
            <a:solidFill>
              <a:srgbClr val="5B7C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 txBox="1"/>
          <p:nvPr/>
        </p:nvSpPr>
        <p:spPr>
          <a:xfrm>
            <a:off x="8421624" y="58978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S3（Terraform 帳本）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1874520" y="2331720"/>
            <a:ext cx="594360" cy="301752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 txBox="1"/>
          <p:nvPr/>
        </p:nvSpPr>
        <p:spPr>
          <a:xfrm>
            <a:off x="502920" y="17830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請求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2928639" y="2962656"/>
            <a:ext cx="0" cy="713232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4389120" y="3950208"/>
            <a:ext cx="1161288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61"/>
          <p:cNvSpPr/>
          <p:nvPr/>
        </p:nvSpPr>
        <p:spPr>
          <a:xfrm flipV="1">
            <a:off x="5550408" y="2962656"/>
            <a:ext cx="0" cy="987552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6629400" y="2633472"/>
            <a:ext cx="36576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5" name="Shape 63"/>
          <p:cNvSpPr/>
          <p:nvPr/>
        </p:nvSpPr>
        <p:spPr>
          <a:xfrm>
            <a:off x="8549640" y="2633472"/>
            <a:ext cx="6400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 txBox="1"/>
          <p:nvPr/>
        </p:nvSpPr>
        <p:spPr>
          <a:xfrm>
            <a:off x="8549640" y="234086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 flipV="1">
            <a:off x="4023360" y="3478573"/>
            <a:ext cx="0" cy="197315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4023360" y="3487717"/>
            <a:ext cx="914400" cy="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Shape 67"/>
          <p:cNvSpPr/>
          <p:nvPr/>
        </p:nvSpPr>
        <p:spPr>
          <a:xfrm>
            <a:off x="9738360" y="3593592"/>
            <a:ext cx="0" cy="82296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 txBox="1"/>
          <p:nvPr/>
        </p:nvSpPr>
        <p:spPr>
          <a:xfrm>
            <a:off x="7882127" y="32004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記帳・經 NAT 出口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 flipH="1">
            <a:off x="8549640" y="4059936"/>
            <a:ext cx="640080" cy="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 txBox="1"/>
          <p:nvPr/>
        </p:nvSpPr>
        <p:spPr>
          <a:xfrm>
            <a:off x="8549640" y="378561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7498080" y="4453128"/>
            <a:ext cx="0" cy="347472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8549640" y="5065776"/>
            <a:ext cx="640080" cy="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5" name="Shape 73"/>
          <p:cNvSpPr/>
          <p:nvPr/>
        </p:nvSpPr>
        <p:spPr>
          <a:xfrm>
            <a:off x="3429000" y="4453128"/>
            <a:ext cx="0" cy="347472"/>
          </a:xfrm>
          <a:prstGeom prst="line">
            <a:avLst/>
          </a:prstGeom>
          <a:noFill/>
          <a:ln w="22225">
            <a:solidFill>
              <a:srgbClr val="7D858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7" name="Shape 75"/>
          <p:cNvSpPr/>
          <p:nvPr/>
        </p:nvSpPr>
        <p:spPr>
          <a:xfrm flipV="1">
            <a:off x="1874520" y="2715768"/>
            <a:ext cx="594360" cy="576072"/>
          </a:xfrm>
          <a:prstGeom prst="line">
            <a:avLst/>
          </a:prstGeom>
          <a:noFill/>
          <a:ln w="19050">
            <a:solidFill>
              <a:srgbClr val="7D858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8" name="Shape 76"/>
          <p:cNvSpPr/>
          <p:nvPr/>
        </p:nvSpPr>
        <p:spPr>
          <a:xfrm flipV="1">
            <a:off x="1874520" y="2807208"/>
            <a:ext cx="594360" cy="1216152"/>
          </a:xfrm>
          <a:prstGeom prst="line">
            <a:avLst/>
          </a:prstGeom>
          <a:noFill/>
          <a:ln w="19050">
            <a:solidFill>
              <a:srgbClr val="7D858C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9" name="Text 77"/>
          <p:cNvSpPr txBox="1"/>
          <p:nvPr/>
        </p:nvSpPr>
        <p:spPr>
          <a:xfrm>
            <a:off x="502920" y="4315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唯讀 /metrics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1188720" y="5440680"/>
            <a:ext cx="0" cy="457200"/>
          </a:xfrm>
          <a:prstGeom prst="line">
            <a:avLst/>
          </a:prstGeom>
          <a:noFill/>
          <a:ln w="22225">
            <a:solidFill>
              <a:srgbClr val="5B7C8D"/>
            </a:solidFill>
            <a:prstDash val="dash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1" name="Text 79"/>
          <p:cNvSpPr txBox="1"/>
          <p:nvPr/>
        </p:nvSpPr>
        <p:spPr>
          <a:xfrm>
            <a:off x="1234440" y="55778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C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OIDC 換一小時角色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1874520" y="5029200"/>
            <a:ext cx="274320" cy="0"/>
          </a:xfrm>
          <a:prstGeom prst="line">
            <a:avLst/>
          </a:prstGeom>
          <a:noFill/>
          <a:ln w="22225">
            <a:solidFill>
              <a:srgbClr val="5B7C8D"/>
            </a:solidFill>
            <a:prstDash val="dash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3" name="Shape 81"/>
          <p:cNvSpPr/>
          <p:nvPr/>
        </p:nvSpPr>
        <p:spPr>
          <a:xfrm>
            <a:off x="8710860" y="1325880"/>
            <a:ext cx="27432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82"/>
          <p:cNvSpPr txBox="1"/>
          <p:nvPr/>
        </p:nvSpPr>
        <p:spPr>
          <a:xfrm>
            <a:off x="9030900" y="12070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請求／對外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9940484" y="1325880"/>
            <a:ext cx="274320" cy="0"/>
          </a:xfrm>
          <a:prstGeom prst="line">
            <a:avLst/>
          </a:prstGeom>
          <a:noFill/>
          <a:ln w="31750">
            <a:solidFill>
              <a:srgbClr val="2E9E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Text 84"/>
          <p:cNvSpPr txBox="1"/>
          <p:nvPr/>
        </p:nvSpPr>
        <p:spPr>
          <a:xfrm>
            <a:off x="10260524" y="12070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記帳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10698480" y="1325880"/>
            <a:ext cx="274320" cy="0"/>
          </a:xfrm>
          <a:prstGeom prst="line">
            <a:avLst/>
          </a:prstGeom>
          <a:noFill/>
          <a:ln w="31750">
            <a:solidFill>
              <a:srgbClr val="5B7C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Text 86"/>
          <p:cNvSpPr txBox="1"/>
          <p:nvPr/>
        </p:nvSpPr>
        <p:spPr>
          <a:xfrm>
            <a:off x="11018520" y="12070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部署（虛線）</a:t>
            </a:r>
            <a:endParaRPr lang="en-US" sz="1200" dirty="0"/>
          </a:p>
        </p:txBody>
      </p:sp>
      <p:sp>
        <p:nvSpPr>
          <p:cNvPr id="91" name="Shape 65">
            <a:extLst>
              <a:ext uri="{FF2B5EF4-FFF2-40B4-BE49-F238E27FC236}">
                <a16:creationId xmlns:a16="http://schemas.microsoft.com/office/drawing/2014/main" id="{499A055A-7F4E-C90D-121F-2ECA8A32B3E5}"/>
              </a:ext>
            </a:extLst>
          </p:cNvPr>
          <p:cNvSpPr/>
          <p:nvPr/>
        </p:nvSpPr>
        <p:spPr>
          <a:xfrm flipH="1" flipV="1">
            <a:off x="9736755" y="3478572"/>
            <a:ext cx="1" cy="179827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記帳 進 NAT"/>
          <p:cNvSpPr/>
          <p:nvPr/>
        </p:nvSpPr>
        <p:spPr>
          <a:xfrm flipV="1">
            <a:off x="4937760" y="2962656"/>
            <a:ext cx="0" cy="521207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3" name="記帳 出 IGW">
            <a:extLst>
              <a:ext uri="{FF2B5EF4-FFF2-40B4-BE49-F238E27FC236}">
                <a16:creationId xmlns:a16="http://schemas.microsoft.com/office/drawing/2014/main" id="{499A055A-7F4E-C90D-121F-2ECA8A32B3E5}"/>
              </a:ext>
            </a:extLst>
          </p:cNvPr>
          <p:cNvSpPr/>
          <p:nvPr/>
        </p:nvSpPr>
        <p:spPr>
          <a:xfrm>
            <a:off x="7772400" y="2962656"/>
            <a:ext cx="0" cy="521207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記帳 到 SQS"/>
          <p:cNvSpPr/>
          <p:nvPr/>
        </p:nvSpPr>
        <p:spPr>
          <a:xfrm>
            <a:off x="7772400" y="3483864"/>
            <a:ext cx="1965960" cy="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記帳 NAT→IGW"/>
          <p:cNvSpPr/>
          <p:nvPr/>
        </p:nvSpPr>
        <p:spPr>
          <a:xfrm>
            <a:off x="6629400" y="2788920"/>
            <a:ext cx="365760" cy="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8" name="查表 標籤"/>
          <p:cNvSpPr txBox="1"/>
          <p:nvPr/>
        </p:nvSpPr>
        <p:spPr>
          <a:xfrm>
            <a:off x="3520440" y="45079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 Key・額度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2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2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2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2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2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00" fill="hold"/>
                                        <p:tgtEl>
                                          <p:spTgt spid="2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3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00" fill="hold"/>
                                        <p:tgtEl>
                                          <p:spTgt spid="3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3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00" fill="hold"/>
                                        <p:tgtEl>
                                          <p:spTgt spid="3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3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400" fill="hold"/>
                                        <p:tgtEl>
                                          <p:spTgt spid="3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3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400" fill="hold"/>
                                        <p:tgtEl>
                                          <p:spTgt spid="3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5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3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400" fill="hold"/>
                                        <p:tgtEl>
                                          <p:spTgt spid="3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5" dur="1" fill="hold"/>
                                        <p:tgtEl>
                                          <p:spTgt spid="4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4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400" fill="hold"/>
                                        <p:tgtEl>
                                          <p:spTgt spid="4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19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4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4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5" dur="400" fill="hold"/>
                                        <p:tgtEl>
                                          <p:spTgt spid="4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7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9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1" dur="1" fill="hold"/>
                                        <p:tgtEl>
                                          <p:spTgt spid="4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4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3" dur="400" fill="hold"/>
                                        <p:tgtEl>
                                          <p:spTgt spid="4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7" dur="4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9" dur="1" fill="hold"/>
                                        <p:tgtEl>
                                          <p:spTgt spid="4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00"/>
                                        <p:tgtEl>
                                          <p:spTgt spid="4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1" dur="400" fill="hold"/>
                                        <p:tgtEl>
                                          <p:spTgt spid="4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43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4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49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52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55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58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64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67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70" dur="1" fill="hold"/>
                                        <p:tgtEl>
                                          <p:spTgt spid="5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400"/>
                                        <p:tgtEl>
                                          <p:spTgt spid="5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73" dur="1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79" dur="1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82" dur="1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85" dur="1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88" dur="1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3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194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9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6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197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198" presetID="22" presetClass="entr" presetSubtype="8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99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4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02" dur="1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3" dur="3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205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208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6" presetClass="emph" presetSubtype="0" fill="hold" nodeType="withEffect">
                                  <p:stCondLst>
                                    <p:cond delay="1230"/>
                                  </p:stCondLst>
                                  <p:childTnLst>
                                    <p:animScale>
                                      <p:cBhvr>
                                        <p:cTn id="211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212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13" presetID="26" presetClass="emph" presetSubtype="0" fill="hold" nodeType="withEffect">
                                  <p:stCondLst>
                                    <p:cond delay="2230"/>
                                  </p:stCondLst>
                                  <p:childTnLst>
                                    <p:animScale>
                                      <p:cBhvr>
                                        <p:cTn id="214" dur="28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215" dur="280" autoRev="1" fill="hold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0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6" presetClass="emph" presetSubtype="0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animScale>
                                      <p:cBhvr>
                                        <p:cTn id="222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223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24" presetID="1" presetClass="emph" presetSubtype="0" fill="hold" nodeType="withEffect">
                                  <p:stCondLst>
                                    <p:cond delay="89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350" autoRev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B03B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22" presetClass="entr" presetSubtype="4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232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3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6" presetClass="emph" presetSubtype="0" fill="hold" nodeType="withEffect">
                                  <p:stCondLst>
                                    <p:cond delay="780"/>
                                  </p:stCondLst>
                                  <p:childTnLst>
                                    <p:animScale>
                                      <p:cBhvr>
                                        <p:cTn id="235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236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37" presetID="22" presetClass="entr" presetSubtype="8" fill="hold" nodeType="withEffect">
                                  <p:stCondLst>
                                    <p:cond delay="1230"/>
                                  </p:stCondLst>
                                  <p:childTnLst>
                                    <p:set>
                                      <p:cBhvr>
                                        <p:cTn id="238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26" presetClass="emph" presetSubtype="0" fill="hold" nodeType="withEffect">
                                  <p:stCondLst>
                                    <p:cond delay="1620"/>
                                  </p:stCondLst>
                                  <p:childTnLst>
                                    <p:animScale>
                                      <p:cBhvr>
                                        <p:cTn id="241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242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43" presetID="22" presetClass="entr" presetSubtype="8" fill="hold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244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5" dur="3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grpId="0" nodeType="withEffect">
                                  <p:stCondLst>
                                    <p:cond delay="2460"/>
                                  </p:stCondLst>
                                  <p:childTnLst>
                                    <p:set>
                                      <p:cBhvr>
                                        <p:cTn id="247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26" presetClass="emph" presetSubtype="0" fill="hold" nodeType="withEffect">
                                  <p:stCondLst>
                                    <p:cond delay="2560"/>
                                  </p:stCondLst>
                                  <p:childTnLst>
                                    <p:animScale>
                                      <p:cBhvr>
                                        <p:cTn id="250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251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5" dur="2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256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57" presetID="1" presetClass="emp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50" autoRev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B0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9" presetID="1" presetClass="emph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50" autoRev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B0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1" presetID="1" presetClass="emph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animClr clrSpc="rgb" dir="cw">
                                      <p:cBhvr>
                                        <p:cTn id="262" dur="350" autoRev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B0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3" presetID="1" presetClass="emph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350" autoRev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B0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5" presetID="26" presetClass="emph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266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267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68" presetID="2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9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0" dur="3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22" presetClass="entr" presetSubtype="8" fill="hold" nodeType="withEffect">
                                  <p:stCondLst>
                                    <p:cond delay="2390"/>
                                  </p:stCondLst>
                                  <p:childTnLst>
                                    <p:set>
                                      <p:cBhvr>
                                        <p:cTn id="272" dur="1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3" dur="3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22" presetClass="entr" presetSubtype="4" fill="hold" nodeType="withEffect">
                                  <p:stCondLst>
                                    <p:cond delay="2780"/>
                                  </p:stCondLst>
                                  <p:childTnLst>
                                    <p:set>
                                      <p:cBhvr>
                                        <p:cTn id="275" dur="1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6" dur="3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26" presetClass="emph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animScale>
                                      <p:cBhvr>
                                        <p:cTn id="278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279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80" presetID="22" presetClass="entr" presetSubtype="8" fill="hold" nodeType="with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281" dur="1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3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26" presetClass="emph" presetSubtype="0" fill="hold" nodeType="withEffect">
                                  <p:stCondLst>
                                    <p:cond delay="3900"/>
                                  </p:stCondLst>
                                  <p:childTnLst>
                                    <p:animScale>
                                      <p:cBhvr>
                                        <p:cTn id="284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285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86" presetID="22" presetClass="entr" presetSubtype="1" fill="hold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287" dur="1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8" dur="3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0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290" dur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22" presetClass="entr" presetSubtype="8" fill="hold" nodeType="withEffect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293" dur="1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4" dur="3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22" presetClass="entr" presetSubtype="1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96" dur="1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7" dur="3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22" presetClass="entr" presetSubtype="1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99" dur="1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0" dur="3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26" presetClass="emph" presetSubtype="0" fill="hold" nodeType="withEffect">
                                  <p:stCondLst>
                                    <p:cond delay="5450"/>
                                  </p:stCondLst>
                                  <p:childTnLst>
                                    <p:animScale>
                                      <p:cBhvr>
                                        <p:cTn id="302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303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04" presetID="1" presetClass="emph" presetSubtype="0" fill="hold" nodeType="withEffect">
                                  <p:stCondLst>
                                    <p:cond delay="610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350" autoRev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B0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6" presetID="1" presetClass="emph" presetSubtype="0" fill="hold" nodeType="withEffect">
                                  <p:stCondLst>
                                    <p:cond delay="6350"/>
                                  </p:stCondLst>
                                  <p:childTnLst>
                                    <p:animClr clrSpc="rgb" dir="cw">
                                      <p:cBhvr>
                                        <p:cTn id="307" dur="350" autoRev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B0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8" presetID="1" presetClass="emph" presetSubtype="0" fill="hold" nodeType="withEffect">
                                  <p:stCondLst>
                                    <p:cond delay="6350"/>
                                  </p:stCondLst>
                                  <p:childTnLst>
                                    <p:animClr clrSpc="rgb" dir="cw">
                                      <p:cBhvr>
                                        <p:cTn id="309" dur="350" autoRev="1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B0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0" presetID="26" presetClass="emph" presetSubtype="0" fill="hold" nodeType="withEffect">
                                  <p:stCondLst>
                                    <p:cond delay="6600"/>
                                  </p:stCondLst>
                                  <p:childTnLst>
                                    <p:animScale>
                                      <p:cBhvr>
                                        <p:cTn id="311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312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13" presetID="26" presetClass="emph" presetSubtype="0" fill="hold" nodeType="withEffect">
                                  <p:stCondLst>
                                    <p:cond delay="6600"/>
                                  </p:stCondLst>
                                  <p:childTnLst>
                                    <p:animScale>
                                      <p:cBhvr>
                                        <p:cTn id="314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315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0" dur="3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322" dur="1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26" presetClass="emph" presetSubtype="0" fill="hold" nodeType="withEffect">
                                  <p:stCondLst>
                                    <p:cond delay="390"/>
                                  </p:stCondLst>
                                  <p:childTnLst>
                                    <p:animScale>
                                      <p:cBhvr>
                                        <p:cTn id="325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326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27" presetID="22" presetClass="entr" presetSubtype="1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28" dur="1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9" dur="3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26" presetClass="emph" presetSubtype="0" fill="hold" nodeType="withEffect">
                                  <p:stCondLst>
                                    <p:cond delay="1290"/>
                                  </p:stCondLst>
                                  <p:childTnLst>
                                    <p:animScale>
                                      <p:cBhvr>
                                        <p:cTn id="331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332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33" presetID="22" presetClass="entr" presetSubtype="8" fill="hold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334" dur="1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5" dur="3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26" presetClass="emph" presetSubtype="0" fill="hold" nodeType="withEffect">
                                  <p:stCondLst>
                                    <p:cond delay="2090"/>
                                  </p:stCondLst>
                                  <p:childTnLst>
                                    <p:animScale>
                                      <p:cBhvr>
                                        <p:cTn id="337" dur="250" autoRev="1" fill="hold"/>
                                        <p:tgtEl>
                                          <p:spTgt spid="47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338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39" presetID="22" presetClass="entr" presetSubtype="1" fill="hold" nodeType="withEffect">
                                  <p:stCondLst>
                                    <p:cond delay="2690"/>
                                  </p:stCondLst>
                                  <p:childTnLst>
                                    <p:set>
                                      <p:cBhvr>
                                        <p:cTn id="340" dur="1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1" dur="3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presetID="10" presetClass="entr" presetSubtype="0" fill="hold" grpId="0" nodeType="withEffect">
                                  <p:stCondLst>
                                    <p:cond delay="3040"/>
                                  </p:stCondLst>
                                  <p:childTnLst>
                                    <p:set>
                                      <p:cBhvr>
                                        <p:cTn id="343" dur="1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5" presetID="26" presetClass="emph" presetSubtype="0" fill="hold" nodeType="withEffect">
                                  <p:stCondLst>
                                    <p:cond delay="3090"/>
                                  </p:stCondLst>
                                  <p:childTnLst>
                                    <p:animScale>
                                      <p:cBhvr>
                                        <p:cTn id="346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347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51" dur="250" autoRev="1" fill="hold"/>
                                        <p:tgtEl>
                                          <p:spTgt spid="57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352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53" presetID="2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354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355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56" presetID="22" presetClass="entr" presetSubtype="1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57" dur="1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8" dur="3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60" dur="1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2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3" dur="1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4" dur="3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1" presetClass="emph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50" autoRev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B0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7" presetID="1" presetClass="emph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Clr clrSpc="rgb" dir="cw">
                                      <p:cBhvr>
                                        <p:cTn id="368" dur="350" autoRev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B0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9" presetID="1" presetClass="emph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Clr clrSpc="rgb" dir="cw">
                                      <p:cBhvr>
                                        <p:cTn id="370" dur="350" autoRev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B03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1" presetID="26" presetClass="emph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animScale>
                                      <p:cBhvr>
                                        <p:cTn id="372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373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8" dur="3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0" dur="1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5" grpId="0"/>
      <p:bldP spid="18" grpId="0" animBg="1"/>
      <p:bldP spid="20" grpId="0" animBg="1"/>
      <p:bldP spid="22" grpId="0"/>
      <p:bldP spid="24" grpId="0"/>
      <p:bldP spid="26" grpId="0"/>
      <p:bldP spid="28" grpId="0"/>
      <p:bldP spid="30" grpId="0"/>
      <p:bldP spid="32" grpId="0"/>
      <p:bldP spid="34" grpId="0"/>
      <p:bldP spid="36" grpId="0"/>
      <p:bldP spid="38" grpId="0"/>
      <p:bldP spid="40" grpId="0" animBg="1"/>
      <p:bldP spid="42" grpId="0"/>
      <p:bldP spid="44" grpId="0"/>
      <p:bldP spid="46" grpId="0"/>
      <p:bldP spid="48" grpId="0"/>
      <p:bldP spid="50" grpId="0" animBg="1"/>
      <p:bldP spid="52" grpId="0" animBg="1"/>
      <p:bldP spid="54" grpId="0" animBg="1"/>
      <p:bldP spid="56" grpId="0" animBg="1"/>
      <p:bldP spid="58" grpId="0"/>
      <p:bldP spid="60" grpId="0" animBg="1"/>
      <p:bldP spid="66" grpId="0" animBg="1"/>
      <p:bldP spid="70" grpId="0" animBg="1"/>
      <p:bldP spid="72" grpId="0" animBg="1"/>
      <p:bldP spid="79" grpId="0" animBg="1"/>
      <p:bldP spid="81" grpId="0" animBg="1"/>
      <p:bldP spid="84" grpId="0" animBg="1"/>
      <p:bldP spid="86" grpId="0" animBg="1"/>
      <p:bldP spid="88" grpId="0" animBg="1"/>
      <p:bldP spid="9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解法提綱｜一次呼叫發生什麼事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前六步是門禁，後五步做事；紅色是擋下時回的代碼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8288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120140" y="193852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112014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 收到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148840" y="230886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420051" y="18288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0B5D5E"/>
          </a:solidFill>
          <a:ln w="1905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037271" y="193852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3037271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420051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 Key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854391" y="288036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2854391" y="28803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065971" y="230886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337182" y="18288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0B5D5E"/>
          </a:solidFill>
          <a:ln w="1905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954402" y="193852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4954402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337182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讀額度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771522" y="288036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4771522" y="28803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503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83102" y="230886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6254313" y="18288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6871533" y="1938528"/>
            <a:ext cx="365760" cy="36576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6871533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254313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遮罩個資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900233" y="230886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8171444" y="18288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0B5D5E"/>
          </a:solidFill>
          <a:ln w="1905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8788664" y="193852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8788664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171444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判斷超額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605784" y="288036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8605784" y="28803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817364" y="230886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10088575" y="18288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0B5D5E"/>
          </a:solidFill>
          <a:ln w="1905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10705795" y="193852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10705795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088575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預寫 0 元帳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0522915" y="288036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 txBox="1"/>
          <p:nvPr/>
        </p:nvSpPr>
        <p:spPr>
          <a:xfrm>
            <a:off x="10522915" y="28803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503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888675" y="3291840"/>
            <a:ext cx="0" cy="64008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2420051" y="39319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2F4652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3037271" y="404164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3037271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2420051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回傳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 flipH="1">
            <a:off x="4065971" y="441198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4337182" y="39319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2F4652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4954402" y="404164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 txBox="1"/>
          <p:nvPr/>
        </p:nvSpPr>
        <p:spPr>
          <a:xfrm>
            <a:off x="4954402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600" dirty="0"/>
          </a:p>
        </p:txBody>
      </p:sp>
      <p:sp>
        <p:nvSpPr>
          <p:cNvPr id="59" name="Text 57"/>
          <p:cNvSpPr txBox="1"/>
          <p:nvPr/>
        </p:nvSpPr>
        <p:spPr>
          <a:xfrm>
            <a:off x="4337182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送進 SQS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 flipH="1">
            <a:off x="5983102" y="441198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6254313" y="39319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2F4652"/>
          </a:solidFill>
          <a:ln w="1905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6871533" y="404164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 txBox="1"/>
          <p:nvPr/>
        </p:nvSpPr>
        <p:spPr>
          <a:xfrm>
            <a:off x="6871533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600" dirty="0"/>
          </a:p>
        </p:txBody>
      </p:sp>
      <p:sp>
        <p:nvSpPr>
          <p:cNvPr id="64" name="Text 62"/>
          <p:cNvSpPr txBox="1"/>
          <p:nvPr/>
        </p:nvSpPr>
        <p:spPr>
          <a:xfrm>
            <a:off x="6254313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呼叫 OpenAI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688653" y="498348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 txBox="1"/>
          <p:nvPr/>
        </p:nvSpPr>
        <p:spPr>
          <a:xfrm>
            <a:off x="6688653" y="498348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502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 flipH="1">
            <a:off x="7900233" y="441198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8171444" y="39319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2F4652"/>
          </a:solidFill>
          <a:ln w="1905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Shape 67"/>
          <p:cNvSpPr/>
          <p:nvPr/>
        </p:nvSpPr>
        <p:spPr>
          <a:xfrm>
            <a:off x="8788664" y="404164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 txBox="1"/>
          <p:nvPr/>
        </p:nvSpPr>
        <p:spPr>
          <a:xfrm>
            <a:off x="8788664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600" dirty="0"/>
          </a:p>
        </p:txBody>
      </p:sp>
      <p:sp>
        <p:nvSpPr>
          <p:cNvPr id="71" name="Text 69"/>
          <p:cNvSpPr txBox="1"/>
          <p:nvPr/>
        </p:nvSpPr>
        <p:spPr>
          <a:xfrm>
            <a:off x="8171444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查單價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605784" y="498348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Text 71"/>
          <p:cNvSpPr txBox="1"/>
          <p:nvPr/>
        </p:nvSpPr>
        <p:spPr>
          <a:xfrm>
            <a:off x="8605784" y="498348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500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 flipH="1">
            <a:off x="9817364" y="441198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5" name="Shape 73"/>
          <p:cNvSpPr/>
          <p:nvPr/>
        </p:nvSpPr>
        <p:spPr>
          <a:xfrm>
            <a:off x="10088575" y="39319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2F4652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10705795" y="404164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Text 75"/>
          <p:cNvSpPr txBox="1"/>
          <p:nvPr/>
        </p:nvSpPr>
        <p:spPr>
          <a:xfrm>
            <a:off x="10705795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600" dirty="0"/>
          </a:p>
        </p:txBody>
      </p:sp>
      <p:sp>
        <p:nvSpPr>
          <p:cNvPr id="78" name="Text 76"/>
          <p:cNvSpPr txBox="1"/>
          <p:nvPr/>
        </p:nvSpPr>
        <p:spPr>
          <a:xfrm>
            <a:off x="10088575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選模型</a:t>
            </a:r>
            <a:endParaRPr lang="en-US" sz="1600" dirty="0"/>
          </a:p>
        </p:txBody>
      </p:sp>
      <p:sp>
        <p:nvSpPr>
          <p:cNvPr id="79" name="Text 77"/>
          <p:cNvSpPr txBox="1"/>
          <p:nvPr/>
        </p:nvSpPr>
        <p:spPr>
          <a:xfrm>
            <a:off x="502920" y="566928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4 步之後，送往 OpenAI 與寫入稽核的內容，都已是遮罩後的內容</a:t>
            </a:r>
            <a:endParaRPr lang="en-US" sz="1600" dirty="0"/>
          </a:p>
        </p:txBody>
      </p:sp>
      <p:sp>
        <p:nvSpPr>
          <p:cNvPr id="80" name="TextBox 79"/>
          <p:cNvSpPr txBox="1"/>
          <p:nvPr/>
        </p:nvSpPr>
        <p:spPr>
          <a:xfrm>
            <a:off x="502920" y="1517904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chemeClr val="accent5"/>
                </a:solidFill>
                <a:latin typeface="Microsoft JhengHei"/>
              </a:rPr>
              <a:t>門禁（1–6）：</a:t>
            </a:r>
            <a:r>
              <a:rPr sz="1400" b="1" dirty="0" err="1">
                <a:solidFill>
                  <a:schemeClr val="accent5"/>
                </a:solidFill>
                <a:latin typeface="Microsoft JhengHei"/>
              </a:rPr>
              <a:t>任何一步擋下，就回代碼、不碰模型</a:t>
            </a:r>
            <a:endParaRPr sz="1400" b="1" dirty="0">
              <a:solidFill>
                <a:schemeClr val="accent5"/>
              </a:solidFill>
              <a:latin typeface="Microsoft JhengHei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02920" y="362102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B9C6CA"/>
                </a:solidFill>
                <a:latin typeface="Microsoft JhengHei"/>
              </a:rPr>
              <a:t>做事（7–11）：確認帳單進了佇列，才回傳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2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00" fill="hold"/>
                                        <p:tgtEl>
                                          <p:spTgt spid="2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21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1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21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2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00" fill="hold"/>
                                        <p:tgtEl>
                                          <p:spTgt spid="2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2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00" fill="hold"/>
                                        <p:tgtEl>
                                          <p:spTgt spid="2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71" dur="1" fill="hold"/>
                                        <p:tgtEl>
                                          <p:spTgt spid="3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3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00" fill="hold"/>
                                        <p:tgtEl>
                                          <p:spTgt spid="34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3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00" fill="hold"/>
                                        <p:tgtEl>
                                          <p:spTgt spid="35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9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3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400" fill="hold"/>
                                        <p:tgtEl>
                                          <p:spTgt spid="3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4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4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400" fill="hold"/>
                                        <p:tgtEl>
                                          <p:spTgt spid="4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5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4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4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400" fill="hold"/>
                                        <p:tgtEl>
                                          <p:spTgt spid="46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4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4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00" fill="hold"/>
                                        <p:tgtEl>
                                          <p:spTgt spid="4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17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120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23" dur="1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4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36" dur="1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4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40" dur="1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4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4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48" dur="1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4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52" dur="1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4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56" dur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4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160" dur="1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2" dur="4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164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4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168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0" dur="4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172" dur="1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4" dur="4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8" dur="4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180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2" dur="4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184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6" dur="4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188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0" dur="4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192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4" dur="4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196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8" dur="4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200" dur="1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2" dur="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204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6" dur="4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grpId="0" nodeType="withEffect">
                                  <p:stCondLst>
                                    <p:cond delay="1930"/>
                                  </p:stCondLst>
                                  <p:childTnLst>
                                    <p:set>
                                      <p:cBhvr>
                                        <p:cTn id="208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0" dur="4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22" presetClass="entr" presetSubtype="2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12" dur="1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3" dur="3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2" fill="hold" nodeType="withEffect">
                                  <p:stCondLst>
                                    <p:cond delay="1720"/>
                                  </p:stCondLst>
                                  <p:childTnLst>
                                    <p:set>
                                      <p:cBhvr>
                                        <p:cTn id="215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6" dur="3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2" fill="hold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218" dur="1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9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2" fill="hold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221" dur="1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2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224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225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26" presetID="2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227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228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29" presetID="2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230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231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32" presetID="2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233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234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35" presetID="26" presetClass="emph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236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237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38" presetID="26" presetClass="emp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239" dur="25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240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41" presetID="23" presetClass="entr" presetSubtype="16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4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4" dur="350" fill="hold"/>
                                        <p:tgtEl>
                                          <p:spTgt spid="22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245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6" presetID="23" presetClass="entr" presetSubtype="16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47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9" dur="350" fill="hold"/>
                                        <p:tgtEl>
                                          <p:spTgt spid="23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250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51" presetID="26" presetClass="emph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animScale>
                                      <p:cBhvr>
                                        <p:cTn id="252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253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54" presetID="26" presetClass="emph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animScale>
                                      <p:cBhvr>
                                        <p:cTn id="255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256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57" presetID="23" presetClass="entr" presetSubtype="16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258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0" dur="350" fill="hold"/>
                                        <p:tgtEl>
                                          <p:spTgt spid="41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261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2" presetID="23" presetClass="entr" presetSubtype="16" fill="hold" grpId="0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263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5" dur="350" fill="hold"/>
                                        <p:tgtEl>
                                          <p:spTgt spid="42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266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7" presetID="26" presetClass="emph" presetSubtype="0" fill="hold" nodeType="withEffect">
                                  <p:stCondLst>
                                    <p:cond delay="5700"/>
                                  </p:stCondLst>
                                  <p:childTnLst>
                                    <p:animScale>
                                      <p:cBhvr>
                                        <p:cTn id="268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269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70" presetID="26" presetClass="emph" presetSubtype="0" fill="hold" nodeType="withEffect">
                                  <p:stCondLst>
                                    <p:cond delay="5700"/>
                                  </p:stCondLst>
                                  <p:childTnLst>
                                    <p:animScale>
                                      <p:cBhvr>
                                        <p:cTn id="271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272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73" presetID="23" presetClass="entr" presetSubtype="16" fill="hold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274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6" dur="350" fill="hold"/>
                                        <p:tgtEl>
                                          <p:spTgt spid="29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277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8" presetID="23" presetClass="entr" presetSubtype="16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279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1" dur="350" fill="hold"/>
                                        <p:tgtEl>
                                          <p:spTgt spid="30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282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3" presetID="23" presetClass="entr" presetSubtype="16" fill="hold" nodeType="withEffect">
                                  <p:stCondLst>
                                    <p:cond delay="8250"/>
                                  </p:stCondLst>
                                  <p:childTnLst>
                                    <p:set>
                                      <p:cBhvr>
                                        <p:cTn id="284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6" dur="350" fill="hold"/>
                                        <p:tgtEl>
                                          <p:spTgt spid="48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287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8" presetID="23" presetClass="entr" presetSubtype="16" fill="hold" grpId="0" nodeType="withEffect">
                                  <p:stCondLst>
                                    <p:cond delay="8250"/>
                                  </p:stCondLst>
                                  <p:childTnLst>
                                    <p:set>
                                      <p:cBhvr>
                                        <p:cTn id="289" dur="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1" dur="350" fill="hold"/>
                                        <p:tgtEl>
                                          <p:spTgt spid="49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292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3" presetID="26" presetClass="emph" presetSubtype="0" fill="hold" nodeType="withEffect">
                                  <p:stCondLst>
                                    <p:cond delay="8200"/>
                                  </p:stCondLst>
                                  <p:childTnLst>
                                    <p:animScale>
                                      <p:cBhvr>
                                        <p:cTn id="294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295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96" presetID="26" presetClass="emph" presetSubtype="0" fill="hold" nodeType="withEffect">
                                  <p:stCondLst>
                                    <p:cond delay="8200"/>
                                  </p:stCondLst>
                                  <p:childTnLst>
                                    <p:animScale>
                                      <p:cBhvr>
                                        <p:cTn id="297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298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99" presetID="26" presetClass="emph" presetSubtype="0" fill="hold" nodeType="withEffect">
                                  <p:stCondLst>
                                    <p:cond delay="8450"/>
                                  </p:stCondLst>
                                  <p:childTnLst>
                                    <p:animScale>
                                      <p:cBhvr>
                                        <p:cTn id="300" dur="25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301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02" presetID="26" presetClass="emph" presetSubtype="0" fill="hold" nodeType="withEffect">
                                  <p:stCondLst>
                                    <p:cond delay="8450"/>
                                  </p:stCondLst>
                                  <p:childTnLst>
                                    <p:animScale>
                                      <p:cBhvr>
                                        <p:cTn id="303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304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8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309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10" presetID="26" presetClass="emph" presetSubtype="0" fill="hold" nodeType="withEffect">
                                  <p:stCondLst>
                                    <p:cond delay="80"/>
                                  </p:stCondLst>
                                  <p:childTnLst>
                                    <p:animScale>
                                      <p:cBhvr>
                                        <p:cTn id="311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312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13" presetID="26" presetClass="emph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animScale>
                                      <p:cBhvr>
                                        <p:cTn id="314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315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16" presetID="26" presetClass="emph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animScale>
                                      <p:cBhvr>
                                        <p:cTn id="317" dur="250" autoRev="1" fill="hold"/>
                                        <p:tgtEl>
                                          <p:spTgt spid="48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318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2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323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2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5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326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27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28" dur="1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9" dur="3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0" fill="hold">
                      <p:stCondLst>
                        <p:cond delay="indefinite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33" dur="25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334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3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36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337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38" presetID="2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339" dur="250" autoRev="1" fill="hold"/>
                                        <p:tgtEl>
                                          <p:spTgt spid="75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340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41" presetID="2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342" dur="250" autoRev="1" fill="hold"/>
                                        <p:tgtEl>
                                          <p:spTgt spid="68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343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44" presetID="2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Scale>
                                      <p:cBhvr>
                                        <p:cTn id="345" dur="250" autoRev="1" fill="hold"/>
                                        <p:tgtEl>
                                          <p:spTgt spid="61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346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47" presetID="2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348" dur="25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349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50" presetID="26" presetClass="emph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Scale>
                                      <p:cBhvr>
                                        <p:cTn id="351" dur="250" autoRev="1" fill="hold"/>
                                        <p:tgtEl>
                                          <p:spTgt spid="51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352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53" presetID="2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54" dur="1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6" dur="350" fill="hold"/>
                                        <p:tgtEl>
                                          <p:spTgt spid="72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357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58" presetID="2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59" dur="1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0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1" dur="350" fill="hold"/>
                                        <p:tgtEl>
                                          <p:spTgt spid="73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362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3" presetID="23" presetClass="entr" presetSubtype="16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64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2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6" dur="350" fill="hold"/>
                                        <p:tgtEl>
                                          <p:spTgt spid="65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367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8" presetID="23" presetClass="entr" presetSubtype="16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69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1" dur="350" fill="hold"/>
                                        <p:tgtEl>
                                          <p:spTgt spid="66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372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5" grpId="0" animBg="1"/>
      <p:bldP spid="16" grpId="0" animBg="1"/>
      <p:bldP spid="20" grpId="0"/>
      <p:bldP spid="21" grpId="0"/>
      <p:bldP spid="23" grpId="0" animBg="1"/>
      <p:bldP spid="27" grpId="0"/>
      <p:bldP spid="28" grpId="0"/>
      <p:bldP spid="30" grpId="0" animBg="1"/>
      <p:bldP spid="34" grpId="0"/>
      <p:bldP spid="35" grpId="0"/>
      <p:bldP spid="39" grpId="0"/>
      <p:bldP spid="40" grpId="0"/>
      <p:bldP spid="42" grpId="0" animBg="1"/>
      <p:bldP spid="46" grpId="0"/>
      <p:bldP spid="47" grpId="0"/>
      <p:bldP spid="49" grpId="0" animBg="1"/>
      <p:bldP spid="53" grpId="0" animBg="1"/>
      <p:bldP spid="54" grpId="0" animBg="1"/>
      <p:bldP spid="58" grpId="0" animBg="1"/>
      <p:bldP spid="59" grpId="0" animBg="1"/>
      <p:bldP spid="63" grpId="0" animBg="1"/>
      <p:bldP spid="64" grpId="0" animBg="1"/>
      <p:bldP spid="66" grpId="0" animBg="1"/>
      <p:bldP spid="70" grpId="0" animBg="1"/>
      <p:bldP spid="71" grpId="0" animBg="1"/>
      <p:bldP spid="73" grpId="0" animBg="1"/>
      <p:bldP spid="77" grpId="0" animBg="1"/>
      <p:bldP spid="78" grpId="0" animBg="1"/>
      <p:bldP spid="79" grpId="0" animBg="1"/>
      <p:bldP spid="80" grpId="0"/>
      <p:bldP spid="8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解法提綱｜三件事、兩層、一鍵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要用才開，用完就拆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600200"/>
            <a:ext cx="3500018" cy="868680"/>
          </a:xfrm>
          <a:prstGeom prst="roundRect">
            <a:avLst>
              <a:gd name="adj" fmla="val 10526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67512" y="1737360"/>
            <a:ext cx="594360" cy="59436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home/claude/slides/v6/media/s09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02" y="1885950"/>
            <a:ext cx="297180" cy="2971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17320" y="1691640"/>
            <a:ext cx="2494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外面連不進來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2075688"/>
            <a:ext cx="2494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容器沒有公開 IP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231538" y="1600200"/>
            <a:ext cx="3500018" cy="868680"/>
          </a:xfrm>
          <a:prstGeom prst="roundRect">
            <a:avLst>
              <a:gd name="adj" fmla="val 10526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4396130" y="1737360"/>
            <a:ext cx="594360" cy="59436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Image 1" descr="/home/claude/slides/v6/media/s09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720" y="1885950"/>
            <a:ext cx="297180" cy="29718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145938" y="1691640"/>
            <a:ext cx="2494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只有一個出口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5145938" y="2075688"/>
            <a:ext cx="2494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只放行名單上的網域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7960157" y="1600200"/>
            <a:ext cx="3500018" cy="868680"/>
          </a:xfrm>
          <a:prstGeom prst="roundRect">
            <a:avLst>
              <a:gd name="adj" fmla="val 10526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0"/>
          <p:cNvSpPr/>
          <p:nvPr/>
        </p:nvSpPr>
        <p:spPr>
          <a:xfrm>
            <a:off x="8124749" y="1737360"/>
            <a:ext cx="594360" cy="59436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5" name="Image 2" descr="/home/claude/slides/v6/media/s09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3339" y="1885950"/>
            <a:ext cx="297180" cy="29718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874557" y="1691640"/>
            <a:ext cx="2494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沒有長期金鑰</a:t>
            </a:r>
            <a:endParaRPr lang="en-US" sz="2000" dirty="0"/>
          </a:p>
        </p:txBody>
      </p:sp>
      <p:sp>
        <p:nvSpPr>
          <p:cNvPr id="27" name="Text 22"/>
          <p:cNvSpPr txBox="1"/>
          <p:nvPr/>
        </p:nvSpPr>
        <p:spPr>
          <a:xfrm>
            <a:off x="8874557" y="2075688"/>
            <a:ext cx="2494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用身分聯盟換通行證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502920" y="2697480"/>
            <a:ext cx="5455768" cy="2194560"/>
          </a:xfrm>
          <a:prstGeom prst="roundRect">
            <a:avLst>
              <a:gd name="adj" fmla="val 4167"/>
            </a:avLst>
          </a:prstGeom>
          <a:solidFill>
            <a:srgbClr val="14262B">
              <a:alpha val="0"/>
            </a:srgbClr>
          </a:solidFill>
          <a:ln w="19050">
            <a:solidFill>
              <a:srgbClr val="2E9E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4"/>
          <p:cNvSpPr txBox="1"/>
          <p:nvPr/>
        </p:nvSpPr>
        <p:spPr>
          <a:xfrm>
            <a:off x="777240" y="288036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長期層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閒置幾乎免費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777240" y="3474720"/>
            <a:ext cx="4907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Terraform 帳本、ECR、四張資料表</a:t>
            </a:r>
            <a:endParaRPr lang="en-US" sz="1600" dirty="0"/>
          </a:p>
          <a:p>
            <a:pPr marL="177800" indent="-177800" algn="l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OIDC、ECS、Worker 角色</a:t>
            </a:r>
            <a:endParaRPr lang="en-US" sz="1600" dirty="0"/>
          </a:p>
          <a:p>
            <a:pPr marL="177800" indent="-177800" algn="l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SQS ＋ DLQ、日誌群組、告警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6233008" y="2697480"/>
            <a:ext cx="5455768" cy="2194560"/>
          </a:xfrm>
          <a:prstGeom prst="roundRect">
            <a:avLst>
              <a:gd name="adj" fmla="val 4167"/>
            </a:avLst>
          </a:prstGeom>
          <a:solidFill>
            <a:srgbClr val="14262B">
              <a:alpha val="0"/>
            </a:srgbClr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7"/>
          <p:cNvSpPr txBox="1"/>
          <p:nvPr/>
        </p:nvSpPr>
        <p:spPr>
          <a:xfrm>
            <a:off x="6507328" y="288036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每日層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按小時計費，用完拆除</a:t>
            </a:r>
            <a:endParaRPr lang="en-US" sz="1600" dirty="0"/>
          </a:p>
        </p:txBody>
      </p:sp>
      <p:sp>
        <p:nvSpPr>
          <p:cNvPr id="33" name="Text 28"/>
          <p:cNvSpPr txBox="1"/>
          <p:nvPr/>
        </p:nvSpPr>
        <p:spPr>
          <a:xfrm>
            <a:off x="6507328" y="3474720"/>
            <a:ext cx="4907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VPC、子網、安全群組</a:t>
            </a:r>
            <a:endParaRPr lang="en-US" sz="1600" dirty="0"/>
          </a:p>
          <a:p>
            <a:pPr marL="177800" indent="-177800" algn="l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NAT、DNS 防火牆、ALB</a:t>
            </a:r>
            <a:endParaRPr lang="en-US" sz="1600" dirty="0"/>
          </a:p>
          <a:p>
            <a:pPr marL="177800" indent="-177800" algn="l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Fargate 服務、Lambda Worker</a:t>
            </a:r>
            <a:endParaRPr lang="en-US" sz="1600" dirty="0"/>
          </a:p>
        </p:txBody>
      </p:sp>
      <p:sp>
        <p:nvSpPr>
          <p:cNvPr id="34" name="Shape 29"/>
          <p:cNvSpPr/>
          <p:nvPr/>
        </p:nvSpPr>
        <p:spPr>
          <a:xfrm>
            <a:off x="502920" y="5166360"/>
            <a:ext cx="11185855" cy="868680"/>
          </a:xfrm>
          <a:prstGeom prst="roundRect">
            <a:avLst>
              <a:gd name="adj" fmla="val 10526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0"/>
          <p:cNvSpPr/>
          <p:nvPr/>
        </p:nvSpPr>
        <p:spPr>
          <a:xfrm>
            <a:off x="731520" y="5303520"/>
            <a:ext cx="594360" cy="59436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6" name="Image 3" descr="/home/claude/slides/v6/media/s09-Image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815" y="5377815"/>
            <a:ext cx="445770" cy="44577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508760" y="516636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一鍵拆除　</a:t>
            </a:r>
            <a:r>
              <a:rPr lang="en-US" sz="1600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借一小時的角色，只拆得了貼 daily 標籤的資源；用完當天就拆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2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8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8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6" grpId="0" animBg="1"/>
      <p:bldP spid="17" grpId="0" animBg="1"/>
      <p:bldP spid="21" grpId="0" animBg="1"/>
      <p:bldP spid="22" grpId="0" animBg="1"/>
      <p:bldP spid="26" grpId="0" animBg="1"/>
      <p:bldP spid="27" grpId="0" animBg="1"/>
      <p:bldP spid="29" grpId="0" animBg="1"/>
      <p:bldP spid="30" grpId="0" animBg="1"/>
      <p:bldP spid="32" grpId="0" animBg="1"/>
      <p:bldP spid="33" grpId="0" animBg="1"/>
      <p:bldP spid="3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技術實踐｜Demo Console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bob 問了一題設計題：路由選強模型，本次用量與剩餘額度即時更新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000" dirty="0"/>
          </a:p>
        </p:txBody>
      </p:sp>
      <p:pic>
        <p:nvPicPr>
          <p:cNvPr id="13" name="Image 0" descr="/home/claude/slides/v6/media/s10-Cons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8323759" cy="478231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84632" y="1554480"/>
            <a:ext cx="8360335" cy="4818888"/>
          </a:xfrm>
          <a:prstGeom prst="roundRect">
            <a:avLst>
              <a:gd name="adj" fmla="val 759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9100999" y="1572768"/>
            <a:ext cx="2587776" cy="4782312"/>
          </a:xfrm>
          <a:prstGeom prst="roundRect">
            <a:avLst>
              <a:gd name="adj" fmla="val 3534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 txBox="1"/>
          <p:nvPr/>
        </p:nvSpPr>
        <p:spPr>
          <a:xfrm>
            <a:off x="9375319" y="1755648"/>
            <a:ext cx="2130576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右欄看得到：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路由決策、本次用量 → 節費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剩餘額度 → 額度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 → 下一段看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買瓶飲料，不用叫整台貨車幫你送來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簡單的問題交給便宜的模型；兩題真的送出去，稽核記下理由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85800" y="16642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「把這句翻成英文」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075688"/>
            <a:ext cx="685800" cy="347472"/>
          </a:xfrm>
          <a:prstGeom prst="roundRect">
            <a:avLst>
              <a:gd name="adj" fmla="val 31579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85800" y="207568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463040" y="2249424"/>
            <a:ext cx="320040" cy="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874520" y="2075688"/>
            <a:ext cx="1234440" cy="347472"/>
          </a:xfrm>
          <a:prstGeom prst="roundRect">
            <a:avLst>
              <a:gd name="adj" fmla="val 31579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1874520" y="20756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gpt-6-luna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246120" y="207568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短句、沒有關鍵字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1572768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4754880" y="16642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「設計多人共用的 AI 服務」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54880" y="2075688"/>
            <a:ext cx="685800" cy="347472"/>
          </a:xfrm>
          <a:prstGeom prst="roundRect">
            <a:avLst>
              <a:gd name="adj" fmla="val 31579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4754880" y="207568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32120" y="2249424"/>
            <a:ext cx="320040" cy="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943600" y="2075688"/>
            <a:ext cx="1234440" cy="347472"/>
          </a:xfrm>
          <a:prstGeom prst="roundRect">
            <a:avLst>
              <a:gd name="adj" fmla="val 31579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5943600" y="20756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gpt-6-sol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207568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 300 字或含設計、分析等關鍵字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641080" y="1572768"/>
            <a:ext cx="3047695" cy="960120"/>
          </a:xfrm>
          <a:prstGeom prst="roundRect">
            <a:avLst>
              <a:gd name="adj" fmla="val 7619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8823960" y="1572768"/>
            <a:ext cx="2773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倍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單價差</a:t>
            </a:r>
            <a:endParaRPr lang="en-US" sz="16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規則由公司定，使用者不能自己選模型</a:t>
            </a:r>
            <a:endParaRPr lang="en-US" sz="1600" dirty="0"/>
          </a:p>
        </p:txBody>
      </p:sp>
      <p:pic>
        <p:nvPicPr>
          <p:cNvPr id="31" name="Image 0" descr="/home/claude/slides/v6/media/s12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61488"/>
            <a:ext cx="5455768" cy="2579918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3318096" y="3067892"/>
            <a:ext cx="1789492" cy="210705"/>
          </a:xfrm>
          <a:prstGeom prst="roundRect">
            <a:avLst>
              <a:gd name="adj" fmla="val 33437"/>
            </a:avLst>
          </a:prstGeom>
          <a:solidFill>
            <a:srgbClr val="14262B">
              <a:alpha val="0"/>
            </a:srgbClr>
          </a:solidFill>
          <a:ln w="28575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0"/>
          <p:cNvSpPr/>
          <p:nvPr/>
        </p:nvSpPr>
        <p:spPr>
          <a:xfrm>
            <a:off x="533472" y="3907230"/>
            <a:ext cx="2436000" cy="151699"/>
          </a:xfrm>
          <a:prstGeom prst="roundRect">
            <a:avLst>
              <a:gd name="adj" fmla="val 30139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1"/>
          <p:cNvSpPr/>
          <p:nvPr/>
        </p:nvSpPr>
        <p:spPr>
          <a:xfrm>
            <a:off x="533472" y="5035864"/>
            <a:ext cx="1714748" cy="159439"/>
          </a:xfrm>
          <a:prstGeom prst="roundRect">
            <a:avLst>
              <a:gd name="adj" fmla="val 28676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5" name="Image 1" descr="/home/claude/slides/v6/media/s12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008" y="2761488"/>
            <a:ext cx="5045574" cy="3017520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6261263" y="3708386"/>
            <a:ext cx="1603483" cy="168670"/>
          </a:xfrm>
          <a:prstGeom prst="roundRect">
            <a:avLst>
              <a:gd name="adj" fmla="val 32584"/>
            </a:avLst>
          </a:prstGeom>
          <a:solidFill>
            <a:srgbClr val="14262B">
              <a:alpha val="0"/>
            </a:srgbClr>
          </a:solidFill>
          <a:ln w="28575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3"/>
          <p:cNvSpPr/>
          <p:nvPr/>
        </p:nvSpPr>
        <p:spPr>
          <a:xfrm>
            <a:off x="6261263" y="4451612"/>
            <a:ext cx="2252849" cy="168669"/>
          </a:xfrm>
          <a:prstGeom prst="roundRect">
            <a:avLst>
              <a:gd name="adj" fmla="val 32584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4"/>
          <p:cNvSpPr/>
          <p:nvPr/>
        </p:nvSpPr>
        <p:spPr>
          <a:xfrm>
            <a:off x="6261263" y="5512925"/>
            <a:ext cx="1796729" cy="147255"/>
          </a:xfrm>
          <a:prstGeom prst="roundRect">
            <a:avLst>
              <a:gd name="adj" fmla="val 31048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5"/>
          <p:cNvSpPr txBox="1"/>
          <p:nvPr/>
        </p:nvSpPr>
        <p:spPr>
          <a:xfrm>
            <a:off x="502920" y="5414558"/>
            <a:ext cx="545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 → gpt-6-luna，7 micro-USD</a:t>
            </a:r>
            <a:endParaRPr lang="en-US" sz="1600" dirty="0"/>
          </a:p>
        </p:txBody>
      </p:sp>
      <p:sp>
        <p:nvSpPr>
          <p:cNvPr id="40" name="Text 36"/>
          <p:cNvSpPr txBox="1"/>
          <p:nvPr/>
        </p:nvSpPr>
        <p:spPr>
          <a:xfrm>
            <a:off x="6233008" y="5852160"/>
            <a:ext cx="5455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複雜題 → gpt-6-sol，1,438 micro-USD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選擇理由 keyword 也記在稽核</a:t>
            </a:r>
            <a:endParaRPr lang="en-US" sz="1600" dirty="0"/>
          </a:p>
        </p:txBody>
      </p:sp>
      <p:sp>
        <p:nvSpPr>
          <p:cNvPr id="127" name="規則 橘框"/>
          <p:cNvSpPr/>
          <p:nvPr/>
        </p:nvSpPr>
        <p:spPr>
          <a:xfrm>
            <a:off x="7260336" y="1916162"/>
            <a:ext cx="1161288" cy="616726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F2A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/>
                                        <p:tgtEl>
                                          <p:spTgt spid="2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2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400" fill="hold"/>
                                        <p:tgtEl>
                                          <p:spTgt spid="28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8" dur="500" fill="hold"/>
                                        <p:tgtEl>
                                          <p:spTgt spid="35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0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09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" dur="350" fill="hold"/>
                                        <p:tgtEl>
                                          <p:spTgt spid="29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117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8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/>
                                        <p:tgtEl>
                                          <p:spTgt spid="3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250"/>
                                        <p:tgtEl>
                                          <p:spTgt spid="3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" dur="350" fill="hold"/>
                                        <p:tgtEl>
                                          <p:spTgt spid="3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122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3" presetID="2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124" dur="28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125" dur="280" autoRev="1" fill="hold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126" dur="280" autoRev="1" fill="hold">
                                          <p:stCondLst>
                                            <p:cond delay="124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3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6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33" dur="250" autoRev="1" fill="hold"/>
                                        <p:tgtEl>
                                          <p:spTgt spid="127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134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4" grpId="0" animBg="1"/>
      <p:bldP spid="16" grpId="0" animBg="1"/>
      <p:bldP spid="19" grpId="0" animBg="1"/>
      <p:bldP spid="20" grpId="0" animBg="1"/>
      <p:bldP spid="22" grpId="0" animBg="1"/>
      <p:bldP spid="24" grpId="0" animBg="1"/>
      <p:bldP spid="27" grpId="0" animBg="1"/>
      <p:bldP spid="28" grpId="0"/>
      <p:bldP spid="30" grpId="0"/>
      <p:bldP spid="39" grpId="0" animBg="1"/>
      <p:bldP spid="4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省更多很簡單，答對比較難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題實測，不是模擬；省更多很簡單，答對比較難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16002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28346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題，每題兩顆模型都真的跑過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 65%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384048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40080" y="384048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全部用強模型</a:t>
            </a:r>
            <a:endParaRPr lang="en-US" sz="16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US$ 0.0557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423160" y="4315968"/>
            <a:ext cx="27432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788920" y="384048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4262B">
              <a:alpha val="0"/>
            </a:srgbClr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2926080" y="384048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智慧路由</a:t>
            </a:r>
            <a:endParaRPr lang="en-US" sz="16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US$ 0.0416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49834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為什麼不選省 54% 的規則：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多省的 28.7% 裡，24.2% 來自最難的那一題；把難題送錯模型，代價比多花錢大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83480" y="1572768"/>
            <a:ext cx="6705295" cy="4645152"/>
          </a:xfrm>
          <a:prstGeom prst="roundRect">
            <a:avLst>
              <a:gd name="adj" fmla="val 1969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Image 0" descr="/home/claude/slides/v6/media/s13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773936"/>
            <a:ext cx="411480" cy="41148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760720" y="1682496"/>
            <a:ext cx="5790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每個人花多少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 Grafana：誰花多少、被擋幾次，不用等月底</a:t>
            </a:r>
            <a:endParaRPr lang="en-US" sz="1600" dirty="0"/>
          </a:p>
        </p:txBody>
      </p:sp>
      <p:pic>
        <p:nvPicPr>
          <p:cNvPr id="24" name="Image 1" descr="/home/claude/slides/v6/media/s13-S1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441448"/>
            <a:ext cx="6248095" cy="3281076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193792" y="2423160"/>
            <a:ext cx="6284671" cy="3317652"/>
          </a:xfrm>
          <a:prstGeom prst="roundRect">
            <a:avLst>
              <a:gd name="adj" fmla="val 1102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350" fill="hold"/>
                                        <p:tgtEl>
                                          <p:spTgt spid="13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17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500" fill="hold"/>
                                        <p:tgtEl>
                                          <p:spTgt spid="25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3" grpId="0" animBg="1"/>
      <p:bldP spid="14" grpId="0" animBg="1"/>
      <p:bldP spid="16" grpId="0" animBg="1"/>
      <p:bldP spid="19" grpId="0" animBg="1"/>
      <p:bldP spid="20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技術實踐｜節費：備援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強模型塞車時，自動改派便宜模型，回答照給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000" dirty="0"/>
          </a:p>
        </p:txBody>
      </p:sp>
      <p:pic>
        <p:nvPicPr>
          <p:cNvPr id="13" name="Image 0" descr="/home/claude/slides/v6/media/s18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694" y="1572768"/>
            <a:ext cx="8502306" cy="30175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862549" y="1762268"/>
            <a:ext cx="3975678" cy="254679"/>
          </a:xfrm>
          <a:prstGeom prst="roundRect">
            <a:avLst>
              <a:gd name="adj" fmla="val 17952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6116253" y="3339967"/>
            <a:ext cx="2443563" cy="791358"/>
          </a:xfrm>
          <a:prstGeom prst="roundRect">
            <a:avLst>
              <a:gd name="adj" fmla="val 6486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6116253" y="4417996"/>
            <a:ext cx="1585680" cy="186684"/>
          </a:xfrm>
          <a:prstGeom prst="roundRect">
            <a:avLst>
              <a:gd name="adj" fmla="val 38553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502920" y="4645152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畫面標 SIMULATION：限流是模擬的，其餘都是真的請求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稽核記下改派的模型與理由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2920" y="5458968"/>
            <a:ext cx="3576218" cy="850392"/>
          </a:xfrm>
          <a:prstGeom prst="roundRect">
            <a:avLst>
              <a:gd name="adj" fmla="val 10753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 txBox="1"/>
          <p:nvPr/>
        </p:nvSpPr>
        <p:spPr>
          <a:xfrm>
            <a:off x="704088" y="5532120"/>
            <a:ext cx="317388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同一句複雜題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原本該派給 gpt-6-sol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307738" y="5458968"/>
            <a:ext cx="3576218" cy="850392"/>
          </a:xfrm>
          <a:prstGeom prst="roundRect">
            <a:avLst>
              <a:gd name="adj" fmla="val 10753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4508906" y="5532120"/>
            <a:ext cx="317388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 → 改派 gpt-6-luna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fallback: True，理由 RateLimitError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8112557" y="5458968"/>
            <a:ext cx="3576218" cy="850392"/>
          </a:xfrm>
          <a:prstGeom prst="roundRect">
            <a:avLst>
              <a:gd name="adj" fmla="val 10753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 txBox="1"/>
          <p:nvPr/>
        </p:nvSpPr>
        <p:spPr>
          <a:xfrm>
            <a:off x="8313725" y="5532120"/>
            <a:ext cx="317388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 micro-USD，回答照給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使用者不用重送，也不用知道換了模型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6" presetClass="emph" presetSubtype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52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7" grpId="0" animBg="1"/>
      <p:bldP spid="19" grpId="0" animBg="1"/>
      <p:bldP spid="21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技術實踐｜個資 ①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號碼在離開公司之前，就被換成標籤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000" dirty="0"/>
          </a:p>
        </p:txBody>
      </p:sp>
      <p:pic>
        <p:nvPicPr>
          <p:cNvPr id="13" name="Image 0" descr="/home/claude/slides/v6/media/console-pii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7635240" cy="438673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84632" y="1554480"/>
            <a:ext cx="7671816" cy="4423308"/>
          </a:xfrm>
          <a:prstGeom prst="roundRect">
            <a:avLst>
              <a:gd name="adj" fmla="val 827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1785640" y="2090402"/>
            <a:ext cx="4061948" cy="482541"/>
          </a:xfrm>
          <a:prstGeom prst="roundRect">
            <a:avLst>
              <a:gd name="adj" fmla="val 9475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854141" y="2616810"/>
            <a:ext cx="3664915" cy="526408"/>
          </a:xfrm>
          <a:prstGeom prst="roundRect">
            <a:avLst>
              <a:gd name="adj" fmla="val 8685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6107186" y="2616810"/>
            <a:ext cx="1847728" cy="263204"/>
          </a:xfrm>
          <a:prstGeom prst="roundRect">
            <a:avLst>
              <a:gd name="adj" fmla="val 17371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 txBox="1"/>
          <p:nvPr/>
        </p:nvSpPr>
        <p:spPr>
          <a:xfrm>
            <a:off x="502920" y="6032652"/>
            <a:ext cx="7635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一句話塞四種個資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回答只剩標籤，送出前已遮罩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0" y="1481328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類</a:t>
            </a:r>
            <a:endParaRPr lang="en-US" sz="44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0" y="2304288"/>
            <a:ext cx="3276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送出前就遮罩的個資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412480" y="2761488"/>
            <a:ext cx="3276295" cy="411480"/>
          </a:xfrm>
          <a:prstGeom prst="roundRect">
            <a:avLst>
              <a:gd name="adj" fmla="val 13333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Image 1" descr="/home/claude/slides/v6/media/s19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2852928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961120" y="2761488"/>
            <a:ext cx="2636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身分證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8412480" y="3264408"/>
            <a:ext cx="3276295" cy="411480"/>
          </a:xfrm>
          <a:prstGeom prst="roundRect">
            <a:avLst>
              <a:gd name="adj" fmla="val 13333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5" name="Image 2" descr="/home/claude/slides/v6/media/s19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3355848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961120" y="3264408"/>
            <a:ext cx="2636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8412480" y="3767328"/>
            <a:ext cx="3276295" cy="411480"/>
          </a:xfrm>
          <a:prstGeom prst="roundRect">
            <a:avLst>
              <a:gd name="adj" fmla="val 13333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8" name="Image 3" descr="/home/claude/slides/v6/media/s19-Image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7072" y="3858768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961120" y="3767328"/>
            <a:ext cx="2636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8412480" y="4270248"/>
            <a:ext cx="3276295" cy="411480"/>
          </a:xfrm>
          <a:prstGeom prst="roundRect">
            <a:avLst>
              <a:gd name="adj" fmla="val 13333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1" name="Image 4" descr="/home/claude/slides/v6/media/s19-Image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7072" y="4361688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961120" y="4270248"/>
            <a:ext cx="2636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信用卡</a:t>
            </a:r>
            <a:endParaRPr lang="en-US" sz="1600" dirty="0"/>
          </a:p>
        </p:txBody>
      </p:sp>
      <p:sp>
        <p:nvSpPr>
          <p:cNvPr id="33" name="Shape 26"/>
          <p:cNvSpPr/>
          <p:nvPr/>
        </p:nvSpPr>
        <p:spPr>
          <a:xfrm>
            <a:off x="8412480" y="5001768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4" name="Image 5" descr="/home/claude/slides/v6/media/s19-Image_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5924" y="5125212"/>
            <a:ext cx="301752" cy="30175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098280" y="4956048"/>
            <a:ext cx="2544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模型根本沒看過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真的號碼留在公司這一側</a:t>
            </a:r>
            <a:endParaRPr lang="en-US" sz="1600" dirty="0"/>
          </a:p>
        </p:txBody>
      </p:sp>
      <p:sp>
        <p:nvSpPr>
          <p:cNvPr id="40" name="TextBox 39"/>
          <p:cNvSpPr txBox="1"/>
          <p:nvPr/>
        </p:nvSpPr>
        <p:spPr>
          <a:xfrm>
            <a:off x="8412480" y="5760720"/>
            <a:ext cx="32735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</a:rPr>
              <a:t>遮罩用規則比對（regex），不經模型、不多一次呼叫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350" fill="hold"/>
                                        <p:tgtEl>
                                          <p:spTgt spid="19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28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5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77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85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9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2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6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00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04" dur="1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8" grpId="0" animBg="1"/>
      <p:bldP spid="19" grpId="0" animBg="1"/>
      <p:bldP spid="20" grpId="0" animBg="1"/>
      <p:bldP spid="23" grpId="0" animBg="1"/>
      <p:bldP spid="26" grpId="0" animBg="1"/>
      <p:bldP spid="29" grpId="0" animBg="1"/>
      <p:bldP spid="32" grpId="0" animBg="1"/>
      <p:bldP spid="35" grpId="0" animBg="1"/>
      <p:bldP spid="4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技術實踐｜個資 ②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紀錄裡也查不到原文：稽核只留雜湊值與遮罩後的摘要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000" dirty="0"/>
          </a:p>
        </p:txBody>
      </p:sp>
      <p:pic>
        <p:nvPicPr>
          <p:cNvPr id="13" name="Image 0" descr="/home/claude/slides/v6/media/s21-S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7315200" cy="3955807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51932" y="1779657"/>
            <a:ext cx="1411834" cy="219152"/>
          </a:xfrm>
          <a:prstGeom prst="roundRect">
            <a:avLst>
              <a:gd name="adj" fmla="val 20862"/>
            </a:avLst>
          </a:prstGeom>
          <a:solidFill>
            <a:srgbClr val="14262B">
              <a:alpha val="0"/>
            </a:srgbClr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551932" y="3435162"/>
            <a:ext cx="7193768" cy="219152"/>
          </a:xfrm>
          <a:prstGeom prst="roundRect">
            <a:avLst>
              <a:gd name="adj" fmla="val 20862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551932" y="4883383"/>
            <a:ext cx="3359140" cy="219152"/>
          </a:xfrm>
          <a:prstGeom prst="roundRect">
            <a:avLst>
              <a:gd name="adj" fmla="val 20862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502920" y="5583439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 DynamoDB 的 audit 表，由 Lambda Worker 寫入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092440" y="1572768"/>
            <a:ext cx="3596335" cy="1097280"/>
          </a:xfrm>
          <a:prstGeom prst="roundRect">
            <a:avLst>
              <a:gd name="adj" fmla="val 8333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 txBox="1"/>
          <p:nvPr/>
        </p:nvSpPr>
        <p:spPr>
          <a:xfrm>
            <a:off x="8293608" y="1645920"/>
            <a:ext cx="3193999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白框 → charged: True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這一筆已記帳、已扣額度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092440" y="2825496"/>
            <a:ext cx="3596335" cy="1097280"/>
          </a:xfrm>
          <a:prstGeom prst="roundRect">
            <a:avLst>
              <a:gd name="adj" fmla="val 8333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8293608" y="2898648"/>
            <a:ext cx="3193999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 → 64 字的雜湊值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原文不存，只留 HMAC；拿原文來搜，搜不到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8092440" y="4078224"/>
            <a:ext cx="3596335" cy="1097280"/>
          </a:xfrm>
          <a:prstGeom prst="roundRect">
            <a:avLst>
              <a:gd name="adj" fmla="val 8333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 txBox="1"/>
          <p:nvPr/>
        </p:nvSpPr>
        <p:spPr>
          <a:xfrm>
            <a:off x="8293608" y="4151376"/>
            <a:ext cx="3193999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 → 遮罩後的摘要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個資先換成標籤，才留摘要</a:t>
            </a:r>
            <a:endParaRPr lang="en-US" sz="1800" dirty="0"/>
          </a:p>
        </p:txBody>
      </p:sp>
      <p:pic>
        <p:nvPicPr>
          <p:cNvPr id="24" name="Image 1" descr="/home/claude/slides/v6/media/pii-search-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985775"/>
            <a:ext cx="3324101" cy="323585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84632" y="5967487"/>
            <a:ext cx="3360677" cy="360161"/>
          </a:xfrm>
          <a:prstGeom prst="roundRect">
            <a:avLst>
              <a:gd name="adj" fmla="val 10155"/>
            </a:avLst>
          </a:prstGeom>
          <a:solidFill>
            <a:srgbClr val="14262B">
              <a:alpha val="0"/>
            </a:srgbClr>
          </a:solidFill>
          <a:ln w="9525">
            <a:solidFill>
              <a:srgbClr val="2E9E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/>
          <p:cNvSpPr txBox="1"/>
          <p:nvPr/>
        </p:nvSpPr>
        <p:spPr>
          <a:xfrm>
            <a:off x="6446520" y="5912623"/>
            <a:ext cx="5242255" cy="469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拿原本的號碼去搜稽核紀錄：0 筆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本機與雲端的紀錄都一樣，沒有原文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8" dur="350" fill="hold"/>
                                        <p:tgtEl>
                                          <p:spTgt spid="25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59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350" fill="hold"/>
                                        <p:tgtEl>
                                          <p:spTgt spid="24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64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350" fill="hold"/>
                                        <p:tgtEl>
                                          <p:spTgt spid="26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69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7" grpId="0" animBg="1"/>
      <p:bldP spid="19" grpId="0" animBg="1"/>
      <p:bldP spid="21" grpId="0" animBg="1"/>
      <p:bldP spid="23" grpId="0" animBg="1"/>
      <p:bldP spid="2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技術實踐｜額度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用完就擋，最多只燒掉自己那一份；讀不到額度就拒絕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000" dirty="0"/>
          </a:p>
        </p:txBody>
      </p:sp>
      <p:pic>
        <p:nvPicPr>
          <p:cNvPr id="13" name="Image 0" descr="/home/claude/slides/v6/media/console-quota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6583680" cy="3782571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84632" y="1554480"/>
            <a:ext cx="6620256" cy="3819147"/>
          </a:xfrm>
          <a:prstGeom prst="roundRect">
            <a:avLst>
              <a:gd name="adj" fmla="val 827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5243169" y="3464053"/>
            <a:ext cx="1777593" cy="775427"/>
          </a:xfrm>
          <a:prstGeom prst="roundRect">
            <a:avLst>
              <a:gd name="adj" fmla="val 5084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805769" y="4402131"/>
            <a:ext cx="2205532" cy="310170"/>
          </a:xfrm>
          <a:prstGeom prst="roundRect">
            <a:avLst>
              <a:gd name="adj" fmla="val 12710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502920" y="5428491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carol 額度歸零：剩餘 US$0，下一題直接被擋，告知 11/1 恢復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360920" y="1572768"/>
            <a:ext cx="548640" cy="54864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9" name="Image 1" descr="/home/claude/slides/v6/media/s22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709928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046720" y="1527048"/>
            <a:ext cx="35935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超用就擋下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寫錯的迴圈也燒不到別人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7360920" y="2350008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2" name="Image 2" descr="/home/claude/slides/v6/media/s22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2487168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046720" y="2304288"/>
            <a:ext cx="35935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讀不到就拒絕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寧可擋錯，也不放錯</a:t>
            </a:r>
            <a:endParaRPr lang="en-US" sz="1600" dirty="0"/>
          </a:p>
        </p:txBody>
      </p:sp>
      <p:pic>
        <p:nvPicPr>
          <p:cNvPr id="24" name="Image 3" descr="/home/claude/slides/v6/media/s24-Image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3172968"/>
            <a:ext cx="4325111" cy="1989551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342632" y="3154679"/>
            <a:ext cx="4361687" cy="2026127"/>
          </a:xfrm>
          <a:prstGeom prst="roundRect">
            <a:avLst>
              <a:gd name="adj" fmla="val 2369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0"/>
          <p:cNvSpPr/>
          <p:nvPr/>
        </p:nvSpPr>
        <p:spPr>
          <a:xfrm>
            <a:off x="7373906" y="4103595"/>
            <a:ext cx="2108094" cy="298535"/>
          </a:xfrm>
          <a:prstGeom prst="roundRect">
            <a:avLst>
              <a:gd name="adj" fmla="val 22127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1"/>
          <p:cNvSpPr/>
          <p:nvPr/>
        </p:nvSpPr>
        <p:spPr>
          <a:xfrm>
            <a:off x="7373906" y="4642248"/>
            <a:ext cx="1567002" cy="121970"/>
          </a:xfrm>
          <a:prstGeom prst="roundRect">
            <a:avLst>
              <a:gd name="adj" fmla="val 69739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2"/>
          <p:cNvSpPr txBox="1"/>
          <p:nvPr/>
        </p:nvSpPr>
        <p:spPr>
          <a:xfrm>
            <a:off x="7360920" y="5253959"/>
            <a:ext cx="43251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停掉資料庫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再問一次：503，fail-closed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500" fill="hold"/>
                                        <p:tgtEl>
                                          <p:spTgt spid="24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7" grpId="0" animBg="1"/>
      <p:bldP spid="20" grpId="0" animBg="1"/>
      <p:bldP spid="23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額度｜用完就擋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alice 的月額度故意設很小：用到 1,039，下一次就是 429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1000" dirty="0"/>
          </a:p>
        </p:txBody>
      </p:sp>
      <p:pic>
        <p:nvPicPr>
          <p:cNvPr id="13" name="Image 0" descr="/home/claude/slides/v6/media/s23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4371040" cy="46908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45756" y="1807312"/>
            <a:ext cx="533267" cy="213435"/>
          </a:xfrm>
          <a:prstGeom prst="roundRect">
            <a:avLst>
              <a:gd name="adj" fmla="val 21421"/>
            </a:avLst>
          </a:prstGeom>
          <a:solidFill>
            <a:srgbClr val="14262B">
              <a:alpha val="0"/>
            </a:srgbClr>
          </a:solidFill>
          <a:ln w="28575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545756" y="2724377"/>
            <a:ext cx="533267" cy="213435"/>
          </a:xfrm>
          <a:prstGeom prst="roundRect">
            <a:avLst>
              <a:gd name="adj" fmla="val 21421"/>
            </a:avLst>
          </a:prstGeom>
          <a:solidFill>
            <a:srgbClr val="14262B">
              <a:alpha val="0"/>
            </a:srgbClr>
          </a:solidFill>
          <a:ln w="28575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545756" y="3641443"/>
            <a:ext cx="554248" cy="213435"/>
          </a:xfrm>
          <a:prstGeom prst="roundRect">
            <a:avLst>
              <a:gd name="adj" fmla="val 21421"/>
            </a:avLst>
          </a:prstGeom>
          <a:solidFill>
            <a:srgbClr val="14262B">
              <a:alpha val="0"/>
            </a:srgbClr>
          </a:solidFill>
          <a:ln w="28575">
            <a:solidFill>
              <a:srgbClr val="0E7C7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545756" y="4100210"/>
            <a:ext cx="3608730" cy="213435"/>
          </a:xfrm>
          <a:prstGeom prst="roundRect">
            <a:avLst>
              <a:gd name="adj" fmla="val 21421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545756" y="4793052"/>
            <a:ext cx="2420245" cy="213435"/>
          </a:xfrm>
          <a:prstGeom prst="roundRect">
            <a:avLst>
              <a:gd name="adj" fmla="val 21421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545756" y="5699797"/>
            <a:ext cx="4195324" cy="213435"/>
          </a:xfrm>
          <a:prstGeom prst="roundRect">
            <a:avLst>
              <a:gd name="adj" fmla="val 21421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5194000" y="1572768"/>
            <a:ext cx="6494775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5395168" y="1645920"/>
            <a:ext cx="6092439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609 → 818 → 1,039</a:t>
            </a:r>
            <a:endParaRPr lang="en-US" sz="2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每叫一次，已用量往上加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5194000" y="3127248"/>
            <a:ext cx="6494775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 txBox="1"/>
          <p:nvPr/>
        </p:nvSpPr>
        <p:spPr>
          <a:xfrm>
            <a:off x="5395168" y="3200400"/>
            <a:ext cx="6092439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 Monthly quota exceeded</a:t>
            </a:r>
            <a:endParaRPr lang="en-US" sz="2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 1,000 就擋，請求碰不到模型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5194000" y="4681728"/>
            <a:ext cx="6494775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2"/>
          <p:cNvSpPr txBox="1"/>
          <p:nvPr/>
        </p:nvSpPr>
        <p:spPr>
          <a:xfrm>
            <a:off x="5395168" y="4754880"/>
            <a:ext cx="6092439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retry-after 1,921,598 秒</a:t>
            </a:r>
            <a:endParaRPr lang="en-US" sz="2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告知下個月 1 號 00:00 才恢復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6" presetClass="emp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51" dur="28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52" dur="280" autoRev="1" fill="hold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53" dur="280" autoRev="1" fill="hold">
                                          <p:stCondLst>
                                            <p:cond delay="124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4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6" presetClass="emph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Scale>
                                      <p:cBhvr>
                                        <p:cTn id="68" dur="28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69" dur="280" autoRev="1" fill="hold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70" dur="280" autoRev="1" fill="hold">
                                          <p:stCondLst>
                                            <p:cond delay="124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21" grpId="0" animBg="1"/>
      <p:bldP spid="23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①｜先拆 LiteLLM：兩個靜默錯誤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沒有任何錯誤訊息，帳就已經不對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1000" dirty="0"/>
          </a:p>
        </p:txBody>
      </p:sp>
      <p:pic>
        <p:nvPicPr>
          <p:cNvPr id="13" name="Image 0" descr="/home/claude/slides/v6/media/s27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5455768" cy="217588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67297" y="3513661"/>
            <a:ext cx="3937325" cy="128595"/>
          </a:xfrm>
          <a:prstGeom prst="roundRect">
            <a:avLst>
              <a:gd name="adj" fmla="val 35553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1" descr="/home/claude/slides/v6/media/s27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008" y="1572768"/>
            <a:ext cx="5455768" cy="236202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297386" y="2022734"/>
            <a:ext cx="2567484" cy="128494"/>
          </a:xfrm>
          <a:prstGeom prst="roundRect">
            <a:avLst>
              <a:gd name="adj" fmla="val 35581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6297386" y="2955026"/>
            <a:ext cx="1540709" cy="128494"/>
          </a:xfrm>
          <a:prstGeom prst="roundRect">
            <a:avLst>
              <a:gd name="adj" fmla="val 35581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6297386" y="3700954"/>
            <a:ext cx="1540709" cy="128494"/>
          </a:xfrm>
          <a:prstGeom prst="roundRect">
            <a:avLst>
              <a:gd name="adj" fmla="val 35581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502920" y="4044522"/>
            <a:ext cx="5455768" cy="1051560"/>
          </a:xfrm>
          <a:prstGeom prst="roundRect">
            <a:avLst>
              <a:gd name="adj" fmla="val 8696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 txBox="1"/>
          <p:nvPr/>
        </p:nvSpPr>
        <p:spPr>
          <a:xfrm>
            <a:off x="704088" y="4117674"/>
            <a:ext cx="50534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發現一｜價格表沒有的模型，花費記為 0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 記了 23，spend 是 0；預算 0.01 的金鑰永遠不會被擋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6233008" y="4044522"/>
            <a:ext cx="5455768" cy="1051560"/>
          </a:xfrm>
          <a:prstGeom prst="roundRect">
            <a:avLst>
              <a:gd name="adj" fmla="val 8696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8"/>
          <p:cNvSpPr txBox="1"/>
          <p:nvPr/>
        </p:nvSpPr>
        <p:spPr>
          <a:xfrm>
            <a:off x="6434176" y="4117674"/>
            <a:ext cx="50534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發現二｜寫帳前當機，那筆帳永久遺失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回答已送出、0.8 秒後強制終止；重啟 30 秒後帳還是 10 筆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02920" y="5324682"/>
            <a:ext cx="11185855" cy="1030398"/>
          </a:xfrm>
          <a:prstGeom prst="roundRect">
            <a:avLst>
              <a:gd name="adj" fmla="val 8874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0"/>
          <p:cNvSpPr/>
          <p:nvPr/>
        </p:nvSpPr>
        <p:spPr>
          <a:xfrm>
            <a:off x="777240" y="5519841"/>
            <a:ext cx="640080" cy="64008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5" name="Image 2" descr="/home/claude/slides/v6/media/s25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5679861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600200" y="5324682"/>
            <a:ext cx="9905695" cy="103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我的修正　</a:t>
            </a:r>
            <a:r>
              <a:rPr lang="en-US" sz="22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沒有單價，就拒絕呼叫；先寫帳，再回答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300" autoRev="1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from x="100000" y="100000"/>
                                      <p:to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8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300" autoRev="1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100000" y="100000"/>
                                      <p:to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300" autoRev="1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100000" y="100000"/>
                                      <p:to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8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300" autoRev="1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from x="100000" y="100000"/>
                                      <p:to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20" grpId="0" animBg="1"/>
      <p:bldP spid="22" grpId="0" animBg="1"/>
      <p:bldP spid="2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①｜主動告警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靜默錯誤 vs. 主動告警：異常當下就通知到信箱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1000" dirty="0"/>
          </a:p>
        </p:txBody>
      </p:sp>
      <p:pic>
        <p:nvPicPr>
          <p:cNvPr id="13" name="Image 0" descr="/home/claude/slides/v6/media/s28-ALARM_e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29968"/>
            <a:ext cx="4752505" cy="265176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845978" y="4123798"/>
            <a:ext cx="688638" cy="151415"/>
          </a:xfrm>
          <a:prstGeom prst="roundRect">
            <a:avLst>
              <a:gd name="adj" fmla="val 30195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2831647" y="2751247"/>
            <a:ext cx="950501" cy="0"/>
          </a:xfrm>
          <a:prstGeom prst="line">
            <a:avLst/>
          </a:prstGeom>
          <a:noFill/>
          <a:ln w="2857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1" descr="/home/claude/slides/v6/media/ok-em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745" y="2029968"/>
            <a:ext cx="6159030" cy="254141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835459" y="4144421"/>
            <a:ext cx="708288" cy="165192"/>
          </a:xfrm>
          <a:prstGeom prst="roundRect">
            <a:avLst>
              <a:gd name="adj" fmla="val 27677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9274435" y="2596703"/>
            <a:ext cx="880741" cy="0"/>
          </a:xfrm>
          <a:prstGeom prst="line">
            <a:avLst/>
          </a:prstGeom>
          <a:noFill/>
          <a:ln w="28575">
            <a:solidFill>
              <a:srgbClr val="2E9E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502920" y="1572768"/>
            <a:ext cx="3566160" cy="347472"/>
          </a:xfrm>
          <a:prstGeom prst="roundRect">
            <a:avLst>
              <a:gd name="adj" fmla="val 31579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 txBox="1"/>
          <p:nvPr/>
        </p:nvSpPr>
        <p:spPr>
          <a:xfrm>
            <a:off x="502920" y="15727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OK → ALARM（測試日誌觸發）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206240" y="1572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10/27 23:45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5529745" y="1572768"/>
            <a:ext cx="2194560" cy="347472"/>
          </a:xfrm>
          <a:prstGeom prst="roundRect">
            <a:avLst>
              <a:gd name="adj" fmla="val 31579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9"/>
          <p:cNvSpPr txBox="1"/>
          <p:nvPr/>
        </p:nvSpPr>
        <p:spPr>
          <a:xfrm>
            <a:off x="5529745" y="15727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ALARM → OK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7861465" y="15727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分鐘後恢復 OK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502920" y="4791456"/>
            <a:ext cx="475250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OK → ALARM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預算用完 → 每個請求都 503，要馬上 alert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5529745" y="4791456"/>
            <a:ext cx="61590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ALARM → OK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路徑：日誌 → CloudWatch → SNS → 信箱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02920" y="571500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4"/>
          <p:cNvSpPr txBox="1"/>
          <p:nvPr/>
        </p:nvSpPr>
        <p:spPr>
          <a:xfrm>
            <a:off x="731520" y="571500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驗證方式：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以一筆測試日誌觸發告警，確認整條通知路徑可用；真實的預算用完尚未發生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9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200"/>
                                  </p:stCondLst>
                                  <p:childTnLst>
                                    <p:set>
                                      <p:cBhvr>
                                        <p:cTn id="62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大樓僅有一個門，門口有警衛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實測驗證｜私有子網不直接接網際網路閘道，出站只經 NAT ＋ DNS 防火牆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85800" y="157276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私有子網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Fargate 容器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71800" y="1984248"/>
            <a:ext cx="45720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520440" y="1572768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14262B">
              <a:alpha val="0"/>
            </a:srgbClr>
          </a:solidFill>
          <a:ln w="1905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3703320" y="157276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唯一出口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NAT ＋ DNS 防火牆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 flipV="1">
            <a:off x="6355080" y="1709928"/>
            <a:ext cx="457200" cy="18288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355080" y="2075688"/>
            <a:ext cx="457200" cy="182880"/>
          </a:xfrm>
          <a:prstGeom prst="line">
            <a:avLst/>
          </a:prstGeom>
          <a:noFill/>
          <a:ln w="25400">
            <a:solidFill>
              <a:srgbClr val="C8553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903720" y="1572768"/>
            <a:ext cx="4785055" cy="384048"/>
          </a:xfrm>
          <a:prstGeom prst="roundRect">
            <a:avLst>
              <a:gd name="adj" fmla="val 14286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1" name="Image 0" descr="/home/claude/slides/v6/media/s29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1645920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360920" y="1572768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名單上：</a:t>
            </a: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OpenAI ＋ 必要的 AWS 服務網域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903720" y="2011680"/>
            <a:ext cx="4785055" cy="384048"/>
          </a:xfrm>
          <a:prstGeom prst="roundRect">
            <a:avLst>
              <a:gd name="adj" fmla="val 14286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4" name="Image 1" descr="/home/claude/slides/v6/media/s29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2084832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360920" y="2011680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名單外：</a:t>
            </a: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不解析・留紀錄</a:t>
            </a:r>
            <a:endParaRPr lang="en-US" sz="1600" dirty="0"/>
          </a:p>
        </p:txBody>
      </p:sp>
      <p:pic>
        <p:nvPicPr>
          <p:cNvPr id="26" name="Image 2" descr="/home/claude/slides/v6/media/s30-Image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624328"/>
            <a:ext cx="11185855" cy="3063098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9146230" y="3973929"/>
            <a:ext cx="1203598" cy="128038"/>
          </a:xfrm>
          <a:prstGeom prst="roundRect">
            <a:avLst>
              <a:gd name="adj" fmla="val 35708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3"/>
          <p:cNvSpPr/>
          <p:nvPr/>
        </p:nvSpPr>
        <p:spPr>
          <a:xfrm>
            <a:off x="9056743" y="4127697"/>
            <a:ext cx="2281914" cy="781396"/>
          </a:xfrm>
          <a:prstGeom prst="roundRect">
            <a:avLst>
              <a:gd name="adj" fmla="val 5851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4"/>
          <p:cNvSpPr txBox="1"/>
          <p:nvPr/>
        </p:nvSpPr>
        <p:spPr>
          <a:xfrm>
            <a:off x="502920" y="577886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私有子網只接 S3、DynamoDB 兩條 Endpoint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0 個私有子網路由至網際網路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59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500" fill="hold"/>
                                        <p:tgtEl>
                                          <p:spTgt spid="26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7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4" grpId="0" animBg="1"/>
      <p:bldP spid="17" grpId="0" animBg="1"/>
      <p:bldP spid="22" grpId="0" animBg="1"/>
      <p:bldP spid="25" grpId="0" animBg="1"/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②｜一鍵拆除每日層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用完當天拆光；拆完之後，每天的 AWS 費用接近 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1000" dirty="0"/>
          </a:p>
        </p:txBody>
      </p:sp>
      <p:pic>
        <p:nvPicPr>
          <p:cNvPr id="22" name="Picture 21" descr="m6-destroy-runs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9"/>
            <a:ext cx="5155179" cy="299923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02920" y="4802664"/>
            <a:ext cx="5001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#1</a:t>
            </a:r>
            <a:r>
              <a:rPr lang="zh-TW" altLang="en-US" sz="3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en-US" sz="3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51 秒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19 個資源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5305584"/>
            <a:ext cx="5001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</a:t>
            </a:r>
            <a:r>
              <a:rPr lang="zh-TW" altLang="en-US" sz="3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en-US" sz="3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分 18 秒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40 個資源</a:t>
            </a:r>
            <a:endParaRPr lang="en-US" sz="1600" dirty="0"/>
          </a:p>
        </p:txBody>
      </p:sp>
      <p:sp>
        <p:nvSpPr>
          <p:cNvPr id="13" name="Text 14"/>
          <p:cNvSpPr txBox="1"/>
          <p:nvPr/>
        </p:nvSpPr>
        <p:spPr>
          <a:xfrm>
            <a:off x="502919" y="5816742"/>
            <a:ext cx="54612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#5</a:t>
            </a:r>
            <a:r>
              <a:rPr lang="zh-TW" altLang="en-US" sz="3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en-US" sz="3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 分 37 秒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等 Lambda 網卡約 18 分鐘</a:t>
            </a:r>
            <a:endParaRPr lang="en-US" sz="1600" dirty="0"/>
          </a:p>
        </p:txBody>
      </p:sp>
      <p:pic>
        <p:nvPicPr>
          <p:cNvPr id="23" name="Picture 22" descr="m6-cost-explorer-m4-m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4193" y="1572768"/>
            <a:ext cx="5724583" cy="2982831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964194" y="4699258"/>
            <a:ext cx="572458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四根柱子＝四次上雲，每次約 US$0.2～0.3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沒上雲的日子：US$0.00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矮的橘色柱子是查帳本身的費用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6" grpId="0" animBg="1"/>
      <p:bldP spid="17" grpId="0" animBg="1"/>
      <p:bldP spid="13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③｜持續整合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每次推送先過三關，沒過就進不了 main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3500018" cy="91440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67512" y="1737360"/>
            <a:ext cx="594360" cy="59436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0" descr="/home/claude/slides/v6/media/s34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02" y="1885950"/>
            <a:ext cx="297180" cy="2971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17320" y="1572768"/>
            <a:ext cx="2494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自動測試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444 個，含 84 個連資料庫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231538" y="1572768"/>
            <a:ext cx="3500018" cy="91440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4396130" y="1737360"/>
            <a:ext cx="594360" cy="59436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9" name="Image 1" descr="/home/claude/slides/v6/media/s34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720" y="1885950"/>
            <a:ext cx="297180" cy="29718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145938" y="1572768"/>
            <a:ext cx="2494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Image 掃描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Trivy；攔下過 1 個弱點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7960157" y="1572768"/>
            <a:ext cx="3500018" cy="91440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8"/>
          <p:cNvSpPr/>
          <p:nvPr/>
        </p:nvSpPr>
        <p:spPr>
          <a:xfrm>
            <a:off x="8124749" y="1737360"/>
            <a:ext cx="594360" cy="59436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3" name="Image 2" descr="/home/claude/slides/v6/media/s34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3339" y="1885950"/>
            <a:ext cx="297180" cy="29718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874557" y="1572768"/>
            <a:ext cx="25764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IaC 掃描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 err="1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Trivy</a:t>
            </a:r>
            <a:b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</a:b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（Terraform、Dockerfile）</a:t>
            </a:r>
            <a:endParaRPr lang="en-US" sz="1600" dirty="0"/>
          </a:p>
        </p:txBody>
      </p:sp>
      <p:pic>
        <p:nvPicPr>
          <p:cNvPr id="25" name="Image 3" descr="/home/claude/slides/v6/media/s34-S16_pa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4780" y="2670048"/>
            <a:ext cx="8142136" cy="336499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2006492" y="2651760"/>
            <a:ext cx="8178712" cy="3401568"/>
          </a:xfrm>
          <a:prstGeom prst="roundRect">
            <a:avLst>
              <a:gd name="adj" fmla="val 1075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1"/>
          <p:cNvSpPr txBox="1"/>
          <p:nvPr/>
        </p:nvSpPr>
        <p:spPr>
          <a:xfrm>
            <a:off x="502920" y="612648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Actions：Tests、Image scan、Config scan 三關全綠；右側是 Trivy 的掃描結果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2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6" grpId="0" animBg="1"/>
      <p:bldP spid="20" grpId="0" animBg="1"/>
      <p:bldP spid="24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③｜持續部署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部署按一下：建置、掃描、推 image 到換版全自動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1000" dirty="0"/>
          </a:p>
        </p:txBody>
      </p:sp>
      <p:pic>
        <p:nvPicPr>
          <p:cNvPr id="13" name="Image 0" descr="/home/claude/slides/v6/media/s34-deploy_ru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7101459" cy="46908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89558" y="3473040"/>
            <a:ext cx="6949488" cy="597148"/>
          </a:xfrm>
          <a:prstGeom prst="roundRect">
            <a:avLst>
              <a:gd name="adj" fmla="val 7656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589558" y="5612078"/>
            <a:ext cx="6949488" cy="575570"/>
          </a:xfrm>
          <a:prstGeom prst="roundRect">
            <a:avLst>
              <a:gd name="adj" fmla="val 7943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7970139" y="1572768"/>
            <a:ext cx="3718636" cy="1371600"/>
          </a:xfrm>
          <a:prstGeom prst="roundRect">
            <a:avLst>
              <a:gd name="adj" fmla="val 666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 txBox="1"/>
          <p:nvPr/>
        </p:nvSpPr>
        <p:spPr>
          <a:xfrm>
            <a:off x="8171307" y="1645920"/>
            <a:ext cx="33163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 → 首次部署：被部署防護檢查攔下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計畫要新建 42 個資源，一個都沒套用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7970139" y="3145536"/>
            <a:ext cx="3718636" cy="1371600"/>
          </a:xfrm>
          <a:prstGeom prst="roundRect">
            <a:avLst>
              <a:gd name="adj" fmla="val 666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 txBox="1"/>
          <p:nvPr/>
        </p:nvSpPr>
        <p:spPr>
          <a:xfrm>
            <a:off x="8171307" y="3218688"/>
            <a:ext cx="33163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第三次：真的失敗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權限模擬 22 題全對，仍缺一個唯讀權限；補上再跑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7970139" y="4718304"/>
            <a:ext cx="3718636" cy="1371600"/>
          </a:xfrm>
          <a:prstGeom prst="roundRect">
            <a:avLst>
              <a:gd name="adj" fmla="val 666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8171307" y="4791456"/>
            <a:ext cx="33163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 → 修正後：僅更換 image，3 分 21 秒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建置、掃描、推 image、換版，全程自動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7" grpId="0" animBg="1"/>
      <p:bldP spid="19" grpId="0" animBg="1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③｜沒有長期金鑰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用身分證明（OIDC）換一小時的 AWS 角色；repo 裡沒有任何金鑰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endParaRPr lang="en-US" sz="1000" dirty="0"/>
          </a:p>
        </p:txBody>
      </p:sp>
      <p:pic>
        <p:nvPicPr>
          <p:cNvPr id="13" name="Image 0" descr="/home/claude/slides/v6/media/oidc-main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6400800" cy="270202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84632" y="1554480"/>
            <a:ext cx="6437376" cy="2738602"/>
          </a:xfrm>
          <a:prstGeom prst="roundRect">
            <a:avLst>
              <a:gd name="adj" fmla="val 1336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917052" y="3547409"/>
            <a:ext cx="3344418" cy="188872"/>
          </a:xfrm>
          <a:prstGeom prst="roundRect">
            <a:avLst>
              <a:gd name="adj" fmla="val 24207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6" name="Image 1" descr="/home/claude/slides/v6/media/oidc-branch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572768"/>
            <a:ext cx="4510735" cy="302539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159752" y="1554480"/>
            <a:ext cx="4547311" cy="3061966"/>
          </a:xfrm>
          <a:prstGeom prst="roundRect">
            <a:avLst>
              <a:gd name="adj" fmla="val 1195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4"/>
          <p:cNvSpPr/>
          <p:nvPr/>
        </p:nvSpPr>
        <p:spPr>
          <a:xfrm>
            <a:off x="7870438" y="2196906"/>
            <a:ext cx="730288" cy="170632"/>
          </a:xfrm>
          <a:prstGeom prst="roundRect">
            <a:avLst>
              <a:gd name="adj" fmla="val 26795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7375610" y="4327991"/>
            <a:ext cx="2970770" cy="221156"/>
          </a:xfrm>
          <a:prstGeom prst="roundRect">
            <a:avLst>
              <a:gd name="adj" fmla="val 20673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 txBox="1"/>
          <p:nvPr/>
        </p:nvSpPr>
        <p:spPr>
          <a:xfrm>
            <a:off x="502920" y="473531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main 觸發：借到角色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502920" y="511936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assumed-role/llm-gateway-destroy；一小時後自動失效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178040" y="4735318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從別的分支觸發：GitHub 這層就擋下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7178040" y="5119366"/>
            <a:ext cx="4510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分支名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environment protection rules，AWS 連請求都沒收到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521113" y="5961888"/>
            <a:ext cx="10728655" cy="640080"/>
          </a:xfrm>
          <a:prstGeom prst="roundRect">
            <a:avLst>
              <a:gd name="adj" fmla="val 11429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1"/>
          <p:cNvSpPr txBox="1"/>
          <p:nvPr/>
        </p:nvSpPr>
        <p:spPr>
          <a:xfrm>
            <a:off x="721977" y="5961888"/>
            <a:ext cx="102901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雲端呼叫 OpenAI 也一樣：</a:t>
            </a:r>
            <a:r>
              <a:rPr lang="en-US" sz="18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AWS 身分換通行證，沒有金鑰可以外流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④｜帳不會掉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先把單據夾進出單夾，再把餐端給客人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801368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594360" y="180136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算好雜湊值與摘要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880360" y="2258568"/>
            <a:ext cx="528218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3454298" y="1801368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14262B">
              <a:alpha val="0"/>
            </a:srgbClr>
          </a:solidFill>
          <a:ln w="2222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3545738" y="180136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SQS 出單夾</a:t>
            </a:r>
            <a:endParaRPr lang="en-US" sz="16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確認收到才回答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31738" y="2258568"/>
            <a:ext cx="528218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405677" y="1801368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6497117" y="180136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Lambda 後台會計</a:t>
            </a:r>
            <a:endParaRPr lang="en-US" sz="16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SQS 觸發；寫三本帳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783117" y="2258568"/>
            <a:ext cx="528218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357055" y="1801368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9448495" y="180136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DynamoDB</a:t>
            </a:r>
            <a:endParaRPr lang="en-US" sz="16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明細・額度・稽核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20158" y="2715768"/>
            <a:ext cx="0" cy="411480"/>
          </a:xfrm>
          <a:prstGeom prst="line">
            <a:avLst/>
          </a:prstGeom>
          <a:noFill/>
          <a:ln w="25400">
            <a:solidFill>
              <a:srgbClr val="C8553D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3614318" y="3172968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3614318" y="31729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DLQ 死信佇列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失敗 5 次放這裡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05677" y="3127248"/>
            <a:ext cx="5283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為什麼先進佇列：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LiteLLM 先回答、再寫帳，中間當機帳就掉了；這裡反過來，確認帳單進了佇列才回答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39776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兩個情境實測，接下來兩頁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2920" y="4389120"/>
            <a:ext cx="5468112" cy="1600200"/>
          </a:xfrm>
          <a:prstGeom prst="roundRect">
            <a:avLst>
              <a:gd name="adj" fmla="val 5714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704088" y="4462272"/>
            <a:ext cx="506577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Worker 停工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回答照給，帳單在佇列裡等；Worker 回來同一秒補帳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217920" y="4389120"/>
            <a:ext cx="5468112" cy="1600200"/>
          </a:xfrm>
          <a:prstGeom prst="roundRect">
            <a:avLst>
              <a:gd name="adj" fmla="val 5714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6419088" y="4462272"/>
            <a:ext cx="506577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SQS 不可用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 err="1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回答照給，馬上改由</a:t>
            </a:r>
            <a:r>
              <a:rPr lang="zh-TW" alt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Gateway </a:t>
            </a:r>
            <a:r>
              <a:rPr lang="en-US" sz="1600" dirty="0" err="1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自己記帳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58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62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76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80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84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4" grpId="0" animBg="1"/>
      <p:bldP spid="17" grpId="0" animBg="1"/>
      <p:bldP spid="20" grpId="0" animBg="1"/>
      <p:bldP spid="23" grpId="0" animBg="1"/>
      <p:bldP spid="26" grpId="0" animBg="1"/>
      <p:bldP spid="27" grpId="0" animBg="1"/>
      <p:bldP spid="28" grpId="0" animBg="1"/>
      <p:bldP spid="30" grpId="0" animBg="1"/>
      <p:bldP spid="3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帳不會掉｜① Worker 停工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客人照樣拿到回答，帳單在出單夾裡等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</a:t>
            </a:r>
            <a:endParaRPr lang="en-US" sz="1000" dirty="0"/>
          </a:p>
        </p:txBody>
      </p:sp>
      <p:pic>
        <p:nvPicPr>
          <p:cNvPr id="13" name="Image 0" descr="/home/claude/slides/v6/media/s39-S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6317242" cy="46908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33243" y="2461219"/>
            <a:ext cx="956430" cy="195609"/>
          </a:xfrm>
          <a:prstGeom prst="roundRect">
            <a:avLst>
              <a:gd name="adj" fmla="val 23373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533243" y="4155562"/>
            <a:ext cx="858513" cy="323670"/>
          </a:xfrm>
          <a:prstGeom prst="roundRect">
            <a:avLst>
              <a:gd name="adj" fmla="val 14125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3740506" y="3078538"/>
            <a:ext cx="2823807" cy="722863"/>
          </a:xfrm>
          <a:prstGeom prst="roundRect">
            <a:avLst>
              <a:gd name="adj" fmla="val 6325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2339974" y="5330156"/>
            <a:ext cx="497167" cy="218126"/>
          </a:xfrm>
          <a:prstGeom prst="roundRect">
            <a:avLst>
              <a:gd name="adj" fmla="val 20960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7140202" y="1572768"/>
            <a:ext cx="4548573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 txBox="1"/>
          <p:nvPr/>
        </p:nvSpPr>
        <p:spPr>
          <a:xfrm>
            <a:off x="7341370" y="1645920"/>
            <a:ext cx="4146237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Disabled → 4 題全答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停掉 Worker 的觸發，alice 連問 4 題都有回答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7140202" y="3127248"/>
            <a:ext cx="4548573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 txBox="1"/>
          <p:nvPr/>
        </p:nvSpPr>
        <p:spPr>
          <a:xfrm>
            <a:off x="7341370" y="3200400"/>
            <a:ext cx="4146237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佇列 4 則・額度已用 0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帳單在出單夾裡等，額度一毛沒動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7140202" y="4681728"/>
            <a:ext cx="4548573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 txBox="1"/>
          <p:nvPr/>
        </p:nvSpPr>
        <p:spPr>
          <a:xfrm>
            <a:off x="7341370" y="4754880"/>
            <a:ext cx="4146237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代價：軟上限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Worker 停工期間可能多用一點；要硬上限得預扣，評估後不做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9" grpId="0" animBg="1"/>
      <p:bldP spid="21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帳不會掉｜② SQS 不可用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 err="1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回答照給，馬上改由</a:t>
            </a:r>
            <a:r>
              <a:rPr lang="zh-TW" alt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altLang="zh-TW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Gateway </a:t>
            </a:r>
            <a:r>
              <a:rPr lang="en-US" sz="1800" dirty="0" err="1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自己記帳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endParaRPr lang="en-US" sz="1000" dirty="0"/>
          </a:p>
        </p:txBody>
      </p:sp>
      <p:pic>
        <p:nvPicPr>
          <p:cNvPr id="13" name="Image 0" descr="/home/claude/slides/v6/media/s41-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11185855" cy="4052019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990762" y="2457324"/>
            <a:ext cx="756164" cy="1797881"/>
          </a:xfrm>
          <a:prstGeom prst="roundRect">
            <a:avLst>
              <a:gd name="adj" fmla="val 6046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559968" y="5110991"/>
            <a:ext cx="10985628" cy="470845"/>
          </a:xfrm>
          <a:prstGeom prst="roundRect">
            <a:avLst>
              <a:gd name="adj" fmla="val 9710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 txBox="1"/>
          <p:nvPr/>
        </p:nvSpPr>
        <p:spPr>
          <a:xfrm>
            <a:off x="502920" y="5761947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 → 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SQS 的網域從放行名單拿掉，DNS 防火牆擋下（14:43:24）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 → 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Gateway 連不到 SQS，留下 charge_queue_failed，改成自己記帳，回答照給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四道檢查都過，上雲還是失敗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每道檢查都有盲點：信任政策的實際行為，四道檢查都驗不到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15727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1572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驗證範圍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1572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驗不到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1984248"/>
            <a:ext cx="6172200" cy="73152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85800" y="198424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本機自動測試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198424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程式邏輯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19842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IAM、真實雲端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2852928"/>
            <a:ext cx="6172200" cy="73152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85800" y="285292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terraform validate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743200" y="285292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語法與型別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28529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值對不對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2920" y="3721608"/>
            <a:ext cx="6172200" cy="73152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685800" y="372160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IAM 權限模擬器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743200" y="372160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這個角色能做什麼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37216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誰能借用這個角色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2920" y="4590288"/>
            <a:ext cx="6172200" cy="73152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85800" y="459028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validate-policy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2743200" y="459028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政策格式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459028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信任政策的實際行為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995160" y="1572768"/>
            <a:ext cx="4693615" cy="4110942"/>
          </a:xfrm>
          <a:prstGeom prst="roundRect">
            <a:avLst>
              <a:gd name="adj" fmla="val 2326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7223760" y="1755648"/>
            <a:ext cx="4236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信任政策寫了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「只有這個函式可以借用這個角色」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2670048"/>
            <a:ext cx="4236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Lambda 建立網卡時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不帶函式的識別，條件永遠不成立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223760" y="3584448"/>
            <a:ext cx="4236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 apply 失敗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223760" y="4498848"/>
            <a:ext cx="4236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移除來源條件；仍只准 lambda.amazonaws.com 借用，交給函式需 iam:PassRole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2920" y="5767935"/>
            <a:ext cx="11185855" cy="548640"/>
          </a:xfrm>
          <a:prstGeom prst="roundRect">
            <a:avLst>
              <a:gd name="adj" fmla="val 13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777240" y="5767935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學到的事：之後每道檢查都寫明它驗不到什麼；四道都不看「誰能借這張證」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19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620"/>
                                  </p:stCondLst>
                                  <p:childTnLst>
                                    <p:set>
                                      <p:cBhvr>
                                        <p:cTn id="49" dur="1" fill="hold"/>
                                        <p:tgtEl>
                                          <p:spTgt spid="2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400" fill="hold"/>
                                        <p:tgtEl>
                                          <p:spTgt spid="2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65" dur="1" fill="hold"/>
                                        <p:tgtEl>
                                          <p:spTgt spid="2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00" fill="hold"/>
                                        <p:tgtEl>
                                          <p:spTgt spid="2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77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31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1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00" fill="hold"/>
                                        <p:tgtEl>
                                          <p:spTgt spid="31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4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7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9" dur="300" autoRev="1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100000" y="100000"/>
                                      <p:to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1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8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3" dur="300" autoRev="1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100000" y="100000"/>
                                      <p:to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/>
      <p:bldP spid="21" grpId="0" animBg="1"/>
      <p:bldP spid="22" grpId="0" animBg="1"/>
      <p:bldP spid="23" grpId="0"/>
      <p:bldP spid="25" grpId="0" animBg="1"/>
      <p:bldP spid="26" grpId="0" animBg="1"/>
      <p:bldP spid="27" grpId="0"/>
      <p:bldP spid="29" grpId="0" animBg="1"/>
      <p:bldP spid="30" grpId="0" animBg="1"/>
      <p:bldP spid="31" grpId="0"/>
      <p:bldP spid="33" grpId="0" animBg="1"/>
      <p:bldP spid="34" grpId="0" animBg="1"/>
      <p:bldP spid="35" grpId="0" animBg="1"/>
      <p:bldP spid="36" grpId="0" animBg="1"/>
      <p:bldP spid="3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⑤｜agent 會犯錯，也會被擋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模型想 → 叫工具 → 看結果，每一輪都經過同一道閘道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</a:t>
            </a:r>
            <a:endParaRPr lang="en-US" sz="1000" dirty="0"/>
          </a:p>
        </p:txBody>
      </p:sp>
      <p:pic>
        <p:nvPicPr>
          <p:cNvPr id="13" name="Image 0" descr="/home/claude/slides/v6/media/s43-agent_self-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6782847" cy="432511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28017" y="2998325"/>
            <a:ext cx="6724515" cy="559237"/>
          </a:xfrm>
          <a:prstGeom prst="roundRect">
            <a:avLst>
              <a:gd name="adj" fmla="val 8175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528017" y="5190292"/>
            <a:ext cx="2905772" cy="159164"/>
          </a:xfrm>
          <a:prstGeom prst="roundRect">
            <a:avLst>
              <a:gd name="adj" fmla="val 28725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 txBox="1"/>
          <p:nvPr/>
        </p:nvSpPr>
        <p:spPr>
          <a:xfrm>
            <a:off x="502920" y="5971032"/>
            <a:ext cx="6782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carol（本機）跑 8 步完成；第 4 步自己編了不存在的模型名</a:t>
            </a:r>
            <a:endParaRPr lang="en-US" sz="1600" dirty="0"/>
          </a:p>
        </p:txBody>
      </p:sp>
      <p:pic>
        <p:nvPicPr>
          <p:cNvPr id="17" name="Image 1" descr="/home/claude/slides/v6/media/s43-agent_4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087" y="1572768"/>
            <a:ext cx="4128688" cy="1001589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541799" y="1554480"/>
            <a:ext cx="4165264" cy="1038165"/>
          </a:xfrm>
          <a:prstGeom prst="roundRect">
            <a:avLst>
              <a:gd name="adj" fmla="val 3523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7541799" y="2434235"/>
            <a:ext cx="3470319" cy="149266"/>
          </a:xfrm>
          <a:prstGeom prst="roundRect">
            <a:avLst>
              <a:gd name="adj" fmla="val 33222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/>
          <p:cNvSpPr txBox="1"/>
          <p:nvPr/>
        </p:nvSpPr>
        <p:spPr>
          <a:xfrm>
            <a:off x="7560087" y="2629221"/>
            <a:ext cx="412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 → 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剩的額度不夠，再跑一次：第 4 步回 429，停止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7560087" y="3443037"/>
            <a:ext cx="4128688" cy="879241"/>
          </a:xfrm>
          <a:prstGeom prst="roundRect">
            <a:avLst>
              <a:gd name="adj" fmla="val 10400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8"/>
          <p:cNvSpPr txBox="1"/>
          <p:nvPr/>
        </p:nvSpPr>
        <p:spPr>
          <a:xfrm>
            <a:off x="7761255" y="3516189"/>
            <a:ext cx="3726352" cy="73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 → 編錯模型名，被打槍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工具回「沒有這個模型」，下一步自己改對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7560087" y="4459438"/>
            <a:ext cx="4128688" cy="879241"/>
          </a:xfrm>
          <a:prstGeom prst="roundRect">
            <a:avLst>
              <a:gd name="adj" fmla="val 10400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0"/>
          <p:cNvSpPr txBox="1"/>
          <p:nvPr/>
        </p:nvSpPr>
        <p:spPr>
          <a:xfrm>
            <a:off x="7761255" y="4532590"/>
            <a:ext cx="3726352" cy="73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 → 8 步、8,122 micro-USD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每一步都走 Gateway：身分、額度、遮罩、稽核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7560087" y="5475839"/>
            <a:ext cx="4128688" cy="879241"/>
          </a:xfrm>
          <a:prstGeom prst="roundRect">
            <a:avLst>
              <a:gd name="adj" fmla="val 10400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2"/>
          <p:cNvSpPr txBox="1"/>
          <p:nvPr/>
        </p:nvSpPr>
        <p:spPr>
          <a:xfrm>
            <a:off x="7761255" y="5548991"/>
            <a:ext cx="3726352" cy="73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Gateway 的程式一行沒改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只是另一個客戶：同一把 Key、同一本帳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5" dur="500" fill="hold"/>
                                        <p:tgtEl>
                                          <p:spTgt spid="18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6" grpId="0" animBg="1"/>
      <p:bldP spid="20" grpId="0" animBg="1"/>
      <p:bldP spid="22" grpId="0" animBg="1"/>
      <p:bldP spid="24" grpId="0" animBg="1"/>
      <p:bldP spid="2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小型 agent｜人和 agent 共用一本帳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用 bob 的 Key 跑 8 步，Console 的剩餘額度跟著動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</a:t>
            </a:r>
            <a:endParaRPr lang="en-US" sz="1000" dirty="0"/>
          </a:p>
        </p:txBody>
      </p:sp>
      <p:pic>
        <p:nvPicPr>
          <p:cNvPr id="13" name="Image 0" descr="/home/claude/slides/v6/media/s44-agent_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7955280" cy="2186733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19626" y="2156407"/>
            <a:ext cx="7921868" cy="288430"/>
          </a:xfrm>
          <a:prstGeom prst="roundRect">
            <a:avLst>
              <a:gd name="adj" fmla="val 15851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519626" y="3250211"/>
            <a:ext cx="2003935" cy="135577"/>
          </a:xfrm>
          <a:prstGeom prst="roundRect">
            <a:avLst>
              <a:gd name="adj" fmla="val 33723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 txBox="1"/>
          <p:nvPr/>
        </p:nvSpPr>
        <p:spPr>
          <a:xfrm>
            <a:off x="8732520" y="1572768"/>
            <a:ext cx="2956255" cy="218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agent（本機）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步、共花 8,080 micro-USD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 → 第 3 步又編錯模型名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 → 完成與總花費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4170981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跑完、還沒重新整理</a:t>
            </a:r>
            <a:endParaRPr lang="en-US" sz="1600" dirty="0"/>
          </a:p>
        </p:txBody>
      </p:sp>
      <p:pic>
        <p:nvPicPr>
          <p:cNvPr id="18" name="Image 1" descr="/home/claude/slides/v6/media/s44-console_bef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536741"/>
            <a:ext cx="3383280" cy="129132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84632" y="4518453"/>
            <a:ext cx="3419856" cy="1327904"/>
          </a:xfrm>
          <a:prstGeom prst="roundRect">
            <a:avLst>
              <a:gd name="adj" fmla="val 2754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6"/>
          <p:cNvSpPr/>
          <p:nvPr/>
        </p:nvSpPr>
        <p:spPr>
          <a:xfrm>
            <a:off x="4069080" y="5182405"/>
            <a:ext cx="50292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Text 17"/>
          <p:cNvSpPr txBox="1"/>
          <p:nvPr/>
        </p:nvSpPr>
        <p:spPr>
          <a:xfrm>
            <a:off x="4754880" y="4170981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重新整理之後</a:t>
            </a:r>
            <a:endParaRPr lang="en-US" sz="1600" dirty="0"/>
          </a:p>
        </p:txBody>
      </p:sp>
      <p:pic>
        <p:nvPicPr>
          <p:cNvPr id="22" name="Image 2" descr="/home/claude/slides/v6/media/s44-console_af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536741"/>
            <a:ext cx="3383280" cy="129132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736592" y="4518453"/>
            <a:ext cx="3419856" cy="1327904"/>
          </a:xfrm>
          <a:prstGeom prst="roundRect">
            <a:avLst>
              <a:gd name="adj" fmla="val 2754"/>
            </a:avLst>
          </a:prstGeom>
          <a:solidFill>
            <a:srgbClr val="14262B">
              <a:alpha val="0"/>
            </a:srgbClr>
          </a:solidFill>
          <a:ln w="952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19"/>
          <p:cNvSpPr/>
          <p:nvPr/>
        </p:nvSpPr>
        <p:spPr>
          <a:xfrm>
            <a:off x="8412480" y="4170981"/>
            <a:ext cx="3276295" cy="1657088"/>
          </a:xfrm>
          <a:prstGeom prst="roundRect">
            <a:avLst>
              <a:gd name="adj" fmla="val 5518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0"/>
          <p:cNvSpPr txBox="1"/>
          <p:nvPr/>
        </p:nvSpPr>
        <p:spPr>
          <a:xfrm>
            <a:off x="8641080" y="4170981"/>
            <a:ext cx="2819095" cy="165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0.98363 → 0.97555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少了 0.00808 ＝ agent 印的 8,080 micro-USD；Gateway 的程式一行沒改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3" presetClass="entr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44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23" presetClass="entr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</p:cBhvr>
                                      <p:from x="94000" y="94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23" presetClass="entr" presetSubtype="16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350" fill="hold"/>
                                        <p:tgtEl>
                                          <p:spTgt spid="24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55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6" presetID="23" presetClass="entr" presetSubtype="16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350" fill="hold"/>
                                        <p:tgtEl>
                                          <p:spTgt spid="25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60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6" presetClass="emph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animScale>
                                      <p:cBhvr>
                                        <p:cTn id="62" dur="28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63" dur="280" autoRev="1" fill="hold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64" dur="280" autoRev="1" fill="hold">
                                          <p:stCondLst>
                                            <p:cond delay="124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6" grpId="0" animBg="1"/>
      <p:bldP spid="17" grpId="0" animBg="1"/>
      <p:bldP spid="21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影片 ①｜Console：節費・個資・額度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bob 問簡單題走便宜模型 → 一句話塞四種個資被遮罩 → carol 額度用完回 429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2288085" y="1508760"/>
            <a:ext cx="7615829" cy="4800600"/>
          </a:xfrm>
          <a:prstGeom prst="roundRect">
            <a:avLst>
              <a:gd name="adj" fmla="val 5000"/>
            </a:avLst>
          </a:prstGeom>
          <a:solidFill>
            <a:srgbClr val="0F1E22"/>
          </a:solidFill>
          <a:ln w="19050">
            <a:solidFill>
              <a:srgbClr val="5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slides-demo-1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79525" y="1600200"/>
            <a:ext cx="7432949" cy="4617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63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影片 ②｜上雲與 agent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部署只換 image → Grafana 看誰花多少 → agent（本機）跑 8 步、Console 額度同步減少 → 一鍵拆除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2288085" y="1508760"/>
            <a:ext cx="7615829" cy="4800600"/>
          </a:xfrm>
          <a:prstGeom prst="roundRect">
            <a:avLst>
              <a:gd name="adj" fmla="val 5000"/>
            </a:avLst>
          </a:prstGeom>
          <a:solidFill>
            <a:srgbClr val="0F1E22"/>
          </a:solidFill>
          <a:ln w="19050">
            <a:solidFill>
              <a:srgbClr val="5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slides-demo-2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79525" y="1600200"/>
            <a:ext cx="7432949" cy="4617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1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結語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員工照常用 AI，老闆看得懂帳單，資安查得到紀錄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3500018" cy="1874520"/>
          </a:xfrm>
          <a:prstGeom prst="roundRect">
            <a:avLst>
              <a:gd name="adj" fmla="val 4878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777240" y="1709928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670048"/>
            <a:ext cx="2951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模型成本降幅（20 題實測）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 65%，每題兩顆模型都真的跑過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31538" y="1572768"/>
            <a:ext cx="3500018" cy="1874520"/>
          </a:xfrm>
          <a:prstGeom prst="roundRect">
            <a:avLst>
              <a:gd name="adj" fmla="val 4878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4505858" y="1709928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類</a:t>
            </a:r>
            <a:endParaRPr lang="en-US" sz="4800" dirty="0"/>
          </a:p>
        </p:txBody>
      </p:sp>
      <p:sp>
        <p:nvSpPr>
          <p:cNvPr id="18" name="Text 16"/>
          <p:cNvSpPr txBox="1"/>
          <p:nvPr/>
        </p:nvSpPr>
        <p:spPr>
          <a:xfrm>
            <a:off x="4505858" y="2670048"/>
            <a:ext cx="2951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個資在送出前遮罩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身分證・手機・Email・信用卡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60157" y="1572768"/>
            <a:ext cx="3500018" cy="1874520"/>
          </a:xfrm>
          <a:prstGeom prst="roundRect">
            <a:avLst>
              <a:gd name="adj" fmla="val 4878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8234477" y="1709928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US$0.97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8234477" y="2670048"/>
            <a:ext cx="2951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</a:t>
            </a:r>
            <a:r>
              <a:rPr lang="en-US" sz="1600" b="1" dirty="0" err="1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次上雲的</a:t>
            </a: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AWS 累計費用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 err="1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用完就拆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zh-TW" alt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沒上雲的日子 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US$0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37673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評估後不做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057400" y="3767328"/>
            <a:ext cx="2057400" cy="457200"/>
          </a:xfrm>
          <a:prstGeom prst="roundRect">
            <a:avLst>
              <a:gd name="adj" fmla="val 24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2057400" y="37673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AWS WAF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51960" y="3767328"/>
            <a:ext cx="2057400" cy="457200"/>
          </a:xfrm>
          <a:prstGeom prst="roundRect">
            <a:avLst>
              <a:gd name="adj" fmla="val 24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4251960" y="37673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多可用區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46520" y="3767328"/>
            <a:ext cx="2057400" cy="457200"/>
          </a:xfrm>
          <a:prstGeom prst="roundRect">
            <a:avLst>
              <a:gd name="adj" fmla="val 24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6446520" y="37673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知識檢索（RAG）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44074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057400" y="4407408"/>
            <a:ext cx="2057400" cy="457200"/>
          </a:xfrm>
          <a:prstGeom prst="roundRect">
            <a:avLst>
              <a:gd name="adj" fmla="val 30000"/>
            </a:avLst>
          </a:prstGeom>
          <a:solidFill>
            <a:srgbClr val="14262B">
              <a:alpha val="0"/>
            </a:srgbClr>
          </a:solidFill>
          <a:ln w="1587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2057400" y="44074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 Console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51960" y="4407408"/>
            <a:ext cx="2057400" cy="457200"/>
          </a:xfrm>
          <a:prstGeom prst="roundRect">
            <a:avLst>
              <a:gd name="adj" fmla="val 30000"/>
            </a:avLst>
          </a:prstGeom>
          <a:solidFill>
            <a:srgbClr val="14262B">
              <a:alpha val="0"/>
            </a:srgbClr>
          </a:solidFill>
          <a:ln w="1587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251960" y="44074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SSO 與角色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46520" y="4407408"/>
            <a:ext cx="2057400" cy="457200"/>
          </a:xfrm>
          <a:prstGeom prst="roundRect">
            <a:avLst>
              <a:gd name="adj" fmla="val 30000"/>
            </a:avLst>
          </a:prstGeom>
          <a:solidFill>
            <a:srgbClr val="14262B">
              <a:alpha val="0"/>
            </a:srgbClr>
          </a:solidFill>
          <a:ln w="15875">
            <a:solidFill>
              <a:srgbClr val="F2A54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446520" y="44074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部門拆帳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02920" y="5166360"/>
            <a:ext cx="11185855" cy="1051560"/>
          </a:xfrm>
          <a:prstGeom prst="roundRect">
            <a:avLst>
              <a:gd name="adj" fmla="val 8696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77240" y="5367528"/>
            <a:ext cx="640080" cy="64008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8" name="Image 0" descr="/home/claude/slides/v6/media/s45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5527548"/>
            <a:ext cx="320040" cy="320040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1691640" y="5166360"/>
            <a:ext cx="98142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我能把 AI 服務 </a:t>
            </a:r>
            <a:r>
              <a:rPr lang="en-US" sz="2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安全地、算得清楚地</a:t>
            </a: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放上雲端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350" fill="hold"/>
                                        <p:tgtEl>
                                          <p:spTgt spid="13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15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2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350" fill="hold"/>
                                        <p:tgtEl>
                                          <p:spTgt spid="14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20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350" fill="hold"/>
                                        <p:tgtEl>
                                          <p:spTgt spid="15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25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3" presetClass="entr" presetSubtype="16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350" fill="hold"/>
                                        <p:tgtEl>
                                          <p:spTgt spid="16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30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2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4" dur="350" fill="hold"/>
                                        <p:tgtEl>
                                          <p:spTgt spid="17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35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2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350" fill="hold"/>
                                        <p:tgtEl>
                                          <p:spTgt spid="18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40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350" fill="hold"/>
                                        <p:tgtEl>
                                          <p:spTgt spid="19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45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2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9" dur="350" fill="hold"/>
                                        <p:tgtEl>
                                          <p:spTgt spid="20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50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2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350" fill="hold"/>
                                        <p:tgtEl>
                                          <p:spTgt spid="21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55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60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61" presetID="26" presetClass="emph" presetSubtype="0" fill="hold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63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26" presetClass="emph" presetSubtype="0" fill="hold" nodeType="withEffect">
                                  <p:stCondLst>
                                    <p:cond delay="240"/>
                                  </p:stCondLst>
                                  <p:childTnLs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66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7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1" dur="1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85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89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93" dur="1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2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8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0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2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4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6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18" dur="1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0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22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4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6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8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" dur="300" autoRev="1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from x="100000" y="100000"/>
                                      <p:to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0" dur="1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2" dur="300" autoRev="1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100000" y="100000"/>
                                      <p:to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4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8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" dur="300" autoRev="1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</p:cBhvr>
                                      <p:from x="100000" y="100000"/>
                                      <p:to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8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0" dur="300" autoRev="1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from x="100000" y="100000"/>
                                      <p:to x="104000" y="104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4" grpId="0" animBg="1"/>
      <p:bldP spid="26" grpId="0" animBg="1"/>
      <p:bldP spid="28" grpId="0" animBg="1"/>
      <p:bldP spid="29" grpId="0" animBg="1"/>
      <p:bldP spid="31" grpId="0" animBg="1"/>
      <p:bldP spid="33" grpId="0" animBg="1"/>
      <p:bldP spid="35" grpId="0" animBg="1"/>
      <p:bldP spid="3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0818802">
            <a:off x="7180446" y="-1328287"/>
            <a:ext cx="6583680" cy="6583680"/>
          </a:xfrm>
          <a:prstGeom prst="ellipse">
            <a:avLst/>
          </a:prstGeom>
          <a:solidFill>
            <a:srgbClr val="0B5D5E">
              <a:alpha val="22000"/>
            </a:srgbClr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 rot="20818802">
            <a:off x="8460606" y="-48127"/>
            <a:ext cx="4023360" cy="4023360"/>
          </a:xfrm>
          <a:prstGeom prst="ellipse">
            <a:avLst/>
          </a:prstGeom>
          <a:solidFill>
            <a:srgbClr val="F2A541">
              <a:alpha val="15000"/>
            </a:srgbClr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home/claude/slides/v6/media/s01-Image_1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 rot="20818802">
            <a:off x="9466446" y="957713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9659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謝謝聆聽</a:t>
            </a:r>
            <a:endParaRPr lang="en-US" sz="6400" dirty="0"/>
          </a:p>
        </p:txBody>
      </p:sp>
      <p:sp>
        <p:nvSpPr>
          <p:cNvPr id="6" name="Shape 3"/>
          <p:cNvSpPr/>
          <p:nvPr/>
        </p:nvSpPr>
        <p:spPr>
          <a:xfrm>
            <a:off x="822960" y="3520440"/>
            <a:ext cx="6903720" cy="2103120"/>
          </a:xfrm>
          <a:prstGeom prst="roundRect">
            <a:avLst>
              <a:gd name="adj" fmla="val 7742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1005840" y="3703320"/>
            <a:ext cx="1737360" cy="17373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Image 1" descr="/home/claude/slides/v6/media/s46-Image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3767328"/>
            <a:ext cx="1609344" cy="1609344"/>
          </a:xfrm>
          <a:prstGeom prst="rect">
            <a:avLst/>
          </a:prstGeom>
        </p:spPr>
      </p:pic>
      <p:pic>
        <p:nvPicPr>
          <p:cNvPr id="9" name="Image 2" descr="/home/claude/slides/v6/media/s46-Image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4315968"/>
            <a:ext cx="502920" cy="5029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611880" y="4297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github.com/Poyu-Tu/llm-gateway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8945575" y="5989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杜柏豫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350" fill="hold"/>
                                        <p:tgtEl>
                                          <p:spTgt spid="6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12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350" fill="hold"/>
                                        <p:tgtEl>
                                          <p:spTgt spid="7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17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350" fill="hold"/>
                                        <p:tgtEl>
                                          <p:spTgt spid="8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22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350" fill="hold"/>
                                        <p:tgtEl>
                                          <p:spTgt spid="9"/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27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1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1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350" fill="hold"/>
                                        <p:tgtEl>
                                          <p:spTgt spid="1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  <p:from x="30000" y="30000"/>
                                      <p:to x="108000" y="108000"/>
                                    </p:animScale>
                                    <p:animScale>
                                      <p:cBhvr>
                                        <p:cTn id="32" dur="1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  <p:from x="108000" y="108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6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37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38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41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6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44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26" presetClass="emph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112000" y="112000"/>
                                    </p:animScale>
                                    <p:animScale>
                                      <p:cBhvr>
                                        <p:cTn id="47" dur="200" autoRev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節費｜為什麼不選省 54% 的規則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省最多的規則，未必是最好的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全部用強模型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4206240" cy="365760"/>
          </a:xfrm>
          <a:prstGeom prst="roundRect">
            <a:avLst>
              <a:gd name="adj" fmla="val 10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737360"/>
            <a:ext cx="4206240" cy="365760"/>
          </a:xfrm>
          <a:prstGeom prst="roundRect">
            <a:avLst>
              <a:gd name="adj" fmla="val 10000"/>
            </a:avLst>
          </a:prstGeom>
          <a:solidFill>
            <a:srgbClr val="7D858C"/>
          </a:solidFill>
          <a:ln w="12700">
            <a:solidFill>
              <a:srgbClr val="7D85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55,724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0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3500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完全照判斷分流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83280" y="2395728"/>
            <a:ext cx="4206240" cy="365760"/>
          </a:xfrm>
          <a:prstGeom prst="roundRect">
            <a:avLst>
              <a:gd name="adj" fmla="val 10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2395728"/>
            <a:ext cx="3258243" cy="36576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4720" y="2395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43,165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818120" y="23500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22.5%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23500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理論上限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30083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10/12 以前的規則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83280" y="3054096"/>
            <a:ext cx="4206240" cy="365760"/>
          </a:xfrm>
          <a:prstGeom prst="roundRect">
            <a:avLst>
              <a:gd name="adj" fmla="val 10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3054096"/>
            <a:ext cx="2886412" cy="36576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472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38,239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818120" y="30083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31.4%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961120" y="30083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送對 15 題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36667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採用的規則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83280" y="3712464"/>
            <a:ext cx="4206240" cy="365760"/>
          </a:xfrm>
          <a:prstGeom prst="roundRect">
            <a:avLst>
              <a:gd name="adj" fmla="val 10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3280" y="3712464"/>
            <a:ext cx="3141017" cy="365760"/>
          </a:xfrm>
          <a:prstGeom prst="roundRect">
            <a:avLst>
              <a:gd name="adj" fmla="val 1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74720" y="37124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41,612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818120" y="366674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8961120" y="36667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送對 18 題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4325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字數門檻放寬到 500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383280" y="4370832"/>
            <a:ext cx="4206240" cy="365760"/>
          </a:xfrm>
          <a:prstGeom prst="roundRect">
            <a:avLst>
              <a:gd name="adj" fmla="val 10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3280" y="4370832"/>
            <a:ext cx="1912222" cy="365760"/>
          </a:xfrm>
          <a:prstGeom prst="roundRect">
            <a:avLst>
              <a:gd name="adj" fmla="val 10000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74720" y="4370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25,611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818120" y="43251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54.0%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8961120" y="43251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24.2% 來自同一題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3383280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micro-USD，20 題合計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" y="5349240"/>
            <a:ext cx="11185855" cy="868680"/>
          </a:xfrm>
          <a:prstGeom prst="roundRect">
            <a:avLst>
              <a:gd name="adj" fmla="val 10526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7240" y="534924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多省的 28.7% 裡，24.2% 來自最難的那一題：一個樣本撐起整個數字。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站在使用者立場：在意的是回答是不是他要的，不是數字好看。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節費｜數字怎麼算出來的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手算對得上；四種規則一次跑，只重算、不再呼叫模型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36</a:t>
            </a:r>
            <a:endParaRPr lang="en-US" sz="1000" dirty="0"/>
          </a:p>
        </p:txBody>
      </p:sp>
      <p:pic>
        <p:nvPicPr>
          <p:cNvPr id="7" name="Image 0" descr="/home/claude/slides/v6/media/s14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3491345" cy="3840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22821" y="4051798"/>
            <a:ext cx="2728137" cy="259232"/>
          </a:xfrm>
          <a:prstGeom prst="roundRect">
            <a:avLst>
              <a:gd name="adj" fmla="val 17637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2821" y="4969289"/>
            <a:ext cx="2104932" cy="448952"/>
          </a:xfrm>
          <a:prstGeom prst="roundRect">
            <a:avLst>
              <a:gd name="adj" fmla="val 10184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5504688"/>
            <a:ext cx="39485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稽核記 1,438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手算 34×2 ＋ 137×10 ＝ 1,438</a:t>
            </a:r>
            <a:endParaRPr lang="en-US" sz="1600" dirty="0"/>
          </a:p>
        </p:txBody>
      </p:sp>
      <p:pic>
        <p:nvPicPr>
          <p:cNvPr id="11" name="Image 1" descr="/home/claude/slides/v6/media/s14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8585" y="1572768"/>
            <a:ext cx="7420190" cy="411037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40561" y="2086154"/>
            <a:ext cx="3393253" cy="238813"/>
          </a:xfrm>
          <a:prstGeom prst="roundRect">
            <a:avLst>
              <a:gd name="adj" fmla="val 19145"/>
            </a:avLst>
          </a:prstGeom>
          <a:solidFill>
            <a:srgbClr val="14262B">
              <a:alpha val="0"/>
            </a:srgbClr>
          </a:solidFill>
          <a:ln w="28575">
            <a:solidFill>
              <a:srgbClr val="0E7C7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340561" y="4080921"/>
            <a:ext cx="5514685" cy="668759"/>
          </a:xfrm>
          <a:prstGeom prst="roundRect">
            <a:avLst>
              <a:gd name="adj" fmla="val 6837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340561" y="4749680"/>
            <a:ext cx="5514685" cy="668759"/>
          </a:xfrm>
          <a:prstGeom prst="roundRect">
            <a:avLst>
              <a:gd name="adj" fmla="val 6837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268585" y="5774587"/>
            <a:ext cx="74201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藍：全部用強模型　橘：採用的規則　紅：對照組（門檻 500）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節費｜簡單題越多，省越多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 是簡單題只佔 65% 的情況；日常問題的比例通常更高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664208"/>
            <a:ext cx="3454298" cy="3291840"/>
          </a:xfrm>
          <a:prstGeom prst="roundRect">
            <a:avLst>
              <a:gd name="adj" fmla="val 2778"/>
            </a:avLst>
          </a:prstGeom>
          <a:solidFill>
            <a:srgbClr val="14262B">
              <a:alpha val="0"/>
            </a:srgbClr>
          </a:solidFill>
          <a:ln w="22225">
            <a:solidFill>
              <a:srgbClr val="F2A5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38528"/>
            <a:ext cx="290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258568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081528"/>
            <a:ext cx="290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01568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777240" y="4270248"/>
            <a:ext cx="2905658" cy="384048"/>
          </a:xfrm>
          <a:prstGeom prst="roundRect">
            <a:avLst>
              <a:gd name="adj" fmla="val 28571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270248"/>
            <a:ext cx="2905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實測（20 題）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31538" y="1664208"/>
            <a:ext cx="3454298" cy="3291840"/>
          </a:xfrm>
          <a:prstGeom prst="roundRect">
            <a:avLst>
              <a:gd name="adj" fmla="val 2778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05858" y="1938528"/>
            <a:ext cx="290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05858" y="2258568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80%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4505858" y="3081528"/>
            <a:ext cx="290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05858" y="3401568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38%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4505858" y="4270248"/>
            <a:ext cx="2905658" cy="384048"/>
          </a:xfrm>
          <a:prstGeom prst="roundRect">
            <a:avLst>
              <a:gd name="adj" fmla="val 28571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05858" y="4270248"/>
            <a:ext cx="2905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推算・完全分流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960157" y="1664208"/>
            <a:ext cx="3454298" cy="3291840"/>
          </a:xfrm>
          <a:prstGeom prst="roundRect">
            <a:avLst>
              <a:gd name="adj" fmla="val 2778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34477" y="1938528"/>
            <a:ext cx="290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34477" y="2258568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90%</a:t>
            </a:r>
            <a:endParaRPr lang="en-US" sz="3600" dirty="0"/>
          </a:p>
        </p:txBody>
      </p:sp>
      <p:sp>
        <p:nvSpPr>
          <p:cNvPr id="24" name="Text 22"/>
          <p:cNvSpPr txBox="1"/>
          <p:nvPr/>
        </p:nvSpPr>
        <p:spPr>
          <a:xfrm>
            <a:off x="8234477" y="3081528"/>
            <a:ext cx="290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234477" y="3401568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57%</a:t>
            </a:r>
            <a:endParaRPr lang="en-US" sz="3600" dirty="0"/>
          </a:p>
        </p:txBody>
      </p:sp>
      <p:sp>
        <p:nvSpPr>
          <p:cNvPr id="26" name="Shape 24"/>
          <p:cNvSpPr/>
          <p:nvPr/>
        </p:nvSpPr>
        <p:spPr>
          <a:xfrm>
            <a:off x="8234477" y="4270248"/>
            <a:ext cx="2905658" cy="384048"/>
          </a:xfrm>
          <a:prstGeom prst="roundRect">
            <a:avLst>
              <a:gd name="adj" fmla="val 28571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34477" y="4270248"/>
            <a:ext cx="2905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推算・完全分流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521208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兩顆模型單價差 20 倍：每多一題簡單問題交給便宜模型，就多省一次 20 倍的價差；80%、90% 是用這 20 題的平均單題成本推算、且假設每題都分對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節費｜20 題長什麼樣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 300 字，或含「分析、請比較、設計、除錯、design、debug…」→ 強模型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5455768" cy="4663440"/>
          </a:xfrm>
          <a:prstGeom prst="roundRect">
            <a:avLst>
              <a:gd name="adj" fmla="val 1961"/>
            </a:avLst>
          </a:prstGeom>
          <a:solidFill>
            <a:srgbClr val="14262B">
              <a:alpha val="0"/>
            </a:srgbClr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682496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 13 題 → gpt-6-luna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21408"/>
            <a:ext cx="4998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把「會議延到下週三」翻成英文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把這句話改得比較有禮貌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怎麼合併兩欄文字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寫一則提醒交週報的訊息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affect 和 effect 的差別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五個部門聚餐的主題建議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 404 和 500 各代表什麼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寫一封改會議時間的短信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用三點整理一段公告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用白話說明什麼是雲端運算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把一段很長的公告改寫得更簡潔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把一段 base64 decode 成文字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「帳號」和「賬號」哪個比較常用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33008" y="1572768"/>
            <a:ext cx="5455768" cy="4663440"/>
          </a:xfrm>
          <a:prstGeom prst="roundRect">
            <a:avLst>
              <a:gd name="adj" fmla="val 1961"/>
            </a:avLst>
          </a:prstGeom>
          <a:solidFill>
            <a:srgbClr val="14262B">
              <a:alpha val="0"/>
            </a:srgbClr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1608" y="1682496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複雜題 7 題 → gpt-6-sol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61608" y="2121408"/>
            <a:ext cx="4998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分析客服改成 AI 的風險與準備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 PostgreSQL 和 DynamoDB 存訂單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設計員工請假系統的資料表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這段 Python 為什麼跑不停，請除錯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Design a rate limiter（英文）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訂單服務晚上尖峰逾時，從哪查起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五十人電商公司怎麼搬上雲端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①｜LiteLLM 拆解畫面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先驗簽章再跑；預算 0 的金鑰真的被擋；記憶體對照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39</a:t>
            </a:r>
            <a:endParaRPr lang="en-US" sz="1000" dirty="0"/>
          </a:p>
        </p:txBody>
      </p:sp>
      <p:pic>
        <p:nvPicPr>
          <p:cNvPr id="7" name="Image 0" descr="/home/claude/slides/v6/media/s26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5577840" cy="21873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1965" y="2462816"/>
            <a:ext cx="5409947" cy="562159"/>
          </a:xfrm>
          <a:prstGeom prst="roundRect">
            <a:avLst>
              <a:gd name="adj" fmla="val 8133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pic>
        <p:nvPicPr>
          <p:cNvPr id="9" name="Image 1" descr="/home/claude/slides/v6/media/s26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43036"/>
            <a:ext cx="5577840" cy="115912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38060" y="4336906"/>
            <a:ext cx="5514810" cy="386799"/>
          </a:xfrm>
          <a:prstGeom prst="roundRect">
            <a:avLst>
              <a:gd name="adj" fmla="val 11820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pic>
        <p:nvPicPr>
          <p:cNvPr id="11" name="Image 2" descr="/home/claude/slides/v6/media/s26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5285039"/>
            <a:ext cx="5577840" cy="906223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769303" y="5698640"/>
            <a:ext cx="474116" cy="140283"/>
          </a:xfrm>
          <a:prstGeom prst="roundRect">
            <a:avLst>
              <a:gd name="adj" fmla="val 32591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400800" y="2392142"/>
            <a:ext cx="5287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 → image 簽章驗證通過，才開始拆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400800" y="4248278"/>
            <a:ext cx="5287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 → 預算 0 的金鑰：Budget has been exceeded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400800" y="5463831"/>
            <a:ext cx="5287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 → LiteLLM 待機 584 MiB；我的 Gateway 62 MiB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③｜部署僅允許更換 image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部署前先比對 Terraform plan：只要動到 image 以外的資源，一律攔下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</a:t>
            </a:r>
            <a:endParaRPr lang="en-US" sz="1000" dirty="0"/>
          </a:p>
        </p:txBody>
      </p:sp>
      <p:pic>
        <p:nvPicPr>
          <p:cNvPr id="7" name="Image 0" descr="/home/claude/slides/v6/media/s35-deploy_#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3794760" cy="391030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37238" y="2795130"/>
            <a:ext cx="1867022" cy="139989"/>
          </a:xfrm>
          <a:prstGeom prst="roundRect">
            <a:avLst>
              <a:gd name="adj" fmla="val 32660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7238" y="3889624"/>
            <a:ext cx="2870356" cy="133732"/>
          </a:xfrm>
          <a:prstGeom prst="roundRect">
            <a:avLst>
              <a:gd name="adj" fmla="val 34188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pic>
        <p:nvPicPr>
          <p:cNvPr id="10" name="Image 1" descr="/home/claude/slides/v6/media/s35-deploy_#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572768"/>
            <a:ext cx="3794760" cy="391030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906318" y="2588274"/>
            <a:ext cx="1806306" cy="133732"/>
          </a:xfrm>
          <a:prstGeom prst="roundRect">
            <a:avLst>
              <a:gd name="adj" fmla="val 34188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906318" y="3190461"/>
            <a:ext cx="1714852" cy="139989"/>
          </a:xfrm>
          <a:prstGeom prst="roundRect">
            <a:avLst>
              <a:gd name="adj" fmla="val 32660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02920" y="555622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首次部署：42 to add → 攔下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555622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修正後：1 to add、1 to change、1 to destroy → 放行</a:t>
            </a:r>
            <a:endParaRPr lang="en-US" sz="1600" dirty="0"/>
          </a:p>
        </p:txBody>
      </p:sp>
      <p:pic>
        <p:nvPicPr>
          <p:cNvPr id="15" name="Image 2" descr="/home/claude/slides/v6/media/s35-apply_comple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1572768"/>
            <a:ext cx="3047695" cy="142616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909582" y="2598466"/>
            <a:ext cx="2476252" cy="97692"/>
          </a:xfrm>
          <a:prstGeom prst="roundRect">
            <a:avLst>
              <a:gd name="adj" fmla="val 46800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909582" y="2886551"/>
            <a:ext cx="1963325" cy="97692"/>
          </a:xfrm>
          <a:prstGeom prst="roundRect">
            <a:avLst>
              <a:gd name="adj" fmla="val 46800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641080" y="3072085"/>
            <a:ext cx="3047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換版 1 分 54 秒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added、1 changed、1 destroyed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8641080" y="3913333"/>
            <a:ext cx="3047695" cy="2396027"/>
          </a:xfrm>
          <a:prstGeom prst="roundRect">
            <a:avLst>
              <a:gd name="adj" fmla="val 3816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823960" y="3913333"/>
            <a:ext cx="2681935" cy="2396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為什麼要這道檢查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部署角色拿得到換版的權限，就拿得到改環境的權限；用 plan 的內容當閘門，第一個被攔下的是我自己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帳不會掉｜補充：壞訊息進 DLQ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無法解析的訊息重試 5 次後轉入死信佇列；其他帳務不受影響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</a:t>
            </a:r>
            <a:endParaRPr lang="en-US" sz="1000" dirty="0"/>
          </a:p>
        </p:txBody>
      </p:sp>
      <p:pic>
        <p:nvPicPr>
          <p:cNvPr id="7" name="Image 0" descr="/home/claude/slides/v6/media/s40-S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6725883" cy="46908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7222" y="1607480"/>
            <a:ext cx="810469" cy="387935"/>
          </a:xfrm>
          <a:prstGeom prst="roundRect">
            <a:avLst>
              <a:gd name="adj" fmla="val 11785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7222" y="3806092"/>
            <a:ext cx="6639791" cy="1077962"/>
          </a:xfrm>
          <a:prstGeom prst="roundRect">
            <a:avLst>
              <a:gd name="adj" fmla="val 4241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69301" y="5677281"/>
            <a:ext cx="431129" cy="241580"/>
          </a:xfrm>
          <a:prstGeom prst="roundRect">
            <a:avLst>
              <a:gd name="adj" fmla="val 18925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48843" y="1572768"/>
            <a:ext cx="4139933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50011" y="1645920"/>
            <a:ext cx="3737597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DLQ 1・主佇列 0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壞訊息進死信佇列，不卡住後面的單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7548843" y="3127248"/>
            <a:ext cx="4139933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50011" y="3200400"/>
            <a:ext cx="3737597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"not json" → 失敗 5 次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 120 秒試一次，約 10 分鐘後隔離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548843" y="4681728"/>
            <a:ext cx="4139933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50011" y="4754880"/>
            <a:ext cx="3737597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bob 照常記帳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壞單卡著的時候，正常的帳照寫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量過的數字｜回應時間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從家裡連問 10 題，平均 1.75 秒；10 題全部自動走便宜模型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第 1 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1600200"/>
            <a:ext cx="5303520" cy="365760"/>
          </a:xfrm>
          <a:prstGeom prst="roundRect">
            <a:avLst>
              <a:gd name="adj" fmla="val 12000"/>
            </a:avLst>
          </a:prstGeom>
          <a:solidFill>
            <a:srgbClr val="2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554480" y="1600200"/>
            <a:ext cx="5144414" cy="365760"/>
          </a:xfrm>
          <a:prstGeom prst="roundRect">
            <a:avLst>
              <a:gd name="adj" fmla="val 12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90334" y="160020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2.91 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20824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第 2 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2020824"/>
            <a:ext cx="5303520" cy="365760"/>
          </a:xfrm>
          <a:prstGeom prst="roundRect">
            <a:avLst>
              <a:gd name="adj" fmla="val 12000"/>
            </a:avLst>
          </a:prstGeom>
          <a:solidFill>
            <a:srgbClr val="2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554480" y="2020824"/>
            <a:ext cx="3111398" cy="3657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7318" y="2020824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1.76 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41448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第 3 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0" y="2441448"/>
            <a:ext cx="5303520" cy="365760"/>
          </a:xfrm>
          <a:prstGeom prst="roundRect">
            <a:avLst>
              <a:gd name="adj" fmla="val 12000"/>
            </a:avLst>
          </a:prstGeom>
          <a:solidFill>
            <a:srgbClr val="2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554480" y="2441448"/>
            <a:ext cx="3376574" cy="3657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2494" y="24414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1.91 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862072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第 4 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4480" y="2862072"/>
            <a:ext cx="5303520" cy="365760"/>
          </a:xfrm>
          <a:prstGeom prst="roundRect">
            <a:avLst>
              <a:gd name="adj" fmla="val 12000"/>
            </a:avLst>
          </a:prstGeom>
          <a:solidFill>
            <a:srgbClr val="2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554480" y="2862072"/>
            <a:ext cx="3111398" cy="3657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7318" y="2862072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1.76 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282696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第 5 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54480" y="3282696"/>
            <a:ext cx="5303520" cy="365760"/>
          </a:xfrm>
          <a:prstGeom prst="roundRect">
            <a:avLst>
              <a:gd name="adj" fmla="val 12000"/>
            </a:avLst>
          </a:prstGeom>
          <a:solidFill>
            <a:srgbClr val="2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554480" y="3282696"/>
            <a:ext cx="3235147" cy="3657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81067" y="3282696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1.83 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703320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第 6 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54480" y="3703320"/>
            <a:ext cx="5303520" cy="365760"/>
          </a:xfrm>
          <a:prstGeom prst="roundRect">
            <a:avLst>
              <a:gd name="adj" fmla="val 12000"/>
            </a:avLst>
          </a:prstGeom>
          <a:solidFill>
            <a:srgbClr val="2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554480" y="3703320"/>
            <a:ext cx="3482644" cy="3657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8564" y="370332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1.97 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123944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第 7 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54480" y="4123944"/>
            <a:ext cx="5303520" cy="365760"/>
          </a:xfrm>
          <a:prstGeom prst="roundRect">
            <a:avLst>
              <a:gd name="adj" fmla="val 12000"/>
            </a:avLst>
          </a:prstGeom>
          <a:solidFill>
            <a:srgbClr val="2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554480" y="4123944"/>
            <a:ext cx="2209800" cy="3657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55720" y="4123944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1.25 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544568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第 8 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54480" y="4544568"/>
            <a:ext cx="5303520" cy="365760"/>
          </a:xfrm>
          <a:prstGeom prst="roundRect">
            <a:avLst>
              <a:gd name="adj" fmla="val 12000"/>
            </a:avLst>
          </a:prstGeom>
          <a:solidFill>
            <a:srgbClr val="2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554480" y="4544568"/>
            <a:ext cx="2740152" cy="3657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86072" y="454456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1.55 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965192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第 9 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54480" y="4965192"/>
            <a:ext cx="5303520" cy="365760"/>
          </a:xfrm>
          <a:prstGeom prst="roundRect">
            <a:avLst>
              <a:gd name="adj" fmla="val 12000"/>
            </a:avLst>
          </a:prstGeom>
          <a:solidFill>
            <a:srgbClr val="2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554480" y="4965192"/>
            <a:ext cx="2934614" cy="3657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80534" y="4965192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1.66 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385816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第 10 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554480" y="5385816"/>
            <a:ext cx="5303520" cy="365760"/>
          </a:xfrm>
          <a:prstGeom prst="roundRect">
            <a:avLst>
              <a:gd name="adj" fmla="val 12000"/>
            </a:avLst>
          </a:prstGeom>
          <a:solidFill>
            <a:srgbClr val="2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1554480" y="5385816"/>
            <a:ext cx="1626412" cy="3657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72332" y="5385816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0.92 秒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648200" y="1554480"/>
            <a:ext cx="0" cy="4242816"/>
          </a:xfrm>
          <a:prstGeom prst="line">
            <a:avLst/>
          </a:prstGeom>
          <a:ln w="19050">
            <a:solidFill>
              <a:srgbClr val="F2A54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733800" y="5843016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2A541"/>
                </a:solidFill>
                <a:latin typeface="Microsoft JhengHei"/>
                <a:ea typeface="Microsoft JhengHei"/>
                <a:cs typeface="Microsoft JhengHei"/>
              </a:rPr>
              <a:t>平均 1.75 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55280" y="1600200"/>
            <a:ext cx="3733800" cy="1325880"/>
          </a:xfrm>
          <a:prstGeom prst="roundRect">
            <a:avLst>
              <a:gd name="adj" fmla="val 12000"/>
            </a:avLst>
          </a:prstGeom>
          <a:solidFill>
            <a:srgbClr val="1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955280" y="1645920"/>
            <a:ext cx="37338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F2A541"/>
                </a:solidFill>
                <a:latin typeface="Microsoft JhengHei"/>
                <a:ea typeface="Microsoft JhengHei"/>
                <a:cs typeface="Microsoft JhengHei"/>
              </a:rPr>
              <a:t>1.75 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80" y="2468880"/>
            <a:ext cx="3733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平均（中位數 1.76）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955280" y="3063240"/>
            <a:ext cx="3733800" cy="868680"/>
          </a:xfrm>
          <a:prstGeom prst="roundRect">
            <a:avLst>
              <a:gd name="adj" fmla="val 12000"/>
            </a:avLst>
          </a:prstGeom>
          <a:solidFill>
            <a:srgbClr val="1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138160" y="3063240"/>
            <a:ext cx="3368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最快 0.92 秒</a:t>
            </a:r>
          </a:p>
          <a:p>
            <a:pPr algn="l"/>
            <a:r>
              <a:rPr sz="1600" b="0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最慢 2.91 秒（第 1 題暖機）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955280" y="4069080"/>
            <a:ext cx="3733800" cy="868680"/>
          </a:xfrm>
          <a:prstGeom prst="roundRect">
            <a:avLst>
              <a:gd name="adj" fmla="val 12000"/>
            </a:avLst>
          </a:prstGeom>
          <a:solidFill>
            <a:srgbClr val="1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138160" y="4069080"/>
            <a:ext cx="3368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10／10 走 gpt-6-luna</a:t>
            </a:r>
          </a:p>
          <a:p>
            <a:pPr algn="l"/>
            <a:r>
              <a:rPr sz="1600" b="0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10 題共 67 micro-USD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955280" y="5074920"/>
            <a:ext cx="3733800" cy="1143000"/>
          </a:xfrm>
          <a:prstGeom prst="roundRect">
            <a:avLst>
              <a:gd name="adj" fmla="val 12000"/>
            </a:avLst>
          </a:prstGeom>
          <a:solidFill>
            <a:srgbClr val="1A3A40"/>
          </a:solidFill>
          <a:ln w="12700">
            <a:solidFill>
              <a:srgbClr val="5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138160" y="5074920"/>
            <a:ext cx="33680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量法：10/28 晚上、家裡網路</a:t>
            </a:r>
          </a:p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ALB → Gateway → OpenAI → 回來</a:t>
            </a:r>
          </a:p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只有 10 個樣本、都是簡單題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LM Gateway v6">
  <a:themeElements>
    <a:clrScheme name="LLM Gateway v6">
      <a:dk1>
        <a:srgbClr val="14262B"/>
      </a:dk1>
      <a:lt1>
        <a:srgbClr val="FFFFFF"/>
      </a:lt1>
      <a:dk2>
        <a:srgbClr val="0B5D5E"/>
      </a:dk2>
      <a:lt2>
        <a:srgbClr val="EEF4F3"/>
      </a:lt2>
      <a:accent1>
        <a:srgbClr val="0E7C7B"/>
      </a:accent1>
      <a:accent2>
        <a:srgbClr val="F2A541"/>
      </a:accent2>
      <a:accent3>
        <a:srgbClr val="C8553D"/>
      </a:accent3>
      <a:accent4>
        <a:srgbClr val="5B7C8D"/>
      </a:accent4>
      <a:accent5>
        <a:srgbClr val="2E9E6B"/>
      </a:accent5>
      <a:accent6>
        <a:srgbClr val="7D858C"/>
      </a:accent6>
      <a:hlink>
        <a:srgbClr val="0E7C7B"/>
      </a:hlink>
      <a:folHlink>
        <a:srgbClr val="5B7C8D"/>
      </a:folHlink>
    </a:clrScheme>
    <a:fontScheme name="LLM Gateway v6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2178</Words>
  <Application>Microsoft Office PowerPoint</Application>
  <PresentationFormat>寬螢幕</PresentationFormat>
  <Paragraphs>670</Paragraphs>
  <Slides>42</Slides>
  <Notes>41</Notes>
  <HiddenSlides>0</HiddenSlides>
  <MMClips>2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46" baseType="lpstr">
      <vt:lpstr>Microsoft JhengHei</vt:lpstr>
      <vt:lpstr>Arial</vt:lpstr>
      <vt:lpstr>Calibri</vt:lpstr>
      <vt:lpstr>LLM Gateway v6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Gateway：企業級大語言模型調度與成本治理平台</dc:title>
  <dc:subject>PptxGenJS Presentation</dc:subject>
  <dc:creator>杜柏豫</dc:creator>
  <cp:lastModifiedBy>Tu Terry</cp:lastModifiedBy>
  <cp:revision>11</cp:revision>
  <dcterms:created xsi:type="dcterms:W3CDTF">2026-10-28T09:07:28Z</dcterms:created>
  <dcterms:modified xsi:type="dcterms:W3CDTF">2026-10-31T02:13:19Z</dcterms:modified>
</cp:coreProperties>
</file>