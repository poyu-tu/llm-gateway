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3" r:id="rId44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8" r:id="rId49"/>
    <p:sldId id="286" r:id="rId32"/>
    <p:sldId id="287" r:id="rId33"/>
    <p:sldId id="288" r:id="rId34"/>
    <p:sldId id="289" r:id="rId35"/>
    <p:sldId id="294" r:id="rId45"/>
    <p:sldId id="295" r:id="rId46"/>
    <p:sldId id="296" r:id="rId47"/>
    <p:sldId id="297" r:id="rId48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d749317f-91ce-6b13-59f4-2b0b5c2e7a5c}">
          <p14:sldIdLst>
            <p14:sldId id="256"/>
            <p14:sldId id="257"/>
          </p14:sldIdLst>
        </p14:section>
        <p14:section name="一頁講完" id="{60b0d394-c754-6570-5edd-75e682f28fd8}">
          <p14:sldIdLst>
            <p14:sldId id="258"/>
          </p14:sldIdLst>
        </p14:section>
        <p14:section name="想解決的問題" id="{d29428c2-712b-56f6-300d-14b8eb0c89db}">
          <p14:sldIdLst>
            <p14:sldId id="259"/>
          </p14:sldIdLst>
        </p14:section>
        <p14:section name="解決前後" id="{85b3616d-627c-c23f-0449-4f68fc65d054}">
          <p14:sldIdLst>
            <p14:sldId id="260"/>
          </p14:sldIdLst>
        </p14:section>
        <p14:section name="解法提綱" id="{1ed808fd-1c37-1188-24f4-c74332e0f9fa}">
          <p14:sldIdLst>
            <p14:sldId id="261"/>
            <p14:sldId id="262"/>
            <p14:sldId id="263"/>
            <p14:sldId id="264"/>
          </p14:sldIdLst>
        </p14:section>
        <p14:section name="技術實踐" id="{55f80b45-ae7e-67a0-4b8f-eb32d9c692e1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結語" id="{fdc6bbfc-69df-6d75-2987-674475eea7c0}">
          <p14:sldIdLst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  <Relationship Id="rId44" Type="http://schemas.openxmlformats.org/officeDocument/2006/relationships/slide" Target="slides/slide38.xml"/>
  <Relationship Id="rId45" Type="http://schemas.openxmlformats.org/officeDocument/2006/relationships/slide" Target="slides/slide39.xml"/>
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<Relationship Id="rId49" Type="http://schemas.openxmlformats.org/officeDocument/2006/relationships/slide" Target="slides/slide4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image" Target="../media/image-v4-s14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v4-s12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v4-s13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v4-s6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v4_1-cos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企業級大語言模型調度與成本治理平台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484632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雲端工程師｜負責 LLM 上線之後的治理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杜柏豫｜期末報告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595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 v4（10 分鐘版）｜2026-10-24</a:t>
            </a:r>
            <a:endParaRPr lang="en-US" sz="1600" dirty="0"/>
          </a:p>
        </p:txBody>
      </p:sp>
      <p:sp>
        <p:nvSpPr>
          <p:cNvPr id="7" name="people"/>
          <p:cNvSpPr/>
          <p:nvPr/>
        </p:nvSpPr>
        <p:spPr>
          <a:xfrm>
            <a:off x="726948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940" y="294894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gateway"/>
          <p:cNvSpPr/>
          <p:nvPr/>
        </p:nvSpPr>
        <p:spPr>
          <a:xfrm>
            <a:off x="8686800" y="246888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834640"/>
            <a:ext cx="73152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19556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model"/>
          <p:cNvSpPr/>
          <p:nvPr/>
        </p:nvSpPr>
        <p:spPr>
          <a:xfrm>
            <a:off x="1056132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0" y="29489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866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3784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六段，一半的時間給 Demo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17320" y="2834640"/>
            <a:ext cx="937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agenda-node"/>
          <p:cNvSpPr/>
          <p:nvPr/>
        </p:nvSpPr>
        <p:spPr>
          <a:xfrm>
            <a:off x="100584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一頁講完</a:t>
            </a:r>
            <a:endParaRPr lang="en-US" sz="2000" dirty="0"/>
          </a:p>
        </p:txBody>
      </p:sp>
      <p:sp>
        <p:nvSpPr>
          <p:cNvPr id="8" name="agenda-node"/>
          <p:cNvSpPr/>
          <p:nvPr/>
        </p:nvSpPr>
        <p:spPr>
          <a:xfrm>
            <a:off x="288036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2000" dirty="0"/>
          </a:p>
        </p:txBody>
      </p:sp>
      <p:sp>
        <p:nvSpPr>
          <p:cNvPr id="11" name="agenda-node"/>
          <p:cNvSpPr/>
          <p:nvPr/>
        </p:nvSpPr>
        <p:spPr>
          <a:xfrm>
            <a:off x="475488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2000" dirty="0"/>
          </a:p>
        </p:txBody>
      </p:sp>
      <p:sp>
        <p:nvSpPr>
          <p:cNvPr id="14" name="agenda-node"/>
          <p:cNvSpPr/>
          <p:nvPr/>
        </p:nvSpPr>
        <p:spPr>
          <a:xfrm>
            <a:off x="662940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114800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三道關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590288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放到 AWS 上</a:t>
            </a:r>
            <a:endParaRPr lang="en-US" sz="1600" dirty="0"/>
          </a:p>
        </p:txBody>
      </p:sp>
      <p:sp>
        <p:nvSpPr>
          <p:cNvPr id="19" name="agenda-node"/>
          <p:cNvSpPr/>
          <p:nvPr/>
        </p:nvSpPr>
        <p:spPr>
          <a:xfrm>
            <a:off x="8389620" y="230886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89620" y="2308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1691640"/>
            <a:ext cx="164592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主角：Demo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4114800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4590288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5065776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5541264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</a:t>
            </a:r>
            <a:endParaRPr lang="en-US" sz="1600" dirty="0"/>
          </a:p>
        </p:txBody>
      </p:sp>
      <p:sp>
        <p:nvSpPr>
          <p:cNvPr id="27" name="agenda-node"/>
          <p:cNvSpPr/>
          <p:nvPr/>
        </p:nvSpPr>
        <p:spPr>
          <a:xfrm>
            <a:off x="1037844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7844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一頁講完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先講結論：在員工和 AI 模型之間，加一道閘道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是誰・花多少・送出什麼</a:t>
            </a:r>
            <a:endParaRPr lang="en-US" sz="3400" dirty="0"/>
          </a:p>
        </p:txBody>
      </p:sp>
      <p:sp>
        <p:nvSpPr>
          <p:cNvPr id="13" name="pillar-card"/>
          <p:cNvSpPr/>
          <p:nvPr/>
        </p:nvSpPr>
        <p:spPr>
          <a:xfrm>
            <a:off x="54864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06908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73736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每人一把 Key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錯的一律拒絕</a:t>
            </a:r>
            <a:endParaRPr lang="en-US" sz="1800" dirty="0"/>
          </a:p>
        </p:txBody>
      </p:sp>
      <p:sp>
        <p:nvSpPr>
          <p:cNvPr id="18" name="pillar-card"/>
          <p:cNvSpPr/>
          <p:nvPr/>
        </p:nvSpPr>
        <p:spPr>
          <a:xfrm>
            <a:off x="434340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9" name="Shape 16"/>
          <p:cNvSpPr/>
          <p:nvPr/>
        </p:nvSpPr>
        <p:spPr>
          <a:xfrm>
            <a:off x="461772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06908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53212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花多少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每人每月有額度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自動選便宜的模型</a:t>
            </a:r>
            <a:endParaRPr lang="en-US" sz="1800" dirty="0"/>
          </a:p>
        </p:txBody>
      </p:sp>
      <p:sp>
        <p:nvSpPr>
          <p:cNvPr id="23" name="pillar-card"/>
          <p:cNvSpPr/>
          <p:nvPr/>
        </p:nvSpPr>
        <p:spPr>
          <a:xfrm>
            <a:off x="813816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24" name="Shape 20"/>
          <p:cNvSpPr/>
          <p:nvPr/>
        </p:nvSpPr>
        <p:spPr>
          <a:xfrm>
            <a:off x="841248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06908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32688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送出什麼</a:t>
            </a:r>
            <a:endParaRPr lang="en-US" sz="260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個資先遮罩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紀錄不存原文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開放了，卻管不住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74520"/>
            <a:ext cx="5669280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30000"/>
            </a:scheme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47672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88720" y="18745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情境｜200 位員工，開放 AI 三個月後</a:t>
            </a:r>
            <a:endParaRPr lang="en-US" sz="1600" dirty="0"/>
          </a:p>
        </p:txBody>
      </p:sp>
      <p:sp>
        <p:nvSpPr>
          <p:cNvPr id="15" name="problem-card"/>
          <p:cNvSpPr/>
          <p:nvPr/>
        </p:nvSpPr>
        <p:spPr>
          <a:xfrm>
            <a:off x="54864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16" name="Shape 13"/>
          <p:cNvSpPr/>
          <p:nvPr/>
        </p:nvSpPr>
        <p:spPr>
          <a:xfrm>
            <a:off x="173736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246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152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成本歸屬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73152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帳單只有總額，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</a:t>
            </a:r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花的</a:t>
            </a:r>
            <a:endParaRPr lang="en-US" sz="1800" dirty="0"/>
          </a:p>
        </p:txBody>
      </p:sp>
      <p:sp>
        <p:nvSpPr>
          <p:cNvPr id="20" name="problem-card"/>
          <p:cNvSpPr/>
          <p:nvPr/>
        </p:nvSpPr>
        <p:spPr>
          <a:xfrm>
            <a:off x="434340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553212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24612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52628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用量管控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452628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寫錯一個迴圈，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一晚</a:t>
            </a:r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燒光預算</a:t>
            </a:r>
            <a:endParaRPr lang="en-US" sz="1800" dirty="0"/>
          </a:p>
        </p:txBody>
      </p:sp>
      <p:sp>
        <p:nvSpPr>
          <p:cNvPr id="25" name="problem-card"/>
          <p:cNvSpPr/>
          <p:nvPr/>
        </p:nvSpPr>
        <p:spPr>
          <a:xfrm>
            <a:off x="813816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6" name="Shape 21"/>
          <p:cNvSpPr/>
          <p:nvPr/>
        </p:nvSpPr>
        <p:spPr>
          <a:xfrm>
            <a:off x="932688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24612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210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2600" dirty="0"/>
          </a:p>
        </p:txBody>
      </p:sp>
      <p:sp>
        <p:nvSpPr>
          <p:cNvPr id="29" name="Text 23"/>
          <p:cNvSpPr txBox="1"/>
          <p:nvPr/>
        </p:nvSpPr>
        <p:spPr>
          <a:xfrm>
            <a:off x="832104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客戶資料貼進去，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從「月底看帳單」，到「每次呼叫都被管到」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90195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15468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之前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90195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3524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2788920" y="245059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員工自己選，常選最貴的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446520" y="283464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7269480" y="245059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自動選，簡單的便宜 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57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3657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2788920" y="363931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原文直接送到供應商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446520" y="402336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7269480" y="363931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送出前，換成 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548640" y="48463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2920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63040" y="4846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2788920" y="482803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月底收到帳單才知道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6446520" y="521208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3" name="Text 26"/>
          <p:cNvSpPr txBox="1"/>
          <p:nvPr/>
        </p:nvSpPr>
        <p:spPr>
          <a:xfrm>
            <a:off x="7269480" y="482803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每人每月額度，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解法提綱｜三道關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替每一戶裝上水表和限流閥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40030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1148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627632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gateway-box"/>
          <p:cNvSpPr/>
          <p:nvPr/>
        </p:nvSpPr>
        <p:spPr>
          <a:xfrm>
            <a:off x="2194560" y="2057400"/>
            <a:ext cx="777240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28600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74720" y="21031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每一次呼叫，都先經過這裡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0012680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106070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24003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46988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228600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4" name="group-card"/>
          <p:cNvSpPr/>
          <p:nvPr/>
        </p:nvSpPr>
        <p:spPr>
          <a:xfrm>
            <a:off x="54864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25" name="Shape 20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73736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管人</a:t>
            </a:r>
            <a:endParaRPr lang="en-US" sz="28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確認身分・檢查額度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08076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0" name="group-card"/>
          <p:cNvSpPr/>
          <p:nvPr/>
        </p:nvSpPr>
        <p:spPr>
          <a:xfrm>
            <a:off x="434340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1" name="Shape 25"/>
          <p:cNvSpPr/>
          <p:nvPr/>
        </p:nvSpPr>
        <p:spPr>
          <a:xfrm>
            <a:off x="461772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38912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53212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管錢</a:t>
            </a:r>
            <a:endParaRPr lang="en-US" sz="2800" dirty="0"/>
          </a:p>
        </p:txBody>
      </p:sp>
      <p:sp>
        <p:nvSpPr>
          <p:cNvPr id="34" name="Text 27"/>
          <p:cNvSpPr txBox="1"/>
          <p:nvPr/>
        </p:nvSpPr>
        <p:spPr>
          <a:xfrm>
            <a:off x="461772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自動選模型・記帳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987552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6" name="group-card"/>
          <p:cNvSpPr/>
          <p:nvPr/>
        </p:nvSpPr>
        <p:spPr>
          <a:xfrm>
            <a:off x="813816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7" name="Shape 30"/>
          <p:cNvSpPr/>
          <p:nvPr/>
        </p:nvSpPr>
        <p:spPr>
          <a:xfrm>
            <a:off x="841248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38912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32688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管資料</a:t>
            </a:r>
            <a:endParaRPr lang="en-US" sz="2800" dirty="0"/>
          </a:p>
        </p:txBody>
      </p:sp>
      <p:sp>
        <p:nvSpPr>
          <p:cNvPr id="40" name="Text 32"/>
          <p:cNvSpPr txBox="1"/>
          <p:nvPr/>
        </p:nvSpPr>
        <p:spPr>
          <a:xfrm>
            <a:off x="841248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遮掉個資・留稽核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解法提綱｜系統架構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外面連不進來，出口只放行 OpenAI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vpc"/>
          <p:cNvSpPr/>
          <p:nvPr/>
        </p:nvSpPr>
        <p:spPr>
          <a:xfrm>
            <a:off x="2194560" y="1783080"/>
            <a:ext cx="6492240" cy="3794760"/>
          </a:xfrm>
          <a:prstGeom prst="roundRect">
            <a:avLst>
              <a:gd name="adj" fmla="val 2409"/>
            </a:avLst>
          </a:prstGeom>
          <a:solidFill>
            <a:schemeClr val="accent6">
              <a:alpha val="10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2377440" y="182880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　</a:t>
            </a: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每日層</a:t>
            </a:r>
            <a:endParaRPr lang="en-US" sz="1600" dirty="0"/>
          </a:p>
        </p:txBody>
      </p:sp>
      <p:sp>
        <p:nvSpPr>
          <p:cNvPr id="28" name="public-subnet"/>
          <p:cNvSpPr/>
          <p:nvPr/>
        </p:nvSpPr>
        <p:spPr>
          <a:xfrm>
            <a:off x="2377440" y="2148840"/>
            <a:ext cx="6126480" cy="914400"/>
          </a:xfrm>
          <a:prstGeom prst="roundRect">
            <a:avLst>
              <a:gd name="adj" fmla="val 10000"/>
            </a:avLst>
          </a:prstGeom>
          <a:solidFill>
            <a:schemeClr val="accent5">
              <a:alpha val="15000"/>
            </a:schemeClr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29" name="Text"/>
          <p:cNvSpPr txBox="1"/>
          <p:nvPr/>
        </p:nvSpPr>
        <p:spPr>
          <a:xfrm>
            <a:off x="25146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 ×2</a:t>
            </a:r>
            <a:endParaRPr lang="en-US" sz="1600" dirty="0"/>
          </a:p>
        </p:txBody>
      </p:sp>
      <p:sp>
        <p:nvSpPr>
          <p:cNvPr id="30" name="node"/>
          <p:cNvSpPr/>
          <p:nvPr/>
        </p:nvSpPr>
        <p:spPr>
          <a:xfrm>
            <a:off x="2560320" y="2468880"/>
            <a:ext cx="146304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260604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入口 :80</a:t>
            </a:r>
            <a:endParaRPr lang="en-US" sz="1600" dirty="0"/>
          </a:p>
        </p:txBody>
      </p:sp>
      <p:sp>
        <p:nvSpPr>
          <p:cNvPr id="32" name="node"/>
          <p:cNvSpPr/>
          <p:nvPr/>
        </p:nvSpPr>
        <p:spPr>
          <a:xfrm>
            <a:off x="4297680" y="2468880"/>
            <a:ext cx="228600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434340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＋ DNS 防火牆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 :443</a:t>
            </a:r>
            <a:endParaRPr lang="en-US" sz="1600" dirty="0"/>
          </a:p>
        </p:txBody>
      </p:sp>
      <p:sp>
        <p:nvSpPr>
          <p:cNvPr id="34" name="node"/>
          <p:cNvSpPr/>
          <p:nvPr/>
        </p:nvSpPr>
        <p:spPr>
          <a:xfrm>
            <a:off x="6858000" y="2468880"/>
            <a:ext cx="146304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690372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網際網路閘道</a:t>
            </a:r>
            <a:endParaRPr lang="en-US" sz="1600" dirty="0"/>
          </a:p>
        </p:txBody>
      </p:sp>
      <p:sp>
        <p:nvSpPr>
          <p:cNvPr id="36" name="private-subnet"/>
          <p:cNvSpPr/>
          <p:nvPr/>
        </p:nvSpPr>
        <p:spPr>
          <a:xfrm>
            <a:off x="2377440" y="3246120"/>
            <a:ext cx="6126480" cy="2148840"/>
          </a:xfrm>
          <a:prstGeom prst="roundRect">
            <a:avLst>
              <a:gd name="adj" fmla="val 4255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37" name="Text"/>
          <p:cNvSpPr txBox="1"/>
          <p:nvPr/>
        </p:nvSpPr>
        <p:spPr>
          <a:xfrm>
            <a:off x="562356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私有子網・沒有公開 IP</a:t>
            </a:r>
            <a:endParaRPr lang="en-US" sz="1600" dirty="0"/>
          </a:p>
        </p:txBody>
      </p:sp>
      <p:sp>
        <p:nvSpPr>
          <p:cNvPr id="38" name="node"/>
          <p:cNvSpPr/>
          <p:nvPr/>
        </p:nvSpPr>
        <p:spPr>
          <a:xfrm>
            <a:off x="2560320" y="3611880"/>
            <a:ext cx="210312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39" name="Text"/>
          <p:cNvSpPr txBox="1"/>
          <p:nvPr/>
        </p:nvSpPr>
        <p:spPr>
          <a:xfrm>
            <a:off x="26060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</a:t>
            </a:r>
            <a:endParaRPr lang="en-US" sz="1600" dirty="0"/>
          </a:p>
        </p:txBody>
      </p:sp>
      <p:sp>
        <p:nvSpPr>
          <p:cNvPr id="40" name="node"/>
          <p:cNvSpPr/>
          <p:nvPr/>
        </p:nvSpPr>
        <p:spPr>
          <a:xfrm>
            <a:off x="6217920" y="3611880"/>
            <a:ext cx="210312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41" name="Text"/>
          <p:cNvSpPr txBox="1"/>
          <p:nvPr/>
        </p:nvSpPr>
        <p:spPr>
          <a:xfrm>
            <a:off x="62636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Worker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寫三本帳</a:t>
            </a:r>
            <a:endParaRPr lang="en-US" sz="1600" dirty="0"/>
          </a:p>
        </p:txBody>
      </p:sp>
      <p:sp>
        <p:nvSpPr>
          <p:cNvPr id="42" name="node"/>
          <p:cNvSpPr/>
          <p:nvPr/>
        </p:nvSpPr>
        <p:spPr>
          <a:xfrm>
            <a:off x="2560320" y="4663440"/>
            <a:ext cx="57607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43" name="Text"/>
          <p:cNvSpPr txBox="1"/>
          <p:nvPr/>
        </p:nvSpPr>
        <p:spPr>
          <a:xfrm>
            <a:off x="2606040" y="4663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Endpoint ×2：DynamoDB・S3</a:t>
            </a:r>
            <a:endParaRPr lang="en-US" sz="1600" dirty="0"/>
          </a:p>
        </p:txBody>
      </p:sp>
      <p:sp>
        <p:nvSpPr>
          <p:cNvPr id="44" name="node"/>
          <p:cNvSpPr/>
          <p:nvPr/>
        </p:nvSpPr>
        <p:spPr>
          <a:xfrm>
            <a:off x="548640" y="2423160"/>
            <a:ext cx="146304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45" name="Text"/>
          <p:cNvSpPr txBox="1"/>
          <p:nvPr/>
        </p:nvSpPr>
        <p:spPr>
          <a:xfrm>
            <a:off x="59436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46" name="node"/>
          <p:cNvSpPr/>
          <p:nvPr/>
        </p:nvSpPr>
        <p:spPr>
          <a:xfrm>
            <a:off x="548640" y="3611880"/>
            <a:ext cx="146304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47" name="Text"/>
          <p:cNvSpPr txBox="1"/>
          <p:nvPr/>
        </p:nvSpPr>
        <p:spPr>
          <a:xfrm>
            <a:off x="59436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CI・一鍵拆除</a:t>
            </a:r>
            <a:endParaRPr lang="en-US" sz="1600" dirty="0"/>
          </a:p>
        </p:txBody>
      </p:sp>
      <p:sp>
        <p:nvSpPr>
          <p:cNvPr id="48" name="node"/>
          <p:cNvSpPr/>
          <p:nvPr/>
        </p:nvSpPr>
        <p:spPr>
          <a:xfrm>
            <a:off x="548640" y="4663440"/>
            <a:ext cx="146304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49" name="Text"/>
          <p:cNvSpPr txBox="1"/>
          <p:nvPr/>
        </p:nvSpPr>
        <p:spPr>
          <a:xfrm>
            <a:off x="594360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M7</a:t>
            </a:r>
            <a:endParaRPr lang="en-US" sz="1600" dirty="0"/>
          </a:p>
        </p:txBody>
      </p:sp>
      <p:sp>
        <p:nvSpPr>
          <p:cNvPr id="50" name="node"/>
          <p:cNvSpPr/>
          <p:nvPr/>
        </p:nvSpPr>
        <p:spPr>
          <a:xfrm>
            <a:off x="548640" y="5212080"/>
            <a:ext cx="146304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1" name="Text"/>
          <p:cNvSpPr txBox="1"/>
          <p:nvPr/>
        </p:nvSpPr>
        <p:spPr>
          <a:xfrm>
            <a:off x="594360" y="5212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 M6</a:t>
            </a:r>
            <a:endParaRPr lang="en-US" sz="1600" dirty="0"/>
          </a:p>
        </p:txBody>
      </p:sp>
      <p:sp>
        <p:nvSpPr>
          <p:cNvPr id="52" name="node"/>
          <p:cNvSpPr/>
          <p:nvPr/>
        </p:nvSpPr>
        <p:spPr>
          <a:xfrm>
            <a:off x="8869680" y="2423160"/>
            <a:ext cx="2743200" cy="502920"/>
          </a:xfrm>
          <a:prstGeom prst="roundRect">
            <a:avLst>
              <a:gd name="adj" fmla="val 18181"/>
            </a:avLst>
          </a:prstGeom>
          <a:solidFill>
            <a:schemeClr val="dk2"/>
          </a:solidFill>
          <a:ln/>
        </p:spPr>
      </p:sp>
      <p:sp>
        <p:nvSpPr>
          <p:cNvPr id="53" name="Text"/>
          <p:cNvSpPr txBox="1"/>
          <p:nvPr/>
        </p:nvSpPr>
        <p:spPr>
          <a:xfrm>
            <a:off x="891540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</a:t>
            </a:r>
            <a:endParaRPr lang="en-US" sz="1600" dirty="0"/>
          </a:p>
        </p:txBody>
      </p:sp>
      <p:sp>
        <p:nvSpPr>
          <p:cNvPr id="54" name="Text"/>
          <p:cNvSpPr txBox="1"/>
          <p:nvPr/>
        </p:nvSpPr>
        <p:spPr>
          <a:xfrm>
            <a:off x="88696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</a:t>
            </a:r>
            <a:endParaRPr lang="en-US" sz="1600" dirty="0"/>
          </a:p>
        </p:txBody>
      </p:sp>
      <p:sp>
        <p:nvSpPr>
          <p:cNvPr id="55" name="node"/>
          <p:cNvSpPr/>
          <p:nvPr/>
        </p:nvSpPr>
        <p:spPr>
          <a:xfrm>
            <a:off x="8869680" y="3611880"/>
            <a:ext cx="274320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56" name="Text"/>
          <p:cNvSpPr txBox="1"/>
          <p:nvPr/>
        </p:nvSpPr>
        <p:spPr>
          <a:xfrm>
            <a:off x="891540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＋ DLQ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</a:t>
            </a:r>
            <a:endParaRPr lang="en-US" sz="1600" dirty="0"/>
          </a:p>
        </p:txBody>
      </p:sp>
      <p:sp>
        <p:nvSpPr>
          <p:cNvPr id="57" name="node"/>
          <p:cNvSpPr/>
          <p:nvPr/>
        </p:nvSpPr>
        <p:spPr>
          <a:xfrm>
            <a:off x="8869680" y="4663440"/>
            <a:ext cx="2743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58" name="Text"/>
          <p:cNvSpPr txBox="1"/>
          <p:nvPr/>
        </p:nvSpPr>
        <p:spPr>
          <a:xfrm>
            <a:off x="891540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DynamoDB・四張表</a:t>
            </a:r>
            <a:endParaRPr lang="en-US" sz="1600" dirty="0"/>
          </a:p>
        </p:txBody>
      </p:sp>
      <p:sp>
        <p:nvSpPr>
          <p:cNvPr id="59" name="Text"/>
          <p:cNvSpPr txBox="1"/>
          <p:nvPr/>
        </p:nvSpPr>
        <p:spPr>
          <a:xfrm>
            <a:off x="548640" y="5760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</a:t>
            </a:r>
            <a:endParaRPr lang="en-US" sz="1600" dirty="0"/>
          </a:p>
        </p:txBody>
      </p:sp>
      <p:sp>
        <p:nvSpPr>
          <p:cNvPr id="60" name="node"/>
          <p:cNvSpPr/>
          <p:nvPr/>
        </p:nvSpPr>
        <p:spPr>
          <a:xfrm>
            <a:off x="1325880" y="576072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1" name="Text"/>
          <p:cNvSpPr txBox="1"/>
          <p:nvPr/>
        </p:nvSpPr>
        <p:spPr>
          <a:xfrm>
            <a:off x="1371600" y="5760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 映像</a:t>
            </a:r>
            <a:endParaRPr lang="en-US" sz="1600" dirty="0"/>
          </a:p>
        </p:txBody>
      </p:sp>
      <p:sp>
        <p:nvSpPr>
          <p:cNvPr id="62" name="node"/>
          <p:cNvSpPr/>
          <p:nvPr/>
        </p:nvSpPr>
        <p:spPr>
          <a:xfrm>
            <a:off x="3108960" y="5760720"/>
            <a:ext cx="182880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3" name="Text"/>
          <p:cNvSpPr txBox="1"/>
          <p:nvPr/>
        </p:nvSpPr>
        <p:spPr>
          <a:xfrm>
            <a:off x="3154680" y="5760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SSM 參數</a:t>
            </a:r>
            <a:endParaRPr lang="en-US" sz="1600" dirty="0"/>
          </a:p>
        </p:txBody>
      </p:sp>
      <p:sp>
        <p:nvSpPr>
          <p:cNvPr id="64" name="node"/>
          <p:cNvSpPr/>
          <p:nvPr/>
        </p:nvSpPr>
        <p:spPr>
          <a:xfrm>
            <a:off x="4983480" y="5760720"/>
            <a:ext cx="2880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5" name="Text"/>
          <p:cNvSpPr txBox="1"/>
          <p:nvPr/>
        </p:nvSpPr>
        <p:spPr>
          <a:xfrm>
            <a:off x="5029200" y="5760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CloudWatch・SNS 告警</a:t>
            </a:r>
            <a:endParaRPr lang="en-US" sz="1600" dirty="0"/>
          </a:p>
        </p:txBody>
      </p:sp>
      <p:sp>
        <p:nvSpPr>
          <p:cNvPr id="66" name="node"/>
          <p:cNvSpPr/>
          <p:nvPr/>
        </p:nvSpPr>
        <p:spPr>
          <a:xfrm>
            <a:off x="7909560" y="5760720"/>
            <a:ext cx="192024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7" name="Text"/>
          <p:cNvSpPr txBox="1"/>
          <p:nvPr/>
        </p:nvSpPr>
        <p:spPr>
          <a:xfrm>
            <a:off x="7955280" y="5760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 帳本</a:t>
            </a:r>
            <a:endParaRPr lang="en-US" sz="1600" dirty="0"/>
          </a:p>
        </p:txBody>
      </p:sp>
      <p:sp>
        <p:nvSpPr>
          <p:cNvPr id="68" name="node"/>
          <p:cNvSpPr/>
          <p:nvPr/>
        </p:nvSpPr>
        <p:spPr>
          <a:xfrm>
            <a:off x="9875520" y="576072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9" name="Text"/>
          <p:cNvSpPr txBox="1"/>
          <p:nvPr/>
        </p:nvSpPr>
        <p:spPr>
          <a:xfrm>
            <a:off x="9921240" y="5760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STS 身分證明</a:t>
            </a:r>
            <a:endParaRPr lang="en-US" sz="1600" dirty="0"/>
          </a:p>
        </p:txBody>
      </p:sp>
      <p:sp>
        <p:nvSpPr>
          <p:cNvPr id="70" name="line"/>
          <p:cNvSpPr/>
          <p:nvPr/>
        </p:nvSpPr>
        <p:spPr>
          <a:xfrm>
            <a:off x="2011680" y="2720340"/>
            <a:ext cx="5486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1" name="line"/>
          <p:cNvSpPr/>
          <p:nvPr/>
        </p:nvSpPr>
        <p:spPr>
          <a:xfrm>
            <a:off x="6583680" y="2720340"/>
            <a:ext cx="27432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2" name="line"/>
          <p:cNvSpPr/>
          <p:nvPr/>
        </p:nvSpPr>
        <p:spPr>
          <a:xfrm>
            <a:off x="8321040" y="272034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3" name="line"/>
          <p:cNvSpPr/>
          <p:nvPr/>
        </p:nvSpPr>
        <p:spPr>
          <a:xfrm>
            <a:off x="3291840" y="2971800"/>
            <a:ext cx="0" cy="64008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4" name="line"/>
          <p:cNvSpPr/>
          <p:nvPr/>
        </p:nvSpPr>
        <p:spPr>
          <a:xfrm>
            <a:off x="4663440" y="3886200"/>
            <a:ext cx="7772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</a:ln>
        </p:spPr>
      </p:sp>
      <p:sp>
        <p:nvSpPr>
          <p:cNvPr id="75" name="line"/>
          <p:cNvSpPr/>
          <p:nvPr/>
        </p:nvSpPr>
        <p:spPr>
          <a:xfrm flipV="1">
            <a:off x="5440680" y="2971800"/>
            <a:ext cx="0" cy="91440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6" name="line"/>
          <p:cNvSpPr/>
          <p:nvPr/>
        </p:nvSpPr>
        <p:spPr>
          <a:xfrm flipH="1">
            <a:off x="8321040" y="3886200"/>
            <a:ext cx="5486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7" name="line"/>
          <p:cNvSpPr/>
          <p:nvPr/>
        </p:nvSpPr>
        <p:spPr>
          <a:xfrm>
            <a:off x="3611880" y="4160520"/>
            <a:ext cx="0" cy="50292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8" name="line"/>
          <p:cNvSpPr/>
          <p:nvPr/>
        </p:nvSpPr>
        <p:spPr>
          <a:xfrm>
            <a:off x="7269480" y="4160520"/>
            <a:ext cx="0" cy="50292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9" name="line"/>
          <p:cNvSpPr/>
          <p:nvPr/>
        </p:nvSpPr>
        <p:spPr>
          <a:xfrm>
            <a:off x="8321040" y="4892040"/>
            <a:ext cx="5486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0" name="line"/>
          <p:cNvSpPr/>
          <p:nvPr/>
        </p:nvSpPr>
        <p:spPr>
          <a:xfrm>
            <a:off x="2011680" y="3886200"/>
            <a:ext cx="1828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1" name="line"/>
          <p:cNvSpPr/>
          <p:nvPr/>
        </p:nvSpPr>
        <p:spPr>
          <a:xfrm>
            <a:off x="2011680" y="4892040"/>
            <a:ext cx="1828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82" name="line"/>
          <p:cNvSpPr/>
          <p:nvPr/>
        </p:nvSpPr>
        <p:spPr>
          <a:xfrm>
            <a:off x="2011680" y="5440680"/>
            <a:ext cx="1828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解法提綱｜一次呼叫發生什麼事</a:t>
            </a:r>
            <a:endParaRPr lang="en-US" sz="3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tep"/>
          <p:cNvSpPr/>
          <p:nvPr/>
        </p:nvSpPr>
        <p:spPr>
          <a:xfrm>
            <a:off x="548640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6424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06424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收到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39696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tep"/>
          <p:cNvSpPr/>
          <p:nvPr/>
        </p:nvSpPr>
        <p:spPr>
          <a:xfrm>
            <a:off x="2450592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8376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008376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496312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Key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770632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41648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tep"/>
          <p:cNvSpPr/>
          <p:nvPr/>
        </p:nvSpPr>
        <p:spPr>
          <a:xfrm>
            <a:off x="4352544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0328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10328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讀額度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72584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43600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step"/>
          <p:cNvSpPr/>
          <p:nvPr/>
        </p:nvSpPr>
        <p:spPr>
          <a:xfrm>
            <a:off x="6254496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accent5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1801368"/>
            <a:ext cx="438912" cy="43891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12280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300216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遮罩個資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845552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4" name="step"/>
          <p:cNvSpPr/>
          <p:nvPr/>
        </p:nvSpPr>
        <p:spPr>
          <a:xfrm>
            <a:off x="8156448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4232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14232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202168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判斷超額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476488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747504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0" name="step"/>
          <p:cNvSpPr/>
          <p:nvPr/>
        </p:nvSpPr>
        <p:spPr>
          <a:xfrm>
            <a:off x="10058400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16184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616184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10104120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0 試寫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10378440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835640" y="3291840"/>
            <a:ext cx="0" cy="82296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6" name="step"/>
          <p:cNvSpPr/>
          <p:nvPr/>
        </p:nvSpPr>
        <p:spPr>
          <a:xfrm>
            <a:off x="10058400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16184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616184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10104120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選模型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 flipH="1">
            <a:off x="9747504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1" name="step"/>
          <p:cNvSpPr/>
          <p:nvPr/>
        </p:nvSpPr>
        <p:spPr>
          <a:xfrm>
            <a:off x="8156448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14232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714232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8202168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查單價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8476488" y="530352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 flipH="1">
            <a:off x="7845552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7" name="step"/>
          <p:cNvSpPr/>
          <p:nvPr/>
        </p:nvSpPr>
        <p:spPr>
          <a:xfrm>
            <a:off x="6254496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12280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812280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800" dirty="0"/>
          </a:p>
        </p:txBody>
      </p:sp>
      <p:sp>
        <p:nvSpPr>
          <p:cNvPr id="60" name="Text 58"/>
          <p:cNvSpPr txBox="1"/>
          <p:nvPr/>
        </p:nvSpPr>
        <p:spPr>
          <a:xfrm>
            <a:off x="6300216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OpenAI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574536" y="530352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502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 flipH="1">
            <a:off x="5943600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3" name="step"/>
          <p:cNvSpPr/>
          <p:nvPr/>
        </p:nvSpPr>
        <p:spPr>
          <a:xfrm>
            <a:off x="4352544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64" name="Shape 62"/>
          <p:cNvSpPr/>
          <p:nvPr/>
        </p:nvSpPr>
        <p:spPr>
          <a:xfrm>
            <a:off x="4910328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910328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4398264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送進 SQS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 flipH="1">
            <a:off x="4041648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8" name="step"/>
          <p:cNvSpPr/>
          <p:nvPr/>
        </p:nvSpPr>
        <p:spPr>
          <a:xfrm>
            <a:off x="2450592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69" name="Shape 67"/>
          <p:cNvSpPr/>
          <p:nvPr/>
        </p:nvSpPr>
        <p:spPr>
          <a:xfrm>
            <a:off x="3008376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008376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2496312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</a:t>
            </a:r>
            <a:endParaRPr lang="en-US" sz="1800" dirty="0"/>
          </a:p>
        </p:txBody>
      </p:sp>
      <p:sp>
        <p:nvSpPr>
          <p:cNvPr id="72" name="Text 7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綠色的第 4 步之後，送去 OpenAI 的、寫進稽核的，都是遮罩後的內容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解法提綱｜三件事、兩層、一鍵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要用才開，用完就拆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akeaway"/>
          <p:cNvSpPr/>
          <p:nvPr/>
        </p:nvSpPr>
        <p:spPr>
          <a:xfrm>
            <a:off x="54864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137410"/>
            <a:ext cx="342900" cy="3429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5448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容器沒有公開 IP</a:t>
            </a:r>
            <a:endParaRPr lang="en-US" sz="1600" dirty="0"/>
          </a:p>
        </p:txBody>
      </p:sp>
      <p:sp>
        <p:nvSpPr>
          <p:cNvPr id="16" name="takeaway"/>
          <p:cNvSpPr/>
          <p:nvPr/>
        </p:nvSpPr>
        <p:spPr>
          <a:xfrm>
            <a:off x="434340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452628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2137410"/>
            <a:ext cx="342900" cy="342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34924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只放行名單上的網域</a:t>
            </a:r>
            <a:endParaRPr lang="en-US" sz="1600" dirty="0"/>
          </a:p>
        </p:txBody>
      </p:sp>
      <p:sp>
        <p:nvSpPr>
          <p:cNvPr id="20" name="takeaway"/>
          <p:cNvSpPr/>
          <p:nvPr/>
        </p:nvSpPr>
        <p:spPr>
          <a:xfrm>
            <a:off x="813816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104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2137410"/>
            <a:ext cx="342900" cy="3429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4400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沒有長期金鑰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用身分聯盟換通行證</a:t>
            </a:r>
            <a:endParaRPr lang="en-US" sz="1600" dirty="0"/>
          </a:p>
        </p:txBody>
      </p:sp>
      <p:sp>
        <p:nvSpPr>
          <p:cNvPr id="24" name="layer"/>
          <p:cNvSpPr/>
          <p:nvPr/>
        </p:nvSpPr>
        <p:spPr>
          <a:xfrm>
            <a:off x="548640" y="3017520"/>
            <a:ext cx="53949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　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留著，閒置幾乎免費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・Terraform 帳本、容器倉庫、四張資料表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・GitHub OIDC、ECS、Worker 角色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822960" y="4471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・SQS ＋ DLQ、日誌群組、告警</a:t>
            </a:r>
            <a:endParaRPr lang="en-US" sz="1800" dirty="0"/>
          </a:p>
        </p:txBody>
      </p:sp>
      <p:sp>
        <p:nvSpPr>
          <p:cNvPr id="29" name="layer"/>
          <p:cNvSpPr/>
          <p:nvPr/>
        </p:nvSpPr>
        <p:spPr>
          <a:xfrm>
            <a:off x="6217920" y="3017520"/>
            <a:ext cx="53949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49224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每日層　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按小時計費，測完當天拆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6492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・VPC、子網、安全群組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6492240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・NAT、DNS 防火牆、ALB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6492240" y="4471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・Fargate 服務、Lambda Worker</a:t>
            </a:r>
            <a:endParaRPr lang="en-US" sz="1800" dirty="0"/>
          </a:p>
        </p:txBody>
      </p:sp>
      <p:sp>
        <p:nvSpPr>
          <p:cNvPr id="34" name="destroy-card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35" name="Shape 30"/>
          <p:cNvSpPr/>
          <p:nvPr/>
        </p:nvSpPr>
        <p:spPr>
          <a:xfrm>
            <a:off x="777240" y="53492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5520690"/>
            <a:ext cx="342900" cy="3429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52578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一鍵拆除　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借一小時的角色，只拆得了貼「每日」標籤的東西；40 個資源 4 分 11 秒拆光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接下來，直接看它跑起來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console-window"/>
          <p:cNvSpPr/>
          <p:nvPr/>
        </p:nvSpPr>
        <p:spPr>
          <a:xfrm>
            <a:off x="548640" y="1920240"/>
            <a:ext cx="699516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 Console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560320"/>
            <a:ext cx="51206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輸入你的問題…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56032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</a:t>
            </a:r>
            <a:endParaRPr lang="en-US" sz="1600" dirty="0"/>
          </a:p>
        </p:txBody>
      </p:sp>
      <p:sp>
        <p:nvSpPr>
          <p:cNvPr id="16" name="console-panel"/>
          <p:cNvSpPr/>
          <p:nvPr/>
        </p:nvSpPr>
        <p:spPr>
          <a:xfrm>
            <a:off x="777240" y="329184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343814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4198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路由決策</a:t>
            </a:r>
            <a:endParaRPr lang="en-US" sz="1800" dirty="0"/>
          </a:p>
        </p:txBody>
      </p:sp>
      <p:sp>
        <p:nvSpPr>
          <p:cNvPr id="20" name="console-panel"/>
          <p:cNvSpPr/>
          <p:nvPr/>
        </p:nvSpPr>
        <p:spPr>
          <a:xfrm>
            <a:off x="4114800" y="329184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9392" y="343814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79392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4198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</a:t>
            </a:r>
            <a:endParaRPr lang="en-US" sz="1800" dirty="0"/>
          </a:p>
        </p:txBody>
      </p:sp>
      <p:sp>
        <p:nvSpPr>
          <p:cNvPr id="24" name="console-panel"/>
          <p:cNvSpPr/>
          <p:nvPr/>
        </p:nvSpPr>
        <p:spPr>
          <a:xfrm>
            <a:off x="777240" y="461772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476402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7457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本次花費</a:t>
            </a:r>
            <a:endParaRPr lang="en-US" sz="1800" dirty="0"/>
          </a:p>
        </p:txBody>
      </p:sp>
      <p:sp>
        <p:nvSpPr>
          <p:cNvPr id="28" name="console-panel"/>
          <p:cNvSpPr/>
          <p:nvPr/>
        </p:nvSpPr>
        <p:spPr>
          <a:xfrm>
            <a:off x="4114800" y="461772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9392" y="476402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279392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47457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剩餘額度</a:t>
            </a:r>
            <a:endParaRPr lang="en-US" sz="1800" dirty="0"/>
          </a:p>
        </p:txBody>
      </p:sp>
      <p:sp>
        <p:nvSpPr>
          <p:cNvPr id="32" name="chapter-card"/>
          <p:cNvSpPr/>
          <p:nvPr/>
        </p:nvSpPr>
        <p:spPr>
          <a:xfrm>
            <a:off x="7955280" y="192024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33" name="Shape 31"/>
          <p:cNvSpPr/>
          <p:nvPr/>
        </p:nvSpPr>
        <p:spPr>
          <a:xfrm>
            <a:off x="8183880" y="216712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2340864"/>
            <a:ext cx="347472" cy="347472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9098280" y="1920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1｜節費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自動選模型・省多少</a:t>
            </a:r>
            <a:endParaRPr lang="en-US" sz="1600" dirty="0"/>
          </a:p>
        </p:txBody>
      </p:sp>
      <p:sp>
        <p:nvSpPr>
          <p:cNvPr id="36" name="chapter-card"/>
          <p:cNvSpPr/>
          <p:nvPr/>
        </p:nvSpPr>
        <p:spPr>
          <a:xfrm>
            <a:off x="7955280" y="333756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37" name="Shape 34"/>
          <p:cNvSpPr/>
          <p:nvPr/>
        </p:nvSpPr>
        <p:spPr>
          <a:xfrm>
            <a:off x="8183880" y="358444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3758184"/>
            <a:ext cx="347472" cy="347472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9098280" y="33375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2｜個資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送出前就遮掉</a:t>
            </a:r>
            <a:endParaRPr lang="en-US" sz="1600" dirty="0"/>
          </a:p>
        </p:txBody>
      </p:sp>
      <p:sp>
        <p:nvSpPr>
          <p:cNvPr id="40" name="chapter-card"/>
          <p:cNvSpPr/>
          <p:nvPr/>
        </p:nvSpPr>
        <p:spPr>
          <a:xfrm>
            <a:off x="7955280" y="475488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41" name="Shape 37"/>
          <p:cNvSpPr/>
          <p:nvPr/>
        </p:nvSpPr>
        <p:spPr>
          <a:xfrm>
            <a:off x="8183880" y="500176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5175504"/>
            <a:ext cx="347472" cy="347472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9098280" y="4754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3｜額度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買瓶飲料，不用叫整台貨車幫你送來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簡單的問題，交給便宜的模型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route-card"/>
          <p:cNvSpPr/>
          <p:nvPr/>
        </p:nvSpPr>
        <p:spPr>
          <a:xfrm>
            <a:off x="548640" y="1920240"/>
            <a:ext cx="704088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10312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把這句翻成英文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34640"/>
            <a:ext cx="10058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10512" y="3081528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148840" y="2834640"/>
            <a:ext cx="13258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gpt-6-luna</a:t>
            </a:r>
            <a:endParaRPr lang="en-US" sz="1600" dirty="0"/>
          </a:p>
        </p:txBody>
      </p:sp>
      <p:pic>
        <p:nvPicPr>
          <p:cNvPr id="17" name="Image 0" descr="/tmp/claude-0/-home-claude/96d60298-d9d1-5ce2-b774-39e8aefb4386/scratchpad/assets/s05-ea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084832"/>
            <a:ext cx="3749040" cy="1545336"/>
          </a:xfrm>
          <a:prstGeom prst="rect">
            <a:avLst/>
          </a:prstGeom>
        </p:spPr>
      </p:pic>
      <p:sp>
        <p:nvSpPr>
          <p:cNvPr id="18" name="route-card"/>
          <p:cNvSpPr/>
          <p:nvPr/>
        </p:nvSpPr>
        <p:spPr>
          <a:xfrm>
            <a:off x="548640" y="4023360"/>
            <a:ext cx="704088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420624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設計多人共用的 AI 服務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937760"/>
            <a:ext cx="10058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810512" y="5184648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2148840" y="4937760"/>
            <a:ext cx="132588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gpt-6-sol</a:t>
            </a:r>
            <a:endParaRPr lang="en-US" sz="1600" dirty="0"/>
          </a:p>
        </p:txBody>
      </p:sp>
      <p:pic>
        <p:nvPicPr>
          <p:cNvPr id="23" name="Image 1" descr="/tmp/claude-0/-home-claude/96d60298-d9d1-5ce2-b774-39e8aefb4386/scratchpad/assets/s05-h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187952"/>
            <a:ext cx="3749040" cy="154533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909560" y="19659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7200" dirty="0"/>
          </a:p>
        </p:txBody>
      </p:sp>
      <p:sp>
        <p:nvSpPr>
          <p:cNvPr id="25" name="Text 21"/>
          <p:cNvSpPr txBox="1"/>
          <p:nvPr/>
        </p:nvSpPr>
        <p:spPr>
          <a:xfrm>
            <a:off x="790956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兩顆模型的單價差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7909560" y="434340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4521708"/>
            <a:ext cx="356616" cy="35661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77824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規則由公司定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使用者不能自己選模型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①｜驗收畫面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兩題真的送出去：AI 的回答，和稽核記下的理由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5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394960" cy="255117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8654" y="2039595"/>
            <a:ext cx="4528315" cy="315144"/>
          </a:xfrm>
          <a:prstGeom prst="roundRect">
            <a:avLst>
              <a:gd name="adj" fmla="val 11606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78654" y="3007537"/>
            <a:ext cx="2408598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78654" y="4133050"/>
            <a:ext cx="1695773" cy="157572"/>
          </a:xfrm>
          <a:prstGeom prst="roundRect">
            <a:avLst>
              <a:gd name="adj" fmla="val 2321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pic>
        <p:nvPicPr>
          <p:cNvPr id="16" name="Image 1" descr="/tmp/claude-0/-home-claude/96d60298-d9d1-5ce2-b774-39e8aefb4386/scratchpad/assets/s05-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20"/>
            <a:ext cx="5394960" cy="3227832"/>
          </a:xfrm>
          <a:prstGeom prst="rect">
            <a:avLst/>
          </a:prstGeom>
        </p:spPr>
      </p:pic>
      <p:sp>
        <p:nvSpPr>
          <p:cNvPr id="17" name="ring"/>
          <p:cNvSpPr/>
          <p:nvPr/>
        </p:nvSpPr>
        <p:spPr>
          <a:xfrm>
            <a:off x="6247934" y="2887482"/>
            <a:ext cx="1714532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6247934" y="3712858"/>
            <a:ext cx="2408598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9" name="ring"/>
          <p:cNvSpPr/>
          <p:nvPr/>
        </p:nvSpPr>
        <p:spPr>
          <a:xfrm>
            <a:off x="6247934" y="4838371"/>
            <a:ext cx="1920876" cy="157572"/>
          </a:xfrm>
          <a:prstGeom prst="roundRect">
            <a:avLst>
              <a:gd name="adj" fmla="val 2321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4572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→ gpt-6-luna，7 micro-USD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217920" y="5212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→ gpt-6-sol，1,438 micro-USD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省更多很簡單，答對比較難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門檻放更寬可以省 54%，但難題 AI 回應會比較不準確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288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1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題，每題兩顆模型都真的跑過｜簡單題佔 65%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6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US$ 0.0557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54680" y="4892040"/>
            <a:ext cx="4114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611880" y="434340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254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智慧路由</a:t>
            </a:r>
            <a:endParaRPr lang="en-US" sz="16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US$ 0.0416</a:t>
            </a:r>
            <a:endParaRPr lang="en-US" sz="1600" dirty="0"/>
          </a:p>
        </p:txBody>
      </p:sp>
      <p:sp>
        <p:nvSpPr>
          <p:cNvPr id="17" name="dashboard-card"/>
          <p:cNvSpPr/>
          <p:nvPr/>
        </p:nvSpPr>
        <p:spPr>
          <a:xfrm>
            <a:off x="6355080" y="1920240"/>
            <a:ext cx="5257800" cy="4023360"/>
          </a:xfrm>
          <a:prstGeom prst="roundRect">
            <a:avLst>
              <a:gd name="adj" fmla="val 2273"/>
            </a:avLst>
          </a:prstGeom>
          <a:solidFill>
            <a:schemeClr val="tx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2194560"/>
            <a:ext cx="713232" cy="71323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708" y="2372868"/>
            <a:ext cx="356616" cy="35661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498080" y="21214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每個人花多少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一眼看得到，不用等月底帳單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29400" y="3246120"/>
            <a:ext cx="4709160" cy="2468880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②｜數字怎麼算出來的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手算對得上；四種規則一次跑，只重算、不再呼叫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6-cal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3200400" cy="35204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66928" y="4146804"/>
            <a:ext cx="2500884" cy="237744"/>
          </a:xfrm>
          <a:prstGeom prst="roundRect">
            <a:avLst>
              <a:gd name="adj" fmla="val 19231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66928" y="4988052"/>
            <a:ext cx="1929384" cy="411480"/>
          </a:xfrm>
          <a:prstGeom prst="roundRect">
            <a:avLst>
              <a:gd name="adj" fmla="val 11111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532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1,438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 34×2＋137×10＝1,438</a:t>
            </a:r>
            <a:endParaRPr lang="en-US" sz="1600" dirty="0"/>
          </a:p>
        </p:txBody>
      </p:sp>
      <p:pic>
        <p:nvPicPr>
          <p:cNvPr id="16" name="Image 1" descr="/tmp/claude-0/-home-claude/96d60298-d9d1-5ce2-b774-39e8aefb4386/scratchpad/assets/s06-tabl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874520"/>
            <a:ext cx="7589520" cy="4206240"/>
          </a:xfrm>
          <a:prstGeom prst="rect">
            <a:avLst/>
          </a:prstGeom>
        </p:spPr>
      </p:pic>
      <p:sp>
        <p:nvSpPr>
          <p:cNvPr id="17" name="ring"/>
          <p:cNvSpPr/>
          <p:nvPr/>
        </p:nvSpPr>
        <p:spPr>
          <a:xfrm>
            <a:off x="4096689" y="2400042"/>
            <a:ext cx="3470892" cy="244429"/>
          </a:xfrm>
          <a:prstGeom prst="roundRect">
            <a:avLst>
              <a:gd name="adj" fmla="val 14964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4096689" y="4441024"/>
            <a:ext cx="5640199" cy="684401"/>
          </a:xfrm>
          <a:prstGeom prst="roundRect">
            <a:avLst>
              <a:gd name="adj" fmla="val 5344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9" name="ring"/>
          <p:cNvSpPr/>
          <p:nvPr/>
        </p:nvSpPr>
        <p:spPr>
          <a:xfrm>
            <a:off x="4096689" y="5125426"/>
            <a:ext cx="5640199" cy="684401"/>
          </a:xfrm>
          <a:prstGeom prst="roundRect">
            <a:avLst>
              <a:gd name="adj" fmla="val 534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023360" y="63550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綠：全部用強模型　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橘：採用的規則　</a:t>
            </a:r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紅：對照組（門檻 500）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②｜為什麼不選省 54% 的規則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省最多的規則，不是最好的規則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1965960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965960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01568" y="19659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55,724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18745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8775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完全照判斷分流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0" y="2679192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2679192"/>
            <a:ext cx="3399906" cy="420624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01568" y="267919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43,165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58775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22.5%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理論上限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009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10/12 以前的規則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91840" y="3392424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3392424"/>
            <a:ext cx="3011908" cy="420624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01568" y="33924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38,239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30098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31.4%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送對 15 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1421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採用的規則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91840" y="4105656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4105656"/>
            <a:ext cx="3277583" cy="420624"/>
          </a:xfrm>
          <a:prstGeom prst="roundRect">
            <a:avLst>
              <a:gd name="adj" fmla="val 10870"/>
            </a:avLst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01568" y="410565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41,612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401421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送對 18 題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72744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字數門檻放寬到 500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291840" y="4818888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1840" y="4818888"/>
            <a:ext cx="1995362" cy="420624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01568" y="481888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25,333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472744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54.5%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最難的一題回答被截斷</a:t>
            </a:r>
            <a:endParaRPr lang="en-US" sz="1600" dirty="0"/>
          </a:p>
        </p:txBody>
      </p:sp>
      <p:sp>
        <p:nvSpPr>
          <p:cNvPr id="37" name="why-card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77240" y="5486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多省的 29%，幾乎都來自同一題：把最難的題目送去便宜模型，回答被截斷。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我站在使用者這邊：在意的是回答是不是他要的，不是數字好看。所以選省 25.3% 的那一組。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②｜簡單題越多，省越多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 是簡單題只佔 65% 的情況；日常問題的比例通常更高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re-card"/>
          <p:cNvSpPr/>
          <p:nvPr/>
        </p:nvSpPr>
        <p:spPr>
          <a:xfrm>
            <a:off x="54864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實測（20 題）</a:t>
            </a:r>
            <a:endParaRPr lang="en-US" sz="1600" dirty="0"/>
          </a:p>
        </p:txBody>
      </p:sp>
      <p:sp>
        <p:nvSpPr>
          <p:cNvPr id="18" name="share-card"/>
          <p:cNvSpPr/>
          <p:nvPr/>
        </p:nvSpPr>
        <p:spPr>
          <a:xfrm>
            <a:off x="434340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1772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38%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24" name="share-card"/>
          <p:cNvSpPr/>
          <p:nvPr/>
        </p:nvSpPr>
        <p:spPr>
          <a:xfrm>
            <a:off x="813816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57%</a:t>
            </a:r>
            <a:endParaRPr lang="en-US" sz="48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兩顆模型單價差 20 倍：每多一題簡單問題交給便宜模型，就多省一次 20 倍的價差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②｜20 題長什麼樣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300 字，或含「分析、請比較、設計、除錯、design、debug…」→ 強模型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q-card"/>
          <p:cNvSpPr/>
          <p:nvPr/>
        </p:nvSpPr>
        <p:spPr>
          <a:xfrm>
            <a:off x="548640" y="1783080"/>
            <a:ext cx="5394960" cy="4434840"/>
          </a:xfrm>
          <a:prstGeom prst="roundRect">
            <a:avLst>
              <a:gd name="adj" fmla="val 2062"/>
            </a:avLst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13 題 → gpt-6-luna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331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・把「會議延到下週三」翻成英文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24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・把這句話改得比較有禮貌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9169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・Excel 怎麼合併兩欄文字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095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・寫一則提醒交週報的訊息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02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・affect 和 effect 的差別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・五個部門聚餐的主題建議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087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・HTTP 404 和 500 各代表什麼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3799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・寫一封改會議時間的短信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672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・用三點整理一段公告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965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・用白話說明什麼是雲端運算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57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・把一段很長的公告改寫得更簡潔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550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・把一段 base64 decode 成文字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8430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・「帳號」和「賬號」哪個比較常用</a:t>
            </a:r>
            <a:endParaRPr lang="en-US" sz="1600" dirty="0"/>
          </a:p>
        </p:txBody>
      </p:sp>
      <p:sp>
        <p:nvSpPr>
          <p:cNvPr id="27" name="q-card"/>
          <p:cNvSpPr/>
          <p:nvPr/>
        </p:nvSpPr>
        <p:spPr>
          <a:xfrm>
            <a:off x="6309360" y="1783080"/>
            <a:ext cx="5303520" cy="4434840"/>
          </a:xfrm>
          <a:prstGeom prst="roundRect">
            <a:avLst>
              <a:gd name="adj" fmla="val 2062"/>
            </a:avLst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7 題 → gpt-6-sol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2331720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・分析客服改成 AI 的風險與準備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2761488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・比較 PostgreSQL 和 DynamoDB 存訂單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3191256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・設計員工請假系統的資料表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3621024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・這段 Python 為什麼跑不停，請除錯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050792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・Design a rate limiter（英文）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480560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・訂單服務晚上尖峰逾時，從哪查起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910328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・五十人電商公司怎麼搬上雲端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 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強模型塞車，自動改派便宜模型；限流是模擬的（畫面標 SIMULATION），其餘都是真的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7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392277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1739" y="2029465"/>
            <a:ext cx="5174091" cy="331080"/>
          </a:xfrm>
          <a:prstGeom prst="roundRect">
            <a:avLst>
              <a:gd name="adj" fmla="val 11047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6107708" y="4193036"/>
            <a:ext cx="3179910" cy="916245"/>
          </a:xfrm>
          <a:prstGeom prst="roundRect">
            <a:avLst>
              <a:gd name="adj" fmla="val 399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6107708" y="5532756"/>
            <a:ext cx="2063477" cy="153991"/>
          </a:xfrm>
          <a:prstGeom prst="roundRect">
            <a:avLst>
              <a:gd name="adj" fmla="val 2375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806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同一句複雜題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原本該派給 gpt-6-sol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5806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→ 改派 gpt-6-luna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fallback: True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5806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micro-USD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回答照給，成本照便宜模型算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號碼在離開公司之前，就被換掉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1031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9456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07008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錄影：請 AI 原樣重複這句話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560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AI 把這句話原樣重複一次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297180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A123456780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194560" y="3794760"/>
            <a:ext cx="34747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閘道先把號碼換成標籤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回覆的是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423160" y="480060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25400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[TW_ID]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19202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60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2971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送出前就遮罩的個資</a:t>
            </a:r>
            <a:endParaRPr lang="en-US" sz="1600" dirty="0"/>
          </a:p>
        </p:txBody>
      </p:sp>
      <p:sp>
        <p:nvSpPr>
          <p:cNvPr id="23" name="pii-kind"/>
          <p:cNvSpPr/>
          <p:nvPr/>
        </p:nvSpPr>
        <p:spPr>
          <a:xfrm>
            <a:off x="790956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356616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41248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</a:t>
            </a:r>
            <a:endParaRPr lang="en-US" sz="1600" dirty="0"/>
          </a:p>
        </p:txBody>
      </p:sp>
      <p:sp>
        <p:nvSpPr>
          <p:cNvPr id="26" name="pii-kind"/>
          <p:cNvSpPr/>
          <p:nvPr/>
        </p:nvSpPr>
        <p:spPr>
          <a:xfrm>
            <a:off x="978408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096" y="356616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28700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</a:t>
            </a:r>
            <a:endParaRPr lang="en-US" sz="1600" dirty="0"/>
          </a:p>
        </p:txBody>
      </p:sp>
      <p:sp>
        <p:nvSpPr>
          <p:cNvPr id="29" name="pii-kind"/>
          <p:cNvSpPr/>
          <p:nvPr/>
        </p:nvSpPr>
        <p:spPr>
          <a:xfrm>
            <a:off x="790956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411480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41248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600" dirty="0"/>
          </a:p>
        </p:txBody>
      </p:sp>
      <p:sp>
        <p:nvSpPr>
          <p:cNvPr id="32" name="pii-kind"/>
          <p:cNvSpPr/>
          <p:nvPr/>
        </p:nvSpPr>
        <p:spPr>
          <a:xfrm>
            <a:off x="978408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411480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28700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信用卡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7909560" y="48463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010" y="5017770"/>
            <a:ext cx="342900" cy="3429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32520" y="4754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模型根本沒看過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真的號碼留在公司這一側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紀錄裡，也查不到原文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4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0" cy="12070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309360" y="1828800"/>
            <a:ext cx="5303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上：送出含假身分證字號的句子，HTTP 200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下：回答、稽核紀錄、搜尋原號碼</a:t>
            </a:r>
            <a:endParaRPr lang="en-US" sz="1600" dirty="0"/>
          </a:p>
        </p:txBody>
      </p:sp>
      <p:pic>
        <p:nvPicPr>
          <p:cNvPr id="14" name="Image 1" descr="/tmp/claude-0/-home-claude/96d60298-d9d1-5ce2-b774-39e8aefb4386/scratchpad/assets/s04-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11064240" cy="3154680"/>
          </a:xfrm>
          <a:prstGeom prst="rect">
            <a:avLst/>
          </a:prstGeom>
        </p:spPr>
      </p:pic>
      <p:sp>
        <p:nvSpPr>
          <p:cNvPr id="15" name="ring"/>
          <p:cNvSpPr/>
          <p:nvPr/>
        </p:nvSpPr>
        <p:spPr>
          <a:xfrm>
            <a:off x="6855257" y="3366364"/>
            <a:ext cx="3872484" cy="221285"/>
          </a:xfrm>
          <a:prstGeom prst="roundRect">
            <a:avLst>
              <a:gd name="adj" fmla="val 16529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6" name="ring"/>
          <p:cNvSpPr/>
          <p:nvPr/>
        </p:nvSpPr>
        <p:spPr>
          <a:xfrm>
            <a:off x="576301" y="4815779"/>
            <a:ext cx="4232072" cy="232349"/>
          </a:xfrm>
          <a:prstGeom prst="roundRect">
            <a:avLst>
              <a:gd name="adj" fmla="val 1574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576301" y="5756239"/>
            <a:ext cx="5891708" cy="320863"/>
          </a:xfrm>
          <a:prstGeom prst="roundRect">
            <a:avLst>
              <a:gd name="adj" fmla="val 11399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橘框：AI 的回答和稽核紀錄裡，都只有 [TW_ID]，沒有號碼　　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綠框：拿原本的號碼去搜，0 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技術實踐｜額度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用完就擋，最多只燒掉自己那一份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1031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9456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07008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錄影：額度用完被擋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514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的月額度 1,000（故意設很小）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920240" y="308152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19" name="Shape 16"/>
          <p:cNvSpPr/>
          <p:nvPr/>
        </p:nvSpPr>
        <p:spPr>
          <a:xfrm>
            <a:off x="1920240" y="3081528"/>
            <a:ext cx="2531225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3566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818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920240" y="363016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2" name="Shape 19"/>
          <p:cNvSpPr/>
          <p:nvPr/>
        </p:nvSpPr>
        <p:spPr>
          <a:xfrm>
            <a:off x="1920240" y="3630168"/>
            <a:ext cx="3399905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8680" y="4114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1,039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920240" y="417880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5" name="Shape 22"/>
          <p:cNvSpPr/>
          <p:nvPr/>
        </p:nvSpPr>
        <p:spPr>
          <a:xfrm>
            <a:off x="1920240" y="4178808"/>
            <a:ext cx="431846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26" name="Shape 23"/>
          <p:cNvSpPr/>
          <p:nvPr/>
        </p:nvSpPr>
        <p:spPr>
          <a:xfrm>
            <a:off x="6076604" y="2926080"/>
            <a:ext cx="0" cy="169164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5619404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上限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5074920"/>
            <a:ext cx="228600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額度用完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3291840" y="5074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並告訴他何時恢復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909560" y="2514600"/>
            <a:ext cx="713232" cy="7132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68" y="2692908"/>
            <a:ext cx="356616" cy="35661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77824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超用就擋下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寫錯的迴圈也燒不到別人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7909560" y="397764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4155948"/>
            <a:ext cx="356616" cy="35661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778240" y="3886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讀不到就拒絕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寧可擋錯，也不放錯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額度｜驗收畫面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用到 1,039，下一次就被擋：429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2-cro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389120" cy="470916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91461" y="2018594"/>
            <a:ext cx="53525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91461" y="2939238"/>
            <a:ext cx="53525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91461" y="3859883"/>
            <a:ext cx="55666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6" name="ring"/>
          <p:cNvSpPr/>
          <p:nvPr/>
        </p:nvSpPr>
        <p:spPr>
          <a:xfrm>
            <a:off x="591461" y="4320205"/>
            <a:ext cx="3623700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591461" y="5016042"/>
            <a:ext cx="2430074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591461" y="5925981"/>
            <a:ext cx="4212485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9" name="pt-card"/>
          <p:cNvSpPr/>
          <p:nvPr/>
        </p:nvSpPr>
        <p:spPr>
          <a:xfrm>
            <a:off x="5303520" y="201168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77840" y="201168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 → 818 → 1,039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每叫一次，已用量往上加</a:t>
            </a:r>
            <a:endParaRPr lang="en-US" sz="1600" dirty="0"/>
          </a:p>
        </p:txBody>
      </p:sp>
      <p:sp>
        <p:nvSpPr>
          <p:cNvPr id="21" name="pt-card"/>
          <p:cNvSpPr/>
          <p:nvPr/>
        </p:nvSpPr>
        <p:spPr>
          <a:xfrm>
            <a:off x="5303520" y="352044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77840" y="352044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Monthly quota exceeded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1,000 就擋，請求碰不到模型</a:t>
            </a:r>
            <a:endParaRPr lang="en-US" sz="1600" dirty="0"/>
          </a:p>
        </p:txBody>
      </p:sp>
      <p:sp>
        <p:nvSpPr>
          <p:cNvPr id="23" name="pt-card"/>
          <p:cNvSpPr/>
          <p:nvPr/>
        </p:nvSpPr>
        <p:spPr>
          <a:xfrm>
            <a:off x="5303520" y="502920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77840" y="50292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retry-after 1,921,598 秒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告訴他下個月 1 號 00:00 才恢復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額度｜驗收畫面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資料庫停掉，回 503，不放行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3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7680960" cy="3529584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1683" y="2051182"/>
            <a:ext cx="1378732" cy="153619"/>
          </a:xfrm>
          <a:prstGeom prst="roundRect">
            <a:avLst>
              <a:gd name="adj" fmla="val 23810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71683" y="3541288"/>
            <a:ext cx="3740628" cy="483900"/>
          </a:xfrm>
          <a:prstGeom prst="roundRect">
            <a:avLst>
              <a:gd name="adj" fmla="val 7559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71683" y="4524451"/>
            <a:ext cx="2780508" cy="153619"/>
          </a:xfrm>
          <a:prstGeom prst="roundRect">
            <a:avLst>
              <a:gd name="adj" fmla="val 23810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6" name="pt-card"/>
          <p:cNvSpPr/>
          <p:nvPr/>
        </p:nvSpPr>
        <p:spPr>
          <a:xfrm>
            <a:off x="8503920" y="192024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9202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先問一次：200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有額度，正常回答</a:t>
            </a:r>
            <a:endParaRPr lang="en-US" sz="1600" dirty="0"/>
          </a:p>
        </p:txBody>
      </p:sp>
      <p:sp>
        <p:nvSpPr>
          <p:cNvPr id="18" name="pt-card"/>
          <p:cNvSpPr/>
          <p:nvPr/>
        </p:nvSpPr>
        <p:spPr>
          <a:xfrm>
            <a:off x="8503920" y="310896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0" y="31089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停掉資料庫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compose stop</a:t>
            </a:r>
            <a:endParaRPr lang="en-US" sz="1600" dirty="0"/>
          </a:p>
        </p:txBody>
      </p:sp>
      <p:sp>
        <p:nvSpPr>
          <p:cNvPr id="20" name="pt-card"/>
          <p:cNvSpPr/>
          <p:nvPr/>
        </p:nvSpPr>
        <p:spPr>
          <a:xfrm>
            <a:off x="8503920" y="429768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0" y="42976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再問一次：503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讀不到額度就拒絕，不會變成無上限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先拆現成的 LiteLLM，再修自己的設計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finding-card"/>
          <p:cNvSpPr/>
          <p:nvPr/>
        </p:nvSpPr>
        <p:spPr>
          <a:xfrm>
            <a:off x="548640" y="201168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46888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663190"/>
            <a:ext cx="388620" cy="3886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828800" y="201168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價格表沒有的模型，花費記為 0</a:t>
            </a:r>
            <a:endParaRPr lang="en-US" sz="1600" dirty="0"/>
          </a:p>
        </p:txBody>
      </p:sp>
      <p:sp>
        <p:nvSpPr>
          <p:cNvPr id="16" name="finding-card"/>
          <p:cNvSpPr/>
          <p:nvPr/>
        </p:nvSpPr>
        <p:spPr>
          <a:xfrm>
            <a:off x="548640" y="402336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4674870"/>
            <a:ext cx="388620" cy="3886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828800" y="40233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寫帳前當機，那筆帳永久遺失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675120" y="28346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 flipV="1">
            <a:off x="6675120" y="42062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fix-card"/>
          <p:cNvSpPr/>
          <p:nvPr/>
        </p:nvSpPr>
        <p:spPr>
          <a:xfrm>
            <a:off x="7269480" y="2011680"/>
            <a:ext cx="4343400" cy="3703320"/>
          </a:xfrm>
          <a:prstGeom prst="roundRect">
            <a:avLst>
              <a:gd name="adj" fmla="val 2469"/>
            </a:avLst>
          </a:prstGeom>
          <a:solidFill>
            <a:schemeClr val="accent2"/>
          </a:solidFill>
          <a:ln/>
        </p:spPr>
      </p:sp>
      <p:sp>
        <p:nvSpPr>
          <p:cNvPr id="23" name="Shape 19"/>
          <p:cNvSpPr/>
          <p:nvPr/>
        </p:nvSpPr>
        <p:spPr>
          <a:xfrm>
            <a:off x="7589520" y="233172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30" y="2526030"/>
            <a:ext cx="388620" cy="3886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4964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589520" y="34290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沒有單價，就拒絕</a:t>
            </a:r>
            <a:endParaRPr lang="en-US" sz="26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先寫帳，再回答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①｜拆解畫面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先驗簽章再跑；預算 0 的金鑰真的被擋；記憶體量過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19-co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0" cy="236829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90902" y="2792378"/>
            <a:ext cx="5853313" cy="608575"/>
          </a:xfrm>
          <a:prstGeom prst="roundRect">
            <a:avLst>
              <a:gd name="adj" fmla="val 6010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1828800"/>
            <a:ext cx="475488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映像簽章驗證通過，才開始拆</a:t>
            </a:r>
            <a:endParaRPr lang="en-US" sz="2000" dirty="0"/>
          </a:p>
        </p:txBody>
      </p:sp>
      <p:pic>
        <p:nvPicPr>
          <p:cNvPr id="15" name="Image 1" descr="/tmp/claude-0/-home-claude/96d60298-d9d1-5ce2-b774-39e8aefb4386/scratchpad/assets/s19-bu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6035040" cy="1252728"/>
          </a:xfrm>
          <a:prstGeom prst="rect">
            <a:avLst/>
          </a:prstGeom>
        </p:spPr>
      </p:pic>
      <p:sp>
        <p:nvSpPr>
          <p:cNvPr id="16" name="ring"/>
          <p:cNvSpPr/>
          <p:nvPr/>
        </p:nvSpPr>
        <p:spPr>
          <a:xfrm>
            <a:off x="586644" y="4769045"/>
            <a:ext cx="5966633" cy="418044"/>
          </a:xfrm>
          <a:prstGeom prst="roundRect">
            <a:avLst>
              <a:gd name="adj" fmla="val 8749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0" y="4343400"/>
            <a:ext cx="47548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 0 的金鑰：Budget has been exceeded</a:t>
            </a:r>
            <a:endParaRPr lang="en-US" sz="2000" dirty="0"/>
          </a:p>
        </p:txBody>
      </p:sp>
      <p:pic>
        <p:nvPicPr>
          <p:cNvPr id="18" name="Image 2" descr="/tmp/claude-0/-home-claude/96d60298-d9d1-5ce2-b774-39e8aefb4386/scratchpad/assets/s20-mem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742432"/>
            <a:ext cx="6035040" cy="932688"/>
          </a:xfrm>
          <a:prstGeom prst="rect">
            <a:avLst/>
          </a:prstGeom>
        </p:spPr>
      </p:pic>
      <p:sp>
        <p:nvSpPr>
          <p:cNvPr id="19" name="ring"/>
          <p:cNvSpPr/>
          <p:nvPr/>
        </p:nvSpPr>
        <p:spPr>
          <a:xfrm>
            <a:off x="4083015" y="6168077"/>
            <a:ext cx="513054" cy="144415"/>
          </a:xfrm>
          <a:prstGeom prst="roundRect">
            <a:avLst>
              <a:gd name="adj" fmla="val 25327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5742432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LiteLLM 待機 584 MiB；我的 Gateway 62 MiB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①｜兩個安靜出錯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實驗紀錄節錄：沒有任何錯誤訊息，帳就不對了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05-unpri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394960" cy="21488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612110" y="3791318"/>
            <a:ext cx="3681267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發現一｜價格表沒有的模型，花費記為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記了 23，spend 是 0；預算 0.01 的金鑰永遠不會被擋</a:t>
            </a:r>
            <a:endParaRPr lang="en-US" sz="1600" dirty="0"/>
          </a:p>
        </p:txBody>
      </p:sp>
      <p:pic>
        <p:nvPicPr>
          <p:cNvPr id="15" name="Image 1" descr="/tmp/claude-0/-home-claude/96d60298-d9d1-5ce2-b774-39e8aefb4386/scratchpad/assets/m05-cr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20"/>
            <a:ext cx="5394960" cy="2331720"/>
          </a:xfrm>
          <a:prstGeom prst="rect">
            <a:avLst/>
          </a:prstGeom>
        </p:spPr>
      </p:pic>
      <p:sp>
        <p:nvSpPr>
          <p:cNvPr id="16" name="ring"/>
          <p:cNvSpPr/>
          <p:nvPr/>
        </p:nvSpPr>
        <p:spPr>
          <a:xfrm>
            <a:off x="6281390" y="2318811"/>
            <a:ext cx="2538805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6281390" y="3239128"/>
            <a:ext cx="1523283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6281390" y="3975381"/>
            <a:ext cx="1523283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4297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發現二｜寫帳前當機，那筆帳永久遺失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回答已送出、0.8 秒後強制終止；重啟 30 秒後帳還是 10 筆</a:t>
            </a:r>
            <a:endParaRPr lang="en-US" sz="1600" dirty="0"/>
          </a:p>
        </p:txBody>
      </p:sp>
      <p:sp>
        <p:nvSpPr>
          <p:cNvPr id="20" name="fix-line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我的修正：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沒有單價的模型一律拒絕呼叫；先寫帳、再回答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大樓僅有一個門，門口有警衛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名單只有一家：OpenAI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17520"/>
            <a:ext cx="30175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0175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容器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1880" y="3703320"/>
            <a:ext cx="4572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3017520"/>
            <a:ext cx="32461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30175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NAT＋DNS 防火牆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flipV="1">
            <a:off x="7406640" y="2926080"/>
            <a:ext cx="566928" cy="7772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3703320"/>
            <a:ext cx="566928" cy="86868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233172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06840" y="23317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名單上的網域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api.openai.com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2" y="2660904"/>
            <a:ext cx="530352" cy="53035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046720" y="402336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006840" y="4023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名單外的網域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不解析・留紀錄</a:t>
            </a:r>
            <a:endParaRPr lang="en-US" sz="16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352544"/>
            <a:ext cx="530352" cy="530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②｜雲端實測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私有子網沒有通往網際網路的路，只有兩條專用走廊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aily-resource-map-priv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11064240" cy="302666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綠框：私有子網只接到 S3、DynamoDB 兩條 Endpoint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紅框：0 個私有子網路由至網際網路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  <p:sp>
        <p:nvSpPr>
          <p:cNvPr id="26" name="ring"/>
          <p:cNvSpPr/>
          <p:nvPr/>
        </p:nvSpPr>
        <p:spPr>
          <a:xfrm>
            <a:off x="9097955" y="3253697"/>
            <a:ext cx="1189984" cy="126594"/>
          </a:xfrm>
          <a:prstGeom prst="roundRect">
            <a:avLst>
              <a:gd name="adj" fmla="val 30000"/>
            </a:avLst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27" name="ring"/>
          <p:cNvSpPr/>
          <p:nvPr/>
        </p:nvSpPr>
        <p:spPr>
          <a:xfrm>
            <a:off x="9009339" y="3405610"/>
            <a:ext cx="2257593" cy="772223"/>
          </a:xfrm>
          <a:prstGeom prst="roundRect">
            <a:avLst>
              <a:gd name="adj" fmla="val 8000"/>
            </a:avLst>
          </a:prstGeom>
          <a:noFill/>
          <a:ln w="15875">
            <a:solidFill>
              <a:schemeClr val="accent5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②｜雲端實測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公有子網才接大門；只有 ALB 和 NAT 住在這裡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aily-resource-map-publ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11064240" cy="305409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8943291" y="2866602"/>
            <a:ext cx="2400766" cy="591685"/>
          </a:xfrm>
          <a:prstGeom prst="roundRect">
            <a:avLst>
              <a:gd name="adj" fmla="val 9273"/>
            </a:avLst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橘框：網際網路只路由到 2 個公有子網；私有子網不在這條路上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②｜一鍵拆除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測完當天拆光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estroy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400800" cy="4498848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65227" y="1935976"/>
            <a:ext cx="1229124" cy="365335"/>
          </a:xfrm>
          <a:prstGeom prst="roundRect">
            <a:avLst>
              <a:gd name="adj" fmla="val 15017"/>
            </a:avLst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898664" y="5234621"/>
            <a:ext cx="1878135" cy="353426"/>
          </a:xfrm>
          <a:prstGeom prst="roundRect">
            <a:avLst>
              <a:gd name="adj" fmla="val 15523"/>
            </a:avLst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7223760" y="1874520"/>
            <a:ext cx="4389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 秒</a:t>
            </a:r>
            <a:endParaRPr lang="en-US" sz="16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Resources: 19 destroyed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第一次：每日層骨架</a:t>
            </a:r>
            <a:endParaRPr lang="en-US" sz="1600" dirty="0"/>
          </a:p>
          <a:p>
            <a:pPr algn="l" indent="0" marL="0">
              <a:spcBef>
                <a:spcPts val="1200"/>
              </a:spcBef>
              <a:buNone/>
            </a:pPr>
            <a:r>
              <a:rPr lang="en-US" sz="3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分 11 秒</a:t>
            </a:r>
            <a:endParaRPr lang="en-US" sz="16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Resources: 40 destroyed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第三次：加了 Lambda，等網卡收回</a:t>
            </a:r>
            <a:endParaRPr lang="en-US" sz="1600" dirty="0"/>
          </a:p>
          <a:p>
            <a:pPr algn="l" indent="0" marL="0">
              <a:spcBef>
                <a:spcPts val="120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只拆得了貼「每日」標籤的東西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每一次推送都先過三關，沒過就進不了 main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gate-card"/>
          <p:cNvSpPr/>
          <p:nvPr/>
        </p:nvSpPr>
        <p:spPr>
          <a:xfrm>
            <a:off x="548640" y="187452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7360" y="210312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377440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3152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380 個自動測試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含真的資料庫</a:t>
            </a:r>
            <a:endParaRPr lang="en-US" sz="1600" dirty="0"/>
          </a:p>
        </p:txBody>
      </p:sp>
      <p:sp>
        <p:nvSpPr>
          <p:cNvPr id="16" name="gate-card"/>
          <p:cNvSpPr/>
          <p:nvPr/>
        </p:nvSpPr>
        <p:spPr>
          <a:xfrm>
            <a:off x="4343400" y="187452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5532120" y="210312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7744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2628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 scan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掃容器映像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第一次就抓到一個弱點</a:t>
            </a:r>
            <a:endParaRPr lang="en-US" sz="1600" dirty="0"/>
          </a:p>
        </p:txBody>
      </p:sp>
      <p:sp>
        <p:nvSpPr>
          <p:cNvPr id="20" name="gate-card"/>
          <p:cNvSpPr/>
          <p:nvPr/>
        </p:nvSpPr>
        <p:spPr>
          <a:xfrm>
            <a:off x="8138160" y="187452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9326880" y="210312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37744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32104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Config scan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掃 Terraform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另有 CodeQL 掃程式碼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800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要合併一定要經過 PR；所有工具鎖定版本與指紋，過 3 天冷卻期才用</a:t>
            </a:r>
            <a:endParaRPr lang="en-US" sz="1800" dirty="0"/>
          </a:p>
        </p:txBody>
      </p:sp>
      <p:sp>
        <p:nvSpPr>
          <p:cNvPr id="25" name="todo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6" name="Text 21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CD（M6，設計）：GitHub 借角色 → 推映像 → terraform apply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用身分證明換一小時的 AWS 角色；repo 裡沒有任何金鑰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assume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11064240" cy="35204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3822508" y="4447148"/>
            <a:ext cx="4352415" cy="246216"/>
          </a:xfrm>
          <a:prstGeom prst="roundRect">
            <a:avLst>
              <a:gd name="adj" fmla="val 18569"/>
            </a:avLst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main 觸發：借到角色 assumed-role/llm-gateway-destroy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雲端呼叫 OpenAI 也一樣：用 AWS 身分換通行證，沒有金鑰可以外流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從別的分支觸發：連身分證明都拿不到，在 GitHub 這層就擋下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oidc-check-branch-blo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7040880" cy="355701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3095932" y="2608464"/>
            <a:ext cx="859465" cy="200731"/>
          </a:xfrm>
          <a:prstGeom prst="roundRect">
            <a:avLst>
              <a:gd name="adj" fmla="val 22777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2514143" y="5113869"/>
            <a:ext cx="3496082" cy="260147"/>
          </a:xfrm>
          <a:prstGeom prst="roundRect">
            <a:avLst>
              <a:gd name="adj" fmla="val 17575"/>
            </a:avLst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橘框：分支 test/oidc-from-branch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main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1089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紅框：environment protection rules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不發身分證明，AWS 連請求都沒收到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42976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只准 main、只准 destroy 這個 environment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只有能在 main 觸發的人拆得了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④｜帳不會掉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先把單據夾進出單夾，再把餐端給客人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算好 HMAC 與摘要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8892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8328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出單夾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確認收到才回答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2356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後台會計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算成本・寫帳・扣額度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5820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219456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9828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用量表・稽核表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80560" y="3246120"/>
            <a:ext cx="0" cy="45720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83280" y="3749040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死信佇列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 5 次放這裡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3832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為什麼先進佇列：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LiteLLM 先回答、再寫帳，中間當機帳就掉了；我反過來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1｜Worker 停工，4 題照答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2｜壞訊息 5 次，進 DLQ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3｜Gateway 停掉，帳還在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sp>
        <p:nvSpPr>
          <p:cNvPr id="30" name="pt-card"/>
          <p:cNvSpPr/>
          <p:nvPr/>
        </p:nvSpPr>
        <p:spPr>
          <a:xfrm>
            <a:off x="6217920" y="4754880"/>
            <a:ext cx="5394960" cy="1280160"/>
          </a:xfrm>
          <a:prstGeom prst="roundRect">
            <a:avLst>
              <a:gd name="adj" fmla="val 7142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6400800" y="4754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出單夾壞了，也照常營業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送不進去：回答照給，Gateway 自己記帳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⑤｜小型 agent（M7）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管家花的是你的錢，所以要有預算、門禁、帳本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模型決定下一步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97480" y="265176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9184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CALL 工具(參數)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腳本執行本機小工具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4960" y="265176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8932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看結果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放進下一輪的 message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2440" y="265176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4108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FINAL 回答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結束；有最大步數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 flipV="1">
            <a:off x="6995160" y="3154680"/>
            <a:ext cx="0" cy="457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600200" y="3611880"/>
            <a:ext cx="53949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600200" y="3154680"/>
            <a:ext cx="0" cy="457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gateway-bar"/>
          <p:cNvSpPr/>
          <p:nvPr/>
        </p:nvSpPr>
        <p:spPr>
          <a:xfrm>
            <a:off x="548640" y="3977640"/>
            <a:ext cx="1019556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39776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每一輪呼叫都經過 Gateway：身分、額度、遮罩、稽核；Gateway 的程式一行都不改（文字約定）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46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1｜兩三步的任務正常完成，稽核看得到每一步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2303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2｜拿掉步數上限、改用 alice：迴圈被 429 擋下</a:t>
            </a:r>
            <a:endParaRPr lang="en-US" sz="1600" dirty="0"/>
          </a:p>
        </p:txBody>
      </p:sp>
      <p:sp>
        <p:nvSpPr>
          <p:cNvPr id="30" name="todo"/>
          <p:cNvSpPr/>
          <p:nvPr/>
        </p:nvSpPr>
        <p:spPr>
          <a:xfrm>
            <a:off x="6217920" y="4846320"/>
            <a:ext cx="53949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400800" y="5212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驗收畫面（M7 完成後補）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員工照常用 AI，老闆看得懂帳單，資安查得到紀錄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stat-card"/>
          <p:cNvSpPr/>
          <p:nvPr/>
        </p:nvSpPr>
        <p:spPr>
          <a:xfrm>
            <a:off x="548640" y="196596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省下的模型成本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題・簡單題佔 65%</a:t>
            </a:r>
            <a:endParaRPr lang="en-US" sz="1600" dirty="0"/>
          </a:p>
        </p:txBody>
      </p:sp>
      <p:sp>
        <p:nvSpPr>
          <p:cNvPr id="16" name="stat-card"/>
          <p:cNvSpPr/>
          <p:nvPr/>
        </p:nvSpPr>
        <p:spPr>
          <a:xfrm>
            <a:off x="4343400" y="196596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個資在送出前遮罩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身分證・手機・Email・信用卡</a:t>
            </a:r>
            <a:endParaRPr lang="en-US" sz="1600" dirty="0"/>
          </a:p>
        </p:txBody>
      </p:sp>
      <p:sp>
        <p:nvSpPr>
          <p:cNvPr id="20" name="stat-card"/>
          <p:cNvSpPr/>
          <p:nvPr/>
        </p:nvSpPr>
        <p:spPr>
          <a:xfrm>
            <a:off x="8138160" y="196596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US$0.5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兩次上雲的實際花費（AWS）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雲端用完就拆，一鍵 4 分 11 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89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評估後不做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438912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858768" y="4389120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多可用區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77256" y="4389120"/>
            <a:ext cx="237744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知識檢索（RAG）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理由與正式環境的做法，寫在文件</a:t>
            </a:r>
            <a:endParaRPr lang="en-US" sz="1600" dirty="0"/>
          </a:p>
        </p:txBody>
      </p:sp>
      <p:sp>
        <p:nvSpPr>
          <p:cNvPr id="29" name="positioning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193792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365242"/>
            <a:ext cx="342900" cy="34290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691640" y="5074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我能把 AI 服務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安全地、算得清楚地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放上雲端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歡迎提問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雲端工程師｜負責 LLM 上線之後的治理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1800" dirty="0"/>
          </a:p>
        </p:txBody>
      </p:sp>
      <p:sp>
        <p:nvSpPr>
          <p:cNvPr id="6" name="qr-card"/>
          <p:cNvSpPr/>
          <p:nvPr/>
        </p:nvSpPr>
        <p:spPr>
          <a:xfrm>
            <a:off x="8549640" y="1600200"/>
            <a:ext cx="27432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</p:spPr>
      </p:sp>
      <p:pic>
        <p:nvPicPr>
          <p:cNvPr id="7" name="Image 0" descr="/tmp/claude-0/-home-claude/96d60298-d9d1-5ce2-b774-39e8aefb4386/scratchpad/assets/qr-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737360"/>
            <a:ext cx="2468880" cy="24688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608576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0" y="4553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github.com/Poyu-Tu/llm-gateway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4965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程式、證據紀錄與截圖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上雲之後，稽核進了資料表：還是只有指紋與摘要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  <p:pic>
        <p:nvPicPr>
          <p:cNvPr id="26" name="S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83080"/>
            <a:ext cx="7315200" cy="3955806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97326" y="3645352"/>
            <a:ext cx="7193482" cy="21909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97326" y="5093786"/>
            <a:ext cx="3359393" cy="21909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9" name="ring"/>
          <p:cNvSpPr/>
          <p:nvPr/>
        </p:nvSpPr>
        <p:spPr>
          <a:xfrm>
            <a:off x="597326" y="1989999"/>
            <a:ext cx="1411918" cy="21909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bg1"/>
            </a:solidFill>
            <a:prstDash val="solid"/>
          </a:ln>
        </p:spPr>
      </p:sp>
      <p:sp>
        <p:nvSpPr>
          <p:cNvPr id="30" name="pt-card"/>
          <p:cNvSpPr/>
          <p:nvPr/>
        </p:nvSpPr>
        <p:spPr>
          <a:xfrm>
            <a:off x="8138160" y="178308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8412480" y="178308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白框 → charged: True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這一筆由 Lambda 寫進雲端的 audit 表</a:t>
            </a:r>
            <a:endParaRPr lang="en-US" sz="1600" dirty="0"/>
          </a:p>
        </p:txBody>
      </p:sp>
      <p:sp>
        <p:nvSpPr>
          <p:cNvPr id="32" name="pt-card"/>
          <p:cNvSpPr/>
          <p:nvPr/>
        </p:nvSpPr>
        <p:spPr>
          <a:xfrm>
            <a:off x="8138160" y="320040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8412480" y="32004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64 字的指紋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原文不存，只留 HMAC；拿原文來搜，搜不到</a:t>
            </a:r>
            <a:endParaRPr lang="en-US" sz="1600" dirty="0"/>
          </a:p>
        </p:txBody>
      </p:sp>
      <p:sp>
        <p:nvSpPr>
          <p:cNvPr id="34" name="pt-card"/>
          <p:cNvSpPr/>
          <p:nvPr/>
        </p:nvSpPr>
        <p:spPr>
          <a:xfrm>
            <a:off x="8138160" y="461772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8412480" y="46177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遮罩後的摘要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個資先換成標籤，才留摘要</a:t>
            </a:r>
            <a:endParaRPr lang="en-US" sz="1600" dirty="0"/>
          </a:p>
        </p:txBody>
      </p:sp>
      <p:sp>
        <p:nvSpPr>
          <p:cNvPr id="36" name="Text"/>
          <p:cNvSpPr txBox="1"/>
          <p:nvPr/>
        </p:nvSpPr>
        <p:spPr>
          <a:xfrm>
            <a:off x="548640" y="587604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DynamoDB 的 audit 表：M5 上雲演練第 0 步（10/23）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帳不會掉｜驗收畫面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會計停工：客人照樣拿到回答，帳單在出單夾裡等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pic>
        <p:nvPicPr>
          <p:cNvPr id="26" name="S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849297" cy="4343400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76526" y="2605746"/>
            <a:ext cx="885412" cy="181265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76526" y="4174389"/>
            <a:ext cx="794779" cy="299785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9" name="ring"/>
          <p:cNvSpPr/>
          <p:nvPr/>
        </p:nvSpPr>
        <p:spPr>
          <a:xfrm>
            <a:off x="3546491" y="3177429"/>
            <a:ext cx="2614405" cy="669287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bg1"/>
            </a:solidFill>
            <a:prstDash val="solid"/>
          </a:ln>
        </p:spPr>
      </p:sp>
      <p:sp>
        <p:nvSpPr>
          <p:cNvPr id="30" name="ring"/>
          <p:cNvSpPr/>
          <p:nvPr/>
        </p:nvSpPr>
        <p:spPr>
          <a:xfrm>
            <a:off x="2249746" y="5261982"/>
            <a:ext cx="460135" cy="20218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1" name="pt-card"/>
          <p:cNvSpPr/>
          <p:nvPr/>
        </p:nvSpPr>
        <p:spPr>
          <a:xfrm>
            <a:off x="7223760" y="178308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7498080" y="17830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Disabled → 4 題全答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停掉 Worker 的觸發，alice 連問 4 題都有回答</a:t>
            </a:r>
            <a:endParaRPr lang="en-US" sz="1600" dirty="0"/>
          </a:p>
        </p:txBody>
      </p:sp>
      <p:sp>
        <p:nvSpPr>
          <p:cNvPr id="33" name="pt-card"/>
          <p:cNvSpPr/>
          <p:nvPr/>
        </p:nvSpPr>
        <p:spPr>
          <a:xfrm>
            <a:off x="7223760" y="306324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4" name="Text"/>
          <p:cNvSpPr txBox="1"/>
          <p:nvPr/>
        </p:nvSpPr>
        <p:spPr>
          <a:xfrm>
            <a:off x="7498080" y="30632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佇列 4 則・額度已用 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帳單在出單夾裡等，額度一毛沒動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帳不會掉｜驗收畫面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看不懂的帳單，試 5 次就放進問題抽屜；別人的帳照記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pic>
        <p:nvPicPr>
          <p:cNvPr id="26" name="S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27669" cy="4343400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80576" y="1815016"/>
            <a:ext cx="750513" cy="359288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80576" y="3850985"/>
            <a:ext cx="6147827" cy="99802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9" name="ring"/>
          <p:cNvSpPr/>
          <p:nvPr/>
        </p:nvSpPr>
        <p:spPr>
          <a:xfrm>
            <a:off x="2832118" y="5583554"/>
            <a:ext cx="399209" cy="223557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0" name="pt-card"/>
          <p:cNvSpPr/>
          <p:nvPr/>
        </p:nvSpPr>
        <p:spPr>
          <a:xfrm>
            <a:off x="7223760" y="178308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7498080" y="17830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1・主佇列 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壞訊息進死信佇列，不卡住後面的單</a:t>
            </a:r>
            <a:endParaRPr lang="en-US" sz="1600" dirty="0"/>
          </a:p>
        </p:txBody>
      </p:sp>
      <p:sp>
        <p:nvSpPr>
          <p:cNvPr id="32" name="pt-card"/>
          <p:cNvSpPr/>
          <p:nvPr/>
        </p:nvSpPr>
        <p:spPr>
          <a:xfrm>
            <a:off x="7223760" y="306324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7498080" y="30632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"not json" → 失敗 5 次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120 秒試一次，約 10 分鐘</a:t>
            </a:r>
            <a:endParaRPr lang="en-US" sz="1600" dirty="0"/>
          </a:p>
        </p:txBody>
      </p:sp>
      <p:sp>
        <p:nvSpPr>
          <p:cNvPr id="34" name="pt-card"/>
          <p:cNvSpPr/>
          <p:nvPr/>
        </p:nvSpPr>
        <p:spPr>
          <a:xfrm>
            <a:off x="7223760" y="434340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7498080" y="43434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照常記帳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壞單卡著的時候，正常的帳照寫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帳不會掉｜驗收畫面 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出單夾被拿走：回答照給，同一秒改由閘道自己記帳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pic>
        <p:nvPicPr>
          <p:cNvPr id="26" name="S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007964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9933486" y="2658058"/>
            <a:ext cx="747965" cy="1778181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605090" y="5282992"/>
            <a:ext cx="10866664" cy="465714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548640" y="59282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紅框：拿掉 SQS 的放行，DNS 擋下（14:43:24）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橘框：同一秒 Gateway 自己記帳，回答照給；bob 35 → 40，Worker 沒有紀錄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四道檢查都過，上雲還是失敗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證背面寫的規定，門禁測試機和校對員都不看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sp>
        <p:nvSpPr>
          <p:cNvPr id="26" name="Text"/>
          <p:cNvSpPr txBox="1"/>
          <p:nvPr/>
        </p:nvSpPr>
        <p:spPr>
          <a:xfrm>
            <a:off x="73152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</a:t>
            </a:r>
            <a:endParaRPr lang="en-US" sz="1600" dirty="0"/>
          </a:p>
        </p:txBody>
      </p:sp>
      <p:sp>
        <p:nvSpPr>
          <p:cNvPr id="27" name="Text"/>
          <p:cNvSpPr txBox="1"/>
          <p:nvPr/>
        </p:nvSpPr>
        <p:spPr>
          <a:xfrm>
            <a:off x="35661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驗不到</a:t>
            </a:r>
            <a:endParaRPr lang="en-US" sz="1600" dirty="0"/>
          </a:p>
        </p:txBody>
      </p:sp>
      <p:sp>
        <p:nvSpPr>
          <p:cNvPr id="28" name="row"/>
          <p:cNvSpPr/>
          <p:nvPr/>
        </p:nvSpPr>
        <p:spPr>
          <a:xfrm>
            <a:off x="548640" y="214884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29" name="Text"/>
          <p:cNvSpPr txBox="1"/>
          <p:nvPr/>
        </p:nvSpPr>
        <p:spPr>
          <a:xfrm>
            <a:off x="73152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380 個測試</a:t>
            </a:r>
            <a:endParaRPr lang="en-US" sz="1600" dirty="0"/>
          </a:p>
        </p:txBody>
      </p:sp>
      <p:sp>
        <p:nvSpPr>
          <p:cNvPr id="30" name="Text"/>
          <p:cNvSpPr txBox="1"/>
          <p:nvPr/>
        </p:nvSpPr>
        <p:spPr>
          <a:xfrm>
            <a:off x="3566160" y="2148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IAM、真的雲</a:t>
            </a:r>
            <a:endParaRPr lang="en-US" sz="1600" dirty="0"/>
          </a:p>
        </p:txBody>
      </p:sp>
      <p:sp>
        <p:nvSpPr>
          <p:cNvPr id="31" name="row"/>
          <p:cNvSpPr/>
          <p:nvPr/>
        </p:nvSpPr>
        <p:spPr>
          <a:xfrm>
            <a:off x="548640" y="310896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731520" y="3108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terraform validate</a:t>
            </a:r>
            <a:endParaRPr lang="en-US" sz="1600" dirty="0"/>
          </a:p>
        </p:txBody>
      </p:sp>
      <p:sp>
        <p:nvSpPr>
          <p:cNvPr id="33" name="Text"/>
          <p:cNvSpPr txBox="1"/>
          <p:nvPr/>
        </p:nvSpPr>
        <p:spPr>
          <a:xfrm>
            <a:off x="356616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值對不對</a:t>
            </a:r>
            <a:endParaRPr lang="en-US" sz="1600" dirty="0"/>
          </a:p>
        </p:txBody>
      </p:sp>
      <p:sp>
        <p:nvSpPr>
          <p:cNvPr id="34" name="row"/>
          <p:cNvSpPr/>
          <p:nvPr/>
        </p:nvSpPr>
        <p:spPr>
          <a:xfrm>
            <a:off x="548640" y="406908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73152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權限模擬器</a:t>
            </a:r>
            <a:endParaRPr lang="en-US" sz="1600" dirty="0"/>
          </a:p>
        </p:txBody>
      </p:sp>
      <p:sp>
        <p:nvSpPr>
          <p:cNvPr id="36" name="Text"/>
          <p:cNvSpPr txBox="1"/>
          <p:nvPr/>
        </p:nvSpPr>
        <p:spPr>
          <a:xfrm>
            <a:off x="3566160" y="4069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誰能借這張證</a:t>
            </a:r>
            <a:endParaRPr lang="en-US" sz="1600" dirty="0"/>
          </a:p>
        </p:txBody>
      </p:sp>
      <p:sp>
        <p:nvSpPr>
          <p:cNvPr id="37" name="row"/>
          <p:cNvSpPr/>
          <p:nvPr/>
        </p:nvSpPr>
        <p:spPr>
          <a:xfrm>
            <a:off x="548640" y="502920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8" name="Text"/>
          <p:cNvSpPr txBox="1"/>
          <p:nvPr/>
        </p:nvSpPr>
        <p:spPr>
          <a:xfrm>
            <a:off x="731520" y="5029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validate-policy</a:t>
            </a:r>
            <a:endParaRPr lang="en-US" sz="1600" dirty="0"/>
          </a:p>
        </p:txBody>
      </p:sp>
      <p:sp>
        <p:nvSpPr>
          <p:cNvPr id="39" name="Text"/>
          <p:cNvSpPr txBox="1"/>
          <p:nvPr/>
        </p:nvSpPr>
        <p:spPr>
          <a:xfrm>
            <a:off x="3566160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誰能借這張證</a:t>
            </a:r>
            <a:endParaRPr lang="en-US" sz="1600" dirty="0"/>
          </a:p>
        </p:txBody>
      </p:sp>
      <p:sp>
        <p:nvSpPr>
          <p:cNvPr id="40" name="pt-card"/>
          <p:cNvSpPr/>
          <p:nvPr/>
        </p:nvSpPr>
        <p:spPr>
          <a:xfrm>
            <a:off x="7223760" y="1783080"/>
            <a:ext cx="4389120" cy="4069080"/>
          </a:xfrm>
          <a:prstGeom prst="roundRect">
            <a:avLst>
              <a:gd name="adj" fmla="val 2247"/>
            </a:avLst>
          </a:prstGeom>
          <a:solidFill>
            <a:schemeClr val="tx2"/>
          </a:solidFill>
          <a:ln/>
        </p:spPr>
      </p:sp>
      <p:sp>
        <p:nvSpPr>
          <p:cNvPr id="41" name="Text"/>
          <p:cNvSpPr txBox="1"/>
          <p:nvPr/>
        </p:nvSpPr>
        <p:spPr>
          <a:xfrm>
            <a:off x="7498080" y="1783080"/>
            <a:ext cx="38404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信任政策：只限這個函式</a:t>
            </a:r>
            <a:endParaRPr lang="en-US" sz="1600" dirty="0"/>
          </a:p>
          <a:p>
            <a:pPr algn="l" indent="0" marL="0">
              <a:spcBef>
                <a:spcPts val="90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建網卡時不帶函式名字</a:t>
            </a:r>
            <a:endParaRPr lang="en-US" sz="1600" dirty="0"/>
          </a:p>
          <a:p>
            <a:pPr algn="l" indent="0" marL="0">
              <a:spcBef>
                <a:spcPts val="90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第一次 apply 失敗</a:t>
            </a:r>
            <a:endParaRPr lang="en-US" sz="1600" dirty="0"/>
          </a:p>
          <a:p>
            <a:pPr algn="l" indent="0" marL="0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拿掉條件（PR #26）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②｜拆完的帳單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兩次上雲各開不到 2 小時；拆完之後，每天幾乎是 0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pic>
        <p:nvPicPr>
          <p:cNvPr id="26" name="S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805" y="1783080"/>
            <a:ext cx="8727909" cy="4007964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2947440" y="2825150"/>
            <a:ext cx="933886" cy="2424818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7416129" y="3306106"/>
            <a:ext cx="933886" cy="1943862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548640" y="59282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10/19 M4 上雲驗收：約 US$0.3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10/23 M5 上雲演練：約 US$0.22（矮的橘色柱子是查帳本身的費用）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">
  <a:themeElements>
    <a:clrScheme name="LLM Gateway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 簡報 v3</dc:title>
  <dc:subject>PptxGenJS Presentation</dc:subject>
  <dc:creator>杜柏豫</dc:creator>
  <cp:lastModifiedBy>杜柏豫</cp:lastModifiedBy>
  <cp:revision>1</cp:revision>
  <dcterms:created xsi:type="dcterms:W3CDTF">2026-10-19T11:32:40Z</dcterms:created>
  <dcterms:modified xsi:type="dcterms:W3CDTF">2026-10-19T11:32:40Z</dcterms:modified>
</cp:coreProperties>
</file>